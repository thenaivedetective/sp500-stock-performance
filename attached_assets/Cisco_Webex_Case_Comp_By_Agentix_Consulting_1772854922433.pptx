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ato Bold" charset="1" panose="020F0502020204030203"/>
      <p:regular r:id="rId23"/>
    </p:embeddedFont>
    <p:embeddedFont>
      <p:font typeface="Futura" charset="1" panose="020B0502020204020303"/>
      <p:regular r:id="rId24"/>
    </p:embeddedFont>
    <p:embeddedFont>
      <p:font typeface="Futura Bold" charset="1" panose="020B0702020204020203"/>
      <p:regular r:id="rId25"/>
    </p:embeddedFont>
    <p:embeddedFont>
      <p:font typeface="Canva Sans" charset="1" panose="020B0503030501040103"/>
      <p:regular r:id="rId26"/>
    </p:embeddedFont>
    <p:embeddedFont>
      <p:font typeface="Canva Sans Bold" charset="1" panose="020B0803030501040103"/>
      <p:regular r:id="rId27"/>
    </p:embeddedFont>
    <p:embeddedFont>
      <p:font typeface="Lato" charset="1" panose="020F0502020204030203"/>
      <p:regular r:id="rId28"/>
    </p:embeddedFont>
    <p:embeddedFont>
      <p:font typeface="Open Sans Bold" charset="1" panose="00000000000000000000"/>
      <p:regular r:id="rId29"/>
    </p:embeddedFont>
    <p:embeddedFont>
      <p:font typeface="TT Commons Pro Bold" charset="1" panose="020B0103030102020204"/>
      <p:regular r:id="rId30"/>
    </p:embeddedFont>
    <p:embeddedFont>
      <p:font typeface="Open Sans" charset="1" panose="00000000000000000000"/>
      <p:regular r:id="rId31"/>
    </p:embeddedFont>
    <p:embeddedFont>
      <p:font typeface="Open Sans Bold Italics" charset="1" panose="00000000000000000000"/>
      <p:regular r:id="rId32"/>
    </p:embeddedFont>
    <p:embeddedFont>
      <p:font typeface="TT Commons Pro" charset="1" panose="020B0103030102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0" y="870823"/>
            <a:ext cx="16571560" cy="8545354"/>
            <a:chOff x="0" y="0"/>
            <a:chExt cx="4364526" cy="2250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4526" cy="2250628"/>
            </a:xfrm>
            <a:custGeom>
              <a:avLst/>
              <a:gdLst/>
              <a:ahLst/>
              <a:cxnLst/>
              <a:rect r="r" b="b" t="t" l="l"/>
              <a:pathLst>
                <a:path h="2250628" w="4364526">
                  <a:moveTo>
                    <a:pt x="23826" y="0"/>
                  </a:moveTo>
                  <a:lnTo>
                    <a:pt x="4340700" y="0"/>
                  </a:lnTo>
                  <a:cubicBezTo>
                    <a:pt x="4347019" y="0"/>
                    <a:pt x="4353079" y="2510"/>
                    <a:pt x="4357548" y="6979"/>
                  </a:cubicBezTo>
                  <a:cubicBezTo>
                    <a:pt x="4362016" y="11447"/>
                    <a:pt x="4364526" y="17507"/>
                    <a:pt x="4364526" y="23826"/>
                  </a:cubicBezTo>
                  <a:lnTo>
                    <a:pt x="4364526" y="2226802"/>
                  </a:lnTo>
                  <a:cubicBezTo>
                    <a:pt x="4364526" y="2233121"/>
                    <a:pt x="4362016" y="2239182"/>
                    <a:pt x="4357548" y="2243650"/>
                  </a:cubicBezTo>
                  <a:cubicBezTo>
                    <a:pt x="4353079" y="2248118"/>
                    <a:pt x="4347019" y="2250628"/>
                    <a:pt x="4340700" y="2250628"/>
                  </a:cubicBezTo>
                  <a:lnTo>
                    <a:pt x="23826" y="2250628"/>
                  </a:lnTo>
                  <a:cubicBezTo>
                    <a:pt x="17507" y="2250628"/>
                    <a:pt x="11447" y="2248118"/>
                    <a:pt x="6979" y="2243650"/>
                  </a:cubicBezTo>
                  <a:cubicBezTo>
                    <a:pt x="2510" y="2239182"/>
                    <a:pt x="0" y="2233121"/>
                    <a:pt x="0" y="222680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ln w="47625" cap="rnd">
              <a:solidFill>
                <a:srgbClr val="F4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64526" cy="2288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714122" y="1411900"/>
            <a:ext cx="2003877" cy="1059550"/>
          </a:xfrm>
          <a:custGeom>
            <a:avLst/>
            <a:gdLst/>
            <a:ahLst/>
            <a:cxnLst/>
            <a:rect r="r" b="b" t="t" l="l"/>
            <a:pathLst>
              <a:path h="1059550" w="2003877">
                <a:moveTo>
                  <a:pt x="0" y="0"/>
                </a:moveTo>
                <a:lnTo>
                  <a:pt x="2003877" y="0"/>
                </a:lnTo>
                <a:lnTo>
                  <a:pt x="2003877" y="1059550"/>
                </a:lnTo>
                <a:lnTo>
                  <a:pt x="0" y="1059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86507" y="5225778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476349" y="3395257"/>
            <a:ext cx="5787216" cy="4204600"/>
          </a:xfrm>
          <a:custGeom>
            <a:avLst/>
            <a:gdLst/>
            <a:ahLst/>
            <a:cxnLst/>
            <a:rect r="r" b="b" t="t" l="l"/>
            <a:pathLst>
              <a:path h="4204600" w="5787216">
                <a:moveTo>
                  <a:pt x="0" y="0"/>
                </a:moveTo>
                <a:lnTo>
                  <a:pt x="5787217" y="0"/>
                </a:lnTo>
                <a:lnTo>
                  <a:pt x="5787217" y="4204600"/>
                </a:lnTo>
                <a:lnTo>
                  <a:pt x="0" y="420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2" t="-25218" r="-4102" b="-2597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6507" y="3993290"/>
            <a:ext cx="12377893" cy="117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0"/>
              </a:lnSpc>
            </a:pPr>
            <a:r>
              <a:rPr lang="en-US" sz="8700" b="true">
                <a:solidFill>
                  <a:srgbClr val="F4FFFF"/>
                </a:solidFill>
                <a:latin typeface="Lato Bold"/>
                <a:ea typeface="Lato Bold"/>
                <a:cs typeface="Lato Bold"/>
                <a:sym typeface="Lato Bold"/>
              </a:rPr>
              <a:t>WEBEX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6507" y="5967590"/>
            <a:ext cx="649224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49FD9"/>
                </a:solidFill>
                <a:latin typeface="Futura"/>
                <a:ea typeface="Futura"/>
                <a:cs typeface="Futura"/>
                <a:sym typeface="Futura"/>
              </a:rPr>
              <a:t>Krishianjan Lanka, Lana Jalal Gidan, Nur Ali and Zoe Zimmermann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6507" y="5373732"/>
            <a:ext cx="64922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49FD9"/>
                </a:solidFill>
                <a:latin typeface="Futura Bold"/>
                <a:ea typeface="Futura Bold"/>
                <a:cs typeface="Futura Bold"/>
                <a:sym typeface="Futura Bold"/>
              </a:rPr>
              <a:t>Agentix Consulting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4875" y="3544899"/>
            <a:ext cx="3433737" cy="34337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78303" t="0" r="-7830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99688" y="3544899"/>
            <a:ext cx="3315470" cy="331547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78303" t="0" r="-7830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26198" y="3426631"/>
            <a:ext cx="3405415" cy="34054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000" r="0" b="-2500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279388" y="3398309"/>
            <a:ext cx="3433737" cy="343373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78303" t="0" r="-78303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-2191510" y="1617662"/>
            <a:ext cx="6200122" cy="0"/>
          </a:xfrm>
          <a:prstGeom prst="line">
            <a:avLst/>
          </a:prstGeom>
          <a:ln cap="flat" w="38100">
            <a:solidFill>
              <a:srgbClr val="FEFE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279388" y="1617662"/>
            <a:ext cx="5792134" cy="0"/>
          </a:xfrm>
          <a:prstGeom prst="line">
            <a:avLst/>
          </a:prstGeom>
          <a:ln cap="flat" w="38100">
            <a:solidFill>
              <a:srgbClr val="FEFE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6032626" y="253289"/>
            <a:ext cx="622274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Meet Agentix Consulting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5603" y="7201773"/>
            <a:ext cx="361228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Krishianjan Lanka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09292" y="7201773"/>
            <a:ext cx="35054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 Lana Jalal Gidan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25358" y="7201773"/>
            <a:ext cx="14070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Nur Ali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87139" y="7201773"/>
            <a:ext cx="36182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Zoe Zimmermann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458578" y="1670870"/>
            <a:ext cx="10764561" cy="871426"/>
            <a:chOff x="0" y="0"/>
            <a:chExt cx="2530867" cy="2048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Background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58578" y="2542296"/>
            <a:ext cx="10764561" cy="871426"/>
            <a:chOff x="0" y="0"/>
            <a:chExt cx="2530867" cy="204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Identification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58578" y="3413722"/>
            <a:ext cx="10764561" cy="871426"/>
            <a:chOff x="0" y="0"/>
            <a:chExt cx="2530867" cy="2048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Recommendations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58578" y="4285148"/>
            <a:ext cx="10764561" cy="871426"/>
            <a:chOff x="0" y="0"/>
            <a:chExt cx="2530867" cy="204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Implementations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58578" y="5151923"/>
            <a:ext cx="10764561" cy="871426"/>
            <a:chOff x="0" y="0"/>
            <a:chExt cx="2530867" cy="2048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Financials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58578" y="6023349"/>
            <a:ext cx="10764561" cy="871426"/>
            <a:chOff x="0" y="0"/>
            <a:chExt cx="2530867" cy="204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Performance Indicators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58578" y="6894775"/>
            <a:ext cx="10764561" cy="871426"/>
            <a:chOff x="0" y="0"/>
            <a:chExt cx="2530867" cy="2048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Risks and Mitigations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58578" y="7744704"/>
            <a:ext cx="10764561" cy="871426"/>
            <a:chOff x="0" y="0"/>
            <a:chExt cx="2530867" cy="2048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Executive Summary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726557" y="253289"/>
            <a:ext cx="222860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AGENDA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Industry Analysis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Problem Identification | Recommendations | Implementation | Financials | Executive Summary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121416"/>
            <a:ext cx="2032090" cy="20320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77390" y="253289"/>
            <a:ext cx="413321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Industry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Industry Analysis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Problem Identification | Recommendations | Implementation | Financials | Executive Summary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326103" y="2121416"/>
            <a:ext cx="2032090" cy="20320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24893" y="2121416"/>
            <a:ext cx="2032090" cy="203209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 Identification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 Identification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Recommendations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7872" y="4058628"/>
            <a:ext cx="3327350" cy="110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6"/>
              </a:lnSpc>
            </a:pPr>
            <a:r>
              <a:rPr lang="en-US" sz="433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are our</a:t>
            </a:r>
            <a:r>
              <a:rPr lang="en-US" sz="4336">
                <a:solidFill>
                  <a:srgbClr val="3939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ctr">
              <a:lnSpc>
                <a:spcPts val="4206"/>
              </a:lnSpc>
            </a:pPr>
            <a:r>
              <a:rPr lang="en-US" b="true" sz="4336">
                <a:solidFill>
                  <a:srgbClr val="049FD9"/>
                </a:solidFill>
                <a:latin typeface="Lato Bold"/>
                <a:ea typeface="Lato Bold"/>
                <a:cs typeface="Lato Bold"/>
                <a:sym typeface="Lato Bold"/>
              </a:rPr>
              <a:t>PROBLEMS?</a:t>
            </a:r>
          </a:p>
        </p:txBody>
      </p:sp>
      <p:sp>
        <p:nvSpPr>
          <p:cNvPr name="AutoShape 9" id="9"/>
          <p:cNvSpPr/>
          <p:nvPr/>
        </p:nvSpPr>
        <p:spPr>
          <a:xfrm>
            <a:off x="1321012" y="2649728"/>
            <a:ext cx="9366434" cy="59999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454372" y="2222865"/>
            <a:ext cx="0" cy="703543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2801073" y="5365686"/>
            <a:ext cx="7886373" cy="29355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697374" y="1915833"/>
            <a:ext cx="5554173" cy="1001226"/>
            <a:chOff x="0" y="0"/>
            <a:chExt cx="7405564" cy="13349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3035298" y="0"/>
              <a:ext cx="1334968" cy="133496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279568"/>
              <a:ext cx="7405564" cy="709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31"/>
                </a:lnSpc>
                <a:spcBef>
                  <a:spcPct val="0"/>
                </a:spcBef>
              </a:pPr>
              <a:r>
                <a:rPr lang="en-US" b="true" sz="3165">
                  <a:solidFill>
                    <a:srgbClr val="FFFAF9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53759" y="4470684"/>
            <a:ext cx="1001226" cy="10012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693583" y="4663692"/>
            <a:ext cx="5554173" cy="54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1"/>
              </a:lnSpc>
              <a:spcBef>
                <a:spcPct val="0"/>
              </a:spcBef>
            </a:pPr>
            <a:r>
              <a:rPr lang="en-US" b="true" sz="3165">
                <a:solidFill>
                  <a:srgbClr val="FFFA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5071" y="1924346"/>
            <a:ext cx="3090639" cy="7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88"/>
              </a:lnSpc>
              <a:spcBef>
                <a:spcPct val="0"/>
              </a:spcBef>
            </a:pP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#1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84359" y="4531361"/>
            <a:ext cx="3090639" cy="7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8"/>
              </a:lnSpc>
              <a:spcBef>
                <a:spcPct val="0"/>
              </a:spcBef>
            </a:pP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</a:t>
            </a: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 #2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21411" y="2762743"/>
            <a:ext cx="5753587" cy="3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3"/>
              </a:lnSpc>
              <a:spcBef>
                <a:spcPct val="0"/>
              </a:spcBef>
            </a:pP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86802" y="5503006"/>
            <a:ext cx="5710401" cy="3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3"/>
              </a:lnSpc>
              <a:spcBef>
                <a:spcPct val="0"/>
              </a:spcBef>
            </a:pP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</a:t>
            </a:r>
          </a:p>
        </p:txBody>
      </p:sp>
      <p:sp>
        <p:nvSpPr>
          <p:cNvPr name="AutoShape 25" id="25"/>
          <p:cNvSpPr/>
          <p:nvPr/>
        </p:nvSpPr>
        <p:spPr>
          <a:xfrm>
            <a:off x="4384353" y="7935766"/>
            <a:ext cx="6306884" cy="43124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57550" y="7083889"/>
            <a:ext cx="1001226" cy="100122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697374" y="7276897"/>
            <a:ext cx="5554173" cy="54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1"/>
              </a:lnSpc>
              <a:spcBef>
                <a:spcPct val="0"/>
              </a:spcBef>
            </a:pPr>
            <a:r>
              <a:rPr lang="en-US" b="true" sz="3165">
                <a:solidFill>
                  <a:srgbClr val="FFFA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03708" y="7210384"/>
            <a:ext cx="3090639" cy="7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8"/>
              </a:lnSpc>
              <a:spcBef>
                <a:spcPct val="0"/>
              </a:spcBef>
            </a:pP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</a:t>
            </a: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oblem #3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86802" y="8042401"/>
            <a:ext cx="5710401" cy="3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3"/>
              </a:lnSpc>
              <a:spcBef>
                <a:spcPct val="0"/>
              </a:spcBef>
            </a:pP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6465119" y="3272821"/>
            <a:ext cx="586471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900535" y="2176652"/>
            <a:ext cx="7656039" cy="1380121"/>
            <a:chOff x="0" y="0"/>
            <a:chExt cx="10208052" cy="18401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4183946" y="0"/>
              <a:ext cx="1840161" cy="184016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382022"/>
              <a:ext cx="10208052" cy="980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0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94814" y="3785624"/>
            <a:ext cx="809699" cy="8096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5799664" y="3126548"/>
            <a:ext cx="0" cy="6590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816873" y="4595324"/>
            <a:ext cx="0" cy="13819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5799664" y="5977250"/>
            <a:ext cx="665455" cy="0"/>
          </a:xfrm>
          <a:prstGeom prst="line">
            <a:avLst/>
          </a:prstGeom>
          <a:ln cap="flat" w="38100">
            <a:solidFill>
              <a:srgbClr val="3939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754934" y="5656739"/>
            <a:ext cx="0" cy="332599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437279" y="5656739"/>
            <a:ext cx="635311" cy="63531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23776" y="7389085"/>
            <a:ext cx="635311" cy="63531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310629" y="2490579"/>
            <a:ext cx="835852" cy="752267"/>
          </a:xfrm>
          <a:custGeom>
            <a:avLst/>
            <a:gdLst/>
            <a:ahLst/>
            <a:cxnLst/>
            <a:rect r="r" b="b" t="t" l="l"/>
            <a:pathLst>
              <a:path h="752267" w="835852">
                <a:moveTo>
                  <a:pt x="0" y="0"/>
                </a:moveTo>
                <a:lnTo>
                  <a:pt x="835852" y="0"/>
                </a:lnTo>
                <a:lnTo>
                  <a:pt x="835852" y="752266"/>
                </a:lnTo>
                <a:lnTo>
                  <a:pt x="0" y="75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200" y="5445935"/>
            <a:ext cx="2916213" cy="52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7"/>
              </a:lnSpc>
            </a:pPr>
            <a:r>
              <a:rPr lang="en-US" b="true" sz="4070">
                <a:solidFill>
                  <a:srgbClr val="049FD9"/>
                </a:solidFill>
                <a:latin typeface="Lato Bold"/>
                <a:ea typeface="Lato Bold"/>
                <a:cs typeface="Lato Bold"/>
                <a:sym typeface="Lato Bold"/>
              </a:rPr>
              <a:t>SOLUTIONS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67306" y="3886495"/>
            <a:ext cx="5864716" cy="5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34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54934" y="1783221"/>
            <a:ext cx="7949808" cy="131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8"/>
              </a:lnSpc>
              <a:spcBef>
                <a:spcPct val="0"/>
              </a:spcBef>
            </a:pPr>
            <a:r>
              <a:rPr lang="en-US" b="true" sz="3791" i="true">
                <a:solidFill>
                  <a:srgbClr val="049FD9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Some creative name for our solutions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02133" y="3736506"/>
            <a:ext cx="2874764" cy="77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3"/>
              </a:lnSpc>
              <a:spcBef>
                <a:spcPct val="0"/>
              </a:spcBef>
            </a:pPr>
            <a:r>
              <a:rPr lang="en-US" b="true" sz="4516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02133" y="4593435"/>
            <a:ext cx="9985332" cy="40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10879" y="4471499"/>
            <a:ext cx="1306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27647" y="6270783"/>
            <a:ext cx="10614078" cy="44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  <a:spcBef>
                <a:spcPct val="0"/>
              </a:spcBef>
            </a:pPr>
            <a:r>
              <a:rPr lang="en-US" b="true" sz="263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27647" y="5727494"/>
            <a:ext cx="1841595" cy="4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b="true" sz="262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54129" y="7437332"/>
            <a:ext cx="4601610" cy="4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b="true" sz="262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66361" y="5590064"/>
            <a:ext cx="4495949" cy="60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b="true" sz="3543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Brand Ambassadors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14145" y="7371143"/>
            <a:ext cx="2013198" cy="60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b="true" sz="3543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52859" y="8042338"/>
            <a:ext cx="9134606" cy="4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  <a:spcBef>
                <a:spcPct val="0"/>
              </a:spcBef>
            </a:pPr>
            <a:r>
              <a:rPr lang="en-US" b="true" sz="272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58069" y="5734818"/>
            <a:ext cx="1830750" cy="4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b="true" sz="262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Solution #1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Solution #2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Solution #3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62066" y="253289"/>
            <a:ext cx="524270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Implementation Timeline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Implementation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04570" y="4752026"/>
            <a:ext cx="6478860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*Gantt Chart goes here*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77390" y="253289"/>
            <a:ext cx="500231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Risks and Mitigations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Problem Identification | Recommendations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Implementation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Financials | Executive Summary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30570" y="2327366"/>
            <a:ext cx="6918397" cy="1916184"/>
            <a:chOff x="0" y="0"/>
            <a:chExt cx="1629027" cy="451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29027" cy="49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30570" y="4394416"/>
            <a:ext cx="6918397" cy="1916184"/>
            <a:chOff x="0" y="0"/>
            <a:chExt cx="1629027" cy="451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29027" cy="489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30570" y="6461466"/>
            <a:ext cx="6918397" cy="1916184"/>
            <a:chOff x="0" y="0"/>
            <a:chExt cx="1629027" cy="451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29027" cy="489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7505" y="2344570"/>
            <a:ext cx="6918397" cy="1916184"/>
            <a:chOff x="0" y="0"/>
            <a:chExt cx="1629027" cy="4511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29027" cy="49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7505" y="4411620"/>
            <a:ext cx="6918397" cy="1916184"/>
            <a:chOff x="0" y="0"/>
            <a:chExt cx="1629027" cy="4511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29027" cy="489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7505" y="6478671"/>
            <a:ext cx="6918397" cy="1916184"/>
            <a:chOff x="0" y="0"/>
            <a:chExt cx="1629027" cy="451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29027" cy="49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001930" y="2395061"/>
            <a:ext cx="1832547" cy="1864012"/>
            <a:chOff x="0" y="0"/>
            <a:chExt cx="2443395" cy="2485349"/>
          </a:xfrm>
        </p:grpSpPr>
        <p:sp>
          <p:nvSpPr>
            <p:cNvPr name="AutoShape 27" id="27"/>
            <p:cNvSpPr/>
            <p:nvPr/>
          </p:nvSpPr>
          <p:spPr>
            <a:xfrm flipV="true">
              <a:off x="436412" y="0"/>
              <a:ext cx="0" cy="2050811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436412" y="2050811"/>
              <a:ext cx="2006983" cy="0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145369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736654" y="159767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54085" y="75105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45369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736654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54085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45369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736654" y="1343580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-5400000">
              <a:off x="-837809" y="885443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Probability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28870" y="2119769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Impact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554085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001930" y="4462112"/>
            <a:ext cx="1832547" cy="1864012"/>
            <a:chOff x="0" y="0"/>
            <a:chExt cx="2443395" cy="2485349"/>
          </a:xfrm>
        </p:grpSpPr>
        <p:sp>
          <p:nvSpPr>
            <p:cNvPr name="AutoShape 41" id="41"/>
            <p:cNvSpPr/>
            <p:nvPr/>
          </p:nvSpPr>
          <p:spPr>
            <a:xfrm flipV="true">
              <a:off x="436412" y="0"/>
              <a:ext cx="0" cy="2050811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436412" y="2050811"/>
              <a:ext cx="2006983" cy="0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45369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736654" y="159767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54085" y="75105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145369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736654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54085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145369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736654" y="1343580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-5400000">
              <a:off x="-837809" y="885443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Probability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28870" y="2119769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Impact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554085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001930" y="6530843"/>
            <a:ext cx="1832547" cy="1864012"/>
            <a:chOff x="0" y="0"/>
            <a:chExt cx="2443395" cy="2485349"/>
          </a:xfrm>
        </p:grpSpPr>
        <p:sp>
          <p:nvSpPr>
            <p:cNvPr name="AutoShape 55" id="55"/>
            <p:cNvSpPr/>
            <p:nvPr/>
          </p:nvSpPr>
          <p:spPr>
            <a:xfrm flipV="true">
              <a:off x="436412" y="0"/>
              <a:ext cx="0" cy="2050811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436412" y="2050811"/>
              <a:ext cx="2006983" cy="0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145369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736654" y="159767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554085" y="75105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45369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736654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554085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145369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736654" y="1343580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 rot="-5400000">
              <a:off x="-837809" y="885443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Probability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428870" y="2119769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Impact</a:t>
              </a:r>
            </a:p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554085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3589339" y="1702281"/>
            <a:ext cx="1287932" cy="46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Risks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07816" y="1685077"/>
            <a:ext cx="2103036" cy="46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Mitigations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24236" y="2868259"/>
            <a:ext cx="4709045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Text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37426" y="4918105"/>
            <a:ext cx="5178556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Text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141318" y="6859533"/>
            <a:ext cx="608409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ext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966907" y="4711478"/>
            <a:ext cx="5518068" cy="39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966907" y="2868259"/>
            <a:ext cx="5333837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xt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945662" y="6730092"/>
            <a:ext cx="5488211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b="true" sz="2404">
                <a:solidFill>
                  <a:srgbClr val="FF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2404">
                <a:solidFill>
                  <a:srgbClr val="FF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8918203" y="2977749"/>
            <a:ext cx="376397" cy="349318"/>
          </a:xfrm>
          <a:custGeom>
            <a:avLst/>
            <a:gdLst/>
            <a:ahLst/>
            <a:cxnLst/>
            <a:rect r="r" b="b" t="t" l="l"/>
            <a:pathLst>
              <a:path h="349318" w="376397">
                <a:moveTo>
                  <a:pt x="0" y="0"/>
                </a:moveTo>
                <a:lnTo>
                  <a:pt x="376397" y="0"/>
                </a:lnTo>
                <a:lnTo>
                  <a:pt x="376397" y="349318"/>
                </a:lnTo>
                <a:lnTo>
                  <a:pt x="0" y="349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02" t="-28449" r="-34168" b="-30665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918203" y="4606887"/>
            <a:ext cx="376397" cy="349318"/>
          </a:xfrm>
          <a:custGeom>
            <a:avLst/>
            <a:gdLst/>
            <a:ahLst/>
            <a:cxnLst/>
            <a:rect r="r" b="b" t="t" l="l"/>
            <a:pathLst>
              <a:path h="349318" w="376397">
                <a:moveTo>
                  <a:pt x="0" y="0"/>
                </a:moveTo>
                <a:lnTo>
                  <a:pt x="376397" y="0"/>
                </a:lnTo>
                <a:lnTo>
                  <a:pt x="376397" y="349318"/>
                </a:lnTo>
                <a:lnTo>
                  <a:pt x="0" y="349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02" t="-28449" r="-34168" b="-30665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918203" y="7602473"/>
            <a:ext cx="376397" cy="349318"/>
          </a:xfrm>
          <a:custGeom>
            <a:avLst/>
            <a:gdLst/>
            <a:ahLst/>
            <a:cxnLst/>
            <a:rect r="r" b="b" t="t" l="l"/>
            <a:pathLst>
              <a:path h="349318" w="376397">
                <a:moveTo>
                  <a:pt x="0" y="0"/>
                </a:moveTo>
                <a:lnTo>
                  <a:pt x="376397" y="0"/>
                </a:lnTo>
                <a:lnTo>
                  <a:pt x="376397" y="349319"/>
                </a:lnTo>
                <a:lnTo>
                  <a:pt x="0" y="349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02" t="-28449" r="-34168" b="-30665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7742" y="253289"/>
            <a:ext cx="206218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Financials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Financials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Executive Summary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38087" y="253289"/>
            <a:ext cx="601182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Key Performance Indiciators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Financials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Executive Summary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257619"/>
            <a:ext cx="5027377" cy="5745931"/>
            <a:chOff x="0" y="0"/>
            <a:chExt cx="1721142" cy="1967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1142" cy="1967141"/>
            </a:xfrm>
            <a:custGeom>
              <a:avLst/>
              <a:gdLst/>
              <a:ahLst/>
              <a:cxnLst/>
              <a:rect r="r" b="b" t="t" l="l"/>
              <a:pathLst>
                <a:path h="1967141" w="1721142">
                  <a:moveTo>
                    <a:pt x="61598" y="0"/>
                  </a:moveTo>
                  <a:lnTo>
                    <a:pt x="1659544" y="0"/>
                  </a:lnTo>
                  <a:cubicBezTo>
                    <a:pt x="1675880" y="0"/>
                    <a:pt x="1691548" y="6490"/>
                    <a:pt x="1703100" y="18042"/>
                  </a:cubicBezTo>
                  <a:cubicBezTo>
                    <a:pt x="1714652" y="29594"/>
                    <a:pt x="1721142" y="45261"/>
                    <a:pt x="1721142" y="61598"/>
                  </a:cubicBezTo>
                  <a:lnTo>
                    <a:pt x="1721142" y="1905543"/>
                  </a:lnTo>
                  <a:cubicBezTo>
                    <a:pt x="1721142" y="1939563"/>
                    <a:pt x="1693563" y="1967141"/>
                    <a:pt x="1659544" y="1967141"/>
                  </a:cubicBezTo>
                  <a:lnTo>
                    <a:pt x="61598" y="1967141"/>
                  </a:lnTo>
                  <a:cubicBezTo>
                    <a:pt x="27578" y="1967141"/>
                    <a:pt x="0" y="1939563"/>
                    <a:pt x="0" y="1905543"/>
                  </a:cubicBezTo>
                  <a:lnTo>
                    <a:pt x="0" y="61598"/>
                  </a:lnTo>
                  <a:cubicBezTo>
                    <a:pt x="0" y="45261"/>
                    <a:pt x="6490" y="29594"/>
                    <a:pt x="18042" y="18042"/>
                  </a:cubicBezTo>
                  <a:cubicBezTo>
                    <a:pt x="29594" y="6490"/>
                    <a:pt x="45261" y="0"/>
                    <a:pt x="61598" y="0"/>
                  </a:cubicBezTo>
                  <a:close/>
                </a:path>
              </a:pathLst>
            </a:custGeom>
            <a:ln w="38100" cap="rnd">
              <a:solidFill>
                <a:srgbClr val="049FD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721142" cy="2024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35423" y="3257619"/>
            <a:ext cx="5027377" cy="5745931"/>
            <a:chOff x="0" y="0"/>
            <a:chExt cx="1721142" cy="19671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1142" cy="1967141"/>
            </a:xfrm>
            <a:custGeom>
              <a:avLst/>
              <a:gdLst/>
              <a:ahLst/>
              <a:cxnLst/>
              <a:rect r="r" b="b" t="t" l="l"/>
              <a:pathLst>
                <a:path h="1967141" w="1721142">
                  <a:moveTo>
                    <a:pt x="61598" y="0"/>
                  </a:moveTo>
                  <a:lnTo>
                    <a:pt x="1659544" y="0"/>
                  </a:lnTo>
                  <a:cubicBezTo>
                    <a:pt x="1675880" y="0"/>
                    <a:pt x="1691548" y="6490"/>
                    <a:pt x="1703100" y="18042"/>
                  </a:cubicBezTo>
                  <a:cubicBezTo>
                    <a:pt x="1714652" y="29594"/>
                    <a:pt x="1721142" y="45261"/>
                    <a:pt x="1721142" y="61598"/>
                  </a:cubicBezTo>
                  <a:lnTo>
                    <a:pt x="1721142" y="1905543"/>
                  </a:lnTo>
                  <a:cubicBezTo>
                    <a:pt x="1721142" y="1939563"/>
                    <a:pt x="1693563" y="1967141"/>
                    <a:pt x="1659544" y="1967141"/>
                  </a:cubicBezTo>
                  <a:lnTo>
                    <a:pt x="61598" y="1967141"/>
                  </a:lnTo>
                  <a:cubicBezTo>
                    <a:pt x="27578" y="1967141"/>
                    <a:pt x="0" y="1939563"/>
                    <a:pt x="0" y="1905543"/>
                  </a:cubicBezTo>
                  <a:lnTo>
                    <a:pt x="0" y="61598"/>
                  </a:lnTo>
                  <a:cubicBezTo>
                    <a:pt x="0" y="45261"/>
                    <a:pt x="6490" y="29594"/>
                    <a:pt x="18042" y="18042"/>
                  </a:cubicBezTo>
                  <a:cubicBezTo>
                    <a:pt x="29594" y="6490"/>
                    <a:pt x="45261" y="0"/>
                    <a:pt x="61598" y="0"/>
                  </a:cubicBezTo>
                  <a:close/>
                </a:path>
              </a:pathLst>
            </a:custGeom>
            <a:ln w="38100" cap="rnd">
              <a:solidFill>
                <a:srgbClr val="049FD9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721142" cy="2024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75472" y="3257619"/>
            <a:ext cx="5027377" cy="5835955"/>
            <a:chOff x="0" y="0"/>
            <a:chExt cx="1721142" cy="19979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1142" cy="1997961"/>
            </a:xfrm>
            <a:custGeom>
              <a:avLst/>
              <a:gdLst/>
              <a:ahLst/>
              <a:cxnLst/>
              <a:rect r="r" b="b" t="t" l="l"/>
              <a:pathLst>
                <a:path h="1997961" w="1721142">
                  <a:moveTo>
                    <a:pt x="61598" y="0"/>
                  </a:moveTo>
                  <a:lnTo>
                    <a:pt x="1659544" y="0"/>
                  </a:lnTo>
                  <a:cubicBezTo>
                    <a:pt x="1675880" y="0"/>
                    <a:pt x="1691548" y="6490"/>
                    <a:pt x="1703100" y="18042"/>
                  </a:cubicBezTo>
                  <a:cubicBezTo>
                    <a:pt x="1714652" y="29594"/>
                    <a:pt x="1721142" y="45261"/>
                    <a:pt x="1721142" y="61598"/>
                  </a:cubicBezTo>
                  <a:lnTo>
                    <a:pt x="1721142" y="1936363"/>
                  </a:lnTo>
                  <a:cubicBezTo>
                    <a:pt x="1721142" y="1970383"/>
                    <a:pt x="1693563" y="1997961"/>
                    <a:pt x="1659544" y="1997961"/>
                  </a:cubicBezTo>
                  <a:lnTo>
                    <a:pt x="61598" y="1997961"/>
                  </a:lnTo>
                  <a:cubicBezTo>
                    <a:pt x="45261" y="1997961"/>
                    <a:pt x="29594" y="1991472"/>
                    <a:pt x="18042" y="1979920"/>
                  </a:cubicBezTo>
                  <a:cubicBezTo>
                    <a:pt x="6490" y="1968368"/>
                    <a:pt x="0" y="1952700"/>
                    <a:pt x="0" y="1936363"/>
                  </a:cubicBezTo>
                  <a:lnTo>
                    <a:pt x="0" y="61598"/>
                  </a:lnTo>
                  <a:cubicBezTo>
                    <a:pt x="0" y="45261"/>
                    <a:pt x="6490" y="29594"/>
                    <a:pt x="18042" y="18042"/>
                  </a:cubicBezTo>
                  <a:cubicBezTo>
                    <a:pt x="29594" y="6490"/>
                    <a:pt x="45261" y="0"/>
                    <a:pt x="61598" y="0"/>
                  </a:cubicBezTo>
                  <a:close/>
                </a:path>
              </a:pathLst>
            </a:custGeom>
            <a:ln w="38100" cap="rnd">
              <a:solidFill>
                <a:srgbClr val="049FD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21142" cy="2055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58929" y="4465167"/>
            <a:ext cx="1938094" cy="1356666"/>
          </a:xfrm>
          <a:custGeom>
            <a:avLst/>
            <a:gdLst/>
            <a:ahLst/>
            <a:cxnLst/>
            <a:rect r="r" b="b" t="t" l="l"/>
            <a:pathLst>
              <a:path h="1356666" w="1938094">
                <a:moveTo>
                  <a:pt x="0" y="0"/>
                </a:moveTo>
                <a:lnTo>
                  <a:pt x="1938094" y="0"/>
                </a:lnTo>
                <a:lnTo>
                  <a:pt x="1938094" y="1356666"/>
                </a:lnTo>
                <a:lnTo>
                  <a:pt x="0" y="1356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45642" y="4416107"/>
            <a:ext cx="1861449" cy="1651613"/>
          </a:xfrm>
          <a:custGeom>
            <a:avLst/>
            <a:gdLst/>
            <a:ahLst/>
            <a:cxnLst/>
            <a:rect r="r" b="b" t="t" l="l"/>
            <a:pathLst>
              <a:path h="1651613" w="1861449">
                <a:moveTo>
                  <a:pt x="0" y="0"/>
                </a:moveTo>
                <a:lnTo>
                  <a:pt x="1861449" y="0"/>
                </a:lnTo>
                <a:lnTo>
                  <a:pt x="1861449" y="1651613"/>
                </a:lnTo>
                <a:lnTo>
                  <a:pt x="0" y="1651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01200" y="4533462"/>
            <a:ext cx="1613397" cy="1642135"/>
          </a:xfrm>
          <a:custGeom>
            <a:avLst/>
            <a:gdLst/>
            <a:ahLst/>
            <a:cxnLst/>
            <a:rect r="r" b="b" t="t" l="l"/>
            <a:pathLst>
              <a:path h="1642135" w="1613397">
                <a:moveTo>
                  <a:pt x="0" y="0"/>
                </a:moveTo>
                <a:lnTo>
                  <a:pt x="1613398" y="0"/>
                </a:lnTo>
                <a:lnTo>
                  <a:pt x="1613398" y="1642134"/>
                </a:lnTo>
                <a:lnTo>
                  <a:pt x="0" y="1642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55909" y="3686799"/>
            <a:ext cx="192903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olution #2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3345" y="6216787"/>
            <a:ext cx="42687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76021" y="3659495"/>
            <a:ext cx="493273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 #1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58614" y="3505756"/>
            <a:ext cx="416493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#2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31392" y="6366096"/>
            <a:ext cx="42687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67700" y="6375621"/>
            <a:ext cx="4155843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</a:t>
            </a:r>
            <a:r>
              <a:rPr lang="en-US" sz="2832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3593" y="6466659"/>
            <a:ext cx="4268766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Text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88692" y="253289"/>
            <a:ext cx="431061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729997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Financials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0" y="870823"/>
            <a:ext cx="16571560" cy="8545354"/>
            <a:chOff x="0" y="0"/>
            <a:chExt cx="4364526" cy="2250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4526" cy="2250628"/>
            </a:xfrm>
            <a:custGeom>
              <a:avLst/>
              <a:gdLst/>
              <a:ahLst/>
              <a:cxnLst/>
              <a:rect r="r" b="b" t="t" l="l"/>
              <a:pathLst>
                <a:path h="2250628" w="4364526">
                  <a:moveTo>
                    <a:pt x="23826" y="0"/>
                  </a:moveTo>
                  <a:lnTo>
                    <a:pt x="4340700" y="0"/>
                  </a:lnTo>
                  <a:cubicBezTo>
                    <a:pt x="4347019" y="0"/>
                    <a:pt x="4353079" y="2510"/>
                    <a:pt x="4357548" y="6979"/>
                  </a:cubicBezTo>
                  <a:cubicBezTo>
                    <a:pt x="4362016" y="11447"/>
                    <a:pt x="4364526" y="17507"/>
                    <a:pt x="4364526" y="23826"/>
                  </a:cubicBezTo>
                  <a:lnTo>
                    <a:pt x="4364526" y="2226802"/>
                  </a:lnTo>
                  <a:cubicBezTo>
                    <a:pt x="4364526" y="2233121"/>
                    <a:pt x="4362016" y="2239182"/>
                    <a:pt x="4357548" y="2243650"/>
                  </a:cubicBezTo>
                  <a:cubicBezTo>
                    <a:pt x="4353079" y="2248118"/>
                    <a:pt x="4347019" y="2250628"/>
                    <a:pt x="4340700" y="2250628"/>
                  </a:cubicBezTo>
                  <a:lnTo>
                    <a:pt x="23826" y="2250628"/>
                  </a:lnTo>
                  <a:cubicBezTo>
                    <a:pt x="17507" y="2250628"/>
                    <a:pt x="11447" y="2248118"/>
                    <a:pt x="6979" y="2243650"/>
                  </a:cubicBezTo>
                  <a:cubicBezTo>
                    <a:pt x="2510" y="2239182"/>
                    <a:pt x="0" y="2233121"/>
                    <a:pt x="0" y="222680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ln w="47625" cap="rnd">
              <a:solidFill>
                <a:srgbClr val="F4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64526" cy="2288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18349" y="1189377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6"/>
                </a:lnTo>
                <a:lnTo>
                  <a:pt x="0" y="691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4768" y="4174816"/>
            <a:ext cx="8261559" cy="2446936"/>
            <a:chOff x="0" y="0"/>
            <a:chExt cx="11015412" cy="326258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52400"/>
              <a:ext cx="11015412" cy="1615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00"/>
                </a:lnSpc>
              </a:pPr>
              <a:r>
                <a:rPr lang="en-US" b="true" sz="8700">
                  <a:solidFill>
                    <a:srgbClr val="F4FFFF"/>
                  </a:solidFill>
                  <a:latin typeface="Lato Bold"/>
                  <a:ea typeface="Lato Bold"/>
                  <a:cs typeface="Lato Bold"/>
                  <a:sym typeface="Lato Bold"/>
                </a:rPr>
                <a:t>THANK YOU!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410421" y="1834520"/>
              <a:ext cx="4194570" cy="1428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2"/>
                </a:lnSpc>
              </a:pPr>
              <a:r>
                <a:rPr lang="en-US" b="true" sz="4012">
                  <a:solidFill>
                    <a:srgbClr val="F4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ANY QUESTIONS?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63937" y="3413748"/>
            <a:ext cx="5787216" cy="4204600"/>
          </a:xfrm>
          <a:custGeom>
            <a:avLst/>
            <a:gdLst/>
            <a:ahLst/>
            <a:cxnLst/>
            <a:rect r="r" b="b" t="t" l="l"/>
            <a:pathLst>
              <a:path h="4204600" w="5787216">
                <a:moveTo>
                  <a:pt x="0" y="0"/>
                </a:moveTo>
                <a:lnTo>
                  <a:pt x="5787216" y="0"/>
                </a:lnTo>
                <a:lnTo>
                  <a:pt x="5787216" y="4204600"/>
                </a:lnTo>
                <a:lnTo>
                  <a:pt x="0" y="420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2" t="-25218" r="-4102" b="-25971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88975" y="253289"/>
            <a:ext cx="215530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Financials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4684" y="1774723"/>
            <a:ext cx="12450253" cy="158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034" spc="-166" u="sng">
                <a:solidFill>
                  <a:srgbClr val="049FD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Appendix A:  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034" spc="-166" u="sng">
                <a:solidFill>
                  <a:srgbClr val="049FD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Appendix B:  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034" spc="-166" u="sng">
                <a:solidFill>
                  <a:srgbClr val="049FD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Appendix c: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89230" y="253289"/>
            <a:ext cx="383802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Appendices A: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Financials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DAHDNmqBFqI</dc:identifier>
  <dcterms:modified xsi:type="dcterms:W3CDTF">2011-08-01T06:04:30Z</dcterms:modified>
  <cp:revision>1</cp:revision>
  <dc:title>Cisco Webex Case Comp By Agentix Consulting</dc:title>
</cp:coreProperties>
</file>