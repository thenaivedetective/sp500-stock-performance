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Lato Bold" charset="1" panose="020F0502020204030203"/>
      <p:regular r:id="rId23"/>
    </p:embeddedFont>
    <p:embeddedFont>
      <p:font typeface="Futura" charset="1" panose="020B0502020204020303"/>
      <p:regular r:id="rId24"/>
    </p:embeddedFont>
    <p:embeddedFont>
      <p:font typeface="Futura Bold" charset="1" panose="020B0702020204020203"/>
      <p:regular r:id="rId25"/>
    </p:embeddedFont>
    <p:embeddedFont>
      <p:font typeface="Canva Sans" charset="1" panose="020B0503030501040103"/>
      <p:regular r:id="rId26"/>
    </p:embeddedFont>
    <p:embeddedFont>
      <p:font typeface="Canva Sans Bold" charset="1" panose="020B0803030501040103"/>
      <p:regular r:id="rId27"/>
    </p:embeddedFont>
    <p:embeddedFont>
      <p:font typeface="Lato" charset="1" panose="020F0502020204030203"/>
      <p:regular r:id="rId28"/>
    </p:embeddedFont>
    <p:embeddedFont>
      <p:font typeface="Open Sans Bold" charset="1" panose="00000000000000000000"/>
      <p:regular r:id="rId29"/>
    </p:embeddedFont>
    <p:embeddedFont>
      <p:font typeface="TT Commons Pro Bold" charset="1" panose="020B0103030102020204"/>
      <p:regular r:id="rId30"/>
    </p:embeddedFont>
    <p:embeddedFont>
      <p:font typeface="Open Sans" charset="1" panose="00000000000000000000"/>
      <p:regular r:id="rId31"/>
    </p:embeddedFont>
    <p:embeddedFont>
      <p:font typeface="Open Sans Bold Italics" charset="1" panose="00000000000000000000"/>
      <p:regular r:id="rId32"/>
    </p:embeddedFont>
    <p:embeddedFont>
      <p:font typeface="TT Commons Pro" charset="1" panose="020B0103030102020204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Relationship Id="rId32" Type="http://schemas.openxmlformats.org/officeDocument/2006/relationships/font" Target="fonts/font32.fntdata"/><Relationship Id="rId33" Type="http://schemas.openxmlformats.org/officeDocument/2006/relationships/font" Target="fonts/font3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17.png"/><Relationship Id="rId13" Type="http://schemas.openxmlformats.org/officeDocument/2006/relationships/image" Target="../media/image18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Relationship Id="rId8" Type="http://schemas.openxmlformats.org/officeDocument/2006/relationships/image" Target="../media/image23.png"/><Relationship Id="rId9" Type="http://schemas.openxmlformats.org/officeDocument/2006/relationships/image" Target="../media/image2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8220" y="870823"/>
            <a:ext cx="16571560" cy="8545354"/>
            <a:chOff x="0" y="0"/>
            <a:chExt cx="4364526" cy="22506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4526" cy="2250628"/>
            </a:xfrm>
            <a:custGeom>
              <a:avLst/>
              <a:gdLst/>
              <a:ahLst/>
              <a:cxnLst/>
              <a:rect r="r" b="b" t="t" l="l"/>
              <a:pathLst>
                <a:path h="2250628" w="4364526">
                  <a:moveTo>
                    <a:pt x="23826" y="0"/>
                  </a:moveTo>
                  <a:lnTo>
                    <a:pt x="4340700" y="0"/>
                  </a:lnTo>
                  <a:cubicBezTo>
                    <a:pt x="4347019" y="0"/>
                    <a:pt x="4353079" y="2510"/>
                    <a:pt x="4357548" y="6979"/>
                  </a:cubicBezTo>
                  <a:cubicBezTo>
                    <a:pt x="4362016" y="11447"/>
                    <a:pt x="4364526" y="17507"/>
                    <a:pt x="4364526" y="23826"/>
                  </a:cubicBezTo>
                  <a:lnTo>
                    <a:pt x="4364526" y="2226802"/>
                  </a:lnTo>
                  <a:cubicBezTo>
                    <a:pt x="4364526" y="2233121"/>
                    <a:pt x="4362016" y="2239182"/>
                    <a:pt x="4357548" y="2243650"/>
                  </a:cubicBezTo>
                  <a:cubicBezTo>
                    <a:pt x="4353079" y="2248118"/>
                    <a:pt x="4347019" y="2250628"/>
                    <a:pt x="4340700" y="2250628"/>
                  </a:cubicBezTo>
                  <a:lnTo>
                    <a:pt x="23826" y="2250628"/>
                  </a:lnTo>
                  <a:cubicBezTo>
                    <a:pt x="17507" y="2250628"/>
                    <a:pt x="11447" y="2248118"/>
                    <a:pt x="6979" y="2243650"/>
                  </a:cubicBezTo>
                  <a:cubicBezTo>
                    <a:pt x="2510" y="2239182"/>
                    <a:pt x="0" y="2233121"/>
                    <a:pt x="0" y="2226802"/>
                  </a:cubicBezTo>
                  <a:lnTo>
                    <a:pt x="0" y="23826"/>
                  </a:lnTo>
                  <a:cubicBezTo>
                    <a:pt x="0" y="17507"/>
                    <a:pt x="2510" y="11447"/>
                    <a:pt x="6979" y="6979"/>
                  </a:cubicBezTo>
                  <a:cubicBezTo>
                    <a:pt x="11447" y="2510"/>
                    <a:pt x="17507" y="0"/>
                    <a:pt x="23826" y="0"/>
                  </a:cubicBezTo>
                  <a:close/>
                </a:path>
              </a:pathLst>
            </a:custGeom>
            <a:ln w="47625" cap="rnd">
              <a:solidFill>
                <a:srgbClr val="F4FFFF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364526" cy="22887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714122" y="1411900"/>
            <a:ext cx="2003877" cy="1059550"/>
          </a:xfrm>
          <a:custGeom>
            <a:avLst/>
            <a:gdLst/>
            <a:ahLst/>
            <a:cxnLst/>
            <a:rect r="r" b="b" t="t" l="l"/>
            <a:pathLst>
              <a:path h="1059550" w="2003877">
                <a:moveTo>
                  <a:pt x="0" y="0"/>
                </a:moveTo>
                <a:lnTo>
                  <a:pt x="2003877" y="0"/>
                </a:lnTo>
                <a:lnTo>
                  <a:pt x="2003877" y="1059550"/>
                </a:lnTo>
                <a:lnTo>
                  <a:pt x="0" y="10595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7" id="7"/>
          <p:cNvSpPr/>
          <p:nvPr/>
        </p:nvSpPr>
        <p:spPr>
          <a:xfrm>
            <a:off x="1486507" y="5225778"/>
            <a:ext cx="649224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9476349" y="3395257"/>
            <a:ext cx="5787216" cy="4204600"/>
          </a:xfrm>
          <a:custGeom>
            <a:avLst/>
            <a:gdLst/>
            <a:ahLst/>
            <a:cxnLst/>
            <a:rect r="r" b="b" t="t" l="l"/>
            <a:pathLst>
              <a:path h="4204600" w="5787216">
                <a:moveTo>
                  <a:pt x="0" y="0"/>
                </a:moveTo>
                <a:lnTo>
                  <a:pt x="5787217" y="0"/>
                </a:lnTo>
                <a:lnTo>
                  <a:pt x="5787217" y="4204600"/>
                </a:lnTo>
                <a:lnTo>
                  <a:pt x="0" y="420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742" t="-25218" r="-4102" b="-2597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486507" y="3993290"/>
            <a:ext cx="12377893" cy="1173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00"/>
              </a:lnSpc>
            </a:pPr>
            <a:r>
              <a:rPr lang="en-US" sz="8700" b="true">
                <a:solidFill>
                  <a:srgbClr val="F4FFFF"/>
                </a:solidFill>
                <a:latin typeface="Lato Bold"/>
                <a:ea typeface="Lato Bold"/>
                <a:cs typeface="Lato Bold"/>
                <a:sym typeface="Lato Bold"/>
              </a:rPr>
              <a:t>WEBEX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86507" y="5967590"/>
            <a:ext cx="6492240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49FD9"/>
                </a:solidFill>
                <a:latin typeface="Futura"/>
                <a:ea typeface="Futura"/>
                <a:cs typeface="Futura"/>
                <a:sym typeface="Futura"/>
              </a:rPr>
              <a:t>Krishianjan Lanka, Lana Jalal Gidan, Nur Ali and Zoe Zimmermann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86507" y="5373732"/>
            <a:ext cx="6492240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049FD9"/>
                </a:solidFill>
                <a:latin typeface="Futura Bold"/>
                <a:ea typeface="Futura Bold"/>
                <a:cs typeface="Futura Bold"/>
                <a:sym typeface="Futura Bold"/>
              </a:rPr>
              <a:t>Agentix Consulting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74875" y="3544899"/>
            <a:ext cx="3433737" cy="3433737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199688" y="3544899"/>
            <a:ext cx="3315470" cy="331547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626198" y="3426631"/>
            <a:ext cx="3405415" cy="3405415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5000" r="0" b="-2500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4279388" y="3398309"/>
            <a:ext cx="3433737" cy="343373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78303" t="0" r="-78303" b="0"/>
              </a:stretch>
            </a:blipFill>
          </p:spPr>
        </p:sp>
      </p:grpSp>
      <p:sp>
        <p:nvSpPr>
          <p:cNvPr name="AutoShape 13" id="13"/>
          <p:cNvSpPr/>
          <p:nvPr/>
        </p:nvSpPr>
        <p:spPr>
          <a:xfrm>
            <a:off x="-2191510" y="1617662"/>
            <a:ext cx="6200122" cy="0"/>
          </a:xfrm>
          <a:prstGeom prst="line">
            <a:avLst/>
          </a:prstGeom>
          <a:ln cap="flat" w="38100">
            <a:solidFill>
              <a:srgbClr val="FEFEF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4279388" y="1617662"/>
            <a:ext cx="5792134" cy="0"/>
          </a:xfrm>
          <a:prstGeom prst="line">
            <a:avLst/>
          </a:prstGeom>
          <a:ln cap="flat" w="38100">
            <a:solidFill>
              <a:srgbClr val="FEFEF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6032626" y="253289"/>
            <a:ext cx="6222748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Meet Agentix Consulting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85603" y="7201773"/>
            <a:ext cx="3612282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Krishianjan Lanka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109292" y="7201773"/>
            <a:ext cx="350549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 Lana Jalal Gidan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625358" y="7201773"/>
            <a:ext cx="1407096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Nur Ali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187139" y="7201773"/>
            <a:ext cx="361823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204F69"/>
                </a:solidFill>
                <a:latin typeface="Canva Sans"/>
                <a:ea typeface="Canva Sans"/>
                <a:cs typeface="Canva Sans"/>
                <a:sym typeface="Canva Sans"/>
              </a:rPr>
              <a:t>Zoe Zimmermann</a:t>
            </a:r>
          </a:p>
        </p:txBody>
      </p:sp>
      <p:pic>
        <p:nvPicPr>
          <p:cNvPr id="20" name="Picture 19" descr="lana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5461" y="3710672"/>
            <a:ext cx="2983924" cy="29839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3458578" y="1670870"/>
            <a:ext cx="10764561" cy="871426"/>
            <a:chOff x="0" y="0"/>
            <a:chExt cx="2530867" cy="20488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5" id="5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Industry Analysis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3458578" y="2542296"/>
            <a:ext cx="10764561" cy="871426"/>
            <a:chOff x="0" y="0"/>
            <a:chExt cx="2530867" cy="20488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Problem Identification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458578" y="3413722"/>
            <a:ext cx="10764561" cy="871426"/>
            <a:chOff x="0" y="0"/>
            <a:chExt cx="2530867" cy="20488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Recommendations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458578" y="4285148"/>
            <a:ext cx="10764561" cy="871426"/>
            <a:chOff x="0" y="0"/>
            <a:chExt cx="2530867" cy="20488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Implementation Timeline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458578" y="5151923"/>
            <a:ext cx="10764561" cy="871426"/>
            <a:chOff x="0" y="0"/>
            <a:chExt cx="2530867" cy="20488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Financials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458578" y="6023349"/>
            <a:ext cx="10764561" cy="871426"/>
            <a:chOff x="0" y="0"/>
            <a:chExt cx="2530867" cy="20488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Key Performance Indicators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3458578" y="6894775"/>
            <a:ext cx="10764561" cy="871426"/>
            <a:chOff x="0" y="0"/>
            <a:chExt cx="2530867" cy="20488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Risks and Mitigations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3458578" y="7744704"/>
            <a:ext cx="10764561" cy="871426"/>
            <a:chOff x="0" y="0"/>
            <a:chExt cx="2530867" cy="2048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30867" cy="204882"/>
            </a:xfrm>
            <a:custGeom>
              <a:avLst/>
              <a:gdLst/>
              <a:ahLst/>
              <a:cxnLst/>
              <a:rect r="r" b="b" t="t" l="l"/>
              <a:pathLst>
                <a:path h="204882" w="2530867">
                  <a:moveTo>
                    <a:pt x="14047" y="0"/>
                  </a:moveTo>
                  <a:lnTo>
                    <a:pt x="2516820" y="0"/>
                  </a:lnTo>
                  <a:cubicBezTo>
                    <a:pt x="2524578" y="0"/>
                    <a:pt x="2530867" y="6289"/>
                    <a:pt x="2530867" y="14047"/>
                  </a:cubicBezTo>
                  <a:lnTo>
                    <a:pt x="2530867" y="190835"/>
                  </a:lnTo>
                  <a:cubicBezTo>
                    <a:pt x="2530867" y="194560"/>
                    <a:pt x="2529387" y="198133"/>
                    <a:pt x="2526752" y="200768"/>
                  </a:cubicBezTo>
                  <a:cubicBezTo>
                    <a:pt x="2524118" y="203402"/>
                    <a:pt x="2520545" y="204882"/>
                    <a:pt x="2516820" y="204882"/>
                  </a:cubicBezTo>
                  <a:lnTo>
                    <a:pt x="14047" y="204882"/>
                  </a:lnTo>
                  <a:cubicBezTo>
                    <a:pt x="10321" y="204882"/>
                    <a:pt x="6749" y="203402"/>
                    <a:pt x="4114" y="200768"/>
                  </a:cubicBezTo>
                  <a:cubicBezTo>
                    <a:pt x="1480" y="198133"/>
                    <a:pt x="0" y="194560"/>
                    <a:pt x="0" y="190835"/>
                  </a:cubicBezTo>
                  <a:lnTo>
                    <a:pt x="0" y="14047"/>
                  </a:lnTo>
                  <a:cubicBezTo>
                    <a:pt x="0" y="10321"/>
                    <a:pt x="1480" y="6749"/>
                    <a:pt x="4114" y="4114"/>
                  </a:cubicBezTo>
                  <a:cubicBezTo>
                    <a:pt x="6749" y="1480"/>
                    <a:pt x="10321" y="0"/>
                    <a:pt x="14047" y="0"/>
                  </a:cubicBezTo>
                  <a:close/>
                </a:path>
              </a:pathLst>
            </a:custGeom>
            <a:solidFill>
              <a:srgbClr val="049FD9"/>
            </a:solidFill>
            <a:ln w="38100" cap="rnd">
              <a:solidFill>
                <a:srgbClr val="F8F7F2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6" id="26"/>
            <p:cNvSpPr txBox="true"/>
            <p:nvPr/>
          </p:nvSpPr>
          <p:spPr>
            <a:xfrm>
              <a:off x="0" y="-66675"/>
              <a:ext cx="2530867" cy="2715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900"/>
                </a:lnSpc>
                <a:spcBef>
                  <a:spcPct val="0"/>
                </a:spcBef>
              </a:pPr>
              <a:r>
                <a:rPr lang="en-US" b="true" sz="35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Executive Summary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7726557" y="253289"/>
            <a:ext cx="222860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AGENDA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 | Problem Identification | Recommendations | Implementation | Financials | KPIs | Risks | Executive Summary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KPIs | Risks | Executive Summary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028700" y="2121416"/>
            <a:ext cx="2032090" cy="203209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7077390" y="253289"/>
            <a:ext cx="4133219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Industry Analysis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Implementation | Financials | Executive Summary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326103" y="2121416"/>
            <a:ext cx="2032090" cy="203209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624893" y="2121416"/>
            <a:ext cx="2032090" cy="2032090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1463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04F69"/>
                </a:solidFill>
                <a:latin typeface="Lato"/>
              </a:defRPr>
            </a:pPr>
            <a:r>
              <a:t>Video Conferencing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194560"/>
            <a:ext cx="7315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Competitive Landscape</a:t>
            </a: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Microsoft Teams: 320M+ monthly active users, 2,000+ integrations, Copilot AI across Office 365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Zoom: 300M+ daily meeting participants, 2,500+ integrations, AI Companion 2.0 with agentic features at no extra cost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Webex: Strong in enterprise/government, FedRAMP &amp; HIPAA certified, AI Codec technology, but smaller integration ecosystem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Key Market Trends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Agentic AI projected to reach $65.5B by 2030 (45% CAGR)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Hybrid work: 74% of enterprises adopting permanent hybrid models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AI-powered productivity is the new differentiator, not video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828800"/>
            <a:ext cx="77724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Cisco Webex Strengths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$7.98B annual R&amp;D budget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$28B Splunk acquisition for enterprise observability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FedRAMP, HIPAA, SOC 2 Type II certified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Webex AI Codec: industry-leading ML audio pipeline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600M+ meeting minutes processed monthly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The Opportunity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No platform has launched a dedicated AI agent marketplace.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Webex can leapfrog competitors by combining Cisco security + Splunk observability + agentic AI.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Problem Identification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Problem Identification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Recommendations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587872" y="4058628"/>
            <a:ext cx="3327350" cy="1107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6"/>
              </a:lnSpc>
            </a:pPr>
            <a:r>
              <a:rPr lang="en-US" sz="433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What are our</a:t>
            </a:r>
            <a:r>
              <a:rPr lang="en-US" sz="4336">
                <a:solidFill>
                  <a:srgbClr val="393939"/>
                </a:solidFill>
                <a:latin typeface="Lato"/>
                <a:ea typeface="Lato"/>
                <a:cs typeface="Lato"/>
                <a:sym typeface="Lato"/>
              </a:rPr>
              <a:t/>
            </a:r>
          </a:p>
          <a:p>
            <a:pPr algn="ctr">
              <a:lnSpc>
                <a:spcPts val="4206"/>
              </a:lnSpc>
            </a:pPr>
            <a:r>
              <a:rPr lang="en-US" b="true" sz="4336">
                <a:solidFill>
                  <a:srgbClr val="049FD9"/>
                </a:solidFill>
                <a:latin typeface="Lato Bold"/>
                <a:ea typeface="Lato Bold"/>
                <a:cs typeface="Lato Bold"/>
                <a:sym typeface="Lato Bold"/>
              </a:rPr>
              <a:t>PROBLEMS?</a:t>
            </a:r>
          </a:p>
        </p:txBody>
      </p:sp>
      <p:sp>
        <p:nvSpPr>
          <p:cNvPr name="AutoShape 9" id="9"/>
          <p:cNvSpPr/>
          <p:nvPr/>
        </p:nvSpPr>
        <p:spPr>
          <a:xfrm>
            <a:off x="1321012" y="2649728"/>
            <a:ext cx="9366434" cy="59999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11454372" y="2222865"/>
            <a:ext cx="0" cy="7035436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V="true">
            <a:off x="2801073" y="5365686"/>
            <a:ext cx="7886373" cy="29355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8697374" y="1915833"/>
            <a:ext cx="5554173" cy="1001226"/>
            <a:chOff x="0" y="0"/>
            <a:chExt cx="7405564" cy="1334968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3035298" y="0"/>
              <a:ext cx="1334968" cy="1334968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800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0" y="279568"/>
              <a:ext cx="7405564" cy="7091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31"/>
                </a:lnSpc>
                <a:spcBef>
                  <a:spcPct val="0"/>
                </a:spcBef>
              </a:pPr>
              <a:r>
                <a:rPr lang="en-US" b="true" sz="3165">
                  <a:solidFill>
                    <a:srgbClr val="FFFAF9"/>
                  </a:solidFill>
                  <a:latin typeface="TT Commons Pro Bold"/>
                  <a:ea typeface="TT Commons Pro Bold"/>
                  <a:cs typeface="TT Commons Pro Bold"/>
                  <a:sym typeface="TT Commons Pro Bold"/>
                </a:rPr>
                <a:t>1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953759" y="4470684"/>
            <a:ext cx="1001226" cy="1001226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8693583" y="4663692"/>
            <a:ext cx="5554173" cy="54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1"/>
              </a:lnSpc>
              <a:spcBef>
                <a:spcPct val="0"/>
              </a:spcBef>
            </a:pPr>
            <a:r>
              <a:rPr lang="en-US" b="true" sz="3165">
                <a:solidFill>
                  <a:srgbClr val="FFFAF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425071" y="1924346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 #1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84359" y="4531361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 #2</a:t>
            </a: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921411" y="2762743"/>
            <a:ext cx="5753587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Webex AI is passive: it summarizes meetings but cannot prepare users, execute tasks, or follow up on action items.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086802" y="5503006"/>
            <a:ext cx="5710401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Webex excludes non-native speakers and non-technical users with language barriers, jargon, and no type-to-speak.</a:t>
            </a:r>
          </a:p>
        </p:txBody>
      </p:sp>
      <p:sp>
        <p:nvSpPr>
          <p:cNvPr name="AutoShape 25" id="25"/>
          <p:cNvSpPr/>
          <p:nvPr/>
        </p:nvSpPr>
        <p:spPr>
          <a:xfrm>
            <a:off x="4384353" y="7935766"/>
            <a:ext cx="6306884" cy="43124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0957550" y="7083889"/>
            <a:ext cx="1001226" cy="1001226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8697374" y="7276897"/>
            <a:ext cx="5554173" cy="54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31"/>
              </a:lnSpc>
              <a:spcBef>
                <a:spcPct val="0"/>
              </a:spcBef>
            </a:pPr>
            <a:r>
              <a:rPr lang="en-US" b="true" sz="3165">
                <a:solidFill>
                  <a:srgbClr val="FFFAF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03708" y="7210384"/>
            <a:ext cx="3090639" cy="72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88"/>
              </a:lnSpc>
              <a:spcBef>
                <a:spcPct val="0"/>
              </a:spcBef>
            </a:pP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 #3</a:t>
            </a:r>
            <a:r>
              <a:rPr lang="en-US" b="true" sz="4277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086802" y="8042401"/>
            <a:ext cx="5710401" cy="39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233"/>
              </a:lnSpc>
              <a:spcBef>
                <a:spcPct val="0"/>
              </a:spcBef>
            </a:pP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Webex has a weaker developer ecosystem: Teams has 2,000+, Zoom has 2,500+ integrations. No AI agent marketplace exists.</a:t>
            </a:r>
            <a:r>
              <a:rPr lang="en-US" sz="230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6465119" y="3272821"/>
            <a:ext cx="5864716" cy="0"/>
          </a:xfrm>
          <a:prstGeom prst="line">
            <a:avLst/>
          </a:prstGeom>
          <a:ln cap="flat" w="666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900535" y="2176652"/>
            <a:ext cx="7656039" cy="1380121"/>
            <a:chOff x="0" y="0"/>
            <a:chExt cx="10208052" cy="1840161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4183946" y="0"/>
              <a:ext cx="1840161" cy="1840161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99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0" y="382022"/>
              <a:ext cx="10208052" cy="9808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108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394814" y="3785624"/>
            <a:ext cx="809699" cy="80969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 flipV="true">
            <a:off x="5799664" y="3126548"/>
            <a:ext cx="0" cy="65907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5816873" y="4595324"/>
            <a:ext cx="0" cy="1381926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 flipV="true">
            <a:off x="5799664" y="5977250"/>
            <a:ext cx="665455" cy="0"/>
          </a:xfrm>
          <a:prstGeom prst="line">
            <a:avLst/>
          </a:prstGeom>
          <a:ln cap="flat" w="38100">
            <a:solidFill>
              <a:srgbClr val="39393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6754934" y="5656739"/>
            <a:ext cx="0" cy="3325991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6437279" y="5656739"/>
            <a:ext cx="635311" cy="635311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423776" y="7389085"/>
            <a:ext cx="635311" cy="635311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5310629" y="2490579"/>
            <a:ext cx="835852" cy="752267"/>
          </a:xfrm>
          <a:custGeom>
            <a:avLst/>
            <a:gdLst/>
            <a:ahLst/>
            <a:cxnLst/>
            <a:rect r="r" b="b" t="t" l="l"/>
            <a:pathLst>
              <a:path h="752267" w="835852">
                <a:moveTo>
                  <a:pt x="0" y="0"/>
                </a:moveTo>
                <a:lnTo>
                  <a:pt x="835852" y="0"/>
                </a:lnTo>
                <a:lnTo>
                  <a:pt x="835852" y="752266"/>
                </a:lnTo>
                <a:lnTo>
                  <a:pt x="0" y="75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09200" y="5445935"/>
            <a:ext cx="2916213" cy="528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47"/>
              </a:lnSpc>
            </a:pPr>
            <a:r>
              <a:rPr lang="en-US" b="true" sz="4070">
                <a:solidFill>
                  <a:srgbClr val="049FD9"/>
                </a:solidFill>
                <a:latin typeface="Lato Bold"/>
                <a:ea typeface="Lato Bold"/>
                <a:cs typeface="Lato Bold"/>
                <a:sym typeface="Lato Bold"/>
              </a:rPr>
              <a:t>SOLUTIONS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867306" y="3886495"/>
            <a:ext cx="5864716" cy="565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  <a:spcBef>
                <a:spcPct val="0"/>
              </a:spcBef>
            </a:pPr>
            <a:r>
              <a:rPr lang="en-US" b="true" sz="334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754934" y="1783221"/>
            <a:ext cx="7949808" cy="1313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8"/>
              </a:lnSpc>
              <a:spcBef>
                <a:spcPct val="0"/>
              </a:spcBef>
            </a:pPr>
            <a:r>
              <a:rPr lang="en-US" b="true" sz="3791" i="true">
                <a:solidFill>
                  <a:srgbClr val="049FD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Repositioning Webex with Three AI-Powered Solutions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402133" y="3736506"/>
            <a:ext cx="2874764" cy="77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3"/>
              </a:lnSpc>
              <a:spcBef>
                <a:spcPct val="0"/>
              </a:spcBef>
            </a:pPr>
            <a:r>
              <a:rPr lang="en-US" b="true" sz="4516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AI Meeting Prep &amp; Workflow Orchestrator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402133" y="4593435"/>
            <a:ext cx="9985332" cy="404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4"/>
              </a:lnSpc>
              <a:spcBef>
                <a:spcPct val="0"/>
              </a:spcBef>
            </a:pPr>
            <a:r>
              <a:rPr lang="en-US" b="true" sz="243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Transforms Webex from passive summarizer to agentic AI: Prepare, Perceive, Reason, Act, Follow-Up across the full meeting lifecycle.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010879" y="4471499"/>
            <a:ext cx="1306488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Our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227647" y="6270783"/>
            <a:ext cx="10614078" cy="447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90"/>
              </a:lnSpc>
              <a:spcBef>
                <a:spcPct val="0"/>
              </a:spcBef>
            </a:pPr>
            <a:r>
              <a:rPr lang="en-US" b="true" sz="2636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Real-time voice boost, live translation (100+ languages), jargon simplification, and type-to-speak for inclusive meetings.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227647" y="5727494"/>
            <a:ext cx="1841595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454129" y="7437332"/>
            <a:ext cx="4601610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3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266361" y="5590064"/>
            <a:ext cx="4495949" cy="605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VIBE - Voice &amp; Language Intelligence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214145" y="7371143"/>
            <a:ext cx="2013198" cy="605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49FD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Secure AI Agent Marketplace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252859" y="8042338"/>
            <a:ext cx="9134606" cy="46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17"/>
              </a:lnSpc>
              <a:spcBef>
                <a:spcPct val="0"/>
              </a:spcBef>
            </a:pPr>
            <a:r>
              <a:rPr lang="en-US" b="true" sz="2726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Industry-first marketplace: developers build, Cisco certifies, admins deploy, users benefit. 500+ agents Year 1.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858069" y="5734818"/>
            <a:ext cx="1830750" cy="44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1"/>
              </a:lnSpc>
              <a:spcBef>
                <a:spcPct val="0"/>
              </a:spcBef>
            </a:pPr>
            <a:r>
              <a:rPr lang="en-US" b="true" sz="2622">
                <a:solidFill>
                  <a:srgbClr val="FFFAF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AI Meeting Prep &amp; Workflow Orchestrator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Problem: Webex AI Cannot Execute Meetings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Webex AI tells users what happened but does not prepare them, act on decisions, or follow up. Competitors (Copilot, Zoom AI) already draft content and automate tasks.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Five-Phase Architecture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PREPARE: AI generates agendas, auto-slides, predicted Q&amp;A from CRM/Jira/calendar data before the meeting starts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PERCEIVE: Webex AI Codec processes live audio with DNN noise removal, speech-to-text, and task intent detection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REASON: A2A protocol retrieves context from Jira, Salesforce, SAP, ServiceNow via Cisco Secure Data Fabric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ACT: AI drafts tasks, user approves/rejects via in-meeting cards, agent executes through authenticated APIs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FOLLOW-UP: Detects unanswered questions, drafts responses, delivers via Webex/email with Splunk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Key Differentiators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Human-in-the-loop verification for every action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Zero-trust data fabric with Splunk audit logging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Full meeting lifecycle coverage (not just summaries)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Expected Impact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15 min saved per meeting in manual data entry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25% meeting-to-action rate (vs. 5% industry avg)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40% workflow automation within 12 months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85% task accuracy with human verification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90%+ Q&amp;A resolution rate post-meeting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VIBE - Voice &amp; Language Intelligence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333333"/>
                </a:solidFill>
                <a:latin typeface="TT Commons Pro"/>
              </a:defRPr>
            </a:pPr>
            <a:r>
              <a:t>Problem: Meetings Exclude Non-Native &amp; Non-Tech Users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Language barriers, jargon, poor audio, and inability to speak create systemic exclusion in global meetings.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VIBE Capabilities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Voice Boost: DNN noise removal (150+ types), echo cancel, auto gain, environment-adaptive EQ presets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Live Translation: 100+ languages, real-time ASR + neural machine translation + TTS delivery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Type-to-Speak: Users type in any language, VIBE speaks aloud for them. Labeled "Spoken by VIBE for [User]"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Simple Mode: Jargon to plain language with analogies (e.g., "API = power outlet for apps")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Q&amp;A Close-Loop: Non-native user asks in Hindi, presenter answers in English, VIBE translates + simplifies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Privacy &amp; Trust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Every TTS output labeled - VIBE never impersonates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Full audit trail via Splunk observability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Zero data retention option available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KPI Targets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Noise reduction: 95%+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ASR accuracy: 98%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Translation latency: &lt; 1 second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TTS naturalness: 4.5 / 5 user rating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Type-to-speak delivery: &lt; 2 seconds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+40% non-native speaker participation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772282" y="253289"/>
            <a:ext cx="474343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Secure AI Agent Marketplace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Recommendations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Implementation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9762" y="1314526"/>
            <a:ext cx="1112825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Problem: Weaker Developer Ecosystem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Teams: 2,000+ integrations. Zoom: 2,500+. No platform has a dedicated AI agent marketplace. Webex can be first.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Four-Stage Lifecycle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BUILD: Python/JS SDK, agent templates (CRM Updater, Ticket Creator, Doc Generator), sandbox testing environment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CERTIFY: Cisco security pipeline - static code analysis, permission review, SOC2/HIPAA/FedRAMP/GDPR compliance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DEPLOY: Enterprise admins browse by industry, configure permissions, set approval workflows, pilot rollout</a:t>
            </a:r>
          </a:p>
          <a:p>
            <a:pPr algn="l">
              <a:spcAft>
                <a:spcPts val="200"/>
              </a:spcAft>
              <a:defRPr sz="3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MONITOR: Splunk-powered dashboards, ML anomaly detection, instant kill-switch, full audit 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Three-Lane Architecture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Developer Journey: Build, test, submit for certification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Admin Journey: Browse, deploy, monitor, kill-switch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User Journey: Discover, install, approve actions in-meeting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400" b="1">
                <a:solidFill>
                  <a:srgbClr val="204F69"/>
                </a:solidFill>
                <a:latin typeface="TT Commons Pro"/>
              </a:defRPr>
            </a:pPr>
            <a:r>
              <a:t>Projected Impact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500+ certified agents in Year 1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$150M GMV by FY2028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3x developer ecosystem growth in 18 months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85% enterprise renewal rate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$50M annual marketplace commission by FY2029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70/30 developer-favoring revenue split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62066" y="253289"/>
            <a:ext cx="5242703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 Timeline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Financials | 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904570" y="4752026"/>
            <a:ext cx="6478860" cy="69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21"/>
              </a:lnSpc>
            </a:pPr>
            <a:r>
              <a:rPr lang="en-US" sz="4015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63040"/>
            <a:ext cx="1645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204F69"/>
                </a:solidFill>
                <a:latin typeface="Lato"/>
              </a:defRPr>
            </a:pPr>
            <a:r>
              <a:t>Phased Rollout: Q3 2026 - Q4 2028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333333"/>
                </a:solidFill>
                <a:latin typeface="TT Commons Pro"/>
              </a:defRPr>
            </a:pPr>
            <a:r>
              <a:t>Solution 1: AI Orchestrator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Q3-Q4 2026: NLP pipeline + task intent detection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Q1-Q2 2027: A2A integrations (Jira, Salesforce, SAP)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Q3 2027: PREPARE phase (auto-slides, predicted Q&amp;A)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Q4 2027: FOLLOW-UP phase + enterprise rollout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333333"/>
                </a:solidFill>
                <a:latin typeface="TT Commons Pro"/>
              </a:defRPr>
            </a:pPr>
            <a:r>
              <a:t>Solution 2: VIBE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Q3 2026: Voice Boost + DNN noise removal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Q4 2026: ASR + Live Translation (top 20 languages)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Q1 2027: Type-to-Speak + Simple Mode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Q2 2027: Q&amp;A Close-Loop + full 100+ 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333333"/>
                </a:solidFill>
                <a:latin typeface="TT Commons Pro"/>
              </a:defRPr>
            </a:pPr>
            <a:r>
              <a:t>Solution 3: Marketplace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Q3-Q4 2026: SDK development + certification pipeline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Q1 2027: Beta with 20-30 first-party agents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Q2-Q3 2027: Public launch + developer grants program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Q4 2027-2028: Scale to 500+ agents, revenue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Q3'26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Q4'26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Q1'27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Q2'27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Q3'27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Q4'27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Q1'28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Q2'28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0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Q3'28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61919" y="5303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04F69"/>
                </a:solidFill>
                <a:latin typeface="TT Commons Pro"/>
              </a:defRPr>
            </a:pPr>
            <a:r>
              <a:t>Q4'28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5669280"/>
            <a:ext cx="9326880" cy="411480"/>
          </a:xfrm>
          <a:prstGeom prst="rect">
            <a:avLst/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5715000"/>
            <a:ext cx="89611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TT Commons Pro"/>
              </a:defRPr>
            </a:pPr>
            <a:r>
              <a:t>Solution 1: AI Orchestrator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6217920"/>
            <a:ext cx="621792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6263640"/>
            <a:ext cx="58521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TT Commons Pro"/>
              </a:defRPr>
            </a:pPr>
            <a:r>
              <a:t>Solution 2: VIBE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6766560"/>
            <a:ext cx="1554480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54480" y="6812280"/>
            <a:ext cx="1517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TT Commons Pro"/>
              </a:defRPr>
            </a:pPr>
            <a:r>
              <a:t>Solution 3: Marketplace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7772400"/>
            <a:ext cx="1645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049FD9"/>
                </a:solidFill>
                <a:latin typeface="TT Commons Pro"/>
              </a:defRPr>
            </a:pPr>
            <a:r>
              <a:t>Key Milestones:  Q4 2026 - VIBE Voice Boost GA  |  Q2 2027 - Marketplace Public Launch  |  Q4 2027 - Full Orchestrator Rollout  |  FY2028 - 500+ Certified Agents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077390" y="253289"/>
            <a:ext cx="5002315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Risks and Mitigations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| Problem Identification | Recommendations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Implementation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Financials | Executive Summary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30570" y="2327366"/>
            <a:ext cx="6918397" cy="1916184"/>
            <a:chOff x="0" y="0"/>
            <a:chExt cx="1629027" cy="45119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30570" y="4394416"/>
            <a:ext cx="6918397" cy="1916184"/>
            <a:chOff x="0" y="0"/>
            <a:chExt cx="1629027" cy="45119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230570" y="6461466"/>
            <a:ext cx="6918397" cy="1916184"/>
            <a:chOff x="0" y="0"/>
            <a:chExt cx="1629027" cy="451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67505" y="2344570"/>
            <a:ext cx="6918397" cy="1916184"/>
            <a:chOff x="0" y="0"/>
            <a:chExt cx="1629027" cy="4511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67505" y="4411620"/>
            <a:ext cx="6918397" cy="1916184"/>
            <a:chOff x="0" y="0"/>
            <a:chExt cx="1629027" cy="4511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629027" cy="4892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67505" y="6478671"/>
            <a:ext cx="6918397" cy="1916184"/>
            <a:chOff x="0" y="0"/>
            <a:chExt cx="1629027" cy="45119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29027" cy="451190"/>
            </a:xfrm>
            <a:custGeom>
              <a:avLst/>
              <a:gdLst/>
              <a:ahLst/>
              <a:cxnLst/>
              <a:rect r="r" b="b" t="t" l="l"/>
              <a:pathLst>
                <a:path h="451190" w="1629027">
                  <a:moveTo>
                    <a:pt x="21856" y="0"/>
                  </a:moveTo>
                  <a:lnTo>
                    <a:pt x="1607170" y="0"/>
                  </a:lnTo>
                  <a:cubicBezTo>
                    <a:pt x="1612967" y="0"/>
                    <a:pt x="1618526" y="2303"/>
                    <a:pt x="1622625" y="6402"/>
                  </a:cubicBezTo>
                  <a:cubicBezTo>
                    <a:pt x="1626724" y="10500"/>
                    <a:pt x="1629027" y="16060"/>
                    <a:pt x="1629027" y="21856"/>
                  </a:cubicBezTo>
                  <a:lnTo>
                    <a:pt x="1629027" y="429334"/>
                  </a:lnTo>
                  <a:cubicBezTo>
                    <a:pt x="1629027" y="441405"/>
                    <a:pt x="1619241" y="451190"/>
                    <a:pt x="1607170" y="451190"/>
                  </a:cubicBezTo>
                  <a:lnTo>
                    <a:pt x="21856" y="451190"/>
                  </a:lnTo>
                  <a:cubicBezTo>
                    <a:pt x="16060" y="451190"/>
                    <a:pt x="10500" y="448888"/>
                    <a:pt x="6402" y="444789"/>
                  </a:cubicBezTo>
                  <a:cubicBezTo>
                    <a:pt x="2303" y="440690"/>
                    <a:pt x="0" y="435131"/>
                    <a:pt x="0" y="429334"/>
                  </a:cubicBezTo>
                  <a:lnTo>
                    <a:pt x="0" y="21856"/>
                  </a:lnTo>
                  <a:cubicBezTo>
                    <a:pt x="0" y="9785"/>
                    <a:pt x="9785" y="0"/>
                    <a:pt x="21856" y="0"/>
                  </a:cubicBezTo>
                  <a:close/>
                </a:path>
              </a:pathLst>
            </a:custGeom>
            <a:solidFill>
              <a:srgbClr val="049FD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1629027" cy="4988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001930" y="2395061"/>
            <a:ext cx="1832547" cy="1864012"/>
            <a:chOff x="0" y="0"/>
            <a:chExt cx="2443395" cy="2485349"/>
          </a:xfrm>
        </p:grpSpPr>
        <p:sp>
          <p:nvSpPr>
            <p:cNvPr name="AutoShape 27" id="27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28" id="28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8001930" y="4462112"/>
            <a:ext cx="1832547" cy="1864012"/>
            <a:chOff x="0" y="0"/>
            <a:chExt cx="2443395" cy="2485349"/>
          </a:xfrm>
        </p:grpSpPr>
        <p:sp>
          <p:nvSpPr>
            <p:cNvPr name="AutoShape 41" id="41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42" id="42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8" id="48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0" id="50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001930" y="6530843"/>
            <a:ext cx="1832547" cy="1864012"/>
            <a:chOff x="0" y="0"/>
            <a:chExt cx="2443395" cy="2485349"/>
          </a:xfrm>
        </p:grpSpPr>
        <p:sp>
          <p:nvSpPr>
            <p:cNvPr name="AutoShape 55" id="55"/>
            <p:cNvSpPr/>
            <p:nvPr/>
          </p:nvSpPr>
          <p:spPr>
            <a:xfrm flipV="true">
              <a:off x="436412" y="0"/>
              <a:ext cx="0" cy="2050811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56" id="56"/>
            <p:cNvSpPr/>
            <p:nvPr/>
          </p:nvSpPr>
          <p:spPr>
            <a:xfrm>
              <a:off x="436412" y="2050811"/>
              <a:ext cx="2006983" cy="0"/>
            </a:xfrm>
            <a:prstGeom prst="line">
              <a:avLst/>
            </a:prstGeom>
            <a:ln cap="flat" w="38994">
              <a:solidFill>
                <a:srgbClr val="393939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1145369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1736654" y="159767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9" id="59"/>
            <p:cNvSpPr/>
            <p:nvPr/>
          </p:nvSpPr>
          <p:spPr>
            <a:xfrm flipH="false" flipV="false" rot="0">
              <a:off x="554085" y="75105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0" id="60"/>
            <p:cNvSpPr/>
            <p:nvPr/>
          </p:nvSpPr>
          <p:spPr>
            <a:xfrm flipH="false" flipV="false" rot="0">
              <a:off x="1145369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1736654" y="75229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4"/>
                  </a:lnTo>
                  <a:lnTo>
                    <a:pt x="0" y="5912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2" id="62"/>
            <p:cNvSpPr/>
            <p:nvPr/>
          </p:nvSpPr>
          <p:spPr>
            <a:xfrm flipH="false" flipV="false" rot="0">
              <a:off x="554085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3" id="63"/>
            <p:cNvSpPr/>
            <p:nvPr/>
          </p:nvSpPr>
          <p:spPr>
            <a:xfrm flipH="false" flipV="false" rot="0">
              <a:off x="1145369" y="1342336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4" id="64"/>
            <p:cNvSpPr/>
            <p:nvPr/>
          </p:nvSpPr>
          <p:spPr>
            <a:xfrm flipH="false" flipV="false" rot="0">
              <a:off x="1736654" y="1343580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5" y="0"/>
                  </a:lnTo>
                  <a:lnTo>
                    <a:pt x="591285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 rot="-5400000">
              <a:off x="-837809" y="885443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Probability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428870" y="2119769"/>
              <a:ext cx="2003097" cy="365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92"/>
                </a:lnSpc>
              </a:pPr>
              <a:r>
                <a:rPr lang="en-US" sz="1708">
                  <a:solidFill>
                    <a:srgbClr val="000000"/>
                  </a:solidFill>
                  <a:latin typeface="TT Commons Pro"/>
                  <a:ea typeface="TT Commons Pro"/>
                  <a:cs typeface="TT Commons Pro"/>
                  <a:sym typeface="TT Commons Pro"/>
                </a:rPr>
                <a:t>Impact</a:t>
              </a:r>
            </a:p>
          </p:txBody>
        </p:sp>
        <p:sp>
          <p:nvSpPr>
            <p:cNvPr name="Freeform 67" id="67"/>
            <p:cNvSpPr/>
            <p:nvPr/>
          </p:nvSpPr>
          <p:spPr>
            <a:xfrm flipH="false" flipV="false" rot="0">
              <a:off x="554085" y="161011"/>
              <a:ext cx="591285" cy="591285"/>
            </a:xfrm>
            <a:custGeom>
              <a:avLst/>
              <a:gdLst/>
              <a:ahLst/>
              <a:cxnLst/>
              <a:rect r="r" b="b" t="t" l="l"/>
              <a:pathLst>
                <a:path h="591285" w="591285">
                  <a:moveTo>
                    <a:pt x="0" y="0"/>
                  </a:moveTo>
                  <a:lnTo>
                    <a:pt x="591284" y="0"/>
                  </a:lnTo>
                  <a:lnTo>
                    <a:pt x="591284" y="591285"/>
                  </a:lnTo>
                  <a:lnTo>
                    <a:pt x="0" y="5912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3589339" y="1702281"/>
            <a:ext cx="1287932" cy="46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8"/>
              </a:lnSpc>
              <a:spcBef>
                <a:spcPct val="0"/>
              </a:spcBef>
            </a:pPr>
            <a:r>
              <a:rPr lang="en-US" b="true" sz="276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Risks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807816" y="1685077"/>
            <a:ext cx="2103036" cy="46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8"/>
              </a:lnSpc>
              <a:spcBef>
                <a:spcPct val="0"/>
              </a:spcBef>
            </a:pPr>
            <a:r>
              <a:rPr lang="en-US" b="true" sz="276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Mitigations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024236" y="2868259"/>
            <a:ext cx="4709045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1000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AI hallucination in task drafts may produce incorrect actions or follow-ups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737426" y="4918105"/>
            <a:ext cx="5178556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1000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Deepfake perception risk: users may distrust AI-generated voice output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141318" y="6859533"/>
            <a:ext cx="608409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1000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Marketplace cold-start: insufficient agents at launch reduces user adoption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0966907" y="4711478"/>
            <a:ext cx="5518068" cy="396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1000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Mandatory labeling ("Spoken by VIBE for [User]"), meeting-start notification, opt-in only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0966907" y="2868259"/>
            <a:ext cx="5333837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sz="1000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>Human-in-the-loop approval required for every action; confidence scoring + graceful degradation</a:t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  <a:r>
              <a:rPr lang="en-US" sz="2404">
                <a:solidFill>
                  <a:srgbClr val="F2F6FC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0945662" y="6730092"/>
            <a:ext cx="5488211" cy="39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6"/>
              </a:lnSpc>
              <a:spcBef>
                <a:spcPct val="0"/>
              </a:spcBef>
            </a:pPr>
            <a:r>
              <a:rPr lang="en-US" b="true" sz="1000">
                <a:solidFill>
                  <a:srgbClr val="FF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Seed 20-30 first-party agents, ISV partnerships, $5M developer grants program</a:t>
            </a:r>
            <a:r>
              <a:rPr lang="en-US" b="true" sz="2404">
                <a:solidFill>
                  <a:srgbClr val="FFFE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Freeform 76" id="76"/>
          <p:cNvSpPr/>
          <p:nvPr/>
        </p:nvSpPr>
        <p:spPr>
          <a:xfrm flipH="false" flipV="false" rot="0">
            <a:off x="8918203" y="2977749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8"/>
                </a:lnTo>
                <a:lnTo>
                  <a:pt x="0" y="349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8918203" y="4606887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8"/>
                </a:lnTo>
                <a:lnTo>
                  <a:pt x="0" y="349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8918203" y="7602473"/>
            <a:ext cx="376397" cy="349318"/>
          </a:xfrm>
          <a:custGeom>
            <a:avLst/>
            <a:gdLst/>
            <a:ahLst/>
            <a:cxnLst/>
            <a:rect r="r" b="b" t="t" l="l"/>
            <a:pathLst>
              <a:path h="349318" w="376397">
                <a:moveTo>
                  <a:pt x="0" y="0"/>
                </a:moveTo>
                <a:lnTo>
                  <a:pt x="376397" y="0"/>
                </a:lnTo>
                <a:lnTo>
                  <a:pt x="376397" y="349319"/>
                </a:lnTo>
                <a:lnTo>
                  <a:pt x="0" y="3493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6402" t="-28449" r="-34168" b="-30665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057742" y="253289"/>
            <a:ext cx="2062182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333333"/>
                </a:solidFill>
                <a:latin typeface="TT Commons Pro"/>
              </a:defRPr>
            </a:pPr>
            <a:r>
              <a:t>Investment &amp; Costs</a:t>
            </a: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1">
                <a:solidFill>
                  <a:srgbClr val="333333"/>
                </a:solidFill>
                <a:latin typeface="TT Commons Pro"/>
              </a:defRPr>
            </a:pPr>
            <a:r>
              <a:t>R&amp;D Investment (from $7.98B annual budget)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Solution 1 (Orchestrator): $45M over 18 months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Solution 2 (VIBE): $30M over 12 months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Solution 3 (Marketplace): $25M over 24 months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Total: $100M (1.25% of annual R&amp;D budget)</a:t>
            </a: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1">
                <a:solidFill>
                  <a:srgbClr val="333333"/>
                </a:solidFill>
                <a:latin typeface="TT Commons Pro"/>
              </a:defRPr>
            </a:pPr>
            <a:r>
              <a:t>Ongoing Operating Costs (Annual)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Cloud infrastructure scaling: $15M/year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Splunk observability licensing: $8M/year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Developer relations &amp; grants: $5M/year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Security certification team: $4M/year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Total ongoing: $32M/year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463040"/>
            <a:ext cx="77724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04F69"/>
                </a:solidFill>
                <a:latin typeface="TT Commons Pro"/>
              </a:defRPr>
            </a:pPr>
            <a:r>
              <a:t>Revenue Projections</a:t>
            </a:r>
          </a:p>
          <a:p>
            <a:pPr algn="l">
              <a:spcAft>
                <a:spcPts val="200"/>
              </a:spcAft>
              <a:defRPr sz="6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1">
                <a:solidFill>
                  <a:srgbClr val="204F69"/>
                </a:solidFill>
                <a:latin typeface="TT Commons Pro"/>
              </a:defRPr>
            </a:pPr>
            <a:r>
              <a:t>FY2027 (Year 1)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Incremental collaboration ARR: +$400M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Marketplace commission: $5M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1">
                <a:solidFill>
                  <a:srgbClr val="204F69"/>
                </a:solidFill>
                <a:latin typeface="TT Commons Pro"/>
              </a:defRPr>
            </a:pPr>
            <a:r>
              <a:t>FY2028 (Year 2)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Incremental collaboration ARR: +$1.1B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Marketplace commission: $20M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1">
                <a:solidFill>
                  <a:srgbClr val="204F69"/>
                </a:solidFill>
                <a:latin typeface="TT Commons Pro"/>
              </a:defRPr>
            </a:pPr>
            <a:r>
              <a:t>FY2029 (Year 3)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Incremental collaboration ARR: +$2.1B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Marketplace commission: $50M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204F69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1">
                <a:solidFill>
                  <a:srgbClr val="204F69"/>
                </a:solidFill>
                <a:latin typeface="TT Commons Pro"/>
              </a:defRPr>
            </a:pPr>
            <a:r>
              <a:t>ROI: 21x return on $100M investment by FY2029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04F69"/>
                </a:solidFill>
                <a:latin typeface="TT Commons Pro"/>
              </a:defRPr>
            </a:pPr>
            <a:r>
              <a:t>Productivity savings: $4,200 per knowledge worker/year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38087" y="253289"/>
            <a:ext cx="6011826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Key Performance Indiciators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Financials</a:t>
            </a: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| Executive Summary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8700" y="3257619"/>
            <a:ext cx="5027377" cy="5745931"/>
            <a:chOff x="0" y="0"/>
            <a:chExt cx="1721142" cy="19671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21142" cy="1967141"/>
            </a:xfrm>
            <a:custGeom>
              <a:avLst/>
              <a:gdLst/>
              <a:ahLst/>
              <a:cxnLst/>
              <a:rect r="r" b="b" t="t" l="l"/>
              <a:pathLst>
                <a:path h="196714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05543"/>
                  </a:lnTo>
                  <a:cubicBezTo>
                    <a:pt x="1721142" y="1939563"/>
                    <a:pt x="1693563" y="1967141"/>
                    <a:pt x="1659544" y="1967141"/>
                  </a:cubicBezTo>
                  <a:lnTo>
                    <a:pt x="61598" y="1967141"/>
                  </a:lnTo>
                  <a:cubicBezTo>
                    <a:pt x="27578" y="1967141"/>
                    <a:pt x="0" y="1939563"/>
                    <a:pt x="0" y="190554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721142" cy="2024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  <a:p>
              <a:pPr algn="ctr">
                <a:lnSpc>
                  <a:spcPts val="378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35423" y="3257619"/>
            <a:ext cx="5027377" cy="5745931"/>
            <a:chOff x="0" y="0"/>
            <a:chExt cx="1721142" cy="196714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21142" cy="1967141"/>
            </a:xfrm>
            <a:custGeom>
              <a:avLst/>
              <a:gdLst/>
              <a:ahLst/>
              <a:cxnLst/>
              <a:rect r="r" b="b" t="t" l="l"/>
              <a:pathLst>
                <a:path h="196714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05543"/>
                  </a:lnTo>
                  <a:cubicBezTo>
                    <a:pt x="1721142" y="1939563"/>
                    <a:pt x="1693563" y="1967141"/>
                    <a:pt x="1659544" y="1967141"/>
                  </a:cubicBezTo>
                  <a:lnTo>
                    <a:pt x="61598" y="1967141"/>
                  </a:lnTo>
                  <a:cubicBezTo>
                    <a:pt x="27578" y="1967141"/>
                    <a:pt x="0" y="1939563"/>
                    <a:pt x="0" y="190554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1721142" cy="20242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  <a:p>
              <a:pPr algn="ctr">
                <a:lnSpc>
                  <a:spcPts val="448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475472" y="3257619"/>
            <a:ext cx="5027377" cy="5835955"/>
            <a:chOff x="0" y="0"/>
            <a:chExt cx="1721142" cy="199796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721142" cy="1997961"/>
            </a:xfrm>
            <a:custGeom>
              <a:avLst/>
              <a:gdLst/>
              <a:ahLst/>
              <a:cxnLst/>
              <a:rect r="r" b="b" t="t" l="l"/>
              <a:pathLst>
                <a:path h="1997961" w="1721142">
                  <a:moveTo>
                    <a:pt x="61598" y="0"/>
                  </a:moveTo>
                  <a:lnTo>
                    <a:pt x="1659544" y="0"/>
                  </a:lnTo>
                  <a:cubicBezTo>
                    <a:pt x="1675880" y="0"/>
                    <a:pt x="1691548" y="6490"/>
                    <a:pt x="1703100" y="18042"/>
                  </a:cubicBezTo>
                  <a:cubicBezTo>
                    <a:pt x="1714652" y="29594"/>
                    <a:pt x="1721142" y="45261"/>
                    <a:pt x="1721142" y="61598"/>
                  </a:cubicBezTo>
                  <a:lnTo>
                    <a:pt x="1721142" y="1936363"/>
                  </a:lnTo>
                  <a:cubicBezTo>
                    <a:pt x="1721142" y="1970383"/>
                    <a:pt x="1693563" y="1997961"/>
                    <a:pt x="1659544" y="1997961"/>
                  </a:cubicBezTo>
                  <a:lnTo>
                    <a:pt x="61598" y="1997961"/>
                  </a:lnTo>
                  <a:cubicBezTo>
                    <a:pt x="45261" y="1997961"/>
                    <a:pt x="29594" y="1991472"/>
                    <a:pt x="18042" y="1979920"/>
                  </a:cubicBezTo>
                  <a:cubicBezTo>
                    <a:pt x="6490" y="1968368"/>
                    <a:pt x="0" y="1952700"/>
                    <a:pt x="0" y="1936363"/>
                  </a:cubicBezTo>
                  <a:lnTo>
                    <a:pt x="0" y="61598"/>
                  </a:lnTo>
                  <a:cubicBezTo>
                    <a:pt x="0" y="45261"/>
                    <a:pt x="6490" y="29594"/>
                    <a:pt x="18042" y="18042"/>
                  </a:cubicBezTo>
                  <a:cubicBezTo>
                    <a:pt x="29594" y="6490"/>
                    <a:pt x="45261" y="0"/>
                    <a:pt x="61598" y="0"/>
                  </a:cubicBezTo>
                  <a:close/>
                </a:path>
              </a:pathLst>
            </a:custGeom>
            <a:ln w="38100" cap="rnd">
              <a:solidFill>
                <a:srgbClr val="049FD9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721142" cy="20551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2458929" y="4465167"/>
            <a:ext cx="1938094" cy="1356666"/>
          </a:xfrm>
          <a:custGeom>
            <a:avLst/>
            <a:gdLst/>
            <a:ahLst/>
            <a:cxnLst/>
            <a:rect r="r" b="b" t="t" l="l"/>
            <a:pathLst>
              <a:path h="1356666" w="1938094">
                <a:moveTo>
                  <a:pt x="0" y="0"/>
                </a:moveTo>
                <a:lnTo>
                  <a:pt x="1938094" y="0"/>
                </a:lnTo>
                <a:lnTo>
                  <a:pt x="1938094" y="1356666"/>
                </a:lnTo>
                <a:lnTo>
                  <a:pt x="0" y="13566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345642" y="4416107"/>
            <a:ext cx="1861449" cy="1651613"/>
          </a:xfrm>
          <a:custGeom>
            <a:avLst/>
            <a:gdLst/>
            <a:ahLst/>
            <a:cxnLst/>
            <a:rect r="r" b="b" t="t" l="l"/>
            <a:pathLst>
              <a:path h="1651613" w="1861449">
                <a:moveTo>
                  <a:pt x="0" y="0"/>
                </a:moveTo>
                <a:lnTo>
                  <a:pt x="1861449" y="0"/>
                </a:lnTo>
                <a:lnTo>
                  <a:pt x="1861449" y="1651613"/>
                </a:lnTo>
                <a:lnTo>
                  <a:pt x="0" y="165161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301200" y="4533462"/>
            <a:ext cx="1613397" cy="1642135"/>
          </a:xfrm>
          <a:custGeom>
            <a:avLst/>
            <a:gdLst/>
            <a:ahLst/>
            <a:cxnLst/>
            <a:rect r="r" b="b" t="t" l="l"/>
            <a:pathLst>
              <a:path h="1642135" w="1613397">
                <a:moveTo>
                  <a:pt x="0" y="0"/>
                </a:moveTo>
                <a:lnTo>
                  <a:pt x="1613398" y="0"/>
                </a:lnTo>
                <a:lnTo>
                  <a:pt x="1613398" y="1642134"/>
                </a:lnTo>
                <a:lnTo>
                  <a:pt x="0" y="16421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8355909" y="3686799"/>
            <a:ext cx="1929036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Solution #2: VIBE</a:t>
            </a: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63345" y="6216787"/>
            <a:ext cx="4268766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076021" y="3659495"/>
            <a:ext cx="4932736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Solution #1: AI Orchestrator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58614" y="3505756"/>
            <a:ext cx="416493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Solution #3: Marketplace</a:t>
            </a:r>
            <a:r>
              <a:rPr lang="en-US" b="true" sz="27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/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31392" y="6366096"/>
            <a:ext cx="4268766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95%+ noise reduction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98% ASR accuracy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&lt;1s translation latency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4.5/5 TTS naturalness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+40% participation increase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67700" y="6375621"/>
            <a:ext cx="4155843" cy="470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5"/>
              </a:lnSpc>
              <a:spcBef>
                <a:spcPct val="0"/>
              </a:spcBef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500+ certified agents Yr 1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$150M GMV by FY2028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3x developer growth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85% enterprise renewal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$50M commission by FY2029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93593" y="6466659"/>
            <a:ext cx="4268766" cy="52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25% meeting-to-action rate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15 min saved per meeting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40% workflow automation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85% task accuracy</a:t>
            </a:r>
          </a:p>
          <a:p>
            <a:pPr>
              <a:spcAft>
                <a:spcPts val="400"/>
              </a:spcAft>
              <a:defRPr sz="1000">
                <a:solidFill>
                  <a:srgbClr val="000000"/>
                </a:solidFill>
                <a:latin typeface="TT Commons Pro"/>
              </a:defRPr>
            </a:pPr>
            <a:r>
              <a:t>90%+ Q&amp;A resolution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988692" y="253289"/>
            <a:ext cx="4310617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729997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164592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333333"/>
                </a:solidFill>
                <a:latin typeface="TT Commons Pro"/>
              </a:defRPr>
            </a:pPr>
            <a:r>
              <a:t>Cisco Webex faces three critical gaps preventing it from competing against Microsoft Teams and Zoom in the next phase of hybrid work. We propose three integrated, AI-powered solutions that leverage Cisco's unique strengths.</a:t>
            </a: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300" b="1">
                <a:solidFill>
                  <a:srgbClr val="333333"/>
                </a:solidFill>
                <a:latin typeface="TT Commons Pro"/>
              </a:defRPr>
            </a:pPr>
            <a:r>
              <a:t>Problem 1: Passive AI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Webex AI summarizes but cannot prepare, execute, or follow up. Solution: AI Meeting Prep &amp; Workflow Orchestrator with Prepare-Perceive-Reason-Act-Follow-Up architecture. Impact: 25% meeting-to-action rate, 15 min saved per meeting.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300" b="1">
                <a:solidFill>
                  <a:srgbClr val="333333"/>
                </a:solidFill>
                <a:latin typeface="TT Commons Pro"/>
              </a:defRPr>
            </a:pPr>
            <a:r>
              <a:t>Problem 2: Participation Exclusion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Non-native speakers and non-technical users are systematically excluded. Solution: VIBE - Voice &amp; Language Intelligence Layer with voice boost, live translation (100+ languages), type-to-speak, and jargon simplification. Impact: +40% non-native speaker participation.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300" b="1">
                <a:solidFill>
                  <a:srgbClr val="333333"/>
                </a:solidFill>
                <a:latin typeface="TT Commons Pro"/>
              </a:defRPr>
            </a:pPr>
            <a:r>
              <a:t>Problem 3: Weak Developer Ecosystem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Teams has 2,000+, Zoom has 2,500+ integrations. No AI agent marketplace exists. Solution: Secure AI Agent Marketplace with Cisco certification, Splunk monitoring, and enterprise governance. Impact: 500+ certified agents Year 1, $50M annual commission by FY2029.</a:t>
            </a: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200" b="1">
                <a:solidFill>
                  <a:srgbClr val="333333"/>
                </a:solidFill>
                <a:latin typeface="TT Commons Pro"/>
              </a:defRPr>
            </a:pPr>
            <a:r>
              <a:t>Combined Impact: +$2.1B incremental ARR by FY2029  |  $4,200 productivity savings per worker/year  |  85% enterprise renewal rate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333" r="0" b="-3333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8220" y="870823"/>
            <a:ext cx="16571560" cy="8545354"/>
            <a:chOff x="0" y="0"/>
            <a:chExt cx="4364526" cy="22506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364526" cy="2250628"/>
            </a:xfrm>
            <a:custGeom>
              <a:avLst/>
              <a:gdLst/>
              <a:ahLst/>
              <a:cxnLst/>
              <a:rect r="r" b="b" t="t" l="l"/>
              <a:pathLst>
                <a:path h="2250628" w="4364526">
                  <a:moveTo>
                    <a:pt x="23826" y="0"/>
                  </a:moveTo>
                  <a:lnTo>
                    <a:pt x="4340700" y="0"/>
                  </a:lnTo>
                  <a:cubicBezTo>
                    <a:pt x="4347019" y="0"/>
                    <a:pt x="4353079" y="2510"/>
                    <a:pt x="4357548" y="6979"/>
                  </a:cubicBezTo>
                  <a:cubicBezTo>
                    <a:pt x="4362016" y="11447"/>
                    <a:pt x="4364526" y="17507"/>
                    <a:pt x="4364526" y="23826"/>
                  </a:cubicBezTo>
                  <a:lnTo>
                    <a:pt x="4364526" y="2226802"/>
                  </a:lnTo>
                  <a:cubicBezTo>
                    <a:pt x="4364526" y="2233121"/>
                    <a:pt x="4362016" y="2239182"/>
                    <a:pt x="4357548" y="2243650"/>
                  </a:cubicBezTo>
                  <a:cubicBezTo>
                    <a:pt x="4353079" y="2248118"/>
                    <a:pt x="4347019" y="2250628"/>
                    <a:pt x="4340700" y="2250628"/>
                  </a:cubicBezTo>
                  <a:lnTo>
                    <a:pt x="23826" y="2250628"/>
                  </a:lnTo>
                  <a:cubicBezTo>
                    <a:pt x="17507" y="2250628"/>
                    <a:pt x="11447" y="2248118"/>
                    <a:pt x="6979" y="2243650"/>
                  </a:cubicBezTo>
                  <a:cubicBezTo>
                    <a:pt x="2510" y="2239182"/>
                    <a:pt x="0" y="2233121"/>
                    <a:pt x="0" y="2226802"/>
                  </a:cubicBezTo>
                  <a:lnTo>
                    <a:pt x="0" y="23826"/>
                  </a:lnTo>
                  <a:cubicBezTo>
                    <a:pt x="0" y="17507"/>
                    <a:pt x="2510" y="11447"/>
                    <a:pt x="6979" y="6979"/>
                  </a:cubicBezTo>
                  <a:cubicBezTo>
                    <a:pt x="11447" y="2510"/>
                    <a:pt x="17507" y="0"/>
                    <a:pt x="23826" y="0"/>
                  </a:cubicBezTo>
                  <a:close/>
                </a:path>
              </a:pathLst>
            </a:custGeom>
            <a:ln w="47625" cap="rnd">
              <a:solidFill>
                <a:srgbClr val="F4FFFF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364526" cy="22887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5618349" y="1189377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6"/>
                </a:lnTo>
                <a:lnTo>
                  <a:pt x="0" y="691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84768" y="4174816"/>
            <a:ext cx="8261559" cy="2446936"/>
            <a:chOff x="0" y="0"/>
            <a:chExt cx="11015412" cy="3262581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152400"/>
              <a:ext cx="11015412" cy="16154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700"/>
                </a:lnSpc>
              </a:pPr>
              <a:r>
                <a:rPr lang="en-US" b="true" sz="8700">
                  <a:solidFill>
                    <a:srgbClr val="F4FFFF"/>
                  </a:solidFill>
                  <a:latin typeface="Lato Bold"/>
                  <a:ea typeface="Lato Bold"/>
                  <a:cs typeface="Lato Bold"/>
                  <a:sym typeface="Lato Bold"/>
                </a:rPr>
                <a:t>THANK YOU!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3410421" y="1834520"/>
              <a:ext cx="4194570" cy="14280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12"/>
                </a:lnSpc>
              </a:pPr>
              <a:r>
                <a:rPr lang="en-US" b="true" sz="4012">
                  <a:solidFill>
                    <a:srgbClr val="F4FFFF"/>
                  </a:solidFill>
                  <a:latin typeface="Lato Bold"/>
                  <a:ea typeface="Lato Bold"/>
                  <a:cs typeface="Lato Bold"/>
                  <a:sym typeface="Lato Bold"/>
                </a:rPr>
                <a:t>ANY QUESTIONS?</a:t>
              </a: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10363937" y="3413748"/>
            <a:ext cx="5787216" cy="4204600"/>
          </a:xfrm>
          <a:custGeom>
            <a:avLst/>
            <a:gdLst/>
            <a:ahLst/>
            <a:cxnLst/>
            <a:rect r="r" b="b" t="t" l="l"/>
            <a:pathLst>
              <a:path h="4204600" w="5787216">
                <a:moveTo>
                  <a:pt x="0" y="0"/>
                </a:moveTo>
                <a:lnTo>
                  <a:pt x="5787216" y="0"/>
                </a:lnTo>
                <a:lnTo>
                  <a:pt x="5787216" y="4204600"/>
                </a:lnTo>
                <a:lnTo>
                  <a:pt x="0" y="4204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742" t="-25218" r="-4102" b="-25971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788975" y="253289"/>
            <a:ext cx="2155308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Appendix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24684" y="1774723"/>
            <a:ext cx="12450253" cy="1580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A: Detailed Flowcharts (see attached PDF document)</a:t>
            </a:r>
          </a:p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B: Technical Feasibility &amp; Scalability Assessment</a:t>
            </a:r>
          </a:p>
          <a:p>
            <a:pPr algn="l">
              <a:lnSpc>
                <a:spcPts val="4247"/>
              </a:lnSpc>
              <a:spcBef>
                <a:spcPct val="0"/>
              </a:spcBef>
            </a:pPr>
            <a:r>
              <a:rPr lang="en-US" b="true" sz="3034" spc="-166" u="sng">
                <a:solidFill>
                  <a:srgbClr val="049FD9"/>
                </a:solidFill>
                <a:latin typeface="TT Commons Pro Bold"/>
                <a:ea typeface="TT Commons Pro Bold"/>
                <a:cs typeface="TT Commons Pro Bold"/>
                <a:sym typeface="TT Commons Pro Bold"/>
              </a:rPr>
              <a:t>Appendix C: References &amp;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57600"/>
            <a:ext cx="1645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333333"/>
                </a:solidFill>
                <a:latin typeface="TT Commons Pro"/>
              </a:defRPr>
            </a:pPr>
            <a:r>
              <a:t>Supporting Materials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Flowchart 1: Prepare-Perceive-Reason-Act-Follow-Up Architecture (full system flow)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Flowchart 2: VIBE Component Architecture with Sections A-E, Tech Stack, KPIs, and Splunk Integration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Flowchart 3: Three-Lane Marketplace Architecture (Developer, Admin, User Journeys)</a:t>
            </a: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Technical Feasibility Assessment for all three solutions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Implementation Risks &amp; System-Level Trade-Offs analysis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333333"/>
                </a:solidFill>
                <a:latin typeface="TT Commons Pro"/>
              </a:defRPr>
            </a:pPr>
            <a:r>
              <a:t>Combined Projected Impact metrics table (12 KPIs)</a:t>
            </a: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TT Commons Pro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Sources: Cisco FY2024 10-K, Microsoft 10-K, Zoom 10-K, IDC UC&amp;C Tracker, Gartner Future of Work Survey, McKinsey Productivity Report, MarketsandMarkets Agentic AI Report, Splunk Documentation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8366" y="1091186"/>
            <a:ext cx="16230600" cy="0"/>
          </a:xfrm>
          <a:prstGeom prst="line">
            <a:avLst/>
          </a:prstGeom>
          <a:ln cap="flat" w="38100">
            <a:solidFill>
              <a:srgbClr val="101D2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0667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148966" y="657149"/>
            <a:ext cx="808033" cy="743102"/>
          </a:xfrm>
          <a:custGeom>
            <a:avLst/>
            <a:gdLst/>
            <a:ahLst/>
            <a:cxnLst/>
            <a:rect r="r" b="b" t="t" l="l"/>
            <a:pathLst>
              <a:path h="743102" w="808033">
                <a:moveTo>
                  <a:pt x="0" y="0"/>
                </a:moveTo>
                <a:lnTo>
                  <a:pt x="808033" y="0"/>
                </a:lnTo>
                <a:lnTo>
                  <a:pt x="808033" y="743102"/>
                </a:lnTo>
                <a:lnTo>
                  <a:pt x="0" y="743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73823" y="153858"/>
            <a:ext cx="1308721" cy="691986"/>
          </a:xfrm>
          <a:custGeom>
            <a:avLst/>
            <a:gdLst/>
            <a:ahLst/>
            <a:cxnLst/>
            <a:rect r="r" b="b" t="t" l="l"/>
            <a:pathLst>
              <a:path h="691986" w="1308721">
                <a:moveTo>
                  <a:pt x="0" y="0"/>
                </a:moveTo>
                <a:lnTo>
                  <a:pt x="1308721" y="0"/>
                </a:lnTo>
                <a:lnTo>
                  <a:pt x="1308721" y="691987"/>
                </a:lnTo>
                <a:lnTo>
                  <a:pt x="0" y="691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089230" y="253289"/>
            <a:ext cx="3838026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b="true" sz="4199" spc="-23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Appendix A: Sources &amp; References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7505" y="9711505"/>
            <a:ext cx="16552990" cy="414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7"/>
              </a:lnSpc>
            </a:pPr>
            <a:r>
              <a:rPr lang="en-US" sz="2426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Industry Analysis | Problem Identification | Recommendations | Implementation | Financials | </a:t>
            </a:r>
            <a:r>
              <a:rPr lang="en-US" sz="2426" b="true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16459200" cy="777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1. Cisco Systems. (2024). Annual Report (Form 10-K), Fiscal Year 2024.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2. Microsoft Corporation. (2024). Annual Report (Form 10-K), Fiscal Year 2024.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3. Zoom Video Communications. (2025). Annual Report (Form 10-K), Fiscal Year 2025.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4. IDC. (2024). Worldwide Unified Communications &amp; Collaboration Market Tracker.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5. Gartner. (2024). Future of Work Survey: Hybrid Work Trends.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6. McKinsey &amp; Company. (2024). Future of Work Report: Meeting Productivity.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7. MarketsandMarkets. (2024). Agentic AI Market Report: Global Forecast to 2030.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8. Microsoft. (2024). Work Trend Index: Annual Report on Workplace Trends.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9. Cisco Webex. (2025). AI Assistant and AI Codec Technical Documentation.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10. Microsoft. (2025). Microsoft 365 Copilot Product Documentation.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11. Zoom. (2025). Zoom AI Companion 2.0 Product Documentation.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12. Salesforce. (2024). AppExchange Marketplace Economics Model.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333333"/>
                </a:solidFill>
                <a:latin typeface="TT Commons Pro"/>
              </a:defRPr>
            </a:pPr>
            <a:r>
              <a:t>13. Gartner. (2024). DEI in Technology Procurement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DAHDNmqBFqI</dc:identifier>
  <dcterms:modified xsi:type="dcterms:W3CDTF">2011-08-01T06:04:30Z</dcterms:modified>
  <cp:revision>1</cp:revision>
  <dc:title>Cisco Webex Case Comp By Agentix Consulting</dc:title>
</cp:coreProperties>
</file>