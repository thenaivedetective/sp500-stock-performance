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Lato Bold" charset="1" panose="020F0502020204030203"/>
      <p:regular r:id="rId23"/>
    </p:embeddedFont>
    <p:embeddedFont>
      <p:font typeface="Futura" charset="1" panose="020B0502020204020303"/>
      <p:regular r:id="rId24"/>
    </p:embeddedFont>
    <p:embeddedFont>
      <p:font typeface="Futura Bold" charset="1" panose="020B0702020204020203"/>
      <p:regular r:id="rId25"/>
    </p:embeddedFont>
    <p:embeddedFont>
      <p:font typeface="Canva Sans" charset="1" panose="020B0503030501040103"/>
      <p:regular r:id="rId26"/>
    </p:embeddedFont>
    <p:embeddedFont>
      <p:font typeface="Canva Sans Bold" charset="1" panose="020B0803030501040103"/>
      <p:regular r:id="rId27"/>
    </p:embeddedFont>
    <p:embeddedFont>
      <p:font typeface="Lato" charset="1" panose="020F0502020204030203"/>
      <p:regular r:id="rId28"/>
    </p:embeddedFont>
    <p:embeddedFont>
      <p:font typeface="Open Sans Bold" charset="1" panose="00000000000000000000"/>
      <p:regular r:id="rId29"/>
    </p:embeddedFont>
    <p:embeddedFont>
      <p:font typeface="TT Commons Pro Bold" charset="1" panose="020B0103030102020204"/>
      <p:regular r:id="rId30"/>
    </p:embeddedFont>
    <p:embeddedFont>
      <p:font typeface="Open Sans" charset="1" panose="00000000000000000000"/>
      <p:regular r:id="rId31"/>
    </p:embeddedFont>
    <p:embeddedFont>
      <p:font typeface="Open Sans Bold Italics" charset="1" panose="00000000000000000000"/>
      <p:regular r:id="rId32"/>
    </p:embeddedFont>
    <p:embeddedFont>
      <p:font typeface="TT Commons Pro" charset="1" panose="020B010303010202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font" Target="fonts/font30.fntdata"/><Relationship Id="rId31" Type="http://schemas.openxmlformats.org/officeDocument/2006/relationships/font" Target="fonts/font31.fntdata"/><Relationship Id="rId32" Type="http://schemas.openxmlformats.org/officeDocument/2006/relationships/font" Target="fonts/font32.fntdata"/><Relationship Id="rId33" Type="http://schemas.openxmlformats.org/officeDocument/2006/relationships/font" Target="fonts/font3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15.png"/><Relationship Id="rId11" Type="http://schemas.openxmlformats.org/officeDocument/2006/relationships/image" Target="../media/image16.svg"/><Relationship Id="rId12" Type="http://schemas.openxmlformats.org/officeDocument/2006/relationships/image" Target="../media/image17.png"/><Relationship Id="rId13" Type="http://schemas.openxmlformats.org/officeDocument/2006/relationships/image" Target="../media/image18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21.png"/><Relationship Id="rId7" Type="http://schemas.openxmlformats.org/officeDocument/2006/relationships/image" Target="../media/image22.svg"/><Relationship Id="rId8" Type="http://schemas.openxmlformats.org/officeDocument/2006/relationships/image" Target="../media/image23.png"/><Relationship Id="rId9" Type="http://schemas.openxmlformats.org/officeDocument/2006/relationships/image" Target="../media/image24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8220" y="870823"/>
            <a:ext cx="16571560" cy="8545354"/>
            <a:chOff x="0" y="0"/>
            <a:chExt cx="4364526" cy="2250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64526" cy="2250628"/>
            </a:xfrm>
            <a:custGeom>
              <a:avLst/>
              <a:gdLst/>
              <a:ahLst/>
              <a:cxnLst/>
              <a:rect r="r" b="b" t="t" l="l"/>
              <a:pathLst>
                <a:path h="2250628" w="4364526">
                  <a:moveTo>
                    <a:pt x="23826" y="0"/>
                  </a:moveTo>
                  <a:lnTo>
                    <a:pt x="4340700" y="0"/>
                  </a:lnTo>
                  <a:cubicBezTo>
                    <a:pt x="4347019" y="0"/>
                    <a:pt x="4353079" y="2510"/>
                    <a:pt x="4357548" y="6979"/>
                  </a:cubicBezTo>
                  <a:cubicBezTo>
                    <a:pt x="4362016" y="11447"/>
                    <a:pt x="4364526" y="17507"/>
                    <a:pt x="4364526" y="23826"/>
                  </a:cubicBezTo>
                  <a:lnTo>
                    <a:pt x="4364526" y="2226802"/>
                  </a:lnTo>
                  <a:cubicBezTo>
                    <a:pt x="4364526" y="2233121"/>
                    <a:pt x="4362016" y="2239182"/>
                    <a:pt x="4357548" y="2243650"/>
                  </a:cubicBezTo>
                  <a:cubicBezTo>
                    <a:pt x="4353079" y="2248118"/>
                    <a:pt x="4347019" y="2250628"/>
                    <a:pt x="4340700" y="2250628"/>
                  </a:cubicBezTo>
                  <a:lnTo>
                    <a:pt x="23826" y="2250628"/>
                  </a:lnTo>
                  <a:cubicBezTo>
                    <a:pt x="17507" y="2250628"/>
                    <a:pt x="11447" y="2248118"/>
                    <a:pt x="6979" y="2243650"/>
                  </a:cubicBezTo>
                  <a:cubicBezTo>
                    <a:pt x="2510" y="2239182"/>
                    <a:pt x="0" y="2233121"/>
                    <a:pt x="0" y="2226802"/>
                  </a:cubicBezTo>
                  <a:lnTo>
                    <a:pt x="0" y="23826"/>
                  </a:lnTo>
                  <a:cubicBezTo>
                    <a:pt x="0" y="17507"/>
                    <a:pt x="2510" y="11447"/>
                    <a:pt x="6979" y="6979"/>
                  </a:cubicBezTo>
                  <a:cubicBezTo>
                    <a:pt x="11447" y="2510"/>
                    <a:pt x="17507" y="0"/>
                    <a:pt x="23826" y="0"/>
                  </a:cubicBezTo>
                  <a:close/>
                </a:path>
              </a:pathLst>
            </a:custGeom>
            <a:ln w="47625" cap="rnd">
              <a:solidFill>
                <a:srgbClr val="F4FF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64526" cy="2288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714122" y="1411900"/>
            <a:ext cx="2003877" cy="1059550"/>
          </a:xfrm>
          <a:custGeom>
            <a:avLst/>
            <a:gdLst/>
            <a:ahLst/>
            <a:cxnLst/>
            <a:rect r="r" b="b" t="t" l="l"/>
            <a:pathLst>
              <a:path h="1059550" w="2003877">
                <a:moveTo>
                  <a:pt x="0" y="0"/>
                </a:moveTo>
                <a:lnTo>
                  <a:pt x="2003877" y="0"/>
                </a:lnTo>
                <a:lnTo>
                  <a:pt x="2003877" y="1059550"/>
                </a:lnTo>
                <a:lnTo>
                  <a:pt x="0" y="1059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486507" y="5225778"/>
            <a:ext cx="64922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476349" y="3395257"/>
            <a:ext cx="5787216" cy="4204600"/>
          </a:xfrm>
          <a:custGeom>
            <a:avLst/>
            <a:gdLst/>
            <a:ahLst/>
            <a:cxnLst/>
            <a:rect r="r" b="b" t="t" l="l"/>
            <a:pathLst>
              <a:path h="4204600" w="5787216">
                <a:moveTo>
                  <a:pt x="0" y="0"/>
                </a:moveTo>
                <a:lnTo>
                  <a:pt x="5787217" y="0"/>
                </a:lnTo>
                <a:lnTo>
                  <a:pt x="5787217" y="4204600"/>
                </a:lnTo>
                <a:lnTo>
                  <a:pt x="0" y="4204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42" t="-25218" r="-4102" b="-2597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86507" y="3993290"/>
            <a:ext cx="12377893" cy="1173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00"/>
              </a:lnSpc>
            </a:pPr>
            <a:r>
              <a:rPr lang="en-US" sz="8700" b="true">
                <a:solidFill>
                  <a:srgbClr val="F4FFFF"/>
                </a:solidFill>
                <a:latin typeface="Lato Bold"/>
                <a:ea typeface="Lato Bold"/>
                <a:cs typeface="Lato Bold"/>
                <a:sym typeface="Lato Bold"/>
              </a:rPr>
              <a:t>WEBEX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6507" y="5967590"/>
            <a:ext cx="649224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49FD9"/>
                </a:solidFill>
                <a:latin typeface="Futura"/>
                <a:ea typeface="Futura"/>
                <a:cs typeface="Futura"/>
                <a:sym typeface="Futura"/>
              </a:rPr>
              <a:t>Krishianjan Lanka, Lana Jalal Gidan, Nur Ali and Zoe Zimmermann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6507" y="5373732"/>
            <a:ext cx="649224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49FD9"/>
                </a:solidFill>
                <a:latin typeface="Futura Bold"/>
                <a:ea typeface="Futura Bold"/>
                <a:cs typeface="Futura Bold"/>
                <a:sym typeface="Futura Bold"/>
              </a:rPr>
              <a:t>Agentix Consulting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74875" y="3544899"/>
            <a:ext cx="3433737" cy="343373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78303" t="0" r="-78303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199688" y="3544899"/>
            <a:ext cx="3315470" cy="331547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26198" y="3426631"/>
            <a:ext cx="3405415" cy="340541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5000" r="0" b="-2500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279388" y="3398309"/>
            <a:ext cx="3433737" cy="343373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78303" t="0" r="-78303" b="0"/>
              </a:stretch>
            </a:blipFill>
          </p:spPr>
        </p:sp>
      </p:grpSp>
      <p:sp>
        <p:nvSpPr>
          <p:cNvPr name="AutoShape 13" id="13"/>
          <p:cNvSpPr/>
          <p:nvPr/>
        </p:nvSpPr>
        <p:spPr>
          <a:xfrm>
            <a:off x="-2191510" y="1617662"/>
            <a:ext cx="6200122" cy="0"/>
          </a:xfrm>
          <a:prstGeom prst="line">
            <a:avLst/>
          </a:prstGeom>
          <a:ln cap="flat" w="38100">
            <a:solidFill>
              <a:srgbClr val="FEFEF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4279388" y="1617662"/>
            <a:ext cx="5792134" cy="0"/>
          </a:xfrm>
          <a:prstGeom prst="line">
            <a:avLst/>
          </a:prstGeom>
          <a:ln cap="flat" w="38100">
            <a:solidFill>
              <a:srgbClr val="FEFEF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6032626" y="253289"/>
            <a:ext cx="6222748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Meet Agentix Consulting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5603" y="7201773"/>
            <a:ext cx="361228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04F69"/>
                </a:solidFill>
                <a:latin typeface="Canva Sans"/>
                <a:ea typeface="Canva Sans"/>
                <a:cs typeface="Canva Sans"/>
                <a:sym typeface="Canva Sans"/>
              </a:rPr>
              <a:t>Krishianjan Lanka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09292" y="7201773"/>
            <a:ext cx="350549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04F69"/>
                </a:solidFill>
                <a:latin typeface="Canva Sans"/>
                <a:ea typeface="Canva Sans"/>
                <a:cs typeface="Canva Sans"/>
                <a:sym typeface="Canva Sans"/>
              </a:rPr>
              <a:t> Lana Jalal Gidan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25358" y="7201773"/>
            <a:ext cx="140709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04F69"/>
                </a:solidFill>
                <a:latin typeface="Canva Sans"/>
                <a:ea typeface="Canva Sans"/>
                <a:cs typeface="Canva Sans"/>
                <a:sym typeface="Canva Sans"/>
              </a:rPr>
              <a:t>Nur Ali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87139" y="7201773"/>
            <a:ext cx="361823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04F69"/>
                </a:solidFill>
                <a:latin typeface="Canva Sans"/>
                <a:ea typeface="Canva Sans"/>
                <a:cs typeface="Canva Sans"/>
                <a:sym typeface="Canva Sans"/>
              </a:rPr>
              <a:t>Zoe Zimmermann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458578" y="1670870"/>
            <a:ext cx="10764561" cy="871426"/>
            <a:chOff x="0" y="0"/>
            <a:chExt cx="2530867" cy="2048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30867" cy="204882"/>
            </a:xfrm>
            <a:custGeom>
              <a:avLst/>
              <a:gdLst/>
              <a:ahLst/>
              <a:cxnLst/>
              <a:rect r="r" b="b" t="t" l="l"/>
              <a:pathLst>
                <a:path h="204882" w="2530867">
                  <a:moveTo>
                    <a:pt x="14047" y="0"/>
                  </a:moveTo>
                  <a:lnTo>
                    <a:pt x="2516820" y="0"/>
                  </a:lnTo>
                  <a:cubicBezTo>
                    <a:pt x="2524578" y="0"/>
                    <a:pt x="2530867" y="6289"/>
                    <a:pt x="2530867" y="14047"/>
                  </a:cubicBezTo>
                  <a:lnTo>
                    <a:pt x="2530867" y="190835"/>
                  </a:lnTo>
                  <a:cubicBezTo>
                    <a:pt x="2530867" y="194560"/>
                    <a:pt x="2529387" y="198133"/>
                    <a:pt x="2526752" y="200768"/>
                  </a:cubicBezTo>
                  <a:cubicBezTo>
                    <a:pt x="2524118" y="203402"/>
                    <a:pt x="2520545" y="204882"/>
                    <a:pt x="2516820" y="204882"/>
                  </a:cubicBezTo>
                  <a:lnTo>
                    <a:pt x="14047" y="204882"/>
                  </a:lnTo>
                  <a:cubicBezTo>
                    <a:pt x="10321" y="204882"/>
                    <a:pt x="6749" y="203402"/>
                    <a:pt x="4114" y="200768"/>
                  </a:cubicBezTo>
                  <a:cubicBezTo>
                    <a:pt x="1480" y="198133"/>
                    <a:pt x="0" y="194560"/>
                    <a:pt x="0" y="190835"/>
                  </a:cubicBezTo>
                  <a:lnTo>
                    <a:pt x="0" y="14047"/>
                  </a:lnTo>
                  <a:cubicBezTo>
                    <a:pt x="0" y="10321"/>
                    <a:pt x="1480" y="6749"/>
                    <a:pt x="4114" y="4114"/>
                  </a:cubicBezTo>
                  <a:cubicBezTo>
                    <a:pt x="6749" y="1480"/>
                    <a:pt x="10321" y="0"/>
                    <a:pt x="14047" y="0"/>
                  </a:cubicBezTo>
                  <a:close/>
                </a:path>
              </a:pathLst>
            </a:custGeom>
            <a:solidFill>
              <a:srgbClr val="049FD9"/>
            </a:solidFill>
            <a:ln w="38100" cap="rnd">
              <a:solidFill>
                <a:srgbClr val="F8F7F2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530867" cy="271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Industry Analysis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458578" y="2542296"/>
            <a:ext cx="10764561" cy="871426"/>
            <a:chOff x="0" y="0"/>
            <a:chExt cx="2530867" cy="2048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30867" cy="204882"/>
            </a:xfrm>
            <a:custGeom>
              <a:avLst/>
              <a:gdLst/>
              <a:ahLst/>
              <a:cxnLst/>
              <a:rect r="r" b="b" t="t" l="l"/>
              <a:pathLst>
                <a:path h="204882" w="2530867">
                  <a:moveTo>
                    <a:pt x="14047" y="0"/>
                  </a:moveTo>
                  <a:lnTo>
                    <a:pt x="2516820" y="0"/>
                  </a:lnTo>
                  <a:cubicBezTo>
                    <a:pt x="2524578" y="0"/>
                    <a:pt x="2530867" y="6289"/>
                    <a:pt x="2530867" y="14047"/>
                  </a:cubicBezTo>
                  <a:lnTo>
                    <a:pt x="2530867" y="190835"/>
                  </a:lnTo>
                  <a:cubicBezTo>
                    <a:pt x="2530867" y="194560"/>
                    <a:pt x="2529387" y="198133"/>
                    <a:pt x="2526752" y="200768"/>
                  </a:cubicBezTo>
                  <a:cubicBezTo>
                    <a:pt x="2524118" y="203402"/>
                    <a:pt x="2520545" y="204882"/>
                    <a:pt x="2516820" y="204882"/>
                  </a:cubicBezTo>
                  <a:lnTo>
                    <a:pt x="14047" y="204882"/>
                  </a:lnTo>
                  <a:cubicBezTo>
                    <a:pt x="10321" y="204882"/>
                    <a:pt x="6749" y="203402"/>
                    <a:pt x="4114" y="200768"/>
                  </a:cubicBezTo>
                  <a:cubicBezTo>
                    <a:pt x="1480" y="198133"/>
                    <a:pt x="0" y="194560"/>
                    <a:pt x="0" y="190835"/>
                  </a:cubicBezTo>
                  <a:lnTo>
                    <a:pt x="0" y="14047"/>
                  </a:lnTo>
                  <a:cubicBezTo>
                    <a:pt x="0" y="10321"/>
                    <a:pt x="1480" y="6749"/>
                    <a:pt x="4114" y="4114"/>
                  </a:cubicBezTo>
                  <a:cubicBezTo>
                    <a:pt x="6749" y="1480"/>
                    <a:pt x="10321" y="0"/>
                    <a:pt x="14047" y="0"/>
                  </a:cubicBezTo>
                  <a:close/>
                </a:path>
              </a:pathLst>
            </a:custGeom>
            <a:solidFill>
              <a:srgbClr val="049FD9"/>
            </a:solidFill>
            <a:ln w="38100" cap="rnd">
              <a:solidFill>
                <a:srgbClr val="F8F7F2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530867" cy="271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Problem Identification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458578" y="3413722"/>
            <a:ext cx="10764561" cy="871426"/>
            <a:chOff x="0" y="0"/>
            <a:chExt cx="2530867" cy="2048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30867" cy="204882"/>
            </a:xfrm>
            <a:custGeom>
              <a:avLst/>
              <a:gdLst/>
              <a:ahLst/>
              <a:cxnLst/>
              <a:rect r="r" b="b" t="t" l="l"/>
              <a:pathLst>
                <a:path h="204882" w="2530867">
                  <a:moveTo>
                    <a:pt x="14047" y="0"/>
                  </a:moveTo>
                  <a:lnTo>
                    <a:pt x="2516820" y="0"/>
                  </a:lnTo>
                  <a:cubicBezTo>
                    <a:pt x="2524578" y="0"/>
                    <a:pt x="2530867" y="6289"/>
                    <a:pt x="2530867" y="14047"/>
                  </a:cubicBezTo>
                  <a:lnTo>
                    <a:pt x="2530867" y="190835"/>
                  </a:lnTo>
                  <a:cubicBezTo>
                    <a:pt x="2530867" y="194560"/>
                    <a:pt x="2529387" y="198133"/>
                    <a:pt x="2526752" y="200768"/>
                  </a:cubicBezTo>
                  <a:cubicBezTo>
                    <a:pt x="2524118" y="203402"/>
                    <a:pt x="2520545" y="204882"/>
                    <a:pt x="2516820" y="204882"/>
                  </a:cubicBezTo>
                  <a:lnTo>
                    <a:pt x="14047" y="204882"/>
                  </a:lnTo>
                  <a:cubicBezTo>
                    <a:pt x="10321" y="204882"/>
                    <a:pt x="6749" y="203402"/>
                    <a:pt x="4114" y="200768"/>
                  </a:cubicBezTo>
                  <a:cubicBezTo>
                    <a:pt x="1480" y="198133"/>
                    <a:pt x="0" y="194560"/>
                    <a:pt x="0" y="190835"/>
                  </a:cubicBezTo>
                  <a:lnTo>
                    <a:pt x="0" y="14047"/>
                  </a:lnTo>
                  <a:cubicBezTo>
                    <a:pt x="0" y="10321"/>
                    <a:pt x="1480" y="6749"/>
                    <a:pt x="4114" y="4114"/>
                  </a:cubicBezTo>
                  <a:cubicBezTo>
                    <a:pt x="6749" y="1480"/>
                    <a:pt x="10321" y="0"/>
                    <a:pt x="14047" y="0"/>
                  </a:cubicBezTo>
                  <a:close/>
                </a:path>
              </a:pathLst>
            </a:custGeom>
            <a:solidFill>
              <a:srgbClr val="049FD9"/>
            </a:solidFill>
            <a:ln w="38100" cap="rnd">
              <a:solidFill>
                <a:srgbClr val="F8F7F2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530867" cy="271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Recommendations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458578" y="4285148"/>
            <a:ext cx="10764561" cy="871426"/>
            <a:chOff x="0" y="0"/>
            <a:chExt cx="2530867" cy="2048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30867" cy="204882"/>
            </a:xfrm>
            <a:custGeom>
              <a:avLst/>
              <a:gdLst/>
              <a:ahLst/>
              <a:cxnLst/>
              <a:rect r="r" b="b" t="t" l="l"/>
              <a:pathLst>
                <a:path h="204882" w="2530867">
                  <a:moveTo>
                    <a:pt x="14047" y="0"/>
                  </a:moveTo>
                  <a:lnTo>
                    <a:pt x="2516820" y="0"/>
                  </a:lnTo>
                  <a:cubicBezTo>
                    <a:pt x="2524578" y="0"/>
                    <a:pt x="2530867" y="6289"/>
                    <a:pt x="2530867" y="14047"/>
                  </a:cubicBezTo>
                  <a:lnTo>
                    <a:pt x="2530867" y="190835"/>
                  </a:lnTo>
                  <a:cubicBezTo>
                    <a:pt x="2530867" y="194560"/>
                    <a:pt x="2529387" y="198133"/>
                    <a:pt x="2526752" y="200768"/>
                  </a:cubicBezTo>
                  <a:cubicBezTo>
                    <a:pt x="2524118" y="203402"/>
                    <a:pt x="2520545" y="204882"/>
                    <a:pt x="2516820" y="204882"/>
                  </a:cubicBezTo>
                  <a:lnTo>
                    <a:pt x="14047" y="204882"/>
                  </a:lnTo>
                  <a:cubicBezTo>
                    <a:pt x="10321" y="204882"/>
                    <a:pt x="6749" y="203402"/>
                    <a:pt x="4114" y="200768"/>
                  </a:cubicBezTo>
                  <a:cubicBezTo>
                    <a:pt x="1480" y="198133"/>
                    <a:pt x="0" y="194560"/>
                    <a:pt x="0" y="190835"/>
                  </a:cubicBezTo>
                  <a:lnTo>
                    <a:pt x="0" y="14047"/>
                  </a:lnTo>
                  <a:cubicBezTo>
                    <a:pt x="0" y="10321"/>
                    <a:pt x="1480" y="6749"/>
                    <a:pt x="4114" y="4114"/>
                  </a:cubicBezTo>
                  <a:cubicBezTo>
                    <a:pt x="6749" y="1480"/>
                    <a:pt x="10321" y="0"/>
                    <a:pt x="14047" y="0"/>
                  </a:cubicBezTo>
                  <a:close/>
                </a:path>
              </a:pathLst>
            </a:custGeom>
            <a:solidFill>
              <a:srgbClr val="049FD9"/>
            </a:solidFill>
            <a:ln w="38100" cap="rnd">
              <a:solidFill>
                <a:srgbClr val="F8F7F2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530867" cy="271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Implementation Timeline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458578" y="5151923"/>
            <a:ext cx="10764561" cy="871426"/>
            <a:chOff x="0" y="0"/>
            <a:chExt cx="2530867" cy="2048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0867" cy="204882"/>
            </a:xfrm>
            <a:custGeom>
              <a:avLst/>
              <a:gdLst/>
              <a:ahLst/>
              <a:cxnLst/>
              <a:rect r="r" b="b" t="t" l="l"/>
              <a:pathLst>
                <a:path h="204882" w="2530867">
                  <a:moveTo>
                    <a:pt x="14047" y="0"/>
                  </a:moveTo>
                  <a:lnTo>
                    <a:pt x="2516820" y="0"/>
                  </a:lnTo>
                  <a:cubicBezTo>
                    <a:pt x="2524578" y="0"/>
                    <a:pt x="2530867" y="6289"/>
                    <a:pt x="2530867" y="14047"/>
                  </a:cubicBezTo>
                  <a:lnTo>
                    <a:pt x="2530867" y="190835"/>
                  </a:lnTo>
                  <a:cubicBezTo>
                    <a:pt x="2530867" y="194560"/>
                    <a:pt x="2529387" y="198133"/>
                    <a:pt x="2526752" y="200768"/>
                  </a:cubicBezTo>
                  <a:cubicBezTo>
                    <a:pt x="2524118" y="203402"/>
                    <a:pt x="2520545" y="204882"/>
                    <a:pt x="2516820" y="204882"/>
                  </a:cubicBezTo>
                  <a:lnTo>
                    <a:pt x="14047" y="204882"/>
                  </a:lnTo>
                  <a:cubicBezTo>
                    <a:pt x="10321" y="204882"/>
                    <a:pt x="6749" y="203402"/>
                    <a:pt x="4114" y="200768"/>
                  </a:cubicBezTo>
                  <a:cubicBezTo>
                    <a:pt x="1480" y="198133"/>
                    <a:pt x="0" y="194560"/>
                    <a:pt x="0" y="190835"/>
                  </a:cubicBezTo>
                  <a:lnTo>
                    <a:pt x="0" y="14047"/>
                  </a:lnTo>
                  <a:cubicBezTo>
                    <a:pt x="0" y="10321"/>
                    <a:pt x="1480" y="6749"/>
                    <a:pt x="4114" y="4114"/>
                  </a:cubicBezTo>
                  <a:cubicBezTo>
                    <a:pt x="6749" y="1480"/>
                    <a:pt x="10321" y="0"/>
                    <a:pt x="14047" y="0"/>
                  </a:cubicBezTo>
                  <a:close/>
                </a:path>
              </a:pathLst>
            </a:custGeom>
            <a:solidFill>
              <a:srgbClr val="049FD9"/>
            </a:solidFill>
            <a:ln w="38100" cap="rnd">
              <a:solidFill>
                <a:srgbClr val="F8F7F2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2530867" cy="271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Financials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458578" y="6023349"/>
            <a:ext cx="10764561" cy="871426"/>
            <a:chOff x="0" y="0"/>
            <a:chExt cx="2530867" cy="2048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30867" cy="204882"/>
            </a:xfrm>
            <a:custGeom>
              <a:avLst/>
              <a:gdLst/>
              <a:ahLst/>
              <a:cxnLst/>
              <a:rect r="r" b="b" t="t" l="l"/>
              <a:pathLst>
                <a:path h="204882" w="2530867">
                  <a:moveTo>
                    <a:pt x="14047" y="0"/>
                  </a:moveTo>
                  <a:lnTo>
                    <a:pt x="2516820" y="0"/>
                  </a:lnTo>
                  <a:cubicBezTo>
                    <a:pt x="2524578" y="0"/>
                    <a:pt x="2530867" y="6289"/>
                    <a:pt x="2530867" y="14047"/>
                  </a:cubicBezTo>
                  <a:lnTo>
                    <a:pt x="2530867" y="190835"/>
                  </a:lnTo>
                  <a:cubicBezTo>
                    <a:pt x="2530867" y="194560"/>
                    <a:pt x="2529387" y="198133"/>
                    <a:pt x="2526752" y="200768"/>
                  </a:cubicBezTo>
                  <a:cubicBezTo>
                    <a:pt x="2524118" y="203402"/>
                    <a:pt x="2520545" y="204882"/>
                    <a:pt x="2516820" y="204882"/>
                  </a:cubicBezTo>
                  <a:lnTo>
                    <a:pt x="14047" y="204882"/>
                  </a:lnTo>
                  <a:cubicBezTo>
                    <a:pt x="10321" y="204882"/>
                    <a:pt x="6749" y="203402"/>
                    <a:pt x="4114" y="200768"/>
                  </a:cubicBezTo>
                  <a:cubicBezTo>
                    <a:pt x="1480" y="198133"/>
                    <a:pt x="0" y="194560"/>
                    <a:pt x="0" y="190835"/>
                  </a:cubicBezTo>
                  <a:lnTo>
                    <a:pt x="0" y="14047"/>
                  </a:lnTo>
                  <a:cubicBezTo>
                    <a:pt x="0" y="10321"/>
                    <a:pt x="1480" y="6749"/>
                    <a:pt x="4114" y="4114"/>
                  </a:cubicBezTo>
                  <a:cubicBezTo>
                    <a:pt x="6749" y="1480"/>
                    <a:pt x="10321" y="0"/>
                    <a:pt x="14047" y="0"/>
                  </a:cubicBezTo>
                  <a:close/>
                </a:path>
              </a:pathLst>
            </a:custGeom>
            <a:solidFill>
              <a:srgbClr val="049FD9"/>
            </a:solidFill>
            <a:ln w="38100" cap="rnd">
              <a:solidFill>
                <a:srgbClr val="F8F7F2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2530867" cy="271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Key Performance Indicators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458578" y="6894775"/>
            <a:ext cx="10764561" cy="871426"/>
            <a:chOff x="0" y="0"/>
            <a:chExt cx="2530867" cy="2048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30867" cy="204882"/>
            </a:xfrm>
            <a:custGeom>
              <a:avLst/>
              <a:gdLst/>
              <a:ahLst/>
              <a:cxnLst/>
              <a:rect r="r" b="b" t="t" l="l"/>
              <a:pathLst>
                <a:path h="204882" w="2530867">
                  <a:moveTo>
                    <a:pt x="14047" y="0"/>
                  </a:moveTo>
                  <a:lnTo>
                    <a:pt x="2516820" y="0"/>
                  </a:lnTo>
                  <a:cubicBezTo>
                    <a:pt x="2524578" y="0"/>
                    <a:pt x="2530867" y="6289"/>
                    <a:pt x="2530867" y="14047"/>
                  </a:cubicBezTo>
                  <a:lnTo>
                    <a:pt x="2530867" y="190835"/>
                  </a:lnTo>
                  <a:cubicBezTo>
                    <a:pt x="2530867" y="194560"/>
                    <a:pt x="2529387" y="198133"/>
                    <a:pt x="2526752" y="200768"/>
                  </a:cubicBezTo>
                  <a:cubicBezTo>
                    <a:pt x="2524118" y="203402"/>
                    <a:pt x="2520545" y="204882"/>
                    <a:pt x="2516820" y="204882"/>
                  </a:cubicBezTo>
                  <a:lnTo>
                    <a:pt x="14047" y="204882"/>
                  </a:lnTo>
                  <a:cubicBezTo>
                    <a:pt x="10321" y="204882"/>
                    <a:pt x="6749" y="203402"/>
                    <a:pt x="4114" y="200768"/>
                  </a:cubicBezTo>
                  <a:cubicBezTo>
                    <a:pt x="1480" y="198133"/>
                    <a:pt x="0" y="194560"/>
                    <a:pt x="0" y="190835"/>
                  </a:cubicBezTo>
                  <a:lnTo>
                    <a:pt x="0" y="14047"/>
                  </a:lnTo>
                  <a:cubicBezTo>
                    <a:pt x="0" y="10321"/>
                    <a:pt x="1480" y="6749"/>
                    <a:pt x="4114" y="4114"/>
                  </a:cubicBezTo>
                  <a:cubicBezTo>
                    <a:pt x="6749" y="1480"/>
                    <a:pt x="10321" y="0"/>
                    <a:pt x="14047" y="0"/>
                  </a:cubicBezTo>
                  <a:close/>
                </a:path>
              </a:pathLst>
            </a:custGeom>
            <a:solidFill>
              <a:srgbClr val="049FD9"/>
            </a:solidFill>
            <a:ln w="38100" cap="rnd">
              <a:solidFill>
                <a:srgbClr val="F8F7F2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2530867" cy="271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Risks and Mitigations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458578" y="7744704"/>
            <a:ext cx="10764561" cy="871426"/>
            <a:chOff x="0" y="0"/>
            <a:chExt cx="2530867" cy="20488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30867" cy="204882"/>
            </a:xfrm>
            <a:custGeom>
              <a:avLst/>
              <a:gdLst/>
              <a:ahLst/>
              <a:cxnLst/>
              <a:rect r="r" b="b" t="t" l="l"/>
              <a:pathLst>
                <a:path h="204882" w="2530867">
                  <a:moveTo>
                    <a:pt x="14047" y="0"/>
                  </a:moveTo>
                  <a:lnTo>
                    <a:pt x="2516820" y="0"/>
                  </a:lnTo>
                  <a:cubicBezTo>
                    <a:pt x="2524578" y="0"/>
                    <a:pt x="2530867" y="6289"/>
                    <a:pt x="2530867" y="14047"/>
                  </a:cubicBezTo>
                  <a:lnTo>
                    <a:pt x="2530867" y="190835"/>
                  </a:lnTo>
                  <a:cubicBezTo>
                    <a:pt x="2530867" y="194560"/>
                    <a:pt x="2529387" y="198133"/>
                    <a:pt x="2526752" y="200768"/>
                  </a:cubicBezTo>
                  <a:cubicBezTo>
                    <a:pt x="2524118" y="203402"/>
                    <a:pt x="2520545" y="204882"/>
                    <a:pt x="2516820" y="204882"/>
                  </a:cubicBezTo>
                  <a:lnTo>
                    <a:pt x="14047" y="204882"/>
                  </a:lnTo>
                  <a:cubicBezTo>
                    <a:pt x="10321" y="204882"/>
                    <a:pt x="6749" y="203402"/>
                    <a:pt x="4114" y="200768"/>
                  </a:cubicBezTo>
                  <a:cubicBezTo>
                    <a:pt x="1480" y="198133"/>
                    <a:pt x="0" y="194560"/>
                    <a:pt x="0" y="190835"/>
                  </a:cubicBezTo>
                  <a:lnTo>
                    <a:pt x="0" y="14047"/>
                  </a:lnTo>
                  <a:cubicBezTo>
                    <a:pt x="0" y="10321"/>
                    <a:pt x="1480" y="6749"/>
                    <a:pt x="4114" y="4114"/>
                  </a:cubicBezTo>
                  <a:cubicBezTo>
                    <a:pt x="6749" y="1480"/>
                    <a:pt x="10321" y="0"/>
                    <a:pt x="14047" y="0"/>
                  </a:cubicBezTo>
                  <a:close/>
                </a:path>
              </a:pathLst>
            </a:custGeom>
            <a:solidFill>
              <a:srgbClr val="049FD9"/>
            </a:solidFill>
            <a:ln w="38100" cap="rnd">
              <a:solidFill>
                <a:srgbClr val="F8F7F2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2530867" cy="271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Executive Summary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726557" y="253289"/>
            <a:ext cx="2228604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AGENDA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Industry Analysis 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| Problem Identification | Recommendations | Implementation | Financials | Executive Summary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2121416"/>
            <a:ext cx="2032090" cy="203209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77390" y="253289"/>
            <a:ext cx="413321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Industry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Industry Analysis 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| Problem Identification | Recommendations | Implementation | Financials | Executive Summary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326103" y="2121416"/>
            <a:ext cx="2032090" cy="203209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624893" y="2121416"/>
            <a:ext cx="2032090" cy="203209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19762" y="1314526"/>
            <a:ext cx="1112825" cy="69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1"/>
              </a:lnSpc>
            </a:pPr>
            <a:r>
              <a:rPr lang="en-US" sz="401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46888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Open Sans"/>
              </a:rPr>
              <a:t>Market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Open Sans"/>
              </a:rPr>
              <a:t>Trends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46888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Open Sans"/>
              </a:rPr>
              <a:t>Competitive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Open Sans"/>
              </a:rPr>
              <a:t>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46888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Open Sans"/>
              </a:rPr>
              <a:t>Cisco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Open Sans"/>
              </a:rPr>
              <a:t>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5720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049FD9"/>
                </a:solidFill>
                <a:latin typeface="TT Commons Pro"/>
              </a:rPr>
              <a:t>Competitive Landscape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Microsoft Teams: 320M+ users, 2,000+ apps, Copilot AI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Zoom: 300M+ participants, 2,500+ apps, AI Companion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Webex: FedRAMP/HIPAA certified, AI Codec, smaller ecosystem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49FD9"/>
                </a:solidFill>
                <a:latin typeface="TT Commons Pro"/>
              </a:rPr>
              <a:t>Key Trends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Agentic AI market: $65.5B by 2030 (45% CAGR)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74% of enterprises adopting permanent hybrid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No platform has an AI agent marketplace yet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45720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049FD9"/>
                </a:solidFill>
                <a:latin typeface="TT Commons Pro"/>
              </a:rPr>
              <a:t>Cisco Strengths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$7.98B annual R&amp;D budget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$28B Splunk acquisition for observability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600M+ meeting minutes processed monthly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AI Codec: industry-leading ML audio pipeline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49FD9"/>
                </a:solidFill>
                <a:latin typeface="TT Commons Pro"/>
              </a:rPr>
              <a:t>The Opportunity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Leapfrog competitors by combining Cisco security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+ Splunk observability + agentic AI capabilities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72282" y="253289"/>
            <a:ext cx="4743435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Problem Identification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Problem Identification 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| Recommendations | Implementation | Financials | Executive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87872" y="4058628"/>
            <a:ext cx="3327350" cy="110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6"/>
              </a:lnSpc>
            </a:pPr>
            <a:r>
              <a:rPr lang="en-US" sz="433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What are our</a:t>
            </a:r>
            <a:r>
              <a:rPr lang="en-US" sz="4336">
                <a:solidFill>
                  <a:srgbClr val="393939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algn="ctr">
              <a:lnSpc>
                <a:spcPts val="4206"/>
              </a:lnSpc>
            </a:pPr>
            <a:r>
              <a:rPr lang="en-US" b="true" sz="4336">
                <a:solidFill>
                  <a:srgbClr val="049FD9"/>
                </a:solidFill>
                <a:latin typeface="Lato Bold"/>
                <a:ea typeface="Lato Bold"/>
                <a:cs typeface="Lato Bold"/>
                <a:sym typeface="Lato Bold"/>
              </a:rPr>
              <a:t>PROBLEMS?</a:t>
            </a:r>
          </a:p>
        </p:txBody>
      </p:sp>
      <p:sp>
        <p:nvSpPr>
          <p:cNvPr name="AutoShape 9" id="9"/>
          <p:cNvSpPr/>
          <p:nvPr/>
        </p:nvSpPr>
        <p:spPr>
          <a:xfrm>
            <a:off x="1321012" y="2649728"/>
            <a:ext cx="9366434" cy="59999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1454372" y="2222865"/>
            <a:ext cx="0" cy="7035436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2801073" y="5365686"/>
            <a:ext cx="7886373" cy="29355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8697374" y="1915833"/>
            <a:ext cx="5554173" cy="1001226"/>
            <a:chOff x="0" y="0"/>
            <a:chExt cx="7405564" cy="133496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3035298" y="0"/>
              <a:ext cx="1334968" cy="1334968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0" y="279568"/>
              <a:ext cx="7405564" cy="709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31"/>
                </a:lnSpc>
                <a:spcBef>
                  <a:spcPct val="0"/>
                </a:spcBef>
              </a:pPr>
              <a:r>
                <a:rPr lang="en-US" b="true" sz="3165">
                  <a:solidFill>
                    <a:srgbClr val="FFFAF9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53759" y="4470684"/>
            <a:ext cx="1001226" cy="100122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693583" y="4663692"/>
            <a:ext cx="5554173" cy="548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1"/>
              </a:lnSpc>
              <a:spcBef>
                <a:spcPct val="0"/>
              </a:spcBef>
            </a:pPr>
            <a:r>
              <a:rPr lang="en-US" b="true" sz="3165">
                <a:solidFill>
                  <a:srgbClr val="FFFA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25071" y="1924346"/>
            <a:ext cx="3090639" cy="72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988"/>
              </a:lnSpc>
              <a:spcBef>
                <a:spcPct val="0"/>
              </a:spcBef>
            </a:pPr>
            <a:r>
              <a:rPr lang="en-US" b="true" sz="4277">
                <a:solidFill>
                  <a:srgbClr val="049F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#1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84359" y="4531361"/>
            <a:ext cx="3090639" cy="72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8"/>
              </a:lnSpc>
              <a:spcBef>
                <a:spcPct val="0"/>
              </a:spcBef>
            </a:pPr>
            <a:r>
              <a:rPr lang="en-US" b="true" sz="4277">
                <a:solidFill>
                  <a:srgbClr val="049F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</a:t>
            </a:r>
            <a:r>
              <a:rPr lang="en-US" b="true" sz="4277">
                <a:solidFill>
                  <a:srgbClr val="049F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 #2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21411" y="2762743"/>
            <a:ext cx="5753587" cy="39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33"/>
              </a:lnSpc>
              <a:spcBef>
                <a:spcPct val="0"/>
              </a:spcBef>
            </a:pPr>
            <a:r>
              <a:rPr lang="en-US" sz="230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Webex AI summarizes but cannot prepare, execute tasks, or follow up on action items.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086802" y="5503006"/>
            <a:ext cx="5710401" cy="39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33"/>
              </a:lnSpc>
              <a:spcBef>
                <a:spcPct val="0"/>
              </a:spcBef>
            </a:pPr>
            <a:r>
              <a:rPr lang="en-US" sz="230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Non-native speakers face language barriers, jargon, and have no way to participate silently.</a:t>
            </a:r>
          </a:p>
        </p:txBody>
      </p:sp>
      <p:sp>
        <p:nvSpPr>
          <p:cNvPr name="AutoShape 25" id="25"/>
          <p:cNvSpPr/>
          <p:nvPr/>
        </p:nvSpPr>
        <p:spPr>
          <a:xfrm>
            <a:off x="4384353" y="7935766"/>
            <a:ext cx="6306884" cy="43124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957550" y="7083889"/>
            <a:ext cx="1001226" cy="1001226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697374" y="7276897"/>
            <a:ext cx="5554173" cy="548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1"/>
              </a:lnSpc>
              <a:spcBef>
                <a:spcPct val="0"/>
              </a:spcBef>
            </a:pPr>
            <a:r>
              <a:rPr lang="en-US" b="true" sz="3165">
                <a:solidFill>
                  <a:srgbClr val="FFFA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03708" y="7210384"/>
            <a:ext cx="3090639" cy="72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8"/>
              </a:lnSpc>
              <a:spcBef>
                <a:spcPct val="0"/>
              </a:spcBef>
            </a:pPr>
            <a:r>
              <a:rPr lang="en-US" b="true" sz="4277">
                <a:solidFill>
                  <a:srgbClr val="049F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</a:t>
            </a:r>
            <a:r>
              <a:rPr lang="en-US" b="true" sz="4277">
                <a:solidFill>
                  <a:srgbClr val="049F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oblem #3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086802" y="8042401"/>
            <a:ext cx="5710401" cy="39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33"/>
              </a:lnSpc>
              <a:spcBef>
                <a:spcPct val="0"/>
              </a:spcBef>
            </a:pPr>
            <a:r>
              <a:rPr lang="en-US" sz="230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Teams: 2,000+ integrations. Zoom: 2,500+. No AI agent marketplace exists yet.</a:t>
            </a:r>
            <a:r>
              <a:rPr lang="en-US" sz="230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6465119" y="3272821"/>
            <a:ext cx="5864716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900535" y="2176652"/>
            <a:ext cx="7656039" cy="1380121"/>
            <a:chOff x="0" y="0"/>
            <a:chExt cx="10208052" cy="184016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4183946" y="0"/>
              <a:ext cx="1840161" cy="1840161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382022"/>
              <a:ext cx="10208052" cy="980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0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94814" y="3785624"/>
            <a:ext cx="809699" cy="80969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5799664" y="3126548"/>
            <a:ext cx="0" cy="6590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5816873" y="4595324"/>
            <a:ext cx="0" cy="138192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5799664" y="5977250"/>
            <a:ext cx="665455" cy="0"/>
          </a:xfrm>
          <a:prstGeom prst="line">
            <a:avLst/>
          </a:prstGeom>
          <a:ln cap="flat" w="38100">
            <a:solidFill>
              <a:srgbClr val="39393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6754934" y="5656739"/>
            <a:ext cx="0" cy="332599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6437279" y="5656739"/>
            <a:ext cx="635311" cy="63531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23776" y="7389085"/>
            <a:ext cx="635311" cy="63531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310629" y="2490579"/>
            <a:ext cx="835852" cy="752267"/>
          </a:xfrm>
          <a:custGeom>
            <a:avLst/>
            <a:gdLst/>
            <a:ahLst/>
            <a:cxnLst/>
            <a:rect r="r" b="b" t="t" l="l"/>
            <a:pathLst>
              <a:path h="752267" w="835852">
                <a:moveTo>
                  <a:pt x="0" y="0"/>
                </a:moveTo>
                <a:lnTo>
                  <a:pt x="835852" y="0"/>
                </a:lnTo>
                <a:lnTo>
                  <a:pt x="835852" y="752266"/>
                </a:lnTo>
                <a:lnTo>
                  <a:pt x="0" y="75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772282" y="253289"/>
            <a:ext cx="4743435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Recommendations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Problem Identification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Recommendations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| Implementation | Financials | Executive Summary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9200" y="5445935"/>
            <a:ext cx="2916213" cy="528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7"/>
              </a:lnSpc>
            </a:pPr>
            <a:r>
              <a:rPr lang="en-US" b="true" sz="4070">
                <a:solidFill>
                  <a:srgbClr val="049FD9"/>
                </a:solidFill>
                <a:latin typeface="Lato Bold"/>
                <a:ea typeface="Lato Bold"/>
                <a:cs typeface="Lato Bold"/>
                <a:sym typeface="Lato Bold"/>
              </a:rPr>
              <a:t>SOLUTIONS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67306" y="3886495"/>
            <a:ext cx="5864716" cy="56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342">
                <a:solidFill>
                  <a:srgbClr val="FFFAF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54934" y="1783221"/>
            <a:ext cx="7949808" cy="131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8"/>
              </a:lnSpc>
              <a:spcBef>
                <a:spcPct val="0"/>
              </a:spcBef>
            </a:pPr>
            <a:r>
              <a:rPr lang="en-US" b="true" sz="3791" i="true">
                <a:solidFill>
                  <a:srgbClr val="049FD9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Repositioning Webex with AI-Powered Solutions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402133" y="3736506"/>
            <a:ext cx="2874764" cy="77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3"/>
              </a:lnSpc>
              <a:spcBef>
                <a:spcPct val="0"/>
              </a:spcBef>
            </a:pPr>
            <a:r>
              <a:rPr lang="en-US" b="true" sz="4516">
                <a:solidFill>
                  <a:srgbClr val="049F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Orchestrator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02133" y="4593435"/>
            <a:ext cx="9985332" cy="404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  <a:spcBef>
                <a:spcPct val="0"/>
              </a:spcBef>
            </a:pPr>
            <a:r>
              <a:rPr lang="en-US" b="true" sz="24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Agentic AI for the full meeting lifecycle: Prepare-Perceive-Reason-Act-Follow-Up.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010879" y="4471499"/>
            <a:ext cx="130648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Our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227647" y="6270783"/>
            <a:ext cx="10614078" cy="44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  <a:spcBef>
                <a:spcPct val="0"/>
              </a:spcBef>
            </a:pPr>
            <a:r>
              <a:rPr lang="en-US" b="true" sz="263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Voice boost, live translation (100+ langs), type-to-speak, jargon simplification.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227647" y="5727494"/>
            <a:ext cx="1841595" cy="44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1"/>
              </a:lnSpc>
              <a:spcBef>
                <a:spcPct val="0"/>
              </a:spcBef>
            </a:pPr>
            <a:r>
              <a:rPr lang="en-US" b="true" sz="2622">
                <a:solidFill>
                  <a:srgbClr val="FFFAF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454129" y="7437332"/>
            <a:ext cx="4601610" cy="44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1"/>
              </a:lnSpc>
              <a:spcBef>
                <a:spcPct val="0"/>
              </a:spcBef>
            </a:pPr>
            <a:r>
              <a:rPr lang="en-US" b="true" sz="2622">
                <a:solidFill>
                  <a:srgbClr val="FFFAF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266361" y="5590064"/>
            <a:ext cx="4495949" cy="605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1"/>
              </a:lnSpc>
              <a:spcBef>
                <a:spcPct val="0"/>
              </a:spcBef>
            </a:pPr>
            <a:r>
              <a:rPr lang="en-US" b="true" sz="3543">
                <a:solidFill>
                  <a:srgbClr val="049F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VIBE Intelligence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214145" y="7371143"/>
            <a:ext cx="2013198" cy="605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1"/>
              </a:lnSpc>
              <a:spcBef>
                <a:spcPct val="0"/>
              </a:spcBef>
            </a:pPr>
            <a:r>
              <a:rPr lang="en-US" b="true" sz="3543">
                <a:solidFill>
                  <a:srgbClr val="049F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Marketplace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252859" y="8042338"/>
            <a:ext cx="9134606" cy="46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7"/>
              </a:lnSpc>
              <a:spcBef>
                <a:spcPct val="0"/>
              </a:spcBef>
            </a:pPr>
            <a:r>
              <a:rPr lang="en-US" b="true" sz="272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Secure AI agent marketplace: Build, Certify, Deploy, Monitor. 500+ agents Yr 1.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858069" y="5734818"/>
            <a:ext cx="1830750" cy="44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1"/>
              </a:lnSpc>
              <a:spcBef>
                <a:spcPct val="0"/>
              </a:spcBef>
            </a:pPr>
            <a:r>
              <a:rPr lang="en-US" b="true" sz="2622">
                <a:solidFill>
                  <a:srgbClr val="FFFAF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72282" y="253289"/>
            <a:ext cx="4743435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Solution #1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Problem Identification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Recommendations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| Implementation | Financials | Executive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9762" y="1314526"/>
            <a:ext cx="1112825" cy="69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1"/>
              </a:lnSpc>
            </a:pPr>
            <a:r>
              <a:rPr lang="en-US" sz="401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7498079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049FD9"/>
                </a:solidFill>
                <a:latin typeface="TT Commons Pro"/>
              </a:rPr>
              <a:t>Problem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Webex AI describes work but does not prepare,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execute, or follow up. Competitors already act.</a:t>
            </a:r>
          </a:p>
          <a:p>
            <a:pPr>
              <a:spcAft>
                <a:spcPts val="100"/>
              </a:spcAft>
            </a:pPr>
            <a:r>
              <a:rPr sz="4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49FD9"/>
                </a:solidFill>
                <a:latin typeface="TT Commons Pro"/>
              </a:rPr>
              <a:t>Five-Phase Architecture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204F69"/>
                </a:solidFill>
                <a:latin typeface="TT Commons Pro"/>
              </a:rPr>
              <a:t>PREPARE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Auto-generate agendas, slides, predicted Q&amp;A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204F69"/>
                </a:solidFill>
                <a:latin typeface="TT Commons Pro"/>
              </a:rPr>
              <a:t>PERCEIVE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AI Codec: noise removal, ASR, intent detection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204F69"/>
                </a:solidFill>
                <a:latin typeface="TT Commons Pro"/>
              </a:rPr>
              <a:t>REASON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A2A retrieval from Jira, Salesforce, SAP, ServiceNow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204F69"/>
                </a:solidFill>
                <a:latin typeface="TT Commons Pro"/>
              </a:rPr>
              <a:t>ACT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Draft tasks, user approve/reject, API execution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204F69"/>
                </a:solidFill>
                <a:latin typeface="TT Commons Pro"/>
              </a:rPr>
              <a:t>FOLLOW-UP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Detect unanswered Qs, draft &amp; deliver responses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645920"/>
            <a:ext cx="7498079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049FD9"/>
                </a:solidFill>
                <a:latin typeface="TT Commons Pro"/>
              </a:rPr>
              <a:t>Key Differentiators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Human-in-the-loop for every action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Zero-trust data fabric + Splunk audit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Full meeting lifecycle coverage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Regulated-industry ready</a:t>
            </a:r>
          </a:p>
          <a:p>
            <a:pPr>
              <a:spcAft>
                <a:spcPts val="100"/>
              </a:spcAft>
            </a:pPr>
            <a:r>
              <a:rPr sz="6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49FD9"/>
                </a:solidFill>
                <a:latin typeface="TT Commons Pro"/>
              </a:rPr>
              <a:t>Expected Impact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15 min saved per meeting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25% meeting-to-action rate (vs 5% avg)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40% workflow automation in 12 months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85% task accuracy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90%+ Q&amp;A resolution rate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72282" y="253289"/>
            <a:ext cx="4743435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Solution #2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Problem Identification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Recommendations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| Implementation | Financials | Executive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9762" y="1314526"/>
            <a:ext cx="1112825" cy="69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1"/>
              </a:lnSpc>
            </a:pPr>
            <a:r>
              <a:rPr lang="en-US" sz="401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7498079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049FD9"/>
                </a:solidFill>
                <a:latin typeface="TT Commons Pro"/>
              </a:rPr>
              <a:t>Problem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Language barriers, jargon, poor audio, and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inability to speak exclude global participants.</a:t>
            </a:r>
          </a:p>
          <a:p>
            <a:pPr>
              <a:spcAft>
                <a:spcPts val="100"/>
              </a:spcAft>
            </a:pPr>
            <a:r>
              <a:rPr sz="4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49FD9"/>
                </a:solidFill>
                <a:latin typeface="TT Commons Pro"/>
              </a:rPr>
              <a:t>VIBE Capabilities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204F69"/>
                </a:solidFill>
                <a:latin typeface="TT Commons Pro"/>
              </a:rPr>
              <a:t>Voice Boost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DNN noise removal (150+ types), auto gain, EQ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204F69"/>
                </a:solidFill>
                <a:latin typeface="TT Commons Pro"/>
              </a:rPr>
              <a:t>Live Translation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100+ languages, real-time ASR + NMT + TTS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204F69"/>
                </a:solidFill>
                <a:latin typeface="TT Commons Pro"/>
              </a:rPr>
              <a:t>Type-to-Speak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Type in any language, VIBE speaks for you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204F69"/>
                </a:solidFill>
                <a:latin typeface="TT Commons Pro"/>
              </a:rPr>
              <a:t>Simple Mode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Jargon to plain language with analogies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204F69"/>
                </a:solidFill>
                <a:latin typeface="TT Commons Pro"/>
              </a:rPr>
              <a:t>Q&amp;A Close-Loop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Ask in native language, get simplified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645920"/>
            <a:ext cx="7498079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049FD9"/>
                </a:solidFill>
                <a:latin typeface="TT Commons Pro"/>
              </a:rPr>
              <a:t>Privacy &amp; Trust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All TTS labeled "Spoken by VIBE for [User]"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Full audit trail via Splunk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Zero data retention option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VIBE never impersonates user's voice</a:t>
            </a:r>
          </a:p>
          <a:p>
            <a:pPr>
              <a:spcAft>
                <a:spcPts val="100"/>
              </a:spcAft>
            </a:pPr>
            <a:r>
              <a:rPr sz="6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49FD9"/>
                </a:solidFill>
                <a:latin typeface="TT Commons Pro"/>
              </a:rPr>
              <a:t>KPI Targets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95%+ noise reduction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98% ASR accuracy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&lt;1s translation latency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4.5/5 TTS naturalness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&lt;2s type-to-speak delivery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+40% non-native participation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72282" y="253289"/>
            <a:ext cx="4743435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Solution #3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Problem Identification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Recommendations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| Implementation | Financials | Executive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9762" y="1314526"/>
            <a:ext cx="1112825" cy="69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1"/>
              </a:lnSpc>
            </a:pPr>
            <a:r>
              <a:rPr lang="en-US" sz="401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7498079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049FD9"/>
                </a:solidFill>
                <a:latin typeface="TT Commons Pro"/>
              </a:rPr>
              <a:t>Problem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Teams: 2,000+ apps. Zoom: 2,500+.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No AI agent marketplace exists anywhere.</a:t>
            </a:r>
          </a:p>
          <a:p>
            <a:pPr>
              <a:spcAft>
                <a:spcPts val="100"/>
              </a:spcAft>
            </a:pPr>
            <a:r>
              <a:rPr sz="4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49FD9"/>
                </a:solidFill>
                <a:latin typeface="TT Commons Pro"/>
              </a:rPr>
              <a:t>Four-Stage Lifecycle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204F69"/>
                </a:solidFill>
                <a:latin typeface="TT Commons Pro"/>
              </a:rPr>
              <a:t>BUILD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Python/JS SDK, agent templates, sandbox testing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204F69"/>
                </a:solidFill>
                <a:latin typeface="TT Commons Pro"/>
              </a:rPr>
              <a:t>CERTIFY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Cisco security: code analysis, SOC2/HIPAA/FedRAMP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204F69"/>
                </a:solidFill>
                <a:latin typeface="TT Commons Pro"/>
              </a:rPr>
              <a:t>DEPLOY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Browse by industry, configure permissions, pilot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204F69"/>
                </a:solidFill>
                <a:latin typeface="TT Commons Pro"/>
              </a:rPr>
              <a:t>MONITOR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Splunk dashboards, anomaly detection, kill-switch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645920"/>
            <a:ext cx="7498079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049FD9"/>
                </a:solidFill>
                <a:latin typeface="TT Commons Pro"/>
              </a:rPr>
              <a:t>Three-Lane Architecture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Developer: Build + test + submit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Admin: Browse + deploy + monitor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User: Discover + install + approve</a:t>
            </a:r>
          </a:p>
          <a:p>
            <a:pPr>
              <a:spcAft>
                <a:spcPts val="100"/>
              </a:spcAft>
            </a:pPr>
            <a:r>
              <a:rPr sz="6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49FD9"/>
                </a:solidFill>
                <a:latin typeface="TT Commons Pro"/>
              </a:rPr>
              <a:t>Projected Impact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500+ certified agents Year 1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$150M GMV by FY2028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3x developer growth in 18 months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85% enterprise renewal rate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$50M annual commission by FY2029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70/30 developer-favoring revenue split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62066" y="253289"/>
            <a:ext cx="5242703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Implementation Timeline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Problem Identification | Recommendations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Implementation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| Financials | Executive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04570" y="4752026"/>
            <a:ext cx="6478860" cy="69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1"/>
              </a:lnSpc>
            </a:pPr>
            <a:r>
              <a:rPr lang="en-US" sz="401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049FD9"/>
                </a:solidFill>
                <a:latin typeface="TT Commons Pro"/>
              </a:rPr>
              <a:t>Sol 1: AI Orchestrator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Q3-Q4 2026: NLP + intent detection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Q1-Q2 2027: A2A integrations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Q3 2027: PREPARE phase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Q4 2027: Full enterprise rollout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049FD9"/>
                </a:solidFill>
                <a:latin typeface="TT Commons Pro"/>
              </a:rPr>
              <a:t>Sol 2: VIBE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Q3 2026: Voice Boost + noise removal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Q4 2026: ASR + Translation (20 langs)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Q1 2027: Type-to-Speak + Simple Mode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Q2 2027: Full 100+ languages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0" y="16459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049FD9"/>
                </a:solidFill>
                <a:latin typeface="TT Commons Pro"/>
              </a:rPr>
              <a:t>Sol 3: Marketplace</a:t>
            </a:r>
          </a:p>
          <a:p>
            <a:pPr>
              <a:spcAft>
                <a:spcPts val="100"/>
              </a:spcAft>
            </a:pPr>
            <a:r>
              <a:rPr sz="2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Q3-Q4 2026: SDK + certification pipeline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Q1 2027: Beta with 30 first-party agents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Q2-Q3 2027: Public launch + grants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Q4 2027-28: Scale to 500+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440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700" b="1">
                <a:solidFill>
                  <a:srgbClr val="204F69"/>
                </a:solidFill>
                <a:latin typeface="TT Commons Pro"/>
              </a:rPr>
              <a:t>Q3'26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5440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700" b="1">
                <a:solidFill>
                  <a:srgbClr val="204F69"/>
                </a:solidFill>
                <a:latin typeface="TT Commons Pro"/>
              </a:rPr>
              <a:t>Q4'26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440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700" b="1">
                <a:solidFill>
                  <a:srgbClr val="204F69"/>
                </a:solidFill>
                <a:latin typeface="TT Commons Pro"/>
              </a:rPr>
              <a:t>Q1'27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5440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700" b="1">
                <a:solidFill>
                  <a:srgbClr val="204F69"/>
                </a:solidFill>
                <a:latin typeface="TT Commons Pro"/>
              </a:rPr>
              <a:t>Q2'27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5440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700" b="1">
                <a:solidFill>
                  <a:srgbClr val="204F69"/>
                </a:solidFill>
                <a:latin typeface="TT Commons Pro"/>
              </a:rPr>
              <a:t>Q3'27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440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700" b="1">
                <a:solidFill>
                  <a:srgbClr val="204F69"/>
                </a:solidFill>
                <a:latin typeface="TT Commons Pro"/>
              </a:rPr>
              <a:t>Q4'27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5440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700" b="1">
                <a:solidFill>
                  <a:srgbClr val="204F69"/>
                </a:solidFill>
                <a:latin typeface="TT Commons Pro"/>
              </a:rPr>
              <a:t>Q1'28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0" y="5440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700" b="1">
                <a:solidFill>
                  <a:srgbClr val="204F69"/>
                </a:solidFill>
                <a:latin typeface="TT Commons Pro"/>
              </a:rPr>
              <a:t>Q2'28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07440" y="5440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700" b="1">
                <a:solidFill>
                  <a:srgbClr val="204F69"/>
                </a:solidFill>
                <a:latin typeface="TT Commons Pro"/>
              </a:rPr>
              <a:t>Q3'28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19" y="5440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700" b="1">
                <a:solidFill>
                  <a:srgbClr val="204F69"/>
                </a:solidFill>
                <a:latin typeface="TT Commons Pro"/>
              </a:rPr>
              <a:t>Q4'28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5760720"/>
            <a:ext cx="9326880" cy="347472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TT Commons Pro"/>
              </a:rPr>
              <a:t>Solution 1: AI Orchestrator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6217920"/>
            <a:ext cx="621792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TT Commons Pro"/>
              </a:rPr>
              <a:t>Solution 2: VIBE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6675120"/>
            <a:ext cx="1554480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TT Commons Pro"/>
              </a:rPr>
              <a:t>Solution 3: Marketplace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7589520"/>
            <a:ext cx="1600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00" b="1">
                <a:solidFill>
                  <a:srgbClr val="049FD9"/>
                </a:solidFill>
                <a:latin typeface="TT Commons Pro"/>
              </a:rPr>
              <a:t>Milestones:  Q4'26 VIBE GA  |  Q2'27 Marketplace Launch  |  Q4'27 Orchestrator Rollout  |  FY28 500+ Agents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77390" y="253289"/>
            <a:ext cx="5002315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Risks and Mitigations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| Problem Identification | Recommendations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Implementation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| Financials | Executive Summary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30570" y="2327366"/>
            <a:ext cx="6918397" cy="1916184"/>
            <a:chOff x="0" y="0"/>
            <a:chExt cx="1629027" cy="4511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9027" cy="451190"/>
            </a:xfrm>
            <a:custGeom>
              <a:avLst/>
              <a:gdLst/>
              <a:ahLst/>
              <a:cxnLst/>
              <a:rect r="r" b="b" t="t" l="l"/>
              <a:pathLst>
                <a:path h="451190" w="1629027">
                  <a:moveTo>
                    <a:pt x="21856" y="0"/>
                  </a:moveTo>
                  <a:lnTo>
                    <a:pt x="1607170" y="0"/>
                  </a:lnTo>
                  <a:cubicBezTo>
                    <a:pt x="1612967" y="0"/>
                    <a:pt x="1618526" y="2303"/>
                    <a:pt x="1622625" y="6402"/>
                  </a:cubicBezTo>
                  <a:cubicBezTo>
                    <a:pt x="1626724" y="10500"/>
                    <a:pt x="1629027" y="16060"/>
                    <a:pt x="1629027" y="21856"/>
                  </a:cubicBezTo>
                  <a:lnTo>
                    <a:pt x="1629027" y="429334"/>
                  </a:lnTo>
                  <a:cubicBezTo>
                    <a:pt x="1629027" y="441405"/>
                    <a:pt x="1619241" y="451190"/>
                    <a:pt x="1607170" y="451190"/>
                  </a:cubicBezTo>
                  <a:lnTo>
                    <a:pt x="21856" y="451190"/>
                  </a:lnTo>
                  <a:cubicBezTo>
                    <a:pt x="16060" y="451190"/>
                    <a:pt x="10500" y="448888"/>
                    <a:pt x="6402" y="444789"/>
                  </a:cubicBezTo>
                  <a:cubicBezTo>
                    <a:pt x="2303" y="440690"/>
                    <a:pt x="0" y="435131"/>
                    <a:pt x="0" y="429334"/>
                  </a:cubicBezTo>
                  <a:lnTo>
                    <a:pt x="0" y="21856"/>
                  </a:lnTo>
                  <a:cubicBezTo>
                    <a:pt x="0" y="9785"/>
                    <a:pt x="9785" y="0"/>
                    <a:pt x="21856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629027" cy="498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30570" y="4394416"/>
            <a:ext cx="6918397" cy="1916184"/>
            <a:chOff x="0" y="0"/>
            <a:chExt cx="1629027" cy="4511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29027" cy="451190"/>
            </a:xfrm>
            <a:custGeom>
              <a:avLst/>
              <a:gdLst/>
              <a:ahLst/>
              <a:cxnLst/>
              <a:rect r="r" b="b" t="t" l="l"/>
              <a:pathLst>
                <a:path h="451190" w="1629027">
                  <a:moveTo>
                    <a:pt x="21856" y="0"/>
                  </a:moveTo>
                  <a:lnTo>
                    <a:pt x="1607170" y="0"/>
                  </a:lnTo>
                  <a:cubicBezTo>
                    <a:pt x="1612967" y="0"/>
                    <a:pt x="1618526" y="2303"/>
                    <a:pt x="1622625" y="6402"/>
                  </a:cubicBezTo>
                  <a:cubicBezTo>
                    <a:pt x="1626724" y="10500"/>
                    <a:pt x="1629027" y="16060"/>
                    <a:pt x="1629027" y="21856"/>
                  </a:cubicBezTo>
                  <a:lnTo>
                    <a:pt x="1629027" y="429334"/>
                  </a:lnTo>
                  <a:cubicBezTo>
                    <a:pt x="1629027" y="441405"/>
                    <a:pt x="1619241" y="451190"/>
                    <a:pt x="1607170" y="451190"/>
                  </a:cubicBezTo>
                  <a:lnTo>
                    <a:pt x="21856" y="451190"/>
                  </a:lnTo>
                  <a:cubicBezTo>
                    <a:pt x="16060" y="451190"/>
                    <a:pt x="10500" y="448888"/>
                    <a:pt x="6402" y="444789"/>
                  </a:cubicBezTo>
                  <a:cubicBezTo>
                    <a:pt x="2303" y="440690"/>
                    <a:pt x="0" y="435131"/>
                    <a:pt x="0" y="429334"/>
                  </a:cubicBezTo>
                  <a:lnTo>
                    <a:pt x="0" y="21856"/>
                  </a:lnTo>
                  <a:cubicBezTo>
                    <a:pt x="0" y="9785"/>
                    <a:pt x="9785" y="0"/>
                    <a:pt x="21856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29027" cy="489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30570" y="6461466"/>
            <a:ext cx="6918397" cy="1916184"/>
            <a:chOff x="0" y="0"/>
            <a:chExt cx="1629027" cy="451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29027" cy="451190"/>
            </a:xfrm>
            <a:custGeom>
              <a:avLst/>
              <a:gdLst/>
              <a:ahLst/>
              <a:cxnLst/>
              <a:rect r="r" b="b" t="t" l="l"/>
              <a:pathLst>
                <a:path h="451190" w="1629027">
                  <a:moveTo>
                    <a:pt x="21856" y="0"/>
                  </a:moveTo>
                  <a:lnTo>
                    <a:pt x="1607170" y="0"/>
                  </a:lnTo>
                  <a:cubicBezTo>
                    <a:pt x="1612967" y="0"/>
                    <a:pt x="1618526" y="2303"/>
                    <a:pt x="1622625" y="6402"/>
                  </a:cubicBezTo>
                  <a:cubicBezTo>
                    <a:pt x="1626724" y="10500"/>
                    <a:pt x="1629027" y="16060"/>
                    <a:pt x="1629027" y="21856"/>
                  </a:cubicBezTo>
                  <a:lnTo>
                    <a:pt x="1629027" y="429334"/>
                  </a:lnTo>
                  <a:cubicBezTo>
                    <a:pt x="1629027" y="441405"/>
                    <a:pt x="1619241" y="451190"/>
                    <a:pt x="1607170" y="451190"/>
                  </a:cubicBezTo>
                  <a:lnTo>
                    <a:pt x="21856" y="451190"/>
                  </a:lnTo>
                  <a:cubicBezTo>
                    <a:pt x="16060" y="451190"/>
                    <a:pt x="10500" y="448888"/>
                    <a:pt x="6402" y="444789"/>
                  </a:cubicBezTo>
                  <a:cubicBezTo>
                    <a:pt x="2303" y="440690"/>
                    <a:pt x="0" y="435131"/>
                    <a:pt x="0" y="429334"/>
                  </a:cubicBezTo>
                  <a:lnTo>
                    <a:pt x="0" y="21856"/>
                  </a:lnTo>
                  <a:cubicBezTo>
                    <a:pt x="0" y="9785"/>
                    <a:pt x="9785" y="0"/>
                    <a:pt x="21856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29027" cy="489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67505" y="2344570"/>
            <a:ext cx="6918397" cy="1916184"/>
            <a:chOff x="0" y="0"/>
            <a:chExt cx="1629027" cy="4511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29027" cy="451190"/>
            </a:xfrm>
            <a:custGeom>
              <a:avLst/>
              <a:gdLst/>
              <a:ahLst/>
              <a:cxnLst/>
              <a:rect r="r" b="b" t="t" l="l"/>
              <a:pathLst>
                <a:path h="451190" w="1629027">
                  <a:moveTo>
                    <a:pt x="21856" y="0"/>
                  </a:moveTo>
                  <a:lnTo>
                    <a:pt x="1607170" y="0"/>
                  </a:lnTo>
                  <a:cubicBezTo>
                    <a:pt x="1612967" y="0"/>
                    <a:pt x="1618526" y="2303"/>
                    <a:pt x="1622625" y="6402"/>
                  </a:cubicBezTo>
                  <a:cubicBezTo>
                    <a:pt x="1626724" y="10500"/>
                    <a:pt x="1629027" y="16060"/>
                    <a:pt x="1629027" y="21856"/>
                  </a:cubicBezTo>
                  <a:lnTo>
                    <a:pt x="1629027" y="429334"/>
                  </a:lnTo>
                  <a:cubicBezTo>
                    <a:pt x="1629027" y="441405"/>
                    <a:pt x="1619241" y="451190"/>
                    <a:pt x="1607170" y="451190"/>
                  </a:cubicBezTo>
                  <a:lnTo>
                    <a:pt x="21856" y="451190"/>
                  </a:lnTo>
                  <a:cubicBezTo>
                    <a:pt x="16060" y="451190"/>
                    <a:pt x="10500" y="448888"/>
                    <a:pt x="6402" y="444789"/>
                  </a:cubicBezTo>
                  <a:cubicBezTo>
                    <a:pt x="2303" y="440690"/>
                    <a:pt x="0" y="435131"/>
                    <a:pt x="0" y="429334"/>
                  </a:cubicBezTo>
                  <a:lnTo>
                    <a:pt x="0" y="21856"/>
                  </a:lnTo>
                  <a:cubicBezTo>
                    <a:pt x="0" y="9785"/>
                    <a:pt x="9785" y="0"/>
                    <a:pt x="21856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629027" cy="498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67505" y="4411620"/>
            <a:ext cx="6918397" cy="1916184"/>
            <a:chOff x="0" y="0"/>
            <a:chExt cx="1629027" cy="4511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29027" cy="451190"/>
            </a:xfrm>
            <a:custGeom>
              <a:avLst/>
              <a:gdLst/>
              <a:ahLst/>
              <a:cxnLst/>
              <a:rect r="r" b="b" t="t" l="l"/>
              <a:pathLst>
                <a:path h="451190" w="1629027">
                  <a:moveTo>
                    <a:pt x="21856" y="0"/>
                  </a:moveTo>
                  <a:lnTo>
                    <a:pt x="1607170" y="0"/>
                  </a:lnTo>
                  <a:cubicBezTo>
                    <a:pt x="1612967" y="0"/>
                    <a:pt x="1618526" y="2303"/>
                    <a:pt x="1622625" y="6402"/>
                  </a:cubicBezTo>
                  <a:cubicBezTo>
                    <a:pt x="1626724" y="10500"/>
                    <a:pt x="1629027" y="16060"/>
                    <a:pt x="1629027" y="21856"/>
                  </a:cubicBezTo>
                  <a:lnTo>
                    <a:pt x="1629027" y="429334"/>
                  </a:lnTo>
                  <a:cubicBezTo>
                    <a:pt x="1629027" y="441405"/>
                    <a:pt x="1619241" y="451190"/>
                    <a:pt x="1607170" y="451190"/>
                  </a:cubicBezTo>
                  <a:lnTo>
                    <a:pt x="21856" y="451190"/>
                  </a:lnTo>
                  <a:cubicBezTo>
                    <a:pt x="16060" y="451190"/>
                    <a:pt x="10500" y="448888"/>
                    <a:pt x="6402" y="444789"/>
                  </a:cubicBezTo>
                  <a:cubicBezTo>
                    <a:pt x="2303" y="440690"/>
                    <a:pt x="0" y="435131"/>
                    <a:pt x="0" y="429334"/>
                  </a:cubicBezTo>
                  <a:lnTo>
                    <a:pt x="0" y="21856"/>
                  </a:lnTo>
                  <a:cubicBezTo>
                    <a:pt x="0" y="9785"/>
                    <a:pt x="9785" y="0"/>
                    <a:pt x="21856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629027" cy="489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67505" y="6478671"/>
            <a:ext cx="6918397" cy="1916184"/>
            <a:chOff x="0" y="0"/>
            <a:chExt cx="1629027" cy="4511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29027" cy="451190"/>
            </a:xfrm>
            <a:custGeom>
              <a:avLst/>
              <a:gdLst/>
              <a:ahLst/>
              <a:cxnLst/>
              <a:rect r="r" b="b" t="t" l="l"/>
              <a:pathLst>
                <a:path h="451190" w="1629027">
                  <a:moveTo>
                    <a:pt x="21856" y="0"/>
                  </a:moveTo>
                  <a:lnTo>
                    <a:pt x="1607170" y="0"/>
                  </a:lnTo>
                  <a:cubicBezTo>
                    <a:pt x="1612967" y="0"/>
                    <a:pt x="1618526" y="2303"/>
                    <a:pt x="1622625" y="6402"/>
                  </a:cubicBezTo>
                  <a:cubicBezTo>
                    <a:pt x="1626724" y="10500"/>
                    <a:pt x="1629027" y="16060"/>
                    <a:pt x="1629027" y="21856"/>
                  </a:cubicBezTo>
                  <a:lnTo>
                    <a:pt x="1629027" y="429334"/>
                  </a:lnTo>
                  <a:cubicBezTo>
                    <a:pt x="1629027" y="441405"/>
                    <a:pt x="1619241" y="451190"/>
                    <a:pt x="1607170" y="451190"/>
                  </a:cubicBezTo>
                  <a:lnTo>
                    <a:pt x="21856" y="451190"/>
                  </a:lnTo>
                  <a:cubicBezTo>
                    <a:pt x="16060" y="451190"/>
                    <a:pt x="10500" y="448888"/>
                    <a:pt x="6402" y="444789"/>
                  </a:cubicBezTo>
                  <a:cubicBezTo>
                    <a:pt x="2303" y="440690"/>
                    <a:pt x="0" y="435131"/>
                    <a:pt x="0" y="429334"/>
                  </a:cubicBezTo>
                  <a:lnTo>
                    <a:pt x="0" y="21856"/>
                  </a:lnTo>
                  <a:cubicBezTo>
                    <a:pt x="0" y="9785"/>
                    <a:pt x="9785" y="0"/>
                    <a:pt x="21856" y="0"/>
                  </a:cubicBezTo>
                  <a:close/>
                </a:path>
              </a:pathLst>
            </a:custGeom>
            <a:solidFill>
              <a:srgbClr val="049F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629027" cy="498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001930" y="2395061"/>
            <a:ext cx="1832547" cy="1864012"/>
            <a:chOff x="0" y="0"/>
            <a:chExt cx="2443395" cy="2485349"/>
          </a:xfrm>
        </p:grpSpPr>
        <p:sp>
          <p:nvSpPr>
            <p:cNvPr name="AutoShape 27" id="27"/>
            <p:cNvSpPr/>
            <p:nvPr/>
          </p:nvSpPr>
          <p:spPr>
            <a:xfrm flipV="true">
              <a:off x="436412" y="0"/>
              <a:ext cx="0" cy="2050811"/>
            </a:xfrm>
            <a:prstGeom prst="line">
              <a:avLst/>
            </a:prstGeom>
            <a:ln cap="flat" w="38994">
              <a:solidFill>
                <a:srgbClr val="393939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436412" y="2050811"/>
              <a:ext cx="2006983" cy="0"/>
            </a:xfrm>
            <a:prstGeom prst="line">
              <a:avLst/>
            </a:prstGeom>
            <a:ln cap="flat" w="38994">
              <a:solidFill>
                <a:srgbClr val="393939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145369" y="161011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736654" y="159767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4"/>
                  </a:lnTo>
                  <a:lnTo>
                    <a:pt x="0" y="591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554085" y="751051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4" y="0"/>
                  </a:lnTo>
                  <a:lnTo>
                    <a:pt x="591284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145369" y="75229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4"/>
                  </a:lnTo>
                  <a:lnTo>
                    <a:pt x="0" y="591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736654" y="75229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4"/>
                  </a:lnTo>
                  <a:lnTo>
                    <a:pt x="0" y="591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554085" y="134233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4" y="0"/>
                  </a:lnTo>
                  <a:lnTo>
                    <a:pt x="591284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145369" y="134233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736654" y="1343580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-5400000">
              <a:off x="-837809" y="885443"/>
              <a:ext cx="2003097" cy="365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2"/>
                </a:lnSpc>
              </a:pPr>
              <a:r>
                <a:rPr lang="en-US" sz="1708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Probability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428870" y="2119769"/>
              <a:ext cx="2003097" cy="365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2"/>
                </a:lnSpc>
              </a:pPr>
              <a:r>
                <a:rPr lang="en-US" sz="1708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Impact</a:t>
              </a:r>
            </a:p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554085" y="161011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4" y="0"/>
                  </a:lnTo>
                  <a:lnTo>
                    <a:pt x="591284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001930" y="4462112"/>
            <a:ext cx="1832547" cy="1864012"/>
            <a:chOff x="0" y="0"/>
            <a:chExt cx="2443395" cy="2485349"/>
          </a:xfrm>
        </p:grpSpPr>
        <p:sp>
          <p:nvSpPr>
            <p:cNvPr name="AutoShape 41" id="41"/>
            <p:cNvSpPr/>
            <p:nvPr/>
          </p:nvSpPr>
          <p:spPr>
            <a:xfrm flipV="true">
              <a:off x="436412" y="0"/>
              <a:ext cx="0" cy="2050811"/>
            </a:xfrm>
            <a:prstGeom prst="line">
              <a:avLst/>
            </a:prstGeom>
            <a:ln cap="flat" w="38994">
              <a:solidFill>
                <a:srgbClr val="393939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42" id="42"/>
            <p:cNvSpPr/>
            <p:nvPr/>
          </p:nvSpPr>
          <p:spPr>
            <a:xfrm>
              <a:off x="436412" y="2050811"/>
              <a:ext cx="2006983" cy="0"/>
            </a:xfrm>
            <a:prstGeom prst="line">
              <a:avLst/>
            </a:prstGeom>
            <a:ln cap="flat" w="38994">
              <a:solidFill>
                <a:srgbClr val="393939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145369" y="161011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736654" y="159767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4"/>
                  </a:lnTo>
                  <a:lnTo>
                    <a:pt x="0" y="591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554085" y="751051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4" y="0"/>
                  </a:lnTo>
                  <a:lnTo>
                    <a:pt x="591284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145369" y="75229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4"/>
                  </a:lnTo>
                  <a:lnTo>
                    <a:pt x="0" y="591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1736654" y="75229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4"/>
                  </a:lnTo>
                  <a:lnTo>
                    <a:pt x="0" y="591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554085" y="134233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4" y="0"/>
                  </a:lnTo>
                  <a:lnTo>
                    <a:pt x="591284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1145369" y="134233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1736654" y="1343580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 rot="-5400000">
              <a:off x="-837809" y="885443"/>
              <a:ext cx="2003097" cy="365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2"/>
                </a:lnSpc>
              </a:pPr>
              <a:r>
                <a:rPr lang="en-US" sz="1708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Probability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428870" y="2119769"/>
              <a:ext cx="2003097" cy="365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2"/>
                </a:lnSpc>
              </a:pPr>
              <a:r>
                <a:rPr lang="en-US" sz="1708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Impact</a:t>
              </a:r>
            </a:p>
          </p:txBody>
        </p:sp>
        <p:sp>
          <p:nvSpPr>
            <p:cNvPr name="Freeform 53" id="53"/>
            <p:cNvSpPr/>
            <p:nvPr/>
          </p:nvSpPr>
          <p:spPr>
            <a:xfrm flipH="false" flipV="false" rot="0">
              <a:off x="554085" y="161011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4" y="0"/>
                  </a:lnTo>
                  <a:lnTo>
                    <a:pt x="591284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001930" y="6530843"/>
            <a:ext cx="1832547" cy="1864012"/>
            <a:chOff x="0" y="0"/>
            <a:chExt cx="2443395" cy="2485349"/>
          </a:xfrm>
        </p:grpSpPr>
        <p:sp>
          <p:nvSpPr>
            <p:cNvPr name="AutoShape 55" id="55"/>
            <p:cNvSpPr/>
            <p:nvPr/>
          </p:nvSpPr>
          <p:spPr>
            <a:xfrm flipV="true">
              <a:off x="436412" y="0"/>
              <a:ext cx="0" cy="2050811"/>
            </a:xfrm>
            <a:prstGeom prst="line">
              <a:avLst/>
            </a:prstGeom>
            <a:ln cap="flat" w="38994">
              <a:solidFill>
                <a:srgbClr val="393939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56" id="56"/>
            <p:cNvSpPr/>
            <p:nvPr/>
          </p:nvSpPr>
          <p:spPr>
            <a:xfrm>
              <a:off x="436412" y="2050811"/>
              <a:ext cx="2006983" cy="0"/>
            </a:xfrm>
            <a:prstGeom prst="line">
              <a:avLst/>
            </a:prstGeom>
            <a:ln cap="flat" w="38994">
              <a:solidFill>
                <a:srgbClr val="393939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1145369" y="161011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736654" y="159767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4"/>
                  </a:lnTo>
                  <a:lnTo>
                    <a:pt x="0" y="591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554085" y="751051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4" y="0"/>
                  </a:lnTo>
                  <a:lnTo>
                    <a:pt x="591284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145369" y="75229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4"/>
                  </a:lnTo>
                  <a:lnTo>
                    <a:pt x="0" y="591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736654" y="75229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4"/>
                  </a:lnTo>
                  <a:lnTo>
                    <a:pt x="0" y="591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554085" y="134233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4" y="0"/>
                  </a:lnTo>
                  <a:lnTo>
                    <a:pt x="591284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145369" y="1342336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1736654" y="1343580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5" y="0"/>
                  </a:lnTo>
                  <a:lnTo>
                    <a:pt x="591285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 rot="-5400000">
              <a:off x="-837809" y="885443"/>
              <a:ext cx="2003097" cy="365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2"/>
                </a:lnSpc>
              </a:pPr>
              <a:r>
                <a:rPr lang="en-US" sz="1708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Probability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428870" y="2119769"/>
              <a:ext cx="2003097" cy="365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2"/>
                </a:lnSpc>
              </a:pPr>
              <a:r>
                <a:rPr lang="en-US" sz="1708">
                  <a:solidFill>
                    <a:srgbClr val="000000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Impact</a:t>
              </a:r>
            </a:p>
          </p:txBody>
        </p:sp>
        <p:sp>
          <p:nvSpPr>
            <p:cNvPr name="Freeform 67" id="67"/>
            <p:cNvSpPr/>
            <p:nvPr/>
          </p:nvSpPr>
          <p:spPr>
            <a:xfrm flipH="false" flipV="false" rot="0">
              <a:off x="554085" y="161011"/>
              <a:ext cx="591285" cy="591285"/>
            </a:xfrm>
            <a:custGeom>
              <a:avLst/>
              <a:gdLst/>
              <a:ahLst/>
              <a:cxnLst/>
              <a:rect r="r" b="b" t="t" l="l"/>
              <a:pathLst>
                <a:path h="591285" w="591285">
                  <a:moveTo>
                    <a:pt x="0" y="0"/>
                  </a:moveTo>
                  <a:lnTo>
                    <a:pt x="591284" y="0"/>
                  </a:lnTo>
                  <a:lnTo>
                    <a:pt x="591284" y="591285"/>
                  </a:lnTo>
                  <a:lnTo>
                    <a:pt x="0" y="59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3589339" y="1702281"/>
            <a:ext cx="1287932" cy="46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8"/>
              </a:lnSpc>
              <a:spcBef>
                <a:spcPct val="0"/>
              </a:spcBef>
            </a:pPr>
            <a:r>
              <a:rPr lang="en-US" b="true" sz="276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Risks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807816" y="1685077"/>
            <a:ext cx="2103036" cy="46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8"/>
              </a:lnSpc>
              <a:spcBef>
                <a:spcPct val="0"/>
              </a:spcBef>
            </a:pPr>
            <a:r>
              <a:rPr lang="en-US" b="true" sz="276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Mitigations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024236" y="2868259"/>
            <a:ext cx="4709045" cy="39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6"/>
              </a:lnSpc>
              <a:spcBef>
                <a:spcPct val="0"/>
              </a:spcBef>
            </a:pP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>AI hallucination may produce incorrect task drafts or follow-ups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737426" y="4918105"/>
            <a:ext cx="5178556" cy="39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6"/>
              </a:lnSpc>
              <a:spcBef>
                <a:spcPct val="0"/>
              </a:spcBef>
            </a:pP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>Users may distrust AI-generated voice (deepfake perception)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141318" y="6859533"/>
            <a:ext cx="608409" cy="39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6"/>
              </a:lnSpc>
              <a:spcBef>
                <a:spcPct val="0"/>
              </a:spcBef>
            </a:pP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>Marketplace cold-start: few agents at launch</a:t>
            </a: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966907" y="4711478"/>
            <a:ext cx="5518068" cy="39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6"/>
              </a:lnSpc>
              <a:spcBef>
                <a:spcPct val="0"/>
              </a:spcBef>
            </a:pP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>Mandatory labeling, opt-in only, distinct VIBE voice persona</a:t>
            </a: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966907" y="2868259"/>
            <a:ext cx="5333837" cy="39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6"/>
              </a:lnSpc>
              <a:spcBef>
                <a:spcPct val="0"/>
              </a:spcBef>
            </a:pP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>Human-in-the-loop approval + confidence scoring + graceful degradation</a:t>
            </a: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r>
              <a:rPr lang="en-US" sz="2404">
                <a:solidFill>
                  <a:srgbClr val="F2F6FC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0945662" y="6730092"/>
            <a:ext cx="5488211" cy="39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6"/>
              </a:lnSpc>
              <a:spcBef>
                <a:spcPct val="0"/>
              </a:spcBef>
            </a:pPr>
            <a:r>
              <a:rPr lang="en-US" b="true" sz="2404">
                <a:solidFill>
                  <a:srgbClr val="FF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Seed 30 first-party agents + ISV deals + $5M dev grants</a:t>
            </a:r>
            <a:r>
              <a:rPr lang="en-US" b="true" sz="2404">
                <a:solidFill>
                  <a:srgbClr val="FF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Freeform 76" id="76"/>
          <p:cNvSpPr/>
          <p:nvPr/>
        </p:nvSpPr>
        <p:spPr>
          <a:xfrm flipH="false" flipV="false" rot="0">
            <a:off x="8918203" y="2977749"/>
            <a:ext cx="376397" cy="349318"/>
          </a:xfrm>
          <a:custGeom>
            <a:avLst/>
            <a:gdLst/>
            <a:ahLst/>
            <a:cxnLst/>
            <a:rect r="r" b="b" t="t" l="l"/>
            <a:pathLst>
              <a:path h="349318" w="376397">
                <a:moveTo>
                  <a:pt x="0" y="0"/>
                </a:moveTo>
                <a:lnTo>
                  <a:pt x="376397" y="0"/>
                </a:lnTo>
                <a:lnTo>
                  <a:pt x="376397" y="349318"/>
                </a:lnTo>
                <a:lnTo>
                  <a:pt x="0" y="349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402" t="-28449" r="-34168" b="-30665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8918203" y="4606887"/>
            <a:ext cx="376397" cy="349318"/>
          </a:xfrm>
          <a:custGeom>
            <a:avLst/>
            <a:gdLst/>
            <a:ahLst/>
            <a:cxnLst/>
            <a:rect r="r" b="b" t="t" l="l"/>
            <a:pathLst>
              <a:path h="349318" w="376397">
                <a:moveTo>
                  <a:pt x="0" y="0"/>
                </a:moveTo>
                <a:lnTo>
                  <a:pt x="376397" y="0"/>
                </a:lnTo>
                <a:lnTo>
                  <a:pt x="376397" y="349318"/>
                </a:lnTo>
                <a:lnTo>
                  <a:pt x="0" y="349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402" t="-28449" r="-34168" b="-30665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8918203" y="7602473"/>
            <a:ext cx="376397" cy="349318"/>
          </a:xfrm>
          <a:custGeom>
            <a:avLst/>
            <a:gdLst/>
            <a:ahLst/>
            <a:cxnLst/>
            <a:rect r="r" b="b" t="t" l="l"/>
            <a:pathLst>
              <a:path h="349318" w="376397">
                <a:moveTo>
                  <a:pt x="0" y="0"/>
                </a:moveTo>
                <a:lnTo>
                  <a:pt x="376397" y="0"/>
                </a:lnTo>
                <a:lnTo>
                  <a:pt x="376397" y="349319"/>
                </a:lnTo>
                <a:lnTo>
                  <a:pt x="0" y="349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402" t="-28449" r="-34168" b="-30665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57742" y="253289"/>
            <a:ext cx="2062182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Financials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Problem Identification | Recommendations | Implementation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Financials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| 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7498079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400" b="1">
                <a:solidFill>
                  <a:srgbClr val="049FD9"/>
                </a:solidFill>
                <a:latin typeface="TT Commons Pro"/>
              </a:rPr>
              <a:t>Investment</a:t>
            </a:r>
          </a:p>
          <a:p>
            <a:pPr>
              <a:spcAft>
                <a:spcPts val="100"/>
              </a:spcAft>
            </a:pPr>
            <a:r>
              <a:rPr sz="3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204F69"/>
                </a:solidFill>
                <a:latin typeface="TT Commons Pro"/>
              </a:rPr>
              <a:t>R&amp;D (from $7.98B budget)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Sol 1 (Orchestrator): $45M / 18 months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Sol 2 (VIBE): $30M / 12 months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Sol 3 (Marketplace): $25M / 24 months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000000"/>
                </a:solidFill>
                <a:latin typeface="TT Commons Pro"/>
              </a:rPr>
              <a:t>Total: $100M (1.25% of R&amp;D budget)</a:t>
            </a:r>
          </a:p>
          <a:p>
            <a:pPr>
              <a:spcAft>
                <a:spcPts val="100"/>
              </a:spcAft>
            </a:pPr>
            <a:r>
              <a:rPr sz="4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204F69"/>
                </a:solidFill>
                <a:latin typeface="TT Commons Pro"/>
              </a:rPr>
              <a:t>Annual Operating Costs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Cloud scaling: $15M/yr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Splunk licensing: $8M/yr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Developer relations: $5M/yr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Certification team: $4M/yr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000000"/>
                </a:solidFill>
                <a:latin typeface="TT Commons Pro"/>
              </a:rPr>
              <a:t>Total: $32M/year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45920"/>
            <a:ext cx="7498079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400" b="1">
                <a:solidFill>
                  <a:srgbClr val="049FD9"/>
                </a:solidFill>
                <a:latin typeface="TT Commons Pro"/>
              </a:rPr>
              <a:t>Revenue Projections</a:t>
            </a:r>
          </a:p>
          <a:p>
            <a:pPr>
              <a:spcAft>
                <a:spcPts val="100"/>
              </a:spcAft>
            </a:pPr>
            <a:r>
              <a:rPr sz="3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204F69"/>
                </a:solidFill>
                <a:latin typeface="TT Commons Pro"/>
              </a:rPr>
              <a:t>FY2027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Incremental ARR: +$400M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Marketplace commission: $5M</a:t>
            </a:r>
          </a:p>
          <a:p>
            <a:pPr>
              <a:spcAft>
                <a:spcPts val="100"/>
              </a:spcAft>
            </a:pPr>
            <a:r>
              <a:rPr sz="3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204F69"/>
                </a:solidFill>
                <a:latin typeface="TT Commons Pro"/>
              </a:rPr>
              <a:t>FY2028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Incremental ARR: +$1.1B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Marketplace commission: $20M</a:t>
            </a:r>
          </a:p>
          <a:p>
            <a:pPr>
              <a:spcAft>
                <a:spcPts val="100"/>
              </a:spcAft>
            </a:pPr>
            <a:r>
              <a:rPr sz="3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204F69"/>
                </a:solidFill>
                <a:latin typeface="TT Commons Pro"/>
              </a:rPr>
              <a:t>FY2029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Incremental ARR: +$2.1B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Marketplace commission: $50M</a:t>
            </a:r>
          </a:p>
          <a:p>
            <a:pPr>
              <a:spcAft>
                <a:spcPts val="100"/>
              </a:spcAft>
            </a:pPr>
            <a:r>
              <a:rPr sz="4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049FD9"/>
                </a:solidFill>
                <a:latin typeface="TT Commons Pro"/>
              </a:rPr>
              <a:t>ROI: 21x on $100M by FY2029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049FD9"/>
                </a:solidFill>
                <a:latin typeface="TT Commons Pro"/>
              </a:rPr>
              <a:t>$4,200 saved per worker per year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38087" y="253289"/>
            <a:ext cx="6011826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Key Performance Indiciators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Problem Identification | Recommendations | Implementation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Financials</a:t>
            </a: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| Executive Summary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3257619"/>
            <a:ext cx="5027377" cy="5745931"/>
            <a:chOff x="0" y="0"/>
            <a:chExt cx="1721142" cy="19671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21142" cy="1967141"/>
            </a:xfrm>
            <a:custGeom>
              <a:avLst/>
              <a:gdLst/>
              <a:ahLst/>
              <a:cxnLst/>
              <a:rect r="r" b="b" t="t" l="l"/>
              <a:pathLst>
                <a:path h="1967141" w="1721142">
                  <a:moveTo>
                    <a:pt x="61598" y="0"/>
                  </a:moveTo>
                  <a:lnTo>
                    <a:pt x="1659544" y="0"/>
                  </a:lnTo>
                  <a:cubicBezTo>
                    <a:pt x="1675880" y="0"/>
                    <a:pt x="1691548" y="6490"/>
                    <a:pt x="1703100" y="18042"/>
                  </a:cubicBezTo>
                  <a:cubicBezTo>
                    <a:pt x="1714652" y="29594"/>
                    <a:pt x="1721142" y="45261"/>
                    <a:pt x="1721142" y="61598"/>
                  </a:cubicBezTo>
                  <a:lnTo>
                    <a:pt x="1721142" y="1905543"/>
                  </a:lnTo>
                  <a:cubicBezTo>
                    <a:pt x="1721142" y="1939563"/>
                    <a:pt x="1693563" y="1967141"/>
                    <a:pt x="1659544" y="1967141"/>
                  </a:cubicBezTo>
                  <a:lnTo>
                    <a:pt x="61598" y="1967141"/>
                  </a:lnTo>
                  <a:cubicBezTo>
                    <a:pt x="27578" y="1967141"/>
                    <a:pt x="0" y="1939563"/>
                    <a:pt x="0" y="1905543"/>
                  </a:cubicBezTo>
                  <a:lnTo>
                    <a:pt x="0" y="61598"/>
                  </a:lnTo>
                  <a:cubicBezTo>
                    <a:pt x="0" y="45261"/>
                    <a:pt x="6490" y="29594"/>
                    <a:pt x="18042" y="18042"/>
                  </a:cubicBezTo>
                  <a:cubicBezTo>
                    <a:pt x="29594" y="6490"/>
                    <a:pt x="45261" y="0"/>
                    <a:pt x="61598" y="0"/>
                  </a:cubicBezTo>
                  <a:close/>
                </a:path>
              </a:pathLst>
            </a:custGeom>
            <a:ln w="38100" cap="rnd">
              <a:solidFill>
                <a:srgbClr val="049FD9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721142" cy="2024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80"/>
                </a:lnSpc>
              </a:pPr>
            </a:p>
            <a:p>
              <a:pPr algn="ctr">
                <a:lnSpc>
                  <a:spcPts val="3780"/>
                </a:lnSpc>
              </a:pPr>
            </a:p>
            <a:p>
              <a:pPr algn="ctr">
                <a:lnSpc>
                  <a:spcPts val="3780"/>
                </a:lnSpc>
              </a:pPr>
            </a:p>
            <a:p>
              <a:pPr algn="ctr">
                <a:lnSpc>
                  <a:spcPts val="3780"/>
                </a:lnSpc>
              </a:pPr>
            </a:p>
            <a:p>
              <a:pPr algn="ctr">
                <a:lnSpc>
                  <a:spcPts val="3780"/>
                </a:lnSpc>
              </a:pPr>
            </a:p>
            <a:p>
              <a:pPr algn="ctr">
                <a:lnSpc>
                  <a:spcPts val="3780"/>
                </a:lnSpc>
              </a:pPr>
            </a:p>
            <a:p>
              <a:pPr algn="ctr">
                <a:lnSpc>
                  <a:spcPts val="3780"/>
                </a:lnSpc>
              </a:pPr>
            </a:p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35423" y="3257619"/>
            <a:ext cx="5027377" cy="5745931"/>
            <a:chOff x="0" y="0"/>
            <a:chExt cx="1721142" cy="19671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21142" cy="1967141"/>
            </a:xfrm>
            <a:custGeom>
              <a:avLst/>
              <a:gdLst/>
              <a:ahLst/>
              <a:cxnLst/>
              <a:rect r="r" b="b" t="t" l="l"/>
              <a:pathLst>
                <a:path h="1967141" w="1721142">
                  <a:moveTo>
                    <a:pt x="61598" y="0"/>
                  </a:moveTo>
                  <a:lnTo>
                    <a:pt x="1659544" y="0"/>
                  </a:lnTo>
                  <a:cubicBezTo>
                    <a:pt x="1675880" y="0"/>
                    <a:pt x="1691548" y="6490"/>
                    <a:pt x="1703100" y="18042"/>
                  </a:cubicBezTo>
                  <a:cubicBezTo>
                    <a:pt x="1714652" y="29594"/>
                    <a:pt x="1721142" y="45261"/>
                    <a:pt x="1721142" y="61598"/>
                  </a:cubicBezTo>
                  <a:lnTo>
                    <a:pt x="1721142" y="1905543"/>
                  </a:lnTo>
                  <a:cubicBezTo>
                    <a:pt x="1721142" y="1939563"/>
                    <a:pt x="1693563" y="1967141"/>
                    <a:pt x="1659544" y="1967141"/>
                  </a:cubicBezTo>
                  <a:lnTo>
                    <a:pt x="61598" y="1967141"/>
                  </a:lnTo>
                  <a:cubicBezTo>
                    <a:pt x="27578" y="1967141"/>
                    <a:pt x="0" y="1939563"/>
                    <a:pt x="0" y="1905543"/>
                  </a:cubicBezTo>
                  <a:lnTo>
                    <a:pt x="0" y="61598"/>
                  </a:lnTo>
                  <a:cubicBezTo>
                    <a:pt x="0" y="45261"/>
                    <a:pt x="6490" y="29594"/>
                    <a:pt x="18042" y="18042"/>
                  </a:cubicBezTo>
                  <a:cubicBezTo>
                    <a:pt x="29594" y="6490"/>
                    <a:pt x="45261" y="0"/>
                    <a:pt x="61598" y="0"/>
                  </a:cubicBezTo>
                  <a:close/>
                </a:path>
              </a:pathLst>
            </a:custGeom>
            <a:ln w="38100" cap="rnd">
              <a:solidFill>
                <a:srgbClr val="049FD9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721142" cy="2024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  <a:p>
              <a:pPr algn="ctr">
                <a:lnSpc>
                  <a:spcPts val="4480"/>
                </a:lnSpc>
              </a:pPr>
            </a:p>
            <a:p>
              <a:pPr algn="ctr">
                <a:lnSpc>
                  <a:spcPts val="4480"/>
                </a:lnSpc>
              </a:pPr>
            </a:p>
            <a:p>
              <a:pPr algn="ctr">
                <a:lnSpc>
                  <a:spcPts val="4480"/>
                </a:lnSpc>
              </a:pPr>
            </a:p>
            <a:p>
              <a:pPr algn="ctr">
                <a:lnSpc>
                  <a:spcPts val="4480"/>
                </a:lnSpc>
              </a:pPr>
            </a:p>
            <a:p>
              <a:pPr algn="ctr">
                <a:lnSpc>
                  <a:spcPts val="4480"/>
                </a:lnSpc>
              </a:pPr>
            </a:p>
            <a:p>
              <a:pPr algn="ctr">
                <a:lnSpc>
                  <a:spcPts val="4480"/>
                </a:lnSpc>
              </a:pPr>
            </a:p>
            <a:p>
              <a:pPr algn="ctr">
                <a:lnSpc>
                  <a:spcPts val="44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75472" y="3257619"/>
            <a:ext cx="5027377" cy="5835955"/>
            <a:chOff x="0" y="0"/>
            <a:chExt cx="1721142" cy="19979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21142" cy="1997961"/>
            </a:xfrm>
            <a:custGeom>
              <a:avLst/>
              <a:gdLst/>
              <a:ahLst/>
              <a:cxnLst/>
              <a:rect r="r" b="b" t="t" l="l"/>
              <a:pathLst>
                <a:path h="1997961" w="1721142">
                  <a:moveTo>
                    <a:pt x="61598" y="0"/>
                  </a:moveTo>
                  <a:lnTo>
                    <a:pt x="1659544" y="0"/>
                  </a:lnTo>
                  <a:cubicBezTo>
                    <a:pt x="1675880" y="0"/>
                    <a:pt x="1691548" y="6490"/>
                    <a:pt x="1703100" y="18042"/>
                  </a:cubicBezTo>
                  <a:cubicBezTo>
                    <a:pt x="1714652" y="29594"/>
                    <a:pt x="1721142" y="45261"/>
                    <a:pt x="1721142" y="61598"/>
                  </a:cubicBezTo>
                  <a:lnTo>
                    <a:pt x="1721142" y="1936363"/>
                  </a:lnTo>
                  <a:cubicBezTo>
                    <a:pt x="1721142" y="1970383"/>
                    <a:pt x="1693563" y="1997961"/>
                    <a:pt x="1659544" y="1997961"/>
                  </a:cubicBezTo>
                  <a:lnTo>
                    <a:pt x="61598" y="1997961"/>
                  </a:lnTo>
                  <a:cubicBezTo>
                    <a:pt x="45261" y="1997961"/>
                    <a:pt x="29594" y="1991472"/>
                    <a:pt x="18042" y="1979920"/>
                  </a:cubicBezTo>
                  <a:cubicBezTo>
                    <a:pt x="6490" y="1968368"/>
                    <a:pt x="0" y="1952700"/>
                    <a:pt x="0" y="1936363"/>
                  </a:cubicBezTo>
                  <a:lnTo>
                    <a:pt x="0" y="61598"/>
                  </a:lnTo>
                  <a:cubicBezTo>
                    <a:pt x="0" y="45261"/>
                    <a:pt x="6490" y="29594"/>
                    <a:pt x="18042" y="18042"/>
                  </a:cubicBezTo>
                  <a:cubicBezTo>
                    <a:pt x="29594" y="6490"/>
                    <a:pt x="45261" y="0"/>
                    <a:pt x="61598" y="0"/>
                  </a:cubicBezTo>
                  <a:close/>
                </a:path>
              </a:pathLst>
            </a:custGeom>
            <a:ln w="38100" cap="rnd">
              <a:solidFill>
                <a:srgbClr val="049FD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721142" cy="2055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458929" y="4465167"/>
            <a:ext cx="1938094" cy="1356666"/>
          </a:xfrm>
          <a:custGeom>
            <a:avLst/>
            <a:gdLst/>
            <a:ahLst/>
            <a:cxnLst/>
            <a:rect r="r" b="b" t="t" l="l"/>
            <a:pathLst>
              <a:path h="1356666" w="1938094">
                <a:moveTo>
                  <a:pt x="0" y="0"/>
                </a:moveTo>
                <a:lnTo>
                  <a:pt x="1938094" y="0"/>
                </a:lnTo>
                <a:lnTo>
                  <a:pt x="1938094" y="1356666"/>
                </a:lnTo>
                <a:lnTo>
                  <a:pt x="0" y="1356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345642" y="4416107"/>
            <a:ext cx="1861449" cy="1651613"/>
          </a:xfrm>
          <a:custGeom>
            <a:avLst/>
            <a:gdLst/>
            <a:ahLst/>
            <a:cxnLst/>
            <a:rect r="r" b="b" t="t" l="l"/>
            <a:pathLst>
              <a:path h="1651613" w="1861449">
                <a:moveTo>
                  <a:pt x="0" y="0"/>
                </a:moveTo>
                <a:lnTo>
                  <a:pt x="1861449" y="0"/>
                </a:lnTo>
                <a:lnTo>
                  <a:pt x="1861449" y="1651613"/>
                </a:lnTo>
                <a:lnTo>
                  <a:pt x="0" y="16516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301200" y="4533462"/>
            <a:ext cx="1613397" cy="1642135"/>
          </a:xfrm>
          <a:custGeom>
            <a:avLst/>
            <a:gdLst/>
            <a:ahLst/>
            <a:cxnLst/>
            <a:rect r="r" b="b" t="t" l="l"/>
            <a:pathLst>
              <a:path h="1642135" w="1613397">
                <a:moveTo>
                  <a:pt x="0" y="0"/>
                </a:moveTo>
                <a:lnTo>
                  <a:pt x="1613398" y="0"/>
                </a:lnTo>
                <a:lnTo>
                  <a:pt x="1613398" y="1642134"/>
                </a:lnTo>
                <a:lnTo>
                  <a:pt x="0" y="16421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355909" y="3686799"/>
            <a:ext cx="1929036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Solution #2: VIBE</a:t>
            </a: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3345" y="6216787"/>
            <a:ext cx="426876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76021" y="3659495"/>
            <a:ext cx="4932736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Solution #1: AI Orchestrator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58614" y="3505756"/>
            <a:ext cx="416493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Solution #3: Marketplace</a:t>
            </a: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/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31392" y="6366096"/>
            <a:ext cx="426876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TT Commons Pro"/>
              </a:rPr>
              <a:t>95%+ noise reduction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TT Commons Pro"/>
              </a:rPr>
              <a:t>98% ASR accuracy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TT Commons Pro"/>
              </a:rPr>
              <a:t>&lt;1s translation latency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TT Commons Pro"/>
              </a:rPr>
              <a:t>4.5/5 TTS naturalness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TT Commons Pro"/>
              </a:rPr>
              <a:t>+40% participation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67700" y="6375621"/>
            <a:ext cx="4155843" cy="47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5"/>
              </a:lnSpc>
              <a:spcBef>
                <a:spcPct val="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TT Commons Pro"/>
              </a:rPr>
              <a:t>500+ agents Year 1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TT Commons Pro"/>
              </a:rPr>
              <a:t>$150M GMV by FY2028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TT Commons Pro"/>
              </a:rPr>
              <a:t>3x developer growth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TT Commons Pro"/>
              </a:rPr>
              <a:t>85% renewal rate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TT Commons Pro"/>
              </a:rPr>
              <a:t>$50M commission FY2029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3593" y="6466659"/>
            <a:ext cx="4268766" cy="52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TT Commons Pro"/>
              </a:rPr>
              <a:t>25% meeting-to-action rate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TT Commons Pro"/>
              </a:rPr>
              <a:t>15 min saved per meeting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TT Commons Pro"/>
              </a:rPr>
              <a:t>40% workflow automation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TT Commons Pro"/>
              </a:rPr>
              <a:t>85% task accuracy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TT Commons Pro"/>
              </a:rPr>
              <a:t>90%+ Q&amp;A resolution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88692" y="253289"/>
            <a:ext cx="4310617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Executive Summary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729997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Problem Identification | Recommendations | Implementation | Financials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160020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TT Commons Pro"/>
              </a:rPr>
              <a:t>Webex faces three gaps vs. Teams and Zoom.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TT Commons Pro"/>
              </a:rPr>
              <a:t>We propose three integrated AI solutions.</a:t>
            </a:r>
          </a:p>
          <a:p>
            <a:pPr>
              <a:spcAft>
                <a:spcPts val="100"/>
              </a:spcAft>
            </a:pPr>
            <a:r>
              <a:rPr sz="4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049FD9"/>
                </a:solidFill>
                <a:latin typeface="TT Commons Pro"/>
              </a:rPr>
              <a:t>Problem 1: Passive AI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Solution: AI Orchestrator (Prepare-Perceive-Reason-Act-Follow-Up)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Impact: 25% action rate, 15 min saved per meeting</a:t>
            </a:r>
          </a:p>
          <a:p>
            <a:pPr>
              <a:spcAft>
                <a:spcPts val="100"/>
              </a:spcAft>
            </a:pPr>
            <a:r>
              <a:rPr sz="3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049FD9"/>
                </a:solidFill>
                <a:latin typeface="TT Commons Pro"/>
              </a:rPr>
              <a:t>Problem 2: Participation Exclusion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Solution: VIBE - voice boost, translation, type-to-speak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Impact: +40% non-native speaker participation</a:t>
            </a:r>
          </a:p>
          <a:p>
            <a:pPr>
              <a:spcAft>
                <a:spcPts val="100"/>
              </a:spcAft>
            </a:pPr>
            <a:r>
              <a:rPr sz="3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049FD9"/>
                </a:solidFill>
                <a:latin typeface="TT Commons Pro"/>
              </a:rPr>
              <a:t>Problem 3: Weak Ecosystem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Solution: Secure AI Agent Marketplace (Cisco certified)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TT Commons Pro"/>
              </a:rPr>
              <a:t>Impact: 500+ agents Yr 1, $50M commission by FY2029</a:t>
            </a:r>
          </a:p>
          <a:p>
            <a:pPr>
              <a:spcAft>
                <a:spcPts val="100"/>
              </a:spcAft>
            </a:pPr>
            <a:r>
              <a:rPr sz="400" b="0">
                <a:solidFill>
                  <a:srgbClr val="000000"/>
                </a:solidFill>
                <a:latin typeface="TT Commons Pro"/>
              </a:rPr>
              <a:t/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049FD9"/>
                </a:solidFill>
                <a:latin typeface="TT Commons Pro"/>
              </a:rPr>
              <a:t>Combined: +$2.1B ARR by FY2029 | $4,200/worker/yr | 85% renewal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8220" y="870823"/>
            <a:ext cx="16571560" cy="8545354"/>
            <a:chOff x="0" y="0"/>
            <a:chExt cx="4364526" cy="2250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64526" cy="2250628"/>
            </a:xfrm>
            <a:custGeom>
              <a:avLst/>
              <a:gdLst/>
              <a:ahLst/>
              <a:cxnLst/>
              <a:rect r="r" b="b" t="t" l="l"/>
              <a:pathLst>
                <a:path h="2250628" w="4364526">
                  <a:moveTo>
                    <a:pt x="23826" y="0"/>
                  </a:moveTo>
                  <a:lnTo>
                    <a:pt x="4340700" y="0"/>
                  </a:lnTo>
                  <a:cubicBezTo>
                    <a:pt x="4347019" y="0"/>
                    <a:pt x="4353079" y="2510"/>
                    <a:pt x="4357548" y="6979"/>
                  </a:cubicBezTo>
                  <a:cubicBezTo>
                    <a:pt x="4362016" y="11447"/>
                    <a:pt x="4364526" y="17507"/>
                    <a:pt x="4364526" y="23826"/>
                  </a:cubicBezTo>
                  <a:lnTo>
                    <a:pt x="4364526" y="2226802"/>
                  </a:lnTo>
                  <a:cubicBezTo>
                    <a:pt x="4364526" y="2233121"/>
                    <a:pt x="4362016" y="2239182"/>
                    <a:pt x="4357548" y="2243650"/>
                  </a:cubicBezTo>
                  <a:cubicBezTo>
                    <a:pt x="4353079" y="2248118"/>
                    <a:pt x="4347019" y="2250628"/>
                    <a:pt x="4340700" y="2250628"/>
                  </a:cubicBezTo>
                  <a:lnTo>
                    <a:pt x="23826" y="2250628"/>
                  </a:lnTo>
                  <a:cubicBezTo>
                    <a:pt x="17507" y="2250628"/>
                    <a:pt x="11447" y="2248118"/>
                    <a:pt x="6979" y="2243650"/>
                  </a:cubicBezTo>
                  <a:cubicBezTo>
                    <a:pt x="2510" y="2239182"/>
                    <a:pt x="0" y="2233121"/>
                    <a:pt x="0" y="2226802"/>
                  </a:cubicBezTo>
                  <a:lnTo>
                    <a:pt x="0" y="23826"/>
                  </a:lnTo>
                  <a:cubicBezTo>
                    <a:pt x="0" y="17507"/>
                    <a:pt x="2510" y="11447"/>
                    <a:pt x="6979" y="6979"/>
                  </a:cubicBezTo>
                  <a:cubicBezTo>
                    <a:pt x="11447" y="2510"/>
                    <a:pt x="17507" y="0"/>
                    <a:pt x="23826" y="0"/>
                  </a:cubicBezTo>
                  <a:close/>
                </a:path>
              </a:pathLst>
            </a:custGeom>
            <a:ln w="47625" cap="rnd">
              <a:solidFill>
                <a:srgbClr val="F4FF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64526" cy="2288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618349" y="1189377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6"/>
                </a:lnTo>
                <a:lnTo>
                  <a:pt x="0" y="691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84768" y="4174816"/>
            <a:ext cx="8261559" cy="2446936"/>
            <a:chOff x="0" y="0"/>
            <a:chExt cx="11015412" cy="326258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52400"/>
              <a:ext cx="11015412" cy="1615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00"/>
                </a:lnSpc>
              </a:pPr>
              <a:r>
                <a:rPr lang="en-US" b="true" sz="8700">
                  <a:solidFill>
                    <a:srgbClr val="F4FFFF"/>
                  </a:solidFill>
                  <a:latin typeface="Lato Bold"/>
                  <a:ea typeface="Lato Bold"/>
                  <a:cs typeface="Lato Bold"/>
                  <a:sym typeface="Lato Bold"/>
                </a:rPr>
                <a:t>THANK YOU!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410421" y="1834520"/>
              <a:ext cx="4194570" cy="1428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12"/>
                </a:lnSpc>
              </a:pPr>
              <a:r>
                <a:rPr lang="en-US" b="true" sz="4012">
                  <a:solidFill>
                    <a:srgbClr val="F4FFFF"/>
                  </a:solidFill>
                  <a:latin typeface="Lato Bold"/>
                  <a:ea typeface="Lato Bold"/>
                  <a:cs typeface="Lato Bold"/>
                  <a:sym typeface="Lato Bold"/>
                </a:rPr>
                <a:t>ANY QUESTIONS?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363937" y="3413748"/>
            <a:ext cx="5787216" cy="4204600"/>
          </a:xfrm>
          <a:custGeom>
            <a:avLst/>
            <a:gdLst/>
            <a:ahLst/>
            <a:cxnLst/>
            <a:rect r="r" b="b" t="t" l="l"/>
            <a:pathLst>
              <a:path h="4204600" w="5787216">
                <a:moveTo>
                  <a:pt x="0" y="0"/>
                </a:moveTo>
                <a:lnTo>
                  <a:pt x="5787216" y="0"/>
                </a:lnTo>
                <a:lnTo>
                  <a:pt x="5787216" y="4204600"/>
                </a:lnTo>
                <a:lnTo>
                  <a:pt x="0" y="4204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42" t="-25218" r="-4102" b="-25971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88975" y="253289"/>
            <a:ext cx="2155308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Appendix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Problem Identification | Recommendations | Implementation | Financials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Executive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4684" y="1774723"/>
            <a:ext cx="12450253" cy="1580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7"/>
              </a:lnSpc>
              <a:spcBef>
                <a:spcPct val="0"/>
              </a:spcBef>
            </a:pPr>
            <a:r>
              <a:rPr lang="en-US" b="true" sz="3034" spc="-166" u="sng">
                <a:solidFill>
                  <a:srgbClr val="049FD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Appendix A:  Detailed Technical Flowcharts</a:t>
            </a:r>
          </a:p>
          <a:p>
            <a:pPr algn="l">
              <a:lnSpc>
                <a:spcPts val="4247"/>
              </a:lnSpc>
              <a:spcBef>
                <a:spcPct val="0"/>
              </a:spcBef>
            </a:pPr>
            <a:r>
              <a:rPr lang="en-US" b="true" sz="3034" spc="-166" u="sng">
                <a:solidFill>
                  <a:srgbClr val="049FD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Appendix B:  Feasibility &amp; Scalability Assessment</a:t>
            </a:r>
          </a:p>
          <a:p>
            <a:pPr algn="l">
              <a:lnSpc>
                <a:spcPts val="4247"/>
              </a:lnSpc>
              <a:spcBef>
                <a:spcPct val="0"/>
              </a:spcBef>
            </a:pPr>
            <a:r>
              <a:rPr lang="en-US" b="true" sz="3034" spc="-166" u="sng">
                <a:solidFill>
                  <a:srgbClr val="049FD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Appendix C:  References &amp; Sources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366" y="1091186"/>
            <a:ext cx="16230600" cy="0"/>
          </a:xfrm>
          <a:prstGeom prst="line">
            <a:avLst/>
          </a:prstGeom>
          <a:ln cap="flat" w="38100">
            <a:solidFill>
              <a:srgbClr val="101D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0667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8966" y="657149"/>
            <a:ext cx="808033" cy="743102"/>
          </a:xfrm>
          <a:custGeom>
            <a:avLst/>
            <a:gdLst/>
            <a:ahLst/>
            <a:cxnLst/>
            <a:rect r="r" b="b" t="t" l="l"/>
            <a:pathLst>
              <a:path h="743102" w="808033">
                <a:moveTo>
                  <a:pt x="0" y="0"/>
                </a:moveTo>
                <a:lnTo>
                  <a:pt x="808033" y="0"/>
                </a:lnTo>
                <a:lnTo>
                  <a:pt x="808033" y="743102"/>
                </a:lnTo>
                <a:lnTo>
                  <a:pt x="0" y="74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3823" y="153858"/>
            <a:ext cx="1308721" cy="691986"/>
          </a:xfrm>
          <a:custGeom>
            <a:avLst/>
            <a:gdLst/>
            <a:ahLst/>
            <a:cxnLst/>
            <a:rect r="r" b="b" t="t" l="l"/>
            <a:pathLst>
              <a:path h="691986" w="1308721">
                <a:moveTo>
                  <a:pt x="0" y="0"/>
                </a:moveTo>
                <a:lnTo>
                  <a:pt x="1308721" y="0"/>
                </a:lnTo>
                <a:lnTo>
                  <a:pt x="1308721" y="691987"/>
                </a:lnTo>
                <a:lnTo>
                  <a:pt x="0" y="691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89230" y="253289"/>
            <a:ext cx="3838026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Appendix A: References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05" y="9711505"/>
            <a:ext cx="16552990" cy="41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7"/>
              </a:lnSpc>
            </a:pPr>
            <a:r>
              <a:rPr lang="en-US" sz="24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 Analysis | Problem Identification | Recommendations | Implementation | Financials | </a:t>
            </a:r>
            <a:r>
              <a:rPr lang="en-US" sz="2426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64592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000000"/>
                </a:solidFill>
                <a:latin typeface="TT Commons Pro"/>
              </a:rPr>
              <a:t>1. Cisco Systems. (2024). 10-K, FY2024.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0000"/>
                </a:solidFill>
                <a:latin typeface="TT Commons Pro"/>
              </a:rPr>
              <a:t>2. Microsoft Corp. (2024). 10-K, FY2024.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0000"/>
                </a:solidFill>
                <a:latin typeface="TT Commons Pro"/>
              </a:rPr>
              <a:t>3. Zoom Video. (2025). 10-K, FY2025.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0000"/>
                </a:solidFill>
                <a:latin typeface="TT Commons Pro"/>
              </a:rPr>
              <a:t>4. IDC. (2024). UC&amp;C Market Tracker.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0000"/>
                </a:solidFill>
                <a:latin typeface="TT Commons Pro"/>
              </a:rPr>
              <a:t>5. Gartner. (2024). Future of Work Survey.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0000"/>
                </a:solidFill>
                <a:latin typeface="TT Commons Pro"/>
              </a:rPr>
              <a:t>6. McKinsey. (2024). Future of Work Report.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0000"/>
                </a:solidFill>
                <a:latin typeface="TT Commons Pro"/>
              </a:rPr>
              <a:t>7. MarketsandMarkets. (2024). Agentic AI Report.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0000"/>
                </a:solidFill>
                <a:latin typeface="TT Commons Pro"/>
              </a:rPr>
              <a:t>8. Microsoft. (2024). Work Trend Index.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0000"/>
                </a:solidFill>
                <a:latin typeface="TT Commons Pro"/>
              </a:rPr>
              <a:t>9. Cisco Webex. (2025). AI Codec Documentation.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0000"/>
                </a:solidFill>
                <a:latin typeface="TT Commons Pro"/>
              </a:rPr>
              <a:t>10. Microsoft. (2025). Copilot Documentation.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0000"/>
                </a:solidFill>
                <a:latin typeface="TT Commons Pro"/>
              </a:rPr>
              <a:t>11. Zoom. (2025). AI Companion 2.0 Documentation.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0000"/>
                </a:solidFill>
                <a:latin typeface="TT Commons Pro"/>
              </a:rPr>
              <a:t>12. Salesforce. (2024). AppExchange Economics.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0000"/>
                </a:solidFill>
                <a:latin typeface="TT Commons Pro"/>
              </a:rPr>
              <a:t>13. Gartner. (2024). DEI in Tech Procurement.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DAHDNmqBFqI</dc:identifier>
  <dcterms:modified xsi:type="dcterms:W3CDTF">2011-08-01T06:04:30Z</dcterms:modified>
  <cp:revision>1</cp:revision>
  <dc:title>Cisco Webex Case Comp By Agentix Consulting</dc:title>
</cp:coreProperties>
</file>