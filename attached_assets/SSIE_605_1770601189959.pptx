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8" r:id="rId4"/>
    <p:sldId id="258" r:id="rId5"/>
    <p:sldId id="269" r:id="rId6"/>
    <p:sldId id="270" r:id="rId7"/>
    <p:sldId id="271" r:id="rId8"/>
    <p:sldId id="27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65" d="100"/>
          <a:sy n="65" d="100"/>
        </p:scale>
        <p:origin x="130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75D3-501E-4840-8BF2-10BB7E1700CD}" type="datetimeFigureOut">
              <a:rPr lang="en-US" smtClean="0"/>
              <a:t>27-Mar-25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FCBA0-1318-2642-B978-0A2DC410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567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75D3-501E-4840-8BF2-10BB7E1700CD}" type="datetimeFigureOut">
              <a:rPr lang="en-US" smtClean="0"/>
              <a:t>27-Mar-25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FCBA0-1318-2642-B978-0A2DC410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495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75D3-501E-4840-8BF2-10BB7E1700CD}" type="datetimeFigureOut">
              <a:rPr lang="en-US" smtClean="0"/>
              <a:t>27-Mar-25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FCBA0-1318-2642-B978-0A2DC410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439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75D3-501E-4840-8BF2-10BB7E1700CD}" type="datetimeFigureOut">
              <a:rPr lang="en-US" smtClean="0"/>
              <a:t>27-Mar-25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FCBA0-1318-2642-B978-0A2DC410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204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75D3-501E-4840-8BF2-10BB7E1700CD}" type="datetimeFigureOut">
              <a:rPr lang="en-US" smtClean="0"/>
              <a:t>27-Mar-25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FCBA0-1318-2642-B978-0A2DC410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002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75D3-501E-4840-8BF2-10BB7E1700CD}" type="datetimeFigureOut">
              <a:rPr lang="en-US" smtClean="0"/>
              <a:t>27-Mar-25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FCBA0-1318-2642-B978-0A2DC410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175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75D3-501E-4840-8BF2-10BB7E1700CD}" type="datetimeFigureOut">
              <a:rPr lang="en-US" smtClean="0"/>
              <a:t>27-Mar-25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FCBA0-1318-2642-B978-0A2DC410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404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75D3-501E-4840-8BF2-10BB7E1700CD}" type="datetimeFigureOut">
              <a:rPr lang="en-US" smtClean="0"/>
              <a:t>27-Mar-25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FCBA0-1318-2642-B978-0A2DC410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177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75D3-501E-4840-8BF2-10BB7E1700CD}" type="datetimeFigureOut">
              <a:rPr lang="en-US" smtClean="0"/>
              <a:t>27-Mar-25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FCBA0-1318-2642-B978-0A2DC410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094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75D3-501E-4840-8BF2-10BB7E1700CD}" type="datetimeFigureOut">
              <a:rPr lang="en-US" smtClean="0"/>
              <a:t>27-Mar-25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FCBA0-1318-2642-B978-0A2DC410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708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75D3-501E-4840-8BF2-10BB7E1700CD}" type="datetimeFigureOut">
              <a:rPr lang="en-US" smtClean="0"/>
              <a:t>27-Mar-25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FCBA0-1318-2642-B978-0A2DC410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336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4475D3-501E-4840-8BF2-10BB7E1700CD}" type="datetimeFigureOut">
              <a:rPr lang="en-US" smtClean="0"/>
              <a:t>27-Mar-25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DFCBA0-1318-2642-B978-0A2DC4100B1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B-pp-template-02.pn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16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33050/atm.v6i1.1722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4784" y="2957278"/>
            <a:ext cx="7772400" cy="1470025"/>
          </a:xfrm>
        </p:spPr>
        <p:txBody>
          <a:bodyPr>
            <a:noAutofit/>
          </a:bodyPr>
          <a:lstStyle/>
          <a:p>
            <a:r>
              <a:rPr lang="en-GB" sz="3600" dirty="0" smtClean="0"/>
              <a:t>Multiple Linear Regression</a:t>
            </a:r>
            <a:r>
              <a:rPr lang="en-GB" sz="3300" dirty="0" smtClean="0"/>
              <a:t/>
            </a:r>
            <a:br>
              <a:rPr lang="en-GB" sz="3300" dirty="0" smtClean="0"/>
            </a:br>
            <a:endParaRPr lang="en-US" sz="33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96519" y="3886200"/>
            <a:ext cx="2050665" cy="1752600"/>
          </a:xfrm>
        </p:spPr>
        <p:txBody>
          <a:bodyPr>
            <a:normAutofit lnSpcReduction="10000"/>
          </a:bodyPr>
          <a:lstStyle/>
          <a:p>
            <a:pPr algn="r"/>
            <a:endParaRPr lang="en-GB" sz="2400" i="1" u="sng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GB" sz="2400" i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GB" sz="2400" i="1" u="sng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by:~</a:t>
            </a:r>
          </a:p>
          <a:p>
            <a:pPr algn="r"/>
            <a:r>
              <a:rPr lang="en-US" sz="2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Nafish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Sarwar</a:t>
            </a:r>
            <a:endParaRPr lang="en-US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128409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b="1" dirty="0" smtClean="0">
                <a:solidFill>
                  <a:srgbClr val="FF0000"/>
                </a:solidFill>
              </a:rPr>
              <a:t>SSIE – 605: Applied Multivariate and Data Analysis</a:t>
            </a:r>
          </a:p>
          <a:p>
            <a:pPr algn="r"/>
            <a:r>
              <a:rPr lang="en-GB" sz="2400" b="1" dirty="0" smtClean="0">
                <a:solidFill>
                  <a:srgbClr val="FF0000"/>
                </a:solidFill>
              </a:rPr>
              <a:t>Professor Susan Lu</a:t>
            </a:r>
          </a:p>
        </p:txBody>
      </p:sp>
    </p:spTree>
    <p:extLst>
      <p:ext uri="{BB962C8B-B14F-4D97-AF65-F5344CB8AC3E}">
        <p14:creationId xmlns:p14="http://schemas.microsoft.com/office/powerpoint/2010/main" val="3749400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09032"/>
            <a:ext cx="8229600" cy="1143000"/>
          </a:xfrm>
        </p:spPr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Article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567" y="792809"/>
            <a:ext cx="9144000" cy="5617723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GB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Title: </a:t>
            </a:r>
            <a:r>
              <a:rPr lang="en-GB" sz="2400" dirty="0" smtClean="0"/>
              <a:t>The </a:t>
            </a:r>
            <a:r>
              <a:rPr lang="en-GB" sz="2400" dirty="0"/>
              <a:t>Effect Of Job Satisfaction And Organizational Commitment On Turnover Intention With Person Organization Fit As Moderator </a:t>
            </a:r>
            <a:r>
              <a:rPr lang="en-GB" sz="2400" dirty="0" smtClean="0"/>
              <a:t>Variable</a:t>
            </a: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Year: </a:t>
            </a:r>
            <a:r>
              <a:rPr lang="en-US" sz="2400" dirty="0" smtClean="0"/>
              <a:t>01 January 2022</a:t>
            </a:r>
          </a:p>
          <a:p>
            <a:pPr marL="0" indent="0">
              <a:lnSpc>
                <a:spcPct val="120000"/>
              </a:lnSpc>
              <a:buNone/>
            </a:pPr>
            <a:endParaRPr lang="en-US" sz="2400" dirty="0" smtClean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Author(s): </a:t>
            </a:r>
            <a:r>
              <a:rPr lang="en-US" sz="2400" dirty="0" err="1" smtClean="0"/>
              <a:t>Eko</a:t>
            </a:r>
            <a:r>
              <a:rPr lang="en-US" sz="2400" dirty="0" smtClean="0"/>
              <a:t> </a:t>
            </a:r>
            <a:r>
              <a:rPr lang="en-US" sz="2400" dirty="0" err="1"/>
              <a:t>Nur</a:t>
            </a:r>
            <a:r>
              <a:rPr lang="en-US" sz="2400" dirty="0"/>
              <a:t> </a:t>
            </a:r>
            <a:r>
              <a:rPr lang="en-US" sz="2400" dirty="0" err="1" smtClean="0"/>
              <a:t>Pratama</a:t>
            </a:r>
            <a:r>
              <a:rPr lang="en-US" sz="2400" dirty="0" smtClean="0"/>
              <a:t>, Emi </a:t>
            </a:r>
            <a:r>
              <a:rPr lang="en-US" sz="2400" dirty="0" err="1" smtClean="0"/>
              <a:t>Suwarni</a:t>
            </a:r>
            <a:r>
              <a:rPr lang="en-US" sz="2400" dirty="0" smtClean="0"/>
              <a:t>, </a:t>
            </a:r>
            <a:r>
              <a:rPr lang="en-US" sz="2400" dirty="0" err="1"/>
              <a:t>Maidiana</a:t>
            </a:r>
            <a:r>
              <a:rPr lang="en-US" sz="2400" dirty="0"/>
              <a:t> </a:t>
            </a:r>
            <a:r>
              <a:rPr lang="en-US" sz="2400" dirty="0" err="1"/>
              <a:t>Astuti</a:t>
            </a:r>
            <a:r>
              <a:rPr lang="en-US" sz="2400" dirty="0"/>
              <a:t> </a:t>
            </a:r>
            <a:r>
              <a:rPr lang="en-US" sz="2400" dirty="0" err="1" smtClean="0"/>
              <a:t>Handayani</a:t>
            </a:r>
            <a:endParaRPr lang="en-US" sz="2400" dirty="0" smtClean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Affiliation: </a:t>
            </a:r>
            <a:r>
              <a:rPr lang="en-US" sz="2400" dirty="0" err="1" smtClean="0"/>
              <a:t>Manajemen</a:t>
            </a:r>
            <a:r>
              <a:rPr lang="en-US" sz="2400" dirty="0"/>
              <a:t>, </a:t>
            </a:r>
            <a:r>
              <a:rPr lang="en-US" sz="2400" dirty="0" err="1"/>
              <a:t>Universitas</a:t>
            </a:r>
            <a:r>
              <a:rPr lang="en-US" sz="2400" dirty="0"/>
              <a:t> </a:t>
            </a:r>
            <a:r>
              <a:rPr lang="en-US" sz="2400" dirty="0" err="1"/>
              <a:t>Teknokrat</a:t>
            </a:r>
            <a:r>
              <a:rPr lang="en-US" sz="2400" dirty="0"/>
              <a:t> </a:t>
            </a:r>
            <a:r>
              <a:rPr lang="en-US" sz="2400" dirty="0" smtClean="0"/>
              <a:t>Indonesia</a:t>
            </a:r>
          </a:p>
          <a:p>
            <a:pPr marL="0" indent="0">
              <a:lnSpc>
                <a:spcPct val="120000"/>
              </a:lnSpc>
              <a:buNone/>
            </a:pPr>
            <a:endParaRPr lang="en-US" sz="2400" dirty="0" smtClean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 smtClean="0">
                <a:solidFill>
                  <a:srgbClr val="FF0000"/>
                </a:solidFill>
              </a:rPr>
              <a:t>Journal: </a:t>
            </a:r>
            <a:r>
              <a:rPr lang="fr-FR" sz="2400" dirty="0" err="1" smtClean="0"/>
              <a:t>Aptisi</a:t>
            </a:r>
            <a:r>
              <a:rPr lang="fr-FR" sz="2400" dirty="0" smtClean="0"/>
              <a:t> </a:t>
            </a:r>
            <a:r>
              <a:rPr lang="fr-FR" sz="2400" dirty="0"/>
              <a:t>Transactions on Management (ATM), 6(1), 74-81</a:t>
            </a:r>
            <a:r>
              <a:rPr lang="fr-FR" sz="2400" dirty="0" smtClean="0"/>
              <a:t>.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 smtClean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 smtClean="0">
                <a:solidFill>
                  <a:srgbClr val="FF0000"/>
                </a:solidFill>
              </a:rPr>
              <a:t>DOI</a:t>
            </a:r>
            <a:r>
              <a:rPr lang="en-GB" sz="2400" dirty="0">
                <a:solidFill>
                  <a:srgbClr val="FF0000"/>
                </a:solidFill>
              </a:rPr>
              <a:t>:</a:t>
            </a:r>
            <a:r>
              <a:rPr lang="en-GB" sz="2400" dirty="0"/>
              <a:t> </a:t>
            </a:r>
            <a:r>
              <a:rPr lang="en-GB" sz="2400" dirty="0">
                <a:hlinkClick r:id="rId2"/>
              </a:rPr>
              <a:t>https://</a:t>
            </a:r>
            <a:r>
              <a:rPr lang="en-GB" sz="2400" dirty="0" smtClean="0">
                <a:hlinkClick r:id="rId2"/>
              </a:rPr>
              <a:t>doi.org/10.33050/atm.v6i1.1722</a:t>
            </a:r>
            <a:endParaRPr lang="en-GB" sz="2400" dirty="0" smtClean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6657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21" y="1408398"/>
            <a:ext cx="7500026" cy="1143977"/>
          </a:xfrm>
        </p:spPr>
        <p:txBody>
          <a:bodyPr>
            <a:noAutofit/>
          </a:bodyPr>
          <a:lstStyle/>
          <a:p>
            <a:pPr algn="l"/>
            <a:r>
              <a:rPr lang="en-GB" sz="2000" b="1" i="1" u="sng" dirty="0"/>
              <a:t>The research proposed the following hypotheses</a:t>
            </a:r>
            <a:r>
              <a:rPr lang="en-GB" sz="2000" dirty="0"/>
              <a:t>:</a:t>
            </a:r>
            <a:br>
              <a:rPr lang="en-GB" sz="2000" dirty="0"/>
            </a:br>
            <a:r>
              <a:rPr lang="en-GB" sz="2000" b="1" dirty="0"/>
              <a:t>H1</a:t>
            </a:r>
            <a:r>
              <a:rPr lang="en-GB" sz="2000" dirty="0"/>
              <a:t>: Job satisfaction has a negative and significant effect on turnover intention.</a:t>
            </a:r>
            <a:br>
              <a:rPr lang="en-GB" sz="2000" dirty="0"/>
            </a:br>
            <a:r>
              <a:rPr lang="en-GB" sz="2000" b="1" dirty="0"/>
              <a:t>H2</a:t>
            </a:r>
            <a:r>
              <a:rPr lang="en-GB" sz="2000" dirty="0"/>
              <a:t>: Organizational commitment has a negative and significant effect on turnover intention.</a:t>
            </a:r>
            <a:br>
              <a:rPr lang="en-GB" sz="2000" dirty="0"/>
            </a:br>
            <a:r>
              <a:rPr lang="en-GB" sz="2000" b="1" dirty="0"/>
              <a:t>H3</a:t>
            </a:r>
            <a:r>
              <a:rPr lang="en-GB" sz="2000" dirty="0"/>
              <a:t>: Person-organization fit moderates the relationship between job satisfaction and turnover intention.</a:t>
            </a:r>
            <a:br>
              <a:rPr lang="en-GB" sz="2000" dirty="0"/>
            </a:br>
            <a:r>
              <a:rPr lang="en-GB" sz="2000" b="1" dirty="0"/>
              <a:t>H4</a:t>
            </a:r>
            <a:r>
              <a:rPr lang="en-GB" sz="2000" dirty="0"/>
              <a:t>: Person-organization fit moderates the relationship between organizational commitment and turnover intention.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992221" y="-306590"/>
            <a:ext cx="799613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 of the Research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998" y="3355039"/>
            <a:ext cx="5196472" cy="324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276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1389" y="-303183"/>
            <a:ext cx="7996136" cy="1143000"/>
          </a:xfrm>
        </p:spPr>
        <p:txBody>
          <a:bodyPr>
            <a:normAutofit/>
          </a:bodyPr>
          <a:lstStyle/>
          <a:p>
            <a:pPr algn="l"/>
            <a:r>
              <a:rPr lang="en-GB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GB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2024" y="839817"/>
            <a:ext cx="805450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Data were collected from </a:t>
            </a:r>
            <a:r>
              <a:rPr lang="en-GB" b="1" dirty="0"/>
              <a:t>123 employees</a:t>
            </a:r>
            <a:r>
              <a:rPr lang="en-GB" dirty="0"/>
              <a:t> of PT </a:t>
            </a:r>
            <a:r>
              <a:rPr lang="en-GB" dirty="0" err="1"/>
              <a:t>Febri</a:t>
            </a:r>
            <a:r>
              <a:rPr lang="en-GB" dirty="0"/>
              <a:t> Dharma </a:t>
            </a:r>
            <a:r>
              <a:rPr lang="en-GB" dirty="0" err="1"/>
              <a:t>Mandiri</a:t>
            </a:r>
            <a:r>
              <a:rPr lang="en-GB" dirty="0"/>
              <a:t> through a </a:t>
            </a:r>
            <a:r>
              <a:rPr lang="en-GB" b="1" dirty="0"/>
              <a:t>questionnaire</a:t>
            </a:r>
            <a:r>
              <a:rPr lang="en-GB" dirty="0"/>
              <a:t>, but after removing outliers, </a:t>
            </a:r>
            <a:r>
              <a:rPr lang="en-GB" b="1" dirty="0"/>
              <a:t>109 responses</a:t>
            </a:r>
            <a:r>
              <a:rPr lang="en-GB" dirty="0"/>
              <a:t> were </a:t>
            </a:r>
            <a:r>
              <a:rPr lang="en-GB" dirty="0" smtClean="0"/>
              <a:t>analysed.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research </a:t>
            </a:r>
            <a:r>
              <a:rPr lang="en-GB" dirty="0" smtClean="0"/>
              <a:t>used multiple </a:t>
            </a:r>
            <a:r>
              <a:rPr lang="en-GB" dirty="0"/>
              <a:t>linear regression analysis </a:t>
            </a:r>
            <a:r>
              <a:rPr lang="en-GB" dirty="0" smtClean="0"/>
              <a:t>&amp; Moderated </a:t>
            </a:r>
            <a:r>
              <a:rPr lang="en-GB" dirty="0"/>
              <a:t>Regression </a:t>
            </a:r>
            <a:r>
              <a:rPr lang="en-GB" dirty="0" smtClean="0"/>
              <a:t>Analysis </a:t>
            </a:r>
            <a:r>
              <a:rPr lang="en-GB" dirty="0"/>
              <a:t>to examine the relationships between job satisfaction, organizational commitment, turnover intention, </a:t>
            </a:r>
            <a:r>
              <a:rPr lang="en-GB" dirty="0" smtClean="0"/>
              <a:t>&amp; the </a:t>
            </a:r>
            <a:r>
              <a:rPr lang="en-GB" dirty="0"/>
              <a:t>moderating effect of person-organization </a:t>
            </a:r>
            <a:r>
              <a:rPr lang="en-GB" dirty="0" smtClean="0"/>
              <a:t>fit.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SPSS software was used for data analysis, and a Likert scale </a:t>
            </a:r>
            <a:r>
              <a:rPr lang="en-GB" dirty="0" smtClean="0"/>
              <a:t>(5 point) was </a:t>
            </a:r>
            <a:r>
              <a:rPr lang="en-GB" dirty="0"/>
              <a:t>applied to measure </a:t>
            </a:r>
            <a:r>
              <a:rPr lang="en-GB" dirty="0" smtClean="0"/>
              <a:t>responses.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sampling method was simple random sampling, </a:t>
            </a:r>
            <a:r>
              <a:rPr lang="en-GB" dirty="0" smtClean="0"/>
              <a:t>an </a:t>
            </a:r>
            <a:r>
              <a:rPr lang="en-GB" dirty="0"/>
              <a:t>unbiased representation of </a:t>
            </a:r>
            <a:r>
              <a:rPr lang="en-GB" dirty="0" smtClean="0"/>
              <a:t>employees.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3353" y="4533136"/>
            <a:ext cx="4151843" cy="169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288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664" y="274638"/>
            <a:ext cx="7996136" cy="1143000"/>
          </a:xfrm>
        </p:spPr>
        <p:txBody>
          <a:bodyPr>
            <a:normAutofit/>
          </a:bodyPr>
          <a:lstStyle/>
          <a:p>
            <a:pPr algn="l"/>
            <a:r>
              <a:rPr lang="en-GB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</a:t>
            </a:r>
            <a:endParaRPr lang="en-GB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664" y="1417638"/>
            <a:ext cx="7716327" cy="529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458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5140" y="-296862"/>
            <a:ext cx="7762672" cy="1143000"/>
          </a:xfrm>
        </p:spPr>
        <p:txBody>
          <a:bodyPr>
            <a:normAutofit/>
          </a:bodyPr>
          <a:lstStyle/>
          <a:p>
            <a:pPr algn="l"/>
            <a:r>
              <a:rPr lang="en-GB" sz="29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 (Continued)</a:t>
            </a:r>
            <a:endParaRPr lang="en-GB" sz="29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111" y="772672"/>
            <a:ext cx="3822896" cy="26861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6733" y="597570"/>
            <a:ext cx="5465982" cy="36009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3932" y="4270441"/>
            <a:ext cx="817123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Job </a:t>
            </a:r>
            <a:r>
              <a:rPr lang="en-GB" b="1" dirty="0"/>
              <a:t>satisfaction had a negative and significant effect on turnover intention</a:t>
            </a:r>
            <a:endParaRPr lang="en-GB" dirty="0"/>
          </a:p>
          <a:p>
            <a:pPr lvl="1"/>
            <a:r>
              <a:rPr lang="en-GB" b="1" dirty="0"/>
              <a:t>t-value = -4.728</a:t>
            </a:r>
            <a:r>
              <a:rPr lang="en-GB" dirty="0"/>
              <a:t> (greater than t-table value of 1.659)</a:t>
            </a:r>
          </a:p>
          <a:p>
            <a:pPr lvl="1"/>
            <a:r>
              <a:rPr lang="en-GB" b="1" dirty="0"/>
              <a:t>Significance (p-value) = 0.000</a:t>
            </a:r>
            <a:r>
              <a:rPr lang="en-GB" dirty="0"/>
              <a:t> (less than 0.05)</a:t>
            </a:r>
          </a:p>
          <a:p>
            <a:pPr lvl="1"/>
            <a:r>
              <a:rPr lang="en-GB" dirty="0"/>
              <a:t>Conclusion: Higher job satisfaction reduces turnover intention.</a:t>
            </a:r>
          </a:p>
          <a:p>
            <a:r>
              <a:rPr lang="en-GB" b="1" dirty="0"/>
              <a:t>Organizational commitment had a negative </a:t>
            </a:r>
            <a:r>
              <a:rPr lang="en-GB" b="1" dirty="0" smtClean="0"/>
              <a:t>significant </a:t>
            </a:r>
            <a:r>
              <a:rPr lang="en-GB" b="1" dirty="0"/>
              <a:t>effect on turnover intention</a:t>
            </a:r>
            <a:endParaRPr lang="en-GB" dirty="0"/>
          </a:p>
          <a:p>
            <a:pPr lvl="1"/>
            <a:r>
              <a:rPr lang="en-GB" b="1" dirty="0"/>
              <a:t>t-value = -11.805</a:t>
            </a:r>
            <a:r>
              <a:rPr lang="en-GB" dirty="0"/>
              <a:t> (greater than t-table value of 1.659)</a:t>
            </a:r>
          </a:p>
          <a:p>
            <a:pPr lvl="1"/>
            <a:r>
              <a:rPr lang="en-GB" b="1" dirty="0"/>
              <a:t>Significance (p-value) = 0.000</a:t>
            </a:r>
            <a:r>
              <a:rPr lang="en-GB" dirty="0"/>
              <a:t> (less than 0.05)</a:t>
            </a:r>
          </a:p>
          <a:p>
            <a:pPr lvl="1"/>
            <a:r>
              <a:rPr lang="en-GB" dirty="0"/>
              <a:t>Conclusion: Higher organizational commitment strongly reduces turnover intention</a:t>
            </a:r>
            <a:r>
              <a:rPr lang="en-GB" dirty="0" smtClean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4889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7864" y="-296862"/>
            <a:ext cx="7996136" cy="1143000"/>
          </a:xfrm>
        </p:spPr>
        <p:txBody>
          <a:bodyPr>
            <a:normAutofit/>
          </a:bodyPr>
          <a:lstStyle/>
          <a:p>
            <a:pPr algn="l"/>
            <a:r>
              <a:rPr lang="en-GB" sz="29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GB" sz="29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843" y="846138"/>
            <a:ext cx="806423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The study found that</a:t>
            </a:r>
            <a:r>
              <a:rPr lang="en-GB" u="sng" dirty="0" smtClean="0"/>
              <a:t>:</a:t>
            </a:r>
          </a:p>
          <a:p>
            <a:endParaRPr lang="en-GB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b="1" dirty="0"/>
              <a:t>Job satisfaction and organizational commitment both negatively and significantly impact turnover intention</a:t>
            </a:r>
            <a:r>
              <a:rPr lang="en-GB" dirty="0"/>
              <a:t> – meaning higher job satisfaction and stronger commitment reduce employees' desire to leave</a:t>
            </a:r>
            <a:r>
              <a:rPr lang="en-GB" dirty="0" smtClean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b="1" dirty="0"/>
              <a:t>Person-organization fit does not moderate the relationship between job satisfaction and turnover intention</a:t>
            </a:r>
            <a:r>
              <a:rPr lang="en-GB" dirty="0"/>
              <a:t> – meaning job satisfaction's effect on turnover intention remains unchanged regardless of P-O fit</a:t>
            </a:r>
            <a:r>
              <a:rPr lang="en-GB" dirty="0" smtClean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b="1" dirty="0"/>
              <a:t>Person-organization fit does moderate the relationship between organizational commitment and turnover intention</a:t>
            </a:r>
            <a:r>
              <a:rPr lang="en-GB" dirty="0"/>
              <a:t> – meaning </a:t>
            </a:r>
            <a:r>
              <a:rPr lang="en-GB" dirty="0" smtClean="0"/>
              <a:t>organizational commitment's </a:t>
            </a:r>
            <a:r>
              <a:rPr lang="en-GB" dirty="0"/>
              <a:t>effect on turnover intention remains unchanged regardless of P-O fit.</a:t>
            </a:r>
            <a:endParaRPr lang="en-GB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/>
              <a:t>Overall, organizational commitment played a more significant role in reducing turnover intention, </a:t>
            </a:r>
            <a:r>
              <a:rPr lang="en-GB" dirty="0" smtClean="0"/>
              <a:t>regardless of a </a:t>
            </a:r>
            <a:r>
              <a:rPr lang="en-GB" dirty="0"/>
              <a:t>good person-organization fit</a:t>
            </a:r>
            <a:r>
              <a:rPr lang="en-GB" dirty="0" smtClean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9914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1405" y="-296862"/>
            <a:ext cx="7996136" cy="1143000"/>
          </a:xfrm>
        </p:spPr>
        <p:txBody>
          <a:bodyPr>
            <a:normAutofit/>
          </a:bodyPr>
          <a:lstStyle/>
          <a:p>
            <a:pPr algn="l"/>
            <a:r>
              <a:rPr lang="en-GB" sz="29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GB" sz="29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1405" y="762374"/>
            <a:ext cx="756811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b="1" dirty="0" smtClean="0"/>
              <a:t>Limited </a:t>
            </a:r>
            <a:r>
              <a:rPr lang="en-GB" b="1" dirty="0"/>
              <a:t>Sample Size &amp; Scope</a:t>
            </a:r>
            <a:r>
              <a:rPr lang="en-GB" dirty="0"/>
              <a:t> – The study focuses only on employees of PT </a:t>
            </a:r>
            <a:r>
              <a:rPr lang="en-GB" dirty="0" err="1"/>
              <a:t>Febri</a:t>
            </a:r>
            <a:r>
              <a:rPr lang="en-GB" dirty="0"/>
              <a:t> Dharma </a:t>
            </a:r>
            <a:r>
              <a:rPr lang="en-GB" dirty="0" err="1"/>
              <a:t>Mandiri</a:t>
            </a:r>
            <a:r>
              <a:rPr lang="en-GB" dirty="0"/>
              <a:t>, making it difficult to generalize the findings to other organizations or industries</a:t>
            </a:r>
            <a:r>
              <a:rPr lang="en-GB" dirty="0" smtClean="0"/>
              <a:t>.</a:t>
            </a:r>
          </a:p>
          <a:p>
            <a:pPr algn="just"/>
            <a:endParaRPr lang="en-GB" dirty="0"/>
          </a:p>
          <a:p>
            <a:pPr algn="just"/>
            <a:r>
              <a:rPr lang="en-GB" b="1" dirty="0" smtClean="0"/>
              <a:t>Single Point in Time</a:t>
            </a:r>
            <a:r>
              <a:rPr lang="en-GB" dirty="0" smtClean="0"/>
              <a:t> </a:t>
            </a:r>
            <a:r>
              <a:rPr lang="en-GB" dirty="0"/>
              <a:t>– Data were collected at a single point in time, which does not account for changes in job satisfaction, commitment, or turnover intention over time</a:t>
            </a:r>
            <a:r>
              <a:rPr lang="en-GB" dirty="0" smtClean="0"/>
              <a:t>.</a:t>
            </a:r>
          </a:p>
          <a:p>
            <a:pPr algn="just"/>
            <a:endParaRPr lang="en-GB" dirty="0" smtClean="0"/>
          </a:p>
          <a:p>
            <a:pPr algn="just"/>
            <a:r>
              <a:rPr lang="en-GB" b="1" dirty="0" smtClean="0"/>
              <a:t>Self-Reported </a:t>
            </a:r>
            <a:r>
              <a:rPr lang="en-GB" b="1" dirty="0"/>
              <a:t>Data</a:t>
            </a:r>
            <a:r>
              <a:rPr lang="en-GB" dirty="0"/>
              <a:t> – Responses were gathered through questionnaires, which may introduce </a:t>
            </a:r>
            <a:r>
              <a:rPr lang="en-GB" b="1" dirty="0"/>
              <a:t>bias</a:t>
            </a:r>
            <a:r>
              <a:rPr lang="en-GB" dirty="0"/>
              <a:t> due to social desirability or inaccurate self-assessment by employees</a:t>
            </a:r>
            <a:r>
              <a:rPr lang="en-GB" dirty="0" smtClean="0"/>
              <a:t>.</a:t>
            </a:r>
          </a:p>
          <a:p>
            <a:pPr algn="just"/>
            <a:endParaRPr lang="en-GB" dirty="0"/>
          </a:p>
          <a:p>
            <a:pPr algn="just"/>
            <a:r>
              <a:rPr lang="en-GB" b="1" dirty="0"/>
              <a:t>Limited Moderating Effect</a:t>
            </a:r>
            <a:r>
              <a:rPr lang="en-GB" dirty="0"/>
              <a:t> – The study found that </a:t>
            </a:r>
            <a:r>
              <a:rPr lang="en-GB" b="1" dirty="0"/>
              <a:t>person-organization fit</a:t>
            </a:r>
            <a:r>
              <a:rPr lang="en-GB" dirty="0"/>
              <a:t> did not moderate the relationship between job satisfaction and turnover intention, suggesting the need to explore other moderating factors</a:t>
            </a:r>
            <a:r>
              <a:rPr lang="en-GB" dirty="0" smtClean="0"/>
              <a:t>.</a:t>
            </a:r>
            <a:endParaRPr lang="en-GB" dirty="0"/>
          </a:p>
        </p:txBody>
      </p:sp>
      <p:sp>
        <p:nvSpPr>
          <p:cNvPr id="5" name="Rectangle 2">
            <a:extLst>
              <a:ext uri="{FF2B5EF4-FFF2-40B4-BE49-F238E27FC236}">
                <a16:creationId xmlns="" xmlns:a16="http://schemas.microsoft.com/office/drawing/2014/main" id="{3E7888E3-F6B0-4429-A210-79EDF3D6C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238" y="4990161"/>
            <a:ext cx="76708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de-DE" sz="8000" dirty="0" smtClean="0">
                <a:solidFill>
                  <a:srgbClr val="0070C0"/>
                </a:solidFill>
                <a:latin typeface="Arial" charset="0"/>
              </a:rPr>
              <a:t>Thank You</a:t>
            </a:r>
            <a:endParaRPr lang="de-DE" sz="8000" dirty="0">
              <a:solidFill>
                <a:srgbClr val="0070C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0987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b-template-reg</Template>
  <TotalTime>826</TotalTime>
  <Words>514</Words>
  <Application>Microsoft Office PowerPoint</Application>
  <PresentationFormat>On-screen Show (4:3)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Multiple Linear Regression </vt:lpstr>
      <vt:lpstr>Article</vt:lpstr>
      <vt:lpstr>The research proposed the following hypotheses: H1: Job satisfaction has a negative and significant effect on turnover intention. H2: Organizational commitment has a negative and significant effect on turnover intention. H3: Person-organization fit moderates the relationship between job satisfaction and turnover intention. H4: Person-organization fit moderates the relationship between organizational commitment and turnover intention.</vt:lpstr>
      <vt:lpstr>Methodology</vt:lpstr>
      <vt:lpstr>Results and Discussions</vt:lpstr>
      <vt:lpstr>Results and Discussions (Continued)</vt:lpstr>
      <vt:lpstr>Conclusion</vt:lpstr>
      <vt:lpstr>Limitations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Introductory presentation for the Fall 2024 Systems Science and Industrial Engineering Ph.D. Program at the Binghamton University</dc:title>
  <dc:creator>User</dc:creator>
  <cp:lastModifiedBy>User</cp:lastModifiedBy>
  <cp:revision>173</cp:revision>
  <dcterms:created xsi:type="dcterms:W3CDTF">2024-01-10T08:15:21Z</dcterms:created>
  <dcterms:modified xsi:type="dcterms:W3CDTF">2025-03-27T19:15:51Z</dcterms:modified>
</cp:coreProperties>
</file>