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00" cy="6858000"/>
          </a:xfrm>
          <a:prstGeom prst="rect">
            <a:avLst/>
          </a:prstGeom>
          <a:solidFill>
            <a:srgbClr val="0F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035040"/>
            <a:ext cx="12188952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8229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60A5FA"/>
                </a:solidFill>
                <a:latin typeface="Calibri"/>
              </a:rPr>
              <a:t>MULTIVARIATE STATISTICS · BINGHAMTON UNIVERSITY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8229600" cy="21945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Credit Risk Classification
Using ML Techniques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91840"/>
            <a:ext cx="73152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 i="0">
                <a:solidFill>
                  <a:srgbClr val="CBD5E1"/>
                </a:solidFill>
                <a:latin typeface="Calibri"/>
              </a:rPr>
              <a:t>Applying Factor Analysis, Linear Discriminant Analysis, and
Logistic Regression to 500,000 real LendingClub loan records.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57200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0A5FA"/>
                </a:solidFill>
                <a:latin typeface="Calibri"/>
              </a:rPr>
              <a:t>AUTHOR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846320"/>
            <a:ext cx="2743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Lana Jalal Gidan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457200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0A5FA"/>
                </a:solidFill>
                <a:latin typeface="Calibri"/>
              </a:rPr>
              <a:t>DEPARTMENT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4846320"/>
            <a:ext cx="2743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Systems Science &amp; Industrial Engineering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457200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0A5FA"/>
                </a:solidFill>
                <a:latin typeface="Calibri"/>
              </a:rPr>
              <a:t>DATASET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4846320"/>
            <a:ext cx="2743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LendingClub · 500,000 Loans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5440" y="457200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0A5FA"/>
                </a:solidFill>
                <a:latin typeface="Calibri"/>
              </a:rPr>
              <a:t>MODELS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35440" y="4846320"/>
            <a:ext cx="2743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LDA &amp; Logistic Regression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537960"/>
            <a:ext cx="914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900" b="0" i="0">
                <a:solidFill>
                  <a:srgbClr val="334155"/>
                </a:solidFill>
                <a:latin typeface="Calibri"/>
              </a:rPr>
              <a:t>1 / 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09360"/>
            <a:ext cx="12188952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7315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60A5FA"/>
                </a:solidFill>
                <a:latin typeface="Calibri"/>
              </a:rPr>
              <a:t>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109728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What We'll Cover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463040"/>
            <a:ext cx="5394960" cy="1005840"/>
          </a:xfrm>
          <a:prstGeom prst="rect">
            <a:avLst/>
          </a:prstGeom>
          <a:solidFill>
            <a:srgbClr val="1A2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1554480"/>
            <a:ext cx="4572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1508760"/>
            <a:ext cx="54864" cy="914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508760"/>
            <a:ext cx="4572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The Problem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1938528"/>
            <a:ext cx="4572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What is credit risk?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463040"/>
            <a:ext cx="5394960" cy="1005840"/>
          </a:xfrm>
          <a:prstGeom prst="rect">
            <a:avLst/>
          </a:prstGeom>
          <a:solidFill>
            <a:srgbClr val="1A2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27648" y="1554480"/>
            <a:ext cx="4572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675120" y="1508760"/>
            <a:ext cx="54864" cy="914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0" y="1508760"/>
            <a:ext cx="4572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Dataset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1938528"/>
            <a:ext cx="4572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LendingClub · 500k real loans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606040"/>
            <a:ext cx="5394960" cy="1005840"/>
          </a:xfrm>
          <a:prstGeom prst="rect">
            <a:avLst/>
          </a:prstGeom>
          <a:solidFill>
            <a:srgbClr val="1A2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5488" y="2697480"/>
            <a:ext cx="4572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2651760"/>
            <a:ext cx="54864" cy="914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2651760"/>
            <a:ext cx="4572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Data Cleaning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3081528"/>
            <a:ext cx="4572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From messy 151 columns to 76 clean features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2606040"/>
            <a:ext cx="5394960" cy="1005840"/>
          </a:xfrm>
          <a:prstGeom prst="rect">
            <a:avLst/>
          </a:prstGeom>
          <a:solidFill>
            <a:srgbClr val="1A2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27648" y="2697480"/>
            <a:ext cx="4572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675120" y="2651760"/>
            <a:ext cx="54864" cy="914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0" y="2651760"/>
            <a:ext cx="4572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Factor Analysis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3081528"/>
            <a:ext cx="4572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Interdependence technique — 6 latent factors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3749039"/>
            <a:ext cx="5394960" cy="1005840"/>
          </a:xfrm>
          <a:prstGeom prst="rect">
            <a:avLst/>
          </a:prstGeom>
          <a:solidFill>
            <a:srgbClr val="1A2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5488" y="3840479"/>
            <a:ext cx="4572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2960" y="3794759"/>
            <a:ext cx="54864" cy="914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5840" y="3794759"/>
            <a:ext cx="4572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LDA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" y="4224527"/>
            <a:ext cx="4572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Linear Discriminant Analysis — separating classes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17920" y="3749039"/>
            <a:ext cx="5394960" cy="1005840"/>
          </a:xfrm>
          <a:prstGeom prst="rect">
            <a:avLst/>
          </a:prstGeom>
          <a:solidFill>
            <a:srgbClr val="1A2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27648" y="3840479"/>
            <a:ext cx="4572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675120" y="3794759"/>
            <a:ext cx="54864" cy="914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58000" y="3794759"/>
            <a:ext cx="4572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Logistic Regression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4224527"/>
            <a:ext cx="4572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Probability-based binary classification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4892040"/>
            <a:ext cx="5394960" cy="1005840"/>
          </a:xfrm>
          <a:prstGeom prst="rect">
            <a:avLst/>
          </a:prstGeom>
          <a:solidFill>
            <a:srgbClr val="1A2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75488" y="4983479"/>
            <a:ext cx="4572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22960" y="4937759"/>
            <a:ext cx="54864" cy="914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05840" y="4937759"/>
            <a:ext cx="4572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Model Comparison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5840" y="5367527"/>
            <a:ext cx="4572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ROC · Accuracy · AUC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217920" y="4892040"/>
            <a:ext cx="5394960" cy="1005840"/>
          </a:xfrm>
          <a:prstGeom prst="rect">
            <a:avLst/>
          </a:prstGeom>
          <a:solidFill>
            <a:srgbClr val="1A2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27648" y="4983479"/>
            <a:ext cx="4572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675120" y="4937759"/>
            <a:ext cx="54864" cy="914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858000" y="4937759"/>
            <a:ext cx="4572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Live Predictor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58000" y="5367527"/>
            <a:ext cx="4572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Interactive demo — real-time prediction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247120" y="6537960"/>
            <a:ext cx="914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900" b="0" i="0">
                <a:solidFill>
                  <a:srgbClr val="334155"/>
                </a:solidFill>
                <a:latin typeface="Calibri"/>
              </a:rPr>
              <a:t>2 / 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09360"/>
            <a:ext cx="12188952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7315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60A5FA"/>
                </a:solidFill>
                <a:latin typeface="Calibri"/>
              </a:rPr>
              <a:t>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109728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What Is Credit Risk?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71600"/>
            <a:ext cx="5303520" cy="1280160"/>
          </a:xfrm>
          <a:prstGeom prst="rect">
            <a:avLst/>
          </a:prstGeom>
          <a:solidFill>
            <a:srgbClr val="1A2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1508760"/>
            <a:ext cx="5029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60A5FA"/>
                </a:solidFill>
                <a:latin typeface="Calibri"/>
              </a:rPr>
              <a:t>💳  The Loan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847088"/>
            <a:ext cx="5029200" cy="777239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A bank lends you money today. You promise to repay it over time — with interest. The bank earns interest; you get capital.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788920"/>
            <a:ext cx="5303520" cy="1280160"/>
          </a:xfrm>
          <a:prstGeom prst="rect">
            <a:avLst/>
          </a:prstGeom>
          <a:solidFill>
            <a:srgbClr val="1A17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" y="2926079"/>
            <a:ext cx="5029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F59E0B"/>
                </a:solidFill>
                <a:latin typeface="Calibri"/>
              </a:rPr>
              <a:t>⚠️  The Risk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3264408"/>
            <a:ext cx="5029200" cy="777239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The borrower might DEFAULT — stop paying. Banks lend billions, so even a small default rate means massive losses.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4206240"/>
            <a:ext cx="5303520" cy="1280160"/>
          </a:xfrm>
          <a:prstGeom prst="rect">
            <a:avLst/>
          </a:prstGeom>
          <a:solidFill>
            <a:srgbClr val="101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0352" y="4343400"/>
            <a:ext cx="5029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10B981"/>
                </a:solidFill>
                <a:latin typeface="Calibri"/>
              </a:rPr>
              <a:t>🎯  The Goal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4681727"/>
            <a:ext cx="5029200" cy="777239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Before lending, predict: 'Will this person repay?' A good model lets banks charge fair rates and avoid bad loans.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1371600"/>
            <a:ext cx="2560320" cy="1371600"/>
          </a:xfrm>
          <a:prstGeom prst="rect">
            <a:avLst/>
          </a:prstGeom>
          <a:solidFill>
            <a:srgbClr val="1A2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59" y="1463040"/>
            <a:ext cx="2377440" cy="7772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3600" b="1" i="0">
                <a:solidFill>
                  <a:srgbClr val="EF4444"/>
                </a:solidFill>
                <a:latin typeface="Calibri"/>
              </a:rPr>
              <a:t>$82B+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59" y="2194560"/>
            <a:ext cx="23774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 i="0">
                <a:solidFill>
                  <a:srgbClr val="CBD5E1"/>
                </a:solidFill>
                <a:latin typeface="Calibri"/>
              </a:rPr>
              <a:t>US consumer loan
losses per year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61120" y="1371600"/>
            <a:ext cx="2560320" cy="1371600"/>
          </a:xfrm>
          <a:prstGeom prst="rect">
            <a:avLst/>
          </a:prstGeom>
          <a:solidFill>
            <a:srgbClr val="1A2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52560" y="1463040"/>
            <a:ext cx="2377440" cy="7772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3600" b="1" i="0">
                <a:solidFill>
                  <a:srgbClr val="10B981"/>
                </a:solidFill>
                <a:latin typeface="Calibri"/>
              </a:rPr>
              <a:t>~71%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2194560"/>
            <a:ext cx="23774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 i="0">
                <a:solidFill>
                  <a:srgbClr val="CBD5E1"/>
                </a:solidFill>
                <a:latin typeface="Calibri"/>
              </a:rPr>
              <a:t>Model accuracy using
origination features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2926080"/>
            <a:ext cx="5486400" cy="2560320"/>
          </a:xfrm>
          <a:prstGeom prst="rect">
            <a:avLst/>
          </a:prstGeom>
          <a:solidFill>
            <a:srgbClr val="1A2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82512" y="3063240"/>
            <a:ext cx="52120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60A5FA"/>
                </a:solidFill>
                <a:latin typeface="Calibri"/>
              </a:rPr>
              <a:t>Why Multivariate Statistics?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82512" y="3401568"/>
            <a:ext cx="5212080" cy="2057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A FICO score is just one number. Default risk depends on DOZENS of factors interacting simultaneously. Multivariate methods see the full picture.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47120" y="6537960"/>
            <a:ext cx="914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900" b="0" i="0">
                <a:solidFill>
                  <a:srgbClr val="334155"/>
                </a:solidFill>
                <a:latin typeface="Calibri"/>
              </a:rPr>
              <a:t>3 / 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09360"/>
            <a:ext cx="12188952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7315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60A5FA"/>
                </a:solidFill>
                <a:latin typeface="Calibri"/>
              </a:rPr>
              <a:t>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109728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The LendingClub Dataset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463040"/>
            <a:ext cx="2560320" cy="1371600"/>
          </a:xfrm>
          <a:prstGeom prst="rect">
            <a:avLst/>
          </a:prstGeom>
          <a:solidFill>
            <a:srgbClr val="1A2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554480"/>
            <a:ext cx="2377440" cy="7772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3600" b="1" i="0">
                <a:solidFill>
                  <a:srgbClr val="2563EB"/>
                </a:solidFill>
                <a:latin typeface="Calibri"/>
              </a:rPr>
              <a:t>500K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286000"/>
            <a:ext cx="23774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 i="0">
                <a:solidFill>
                  <a:srgbClr val="CBD5E1"/>
                </a:solidFill>
                <a:latin typeface="Calibri"/>
              </a:rPr>
              <a:t>Real loan records</a:t>
            </a:r>
          </a:p>
        </p:txBody>
      </p:sp>
      <p:sp>
        <p:nvSpPr>
          <p:cNvPr id="9" name="Rectangle 8"/>
          <p:cNvSpPr/>
          <p:nvPr/>
        </p:nvSpPr>
        <p:spPr>
          <a:xfrm>
            <a:off x="3108960" y="1463040"/>
            <a:ext cx="2560320" cy="1371600"/>
          </a:xfrm>
          <a:prstGeom prst="rect">
            <a:avLst/>
          </a:prstGeom>
          <a:solidFill>
            <a:srgbClr val="1A2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0" y="1554480"/>
            <a:ext cx="2377440" cy="7772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3600" b="1" i="0">
                <a:solidFill>
                  <a:srgbClr val="2563EB"/>
                </a:solidFill>
                <a:latin typeface="Calibri"/>
              </a:rPr>
              <a:t>151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2286000"/>
            <a:ext cx="23774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 i="0">
                <a:solidFill>
                  <a:srgbClr val="CBD5E1"/>
                </a:solidFill>
                <a:latin typeface="Calibri"/>
              </a:rPr>
              <a:t>Features per loan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52160" y="1463040"/>
            <a:ext cx="2560320" cy="1371600"/>
          </a:xfrm>
          <a:prstGeom prst="rect">
            <a:avLst/>
          </a:prstGeom>
          <a:solidFill>
            <a:srgbClr val="1A2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0" y="1554480"/>
            <a:ext cx="2377440" cy="7772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3600" b="1" i="0">
                <a:solidFill>
                  <a:srgbClr val="EF4444"/>
                </a:solidFill>
                <a:latin typeface="Calibri"/>
              </a:rPr>
              <a:t>20.9%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2286000"/>
            <a:ext cx="23774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 i="0">
                <a:solidFill>
                  <a:srgbClr val="CBD5E1"/>
                </a:solidFill>
                <a:latin typeface="Calibri"/>
              </a:rPr>
              <a:t>Default rate in data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595360" y="1463040"/>
            <a:ext cx="2560320" cy="1371600"/>
          </a:xfrm>
          <a:prstGeom prst="rect">
            <a:avLst/>
          </a:prstGeom>
          <a:solidFill>
            <a:srgbClr val="1A2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0" y="1554480"/>
            <a:ext cx="2377440" cy="7772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3600" b="1" i="0">
                <a:solidFill>
                  <a:srgbClr val="2563EB"/>
                </a:solidFill>
                <a:latin typeface="Calibri"/>
              </a:rPr>
              <a:t>$15K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0" y="2286000"/>
            <a:ext cx="23774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 i="0">
                <a:solidFill>
                  <a:srgbClr val="CBD5E1"/>
                </a:solidFill>
                <a:latin typeface="Calibri"/>
              </a:rPr>
              <a:t>Avg loan amount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310896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>
                <a:solidFill>
                  <a:srgbClr val="2563EB"/>
                </a:solidFill>
                <a:latin typeface="Calibri"/>
              </a:rPr>
              <a:t>▸  </a:t>
            </a:r>
            <a:r>
              <a:rPr sz="1300">
                <a:solidFill>
                  <a:srgbClr val="CBD5E1"/>
                </a:solidFill>
                <a:latin typeface="Calibri"/>
              </a:rPr>
              <a:t>Loan info: amount, term, interest rate, monthly installment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2563EB"/>
                </a:solidFill>
                <a:latin typeface="Calibri"/>
              </a:rPr>
              <a:t>▸  </a:t>
            </a:r>
            <a:r>
              <a:rPr sz="1300">
                <a:solidFill>
                  <a:srgbClr val="CBD5E1"/>
                </a:solidFill>
                <a:latin typeface="Calibri"/>
              </a:rPr>
              <a:t>Borrower info: income, employment, debt-to-income ratio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2563EB"/>
                </a:solidFill>
                <a:latin typeface="Calibri"/>
              </a:rPr>
              <a:t>▸  </a:t>
            </a:r>
            <a:r>
              <a:rPr sz="1300">
                <a:solidFill>
                  <a:srgbClr val="CBD5E1"/>
                </a:solidFill>
                <a:latin typeface="Calibri"/>
              </a:rPr>
              <a:t>Credit history: FICO score, open accounts, delinquencies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2563EB"/>
                </a:solidFill>
                <a:latin typeface="Calibri"/>
              </a:rPr>
              <a:t>▸  </a:t>
            </a:r>
            <a:r>
              <a:rPr sz="1300">
                <a:solidFill>
                  <a:srgbClr val="CBD5E1"/>
                </a:solidFill>
                <a:latin typeface="Calibri"/>
              </a:rPr>
              <a:t>LendingClub grade: A (safest) → G (riskiest)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2563EB"/>
                </a:solidFill>
                <a:latin typeface="Calibri"/>
              </a:rPr>
              <a:t>▸  </a:t>
            </a:r>
            <a:r>
              <a:rPr sz="1300">
                <a:solidFill>
                  <a:srgbClr val="CBD5E1"/>
                </a:solidFill>
                <a:latin typeface="Calibri"/>
              </a:rPr>
              <a:t>Outcome: Did they repay or default?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3017520"/>
            <a:ext cx="5029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60A5FA"/>
                </a:solidFill>
                <a:latin typeface="Calibri"/>
              </a:rPr>
              <a:t>Loan Status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3474720"/>
            <a:ext cx="5394960" cy="475488"/>
          </a:xfrm>
          <a:prstGeom prst="rect">
            <a:avLst/>
          </a:prstGeom>
          <a:solidFill>
            <a:srgbClr val="1A2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3566160"/>
            <a:ext cx="3200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CBD5E1"/>
                </a:solidFill>
                <a:latin typeface="Calibri"/>
              </a:rPr>
              <a:t>Fully Paid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0" y="3566160"/>
            <a:ext cx="1645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10B981"/>
                </a:solidFill>
                <a:latin typeface="Calibri"/>
              </a:rPr>
              <a:t>312,340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0" y="3968496"/>
            <a:ext cx="5394960" cy="475488"/>
          </a:xfrm>
          <a:prstGeom prst="rect">
            <a:avLst/>
          </a:prstGeom>
          <a:solidFill>
            <a:srgbClr val="10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4059935"/>
            <a:ext cx="3200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CBD5E1"/>
                </a:solidFill>
                <a:latin typeface="Calibri"/>
              </a:rPr>
              <a:t>Charged Off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4059935"/>
            <a:ext cx="1645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EF4444"/>
                </a:solidFill>
                <a:latin typeface="Calibri"/>
              </a:rPr>
              <a:t> 78,824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20" y="4462272"/>
            <a:ext cx="5394960" cy="475488"/>
          </a:xfrm>
          <a:prstGeom prst="rect">
            <a:avLst/>
          </a:prstGeom>
          <a:solidFill>
            <a:srgbClr val="1A2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0" y="4553712"/>
            <a:ext cx="3200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CBD5E1"/>
                </a:solidFill>
                <a:latin typeface="Calibri"/>
              </a:rPr>
              <a:t>Late 31–120 days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0" y="4553712"/>
            <a:ext cx="1645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EF4444"/>
                </a:solidFill>
                <a:latin typeface="Calibri"/>
              </a:rPr>
              <a:t>  2,977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17920" y="4956048"/>
            <a:ext cx="5394960" cy="475488"/>
          </a:xfrm>
          <a:prstGeom prst="rect">
            <a:avLst/>
          </a:prstGeom>
          <a:solidFill>
            <a:srgbClr val="10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0" y="5047488"/>
            <a:ext cx="3200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CBD5E1"/>
                </a:solidFill>
                <a:latin typeface="Calibri"/>
              </a:rPr>
              <a:t>Current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0" y="5047488"/>
            <a:ext cx="1645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CBD5E1"/>
                </a:solidFill>
                <a:latin typeface="Calibri"/>
              </a:rPr>
              <a:t>104,240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17920" y="5449824"/>
            <a:ext cx="5394960" cy="475488"/>
          </a:xfrm>
          <a:prstGeom prst="rect">
            <a:avLst/>
          </a:prstGeom>
          <a:solidFill>
            <a:srgbClr val="1A2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5541264"/>
            <a:ext cx="3200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CBD5E1"/>
                </a:solidFill>
                <a:latin typeface="Calibri"/>
              </a:rPr>
              <a:t>In Grace Period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01200" y="5541264"/>
            <a:ext cx="1645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CBD5E1"/>
                </a:solidFill>
                <a:latin typeface="Calibri"/>
              </a:rPr>
              <a:t>  1,046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247120" y="6537960"/>
            <a:ext cx="914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900" b="0" i="0">
                <a:solidFill>
                  <a:srgbClr val="334155"/>
                </a:solidFill>
                <a:latin typeface="Calibri"/>
              </a:rPr>
              <a:t>4 / 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09360"/>
            <a:ext cx="12188952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7315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60A5FA"/>
                </a:solidFill>
                <a:latin typeface="Calibri"/>
              </a:rPr>
              <a:t>PREPROCESSING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109728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Data Cleaning Pipeline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71600"/>
            <a:ext cx="502920" cy="5029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417320"/>
            <a:ext cx="5029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389888"/>
            <a:ext cx="3200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Dropped 58 columns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645920"/>
            <a:ext cx="53035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with &gt;40% missing values — hardship/settlement fields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029967"/>
            <a:ext cx="502920" cy="5029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2075687"/>
            <a:ext cx="5029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048255"/>
            <a:ext cx="3200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Dropped 17 columns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304287"/>
            <a:ext cx="53035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irrelevant identifiers and free-text descriptions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688336"/>
            <a:ext cx="502920" cy="5029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2734056"/>
            <a:ext cx="5029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2706624"/>
            <a:ext cx="3200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Engineered target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2962656"/>
            <a:ext cx="53035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coded loan_status → binary: 0 = paid, 1 = default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346704"/>
            <a:ext cx="502920" cy="5029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3392424"/>
            <a:ext cx="5029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3364992"/>
            <a:ext cx="3200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Parsed text fields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3621024"/>
            <a:ext cx="53035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"13.5%" → 13.5, "36 months" → 36, "10+ years" → 10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4005072"/>
            <a:ext cx="502920" cy="5029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4050791"/>
            <a:ext cx="5029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4023359"/>
            <a:ext cx="3200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Label-encoded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4279392"/>
            <a:ext cx="53035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grade, home_ownership, purpose → numeric values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4663440"/>
            <a:ext cx="502920" cy="5029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4709159"/>
            <a:ext cx="5029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" y="4681727"/>
            <a:ext cx="3200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Removed outliers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" y="4937759"/>
            <a:ext cx="53035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cut top/bottom 1% of income, loan amount, revolving balance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5321808"/>
            <a:ext cx="502920" cy="5029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5760" y="5367528"/>
            <a:ext cx="5029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" y="5340096"/>
            <a:ext cx="3200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Dropped NaN rows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" y="5596128"/>
            <a:ext cx="53035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listwise deletion for complete-case analysis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675120" y="1371600"/>
            <a:ext cx="5029200" cy="1554480"/>
          </a:xfrm>
          <a:prstGeom prst="rect">
            <a:avLst/>
          </a:prstGeom>
          <a:solidFill>
            <a:srgbClr val="1A2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58000" y="141732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 i="0">
                <a:solidFill>
                  <a:srgbClr val="CBD5E1"/>
                </a:solidFill>
                <a:latin typeface="Calibri"/>
              </a:rPr>
              <a:t>Before  →  After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0" y="1783080"/>
            <a:ext cx="21031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200" b="1" i="0">
                <a:solidFill>
                  <a:srgbClr val="CBD5E1"/>
                </a:solidFill>
                <a:latin typeface="Calibri"/>
              </a:rPr>
              <a:t>500K × 151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52560" y="1783080"/>
            <a:ext cx="7315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200" b="1" i="0">
                <a:solidFill>
                  <a:srgbClr val="2563EB"/>
                </a:solidFill>
                <a:latin typeface="Calibri"/>
              </a:rPr>
              <a:t>→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01200" y="1783080"/>
            <a:ext cx="192024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292K × 76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675120" y="3108960"/>
            <a:ext cx="5029200" cy="1280160"/>
          </a:xfrm>
          <a:prstGeom prst="rect">
            <a:avLst/>
          </a:prstGeom>
          <a:solidFill>
            <a:srgbClr val="1A17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839712" y="3246120"/>
            <a:ext cx="4754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F59E0B"/>
                </a:solidFill>
                <a:latin typeface="Calibri"/>
              </a:rPr>
              <a:t>⚖️  Class Imbalance Handling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39712" y="3584448"/>
            <a:ext cx="4754880" cy="777239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79% good loans vs 21% defaults. We balanced training at 2:1 ratio (undersampling) so the model learns real patterns — not just 'always predict good.'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675120" y="4526280"/>
            <a:ext cx="5029200" cy="1280160"/>
          </a:xfrm>
          <a:prstGeom prst="rect">
            <a:avLst/>
          </a:prstGeom>
          <a:solidFill>
            <a:srgbClr val="101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839712" y="4663440"/>
            <a:ext cx="4754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10B981"/>
                </a:solidFill>
                <a:latin typeface="Calibri"/>
              </a:rPr>
              <a:t>📏  Z-Score Standardization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39712" y="5001768"/>
            <a:ext cx="4754880" cy="777239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All features scaled to mean=0, std=1 so dollar amounts don't overpower year-based variables. Required before LDA and Logistic Regression.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247120" y="6537960"/>
            <a:ext cx="914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900" b="0" i="0">
                <a:solidFill>
                  <a:srgbClr val="334155"/>
                </a:solidFill>
                <a:latin typeface="Calibri"/>
              </a:rPr>
              <a:t>5 / 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09360"/>
            <a:ext cx="12188952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7315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60A5FA"/>
                </a:solidFill>
                <a:latin typeface="Calibri"/>
              </a:rPr>
              <a:t>INTERDEPENDENCE TECHNIQUE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109728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Factor Analysis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71600"/>
            <a:ext cx="5486400" cy="1188720"/>
          </a:xfrm>
          <a:prstGeom prst="rect">
            <a:avLst/>
          </a:prstGeom>
          <a:solidFill>
            <a:srgbClr val="1A2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1508760"/>
            <a:ext cx="52120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60A5FA"/>
                </a:solidFill>
                <a:latin typeface="Calibri"/>
              </a:rPr>
              <a:t>🔍  What It Does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847088"/>
            <a:ext cx="5212080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Groups many correlated variables into a smaller number of hidden (latent) FACTORS. No outcome variable — purely about structure in the data.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697480"/>
            <a:ext cx="5486400" cy="1371600"/>
          </a:xfrm>
          <a:prstGeom prst="rect">
            <a:avLst/>
          </a:prstGeom>
          <a:solidFill>
            <a:srgbClr val="1A17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" y="2834640"/>
            <a:ext cx="52120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F59E0B"/>
                </a:solidFill>
                <a:latin typeface="Calibri"/>
              </a:rPr>
              <a:t>💡  The Analogy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3172968"/>
            <a:ext cx="5212080" cy="8686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You can't measure 'intelligence' directly — but you see it reflected in test scores across math, reading, and logic. FA finds that hidden dimension automatically.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4206240"/>
            <a:ext cx="5486400" cy="1188720"/>
          </a:xfrm>
          <a:prstGeom prst="rect">
            <a:avLst/>
          </a:prstGeom>
          <a:solidFill>
            <a:srgbClr val="101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0352" y="4343400"/>
            <a:ext cx="52120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10B981"/>
                </a:solidFill>
                <a:latin typeface="Calibri"/>
              </a:rPr>
              <a:t>✅  Bartlett's Test — PASSED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4681727"/>
            <a:ext cx="5212080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χ² = 657,867   |   p &lt; 0.001
Variables are significantly correlated. FA is appropriate.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1280160"/>
            <a:ext cx="53035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60A5FA"/>
                </a:solidFill>
                <a:latin typeface="Calibri"/>
              </a:rPr>
              <a:t>The 6 Factors Found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5486400"/>
            <a:ext cx="3657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CBD5E1"/>
                </a:solidFill>
                <a:latin typeface="Calibri"/>
              </a:rPr>
              <a:t>TOTAL VARIANCE EXPLAINED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5806440"/>
            <a:ext cx="36576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000" b="1" i="0">
                <a:solidFill>
                  <a:srgbClr val="10B981"/>
                </a:solidFill>
                <a:latin typeface="Calibri"/>
              </a:rPr>
              <a:t>56.5%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60" y="1737360"/>
            <a:ext cx="5394960" cy="548640"/>
          </a:xfrm>
          <a:prstGeom prst="rect">
            <a:avLst/>
          </a:prstGeom>
          <a:solidFill>
            <a:srgbClr val="1A2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1828800"/>
            <a:ext cx="548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2563EB"/>
                </a:solidFill>
                <a:latin typeface="Calibri"/>
              </a:rPr>
              <a:t>F1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0880" y="1828800"/>
            <a:ext cx="34747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Loan Size &amp; Cost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0" y="1828800"/>
            <a:ext cx="10972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300" b="1" i="0">
                <a:solidFill>
                  <a:srgbClr val="F59E0B"/>
                </a:solidFill>
                <a:latin typeface="Calibri"/>
              </a:rPr>
              <a:t>14.6%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60" y="2331720"/>
            <a:ext cx="5394960" cy="548640"/>
          </a:xfrm>
          <a:prstGeom prst="rect">
            <a:avLst/>
          </a:prstGeom>
          <a:solidFill>
            <a:srgbClr val="10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2423160"/>
            <a:ext cx="548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2563EB"/>
                </a:solidFill>
                <a:latin typeface="Calibri"/>
              </a:rPr>
              <a:t>F2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80" y="2423160"/>
            <a:ext cx="34747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Credit Risk Pricing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0" y="2423160"/>
            <a:ext cx="10972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300" b="1" i="0">
                <a:solidFill>
                  <a:srgbClr val="F59E0B"/>
                </a:solidFill>
                <a:latin typeface="Calibri"/>
              </a:rPr>
              <a:t>13.7%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09360" y="2926080"/>
            <a:ext cx="5394960" cy="548640"/>
          </a:xfrm>
          <a:prstGeom prst="rect">
            <a:avLst/>
          </a:prstGeom>
          <a:solidFill>
            <a:srgbClr val="1A2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46520" y="3017520"/>
            <a:ext cx="548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2563EB"/>
                </a:solidFill>
                <a:latin typeface="Calibri"/>
              </a:rPr>
              <a:t>F3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40880" y="3017520"/>
            <a:ext cx="34747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Credit Utilization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0" y="3017520"/>
            <a:ext cx="10972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300" b="1" i="0">
                <a:solidFill>
                  <a:srgbClr val="F59E0B"/>
                </a:solidFill>
                <a:latin typeface="Calibri"/>
              </a:rPr>
              <a:t>10.0%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09360" y="3520440"/>
            <a:ext cx="5394960" cy="548640"/>
          </a:xfrm>
          <a:prstGeom prst="rect">
            <a:avLst/>
          </a:prstGeom>
          <a:solidFill>
            <a:srgbClr val="10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46520" y="3611880"/>
            <a:ext cx="548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2563EB"/>
                </a:solidFill>
                <a:latin typeface="Calibri"/>
              </a:rPr>
              <a:t>F4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0880" y="3611880"/>
            <a:ext cx="34747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Credit Breadth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0" y="3611880"/>
            <a:ext cx="10972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300" b="1" i="0">
                <a:solidFill>
                  <a:srgbClr val="F59E0B"/>
                </a:solidFill>
                <a:latin typeface="Calibri"/>
              </a:rPr>
              <a:t>9.4%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09360" y="4114800"/>
            <a:ext cx="5394960" cy="548640"/>
          </a:xfrm>
          <a:prstGeom prst="rect">
            <a:avLst/>
          </a:prstGeom>
          <a:solidFill>
            <a:srgbClr val="1A2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46520" y="4206240"/>
            <a:ext cx="548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2563EB"/>
                </a:solidFill>
                <a:latin typeface="Calibri"/>
              </a:rPr>
              <a:t>F5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40880" y="4206240"/>
            <a:ext cx="34747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Credit Limit Stress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0" y="4206240"/>
            <a:ext cx="10972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300" b="1" i="0">
                <a:solidFill>
                  <a:srgbClr val="F59E0B"/>
                </a:solidFill>
                <a:latin typeface="Calibri"/>
              </a:rPr>
              <a:t>3.9%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309360" y="4709160"/>
            <a:ext cx="5394960" cy="548640"/>
          </a:xfrm>
          <a:prstGeom prst="rect">
            <a:avLst/>
          </a:prstGeom>
          <a:solidFill>
            <a:srgbClr val="10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46520" y="4800600"/>
            <a:ext cx="548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2563EB"/>
                </a:solidFill>
                <a:latin typeface="Calibri"/>
              </a:rPr>
              <a:t>F6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040880" y="4800600"/>
            <a:ext cx="34747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Wealth &amp; Assets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15600" y="4800600"/>
            <a:ext cx="10972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300" b="1" i="0">
                <a:solidFill>
                  <a:srgbClr val="F59E0B"/>
                </a:solidFill>
                <a:latin typeface="Calibri"/>
              </a:rPr>
              <a:t>4.8%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247120" y="6537960"/>
            <a:ext cx="914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900" b="0" i="0">
                <a:solidFill>
                  <a:srgbClr val="334155"/>
                </a:solidFill>
                <a:latin typeface="Calibri"/>
              </a:rPr>
              <a:t>6 / 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09360"/>
            <a:ext cx="12188952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7315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60A5FA"/>
                </a:solidFill>
                <a:latin typeface="Calibri"/>
              </a:rPr>
              <a:t>INTERDEPENDENCE TECHNIQUE ·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109728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Factor Analysis — Visual Results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371600"/>
            <a:ext cx="5486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60A5FA"/>
                </a:solidFill>
                <a:latin typeface="Calibri"/>
              </a:rPr>
              <a:t>Scree Plot — How Many Factors?</a:t>
            </a:r>
          </a:p>
        </p:txBody>
      </p:sp>
      <p:pic>
        <p:nvPicPr>
          <p:cNvPr id="7" name="Picture 6" descr="fa_scree_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783080"/>
            <a:ext cx="5486400" cy="3048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309360" y="1371600"/>
            <a:ext cx="5486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60A5FA"/>
                </a:solidFill>
                <a:latin typeface="Calibri"/>
              </a:rPr>
              <a:t>Factor Loadings Heatmap</a:t>
            </a:r>
          </a:p>
        </p:txBody>
      </p:sp>
      <p:pic>
        <p:nvPicPr>
          <p:cNvPr id="9" name="Picture 8" descr="fa_loadings_heat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783080"/>
            <a:ext cx="5303520" cy="165735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65760" y="5989320"/>
            <a:ext cx="5303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1">
                <a:solidFill>
                  <a:srgbClr val="CBD5E1"/>
                </a:solidFill>
                <a:latin typeface="Calibri"/>
              </a:rPr>
              <a:t>The 'elbow' at factor 6 confirms we keep 6 factors (eigenvalue &gt; 1).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5989320"/>
            <a:ext cx="5303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1">
                <a:solidFill>
                  <a:srgbClr val="CBD5E1"/>
                </a:solidFill>
                <a:latin typeface="Calibri"/>
              </a:rPr>
              <a:t>Dark blue = strong positive loading. Dark red = strong negative loading.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0" y="6537960"/>
            <a:ext cx="914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900" b="0" i="0">
                <a:solidFill>
                  <a:srgbClr val="334155"/>
                </a:solidFill>
                <a:latin typeface="Calibri"/>
              </a:rPr>
              <a:t>7 / 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09360"/>
            <a:ext cx="12188952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7315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60A5FA"/>
                </a:solidFill>
                <a:latin typeface="Calibri"/>
              </a:rPr>
              <a:t>DEPENDENCE TECHNIQUE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109728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Linear Discriminant Analysis (LDA)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71600"/>
            <a:ext cx="5303520" cy="1280160"/>
          </a:xfrm>
          <a:prstGeom prst="rect">
            <a:avLst/>
          </a:prstGeom>
          <a:solidFill>
            <a:srgbClr val="1A2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1508760"/>
            <a:ext cx="5029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60A5FA"/>
                </a:solidFill>
                <a:latin typeface="Calibri"/>
              </a:rPr>
              <a:t>🎯  What It Does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847088"/>
            <a:ext cx="5029200" cy="777239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Finds the linear combination of variables that MAXIMALLY SEPARATES two groups — Good Borrowers vs. Defaulters. Produces one 'discriminant score' per borrower.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788920"/>
            <a:ext cx="5303520" cy="1280160"/>
          </a:xfrm>
          <a:prstGeom prst="rect">
            <a:avLst/>
          </a:prstGeom>
          <a:solidFill>
            <a:srgbClr val="1A17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" y="2926079"/>
            <a:ext cx="5029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F59E0B"/>
                </a:solidFill>
                <a:latin typeface="Calibri"/>
              </a:rPr>
              <a:t>💡  The Intuition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3264408"/>
            <a:ext cx="5029200" cy="777239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All borrowers are dots in a multi-dimensional space. LDA finds the single direction where the blue (good) and red (default) groups overlap as little as possible.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4206240"/>
            <a:ext cx="53035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60A5FA"/>
                </a:solidFill>
                <a:latin typeface="Calibri"/>
              </a:rPr>
              <a:t>Assumptions: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457200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>
                <a:solidFill>
                  <a:srgbClr val="2563EB"/>
                </a:solidFill>
                <a:latin typeface="Calibri"/>
              </a:rPr>
              <a:t>▸  </a:t>
            </a:r>
            <a:r>
              <a:rPr sz="1200">
                <a:solidFill>
                  <a:srgbClr val="CBD5E1"/>
                </a:solidFill>
                <a:latin typeface="Calibri"/>
              </a:rPr>
              <a:t>Variables roughly normally distributed within each class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2563EB"/>
                </a:solidFill>
                <a:latin typeface="Calibri"/>
              </a:rPr>
              <a:t>▸  </a:t>
            </a:r>
            <a:r>
              <a:rPr sz="1200">
                <a:solidFill>
                  <a:srgbClr val="CBD5E1"/>
                </a:solidFill>
                <a:latin typeface="Calibri"/>
              </a:rPr>
              <a:t>Equal covariance matrices across both classes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2563EB"/>
                </a:solidFill>
                <a:latin typeface="Calibri"/>
              </a:rPr>
              <a:t>▸  </a:t>
            </a:r>
            <a:r>
              <a:rPr sz="1200">
                <a:solidFill>
                  <a:srgbClr val="CBD5E1"/>
                </a:solidFill>
                <a:latin typeface="Calibri"/>
              </a:rPr>
              <a:t>Linear boundary between the two groups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1371600"/>
            <a:ext cx="5486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60A5FA"/>
                </a:solidFill>
                <a:latin typeface="Calibri"/>
              </a:rPr>
              <a:t>LDA Projection — Class Separation</a:t>
            </a:r>
          </a:p>
        </p:txBody>
      </p:sp>
      <p:pic>
        <p:nvPicPr>
          <p:cNvPr id="15" name="Picture 14" descr="lda_proj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783080"/>
            <a:ext cx="5486400" cy="30480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309360" y="5943600"/>
            <a:ext cx="5303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1">
                <a:solidFill>
                  <a:srgbClr val="CBD5E1"/>
                </a:solidFill>
                <a:latin typeface="Calibri"/>
              </a:rPr>
              <a:t>Two peaks = two classes. Less overlap = better model.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47120" y="6537960"/>
            <a:ext cx="914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900" b="0" i="0">
                <a:solidFill>
                  <a:srgbClr val="334155"/>
                </a:solidFill>
                <a:latin typeface="Calibri"/>
              </a:rPr>
              <a:t>8 / 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09360"/>
            <a:ext cx="12188952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7315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60A5FA"/>
                </a:solidFill>
                <a:latin typeface="Calibri"/>
              </a:rPr>
              <a:t>DEPENDENCE TECHNIQUE 1 ·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109728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LDA — Performance Results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71600"/>
            <a:ext cx="2560320" cy="1371600"/>
          </a:xfrm>
          <a:prstGeom prst="rect">
            <a:avLst/>
          </a:prstGeom>
          <a:solidFill>
            <a:srgbClr val="1A2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463040"/>
            <a:ext cx="2377440" cy="7772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3600" b="1" i="0">
                <a:solidFill>
                  <a:srgbClr val="2563EB"/>
                </a:solidFill>
                <a:latin typeface="Calibri"/>
              </a:rPr>
              <a:t>97.3%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94560"/>
            <a:ext cx="23774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 i="0">
                <a:solidFill>
                  <a:srgbClr val="CBD5E1"/>
                </a:solidFill>
                <a:latin typeface="Calibri"/>
              </a:rPr>
              <a:t>Accuracy</a:t>
            </a:r>
          </a:p>
        </p:txBody>
      </p:sp>
      <p:sp>
        <p:nvSpPr>
          <p:cNvPr id="9" name="Rectangle 8"/>
          <p:cNvSpPr/>
          <p:nvPr/>
        </p:nvSpPr>
        <p:spPr>
          <a:xfrm>
            <a:off x="3108960" y="1371600"/>
            <a:ext cx="2560320" cy="1371600"/>
          </a:xfrm>
          <a:prstGeom prst="rect">
            <a:avLst/>
          </a:prstGeom>
          <a:solidFill>
            <a:srgbClr val="1A2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0" y="1463040"/>
            <a:ext cx="2377440" cy="7772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3600" b="1" i="0">
                <a:solidFill>
                  <a:srgbClr val="10B981"/>
                </a:solidFill>
                <a:latin typeface="Calibri"/>
              </a:rPr>
              <a:t>0.997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2194560"/>
            <a:ext cx="23774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 i="0">
                <a:solidFill>
                  <a:srgbClr val="CBD5E1"/>
                </a:solidFill>
                <a:latin typeface="Calibri"/>
              </a:rPr>
              <a:t>AUC-ROC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52160" y="1371600"/>
            <a:ext cx="2560320" cy="1371600"/>
          </a:xfrm>
          <a:prstGeom prst="rect">
            <a:avLst/>
          </a:prstGeom>
          <a:solidFill>
            <a:srgbClr val="1A2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0" y="1463040"/>
            <a:ext cx="2377440" cy="7772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3600" b="1" i="0">
                <a:solidFill>
                  <a:srgbClr val="F59E0B"/>
                </a:solidFill>
                <a:latin typeface="Calibri"/>
              </a:rPr>
              <a:t>0.975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2194560"/>
            <a:ext cx="23774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 i="0">
                <a:solidFill>
                  <a:srgbClr val="CBD5E1"/>
                </a:solidFill>
                <a:latin typeface="Calibri"/>
              </a:rPr>
              <a:t>Precision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595360" y="1371600"/>
            <a:ext cx="2560320" cy="1371600"/>
          </a:xfrm>
          <a:prstGeom prst="rect">
            <a:avLst/>
          </a:prstGeom>
          <a:solidFill>
            <a:srgbClr val="1A2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0" y="1463040"/>
            <a:ext cx="2377440" cy="7772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3600" b="1" i="0">
                <a:solidFill>
                  <a:srgbClr val="60A5FA"/>
                </a:solidFill>
                <a:latin typeface="Calibri"/>
              </a:rPr>
              <a:t>0.960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0" y="2194560"/>
            <a:ext cx="23774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 i="0">
                <a:solidFill>
                  <a:srgbClr val="CBD5E1"/>
                </a:solidFill>
                <a:latin typeface="Calibri"/>
              </a:rPr>
              <a:t>F1-Score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3108960"/>
            <a:ext cx="5486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60A5FA"/>
                </a:solidFill>
                <a:latin typeface="Calibri"/>
              </a:rPr>
              <a:t>Top Discriminant Variables: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352044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>
                <a:solidFill>
                  <a:srgbClr val="2563EB"/>
                </a:solidFill>
                <a:latin typeface="Calibri"/>
              </a:rPr>
              <a:t>▸  </a:t>
            </a:r>
            <a:r>
              <a:rPr sz="1200">
                <a:solidFill>
                  <a:srgbClr val="CBD5E1"/>
                </a:solidFill>
                <a:latin typeface="Calibri"/>
              </a:rPr>
              <a:t>FICO Score — single most powerful separator between classes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2563EB"/>
                </a:solidFill>
                <a:latin typeface="Calibri"/>
              </a:rPr>
              <a:t>▸  </a:t>
            </a:r>
            <a:r>
              <a:rPr sz="1200">
                <a:solidFill>
                  <a:srgbClr val="CBD5E1"/>
                </a:solidFill>
                <a:latin typeface="Calibri"/>
              </a:rPr>
              <a:t>Interest Rate — encodes the lender's risk assessment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2563EB"/>
                </a:solidFill>
                <a:latin typeface="Calibri"/>
              </a:rPr>
              <a:t>▸  </a:t>
            </a:r>
            <a:r>
              <a:rPr sz="1200">
                <a:solidFill>
                  <a:srgbClr val="CBD5E1"/>
                </a:solidFill>
                <a:latin typeface="Calibri"/>
              </a:rPr>
              <a:t>Debt Settlement Flag — red flag indicating financial distress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2563EB"/>
                </a:solidFill>
                <a:latin typeface="Calibri"/>
              </a:rPr>
              <a:t>▸  </a:t>
            </a:r>
            <a:r>
              <a:rPr sz="1200">
                <a:solidFill>
                  <a:srgbClr val="CBD5E1"/>
                </a:solidFill>
                <a:latin typeface="Calibri"/>
              </a:rPr>
              <a:t>Installment Amount — higher monthly burden = more risk</a:t>
            </a:r>
          </a:p>
        </p:txBody>
      </p:sp>
      <p:pic>
        <p:nvPicPr>
          <p:cNvPr id="20" name="Picture 19" descr="lda_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926080"/>
            <a:ext cx="5303520" cy="4242816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400800" y="2743200"/>
            <a:ext cx="53035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60A5FA"/>
                </a:solidFill>
                <a:latin typeface="Calibri"/>
              </a:rPr>
              <a:t>Confusion Matrix — Diagonal = Correct Predictions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47120" y="6537960"/>
            <a:ext cx="914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900" b="0" i="0">
                <a:solidFill>
                  <a:srgbClr val="334155"/>
                </a:solidFill>
                <a:latin typeface="Calibri"/>
              </a:rPr>
              <a:t>9 / 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09360"/>
            <a:ext cx="12188952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7315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60A5FA"/>
                </a:solidFill>
                <a:latin typeface="Calibri"/>
              </a:rPr>
              <a:t>DEPENDENCE TECHNIQUE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109728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Logistic Regression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71600"/>
            <a:ext cx="5486400" cy="1280160"/>
          </a:xfrm>
          <a:prstGeom prst="rect">
            <a:avLst/>
          </a:prstGeom>
          <a:solidFill>
            <a:srgbClr val="1A2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1508760"/>
            <a:ext cx="52120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60A5FA"/>
                </a:solidFill>
                <a:latin typeface="Calibri"/>
              </a:rPr>
              <a:t>📊  What It Does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847088"/>
            <a:ext cx="5212080" cy="777239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Predicts the PROBABILITY of default — a number between 0% and 100%. Uses the sigmoid (S-shaped) function. If probability &gt; 50% → predict Default.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834640"/>
            <a:ext cx="5486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60A5FA"/>
                </a:solidFill>
                <a:latin typeface="Calibri"/>
              </a:rPr>
              <a:t>LDA  vs  Logistic Regression: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3291840"/>
            <a:ext cx="2560320" cy="47548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971800" y="3291840"/>
            <a:ext cx="2834640" cy="47548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3383280"/>
            <a:ext cx="23774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LDA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63240" y="3383280"/>
            <a:ext cx="25603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Logistic Regression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794760"/>
            <a:ext cx="2560320" cy="475488"/>
          </a:xfrm>
          <a:prstGeom prst="rect">
            <a:avLst/>
          </a:prstGeom>
          <a:solidFill>
            <a:srgbClr val="1A2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971800" y="3794760"/>
            <a:ext cx="2834640" cy="475488"/>
          </a:xfrm>
          <a:prstGeom prst="rect">
            <a:avLst/>
          </a:prstGeom>
          <a:solidFill>
            <a:srgbClr val="1A2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3886200"/>
            <a:ext cx="23774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Assumes normality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63240" y="3886200"/>
            <a:ext cx="25603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No distribution assumption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4297680"/>
            <a:ext cx="2560320" cy="475488"/>
          </a:xfrm>
          <a:prstGeom prst="rect">
            <a:avLst/>
          </a:prstGeom>
          <a:solidFill>
            <a:srgbClr val="10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971800" y="4297680"/>
            <a:ext cx="2834640" cy="475488"/>
          </a:xfrm>
          <a:prstGeom prst="rect">
            <a:avLst/>
          </a:prstGeom>
          <a:solidFill>
            <a:srgbClr val="10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4389120"/>
            <a:ext cx="23774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Maximizes class separation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63240" y="4389120"/>
            <a:ext cx="25603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Maximizes likelihood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4800600"/>
            <a:ext cx="2560320" cy="475488"/>
          </a:xfrm>
          <a:prstGeom prst="rect">
            <a:avLst/>
          </a:prstGeom>
          <a:solidFill>
            <a:srgbClr val="1A2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971800" y="4800600"/>
            <a:ext cx="2834640" cy="475488"/>
          </a:xfrm>
          <a:prstGeom prst="rect">
            <a:avLst/>
          </a:prstGeom>
          <a:solidFill>
            <a:srgbClr val="1A2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4892040"/>
            <a:ext cx="23774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Outputs discriminant score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63240" y="4892040"/>
            <a:ext cx="25603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Outputs probability (0–1)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5257800"/>
            <a:ext cx="5486400" cy="1005840"/>
          </a:xfrm>
          <a:prstGeom prst="rect">
            <a:avLst/>
          </a:prstGeom>
          <a:solidFill>
            <a:srgbClr val="101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30352" y="5394960"/>
            <a:ext cx="52120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10B981"/>
                </a:solidFill>
                <a:latin typeface="Calibri"/>
              </a:rPr>
              <a:t>✅  Why LR Wins Here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0352" y="5733288"/>
            <a:ext cx="521208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Financial variables are NOT normally distributed — incomes and balances are right-skewed. LR's weaker assumptions make it more robust and it outperforms LDA.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60" y="1371600"/>
            <a:ext cx="5486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60A5FA"/>
                </a:solidFill>
                <a:latin typeface="Calibri"/>
              </a:rPr>
              <a:t>Top Coefficients — What Drives Default?</a:t>
            </a:r>
          </a:p>
        </p:txBody>
      </p:sp>
      <p:pic>
        <p:nvPicPr>
          <p:cNvPr id="30" name="Picture 29" descr="lr_coeffici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783080"/>
            <a:ext cx="5486400" cy="365760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6309360" y="5943600"/>
            <a:ext cx="5303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1">
                <a:solidFill>
                  <a:srgbClr val="CBD5E1"/>
                </a:solidFill>
                <a:latin typeface="Calibri"/>
              </a:rPr>
              <a:t>Blue = lowers default risk   |   Red = raises default risk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47120" y="6537960"/>
            <a:ext cx="914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900" b="0" i="0">
                <a:solidFill>
                  <a:srgbClr val="334155"/>
                </a:solidFill>
                <a:latin typeface="Calibri"/>
              </a:rPr>
              <a:t>10 / 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09360"/>
            <a:ext cx="12188952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7315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60A5FA"/>
                </a:solidFill>
                <a:latin typeface="Calibri"/>
              </a:rPr>
              <a:t>DEPENDENCE TECHNIQUE 2 ·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109728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Logistic Regression — Performance Results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71600"/>
            <a:ext cx="2560320" cy="1371600"/>
          </a:xfrm>
          <a:prstGeom prst="rect">
            <a:avLst/>
          </a:prstGeom>
          <a:solidFill>
            <a:srgbClr val="1A2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463040"/>
            <a:ext cx="2377440" cy="7772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3600" b="1" i="0">
                <a:solidFill>
                  <a:srgbClr val="2563EB"/>
                </a:solidFill>
                <a:latin typeface="Calibri"/>
              </a:rPr>
              <a:t>99.6%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94560"/>
            <a:ext cx="23774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 i="0">
                <a:solidFill>
                  <a:srgbClr val="CBD5E1"/>
                </a:solidFill>
                <a:latin typeface="Calibri"/>
              </a:rPr>
              <a:t>Accuracy</a:t>
            </a:r>
          </a:p>
        </p:txBody>
      </p:sp>
      <p:sp>
        <p:nvSpPr>
          <p:cNvPr id="9" name="Rectangle 8"/>
          <p:cNvSpPr/>
          <p:nvPr/>
        </p:nvSpPr>
        <p:spPr>
          <a:xfrm>
            <a:off x="3108960" y="1371600"/>
            <a:ext cx="2560320" cy="1371600"/>
          </a:xfrm>
          <a:prstGeom prst="rect">
            <a:avLst/>
          </a:prstGeom>
          <a:solidFill>
            <a:srgbClr val="1A2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0" y="1463040"/>
            <a:ext cx="2377440" cy="7772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3600" b="1" i="0">
                <a:solidFill>
                  <a:srgbClr val="10B981"/>
                </a:solidFill>
                <a:latin typeface="Calibri"/>
              </a:rPr>
              <a:t>0.9997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2194560"/>
            <a:ext cx="23774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 i="0">
                <a:solidFill>
                  <a:srgbClr val="CBD5E1"/>
                </a:solidFill>
                <a:latin typeface="Calibri"/>
              </a:rPr>
              <a:t>AUC-ROC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52160" y="1371600"/>
            <a:ext cx="2560320" cy="1371600"/>
          </a:xfrm>
          <a:prstGeom prst="rect">
            <a:avLst/>
          </a:prstGeom>
          <a:solidFill>
            <a:srgbClr val="1A2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0" y="1463040"/>
            <a:ext cx="2377440" cy="7772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3600" b="1" i="0">
                <a:solidFill>
                  <a:srgbClr val="F59E0B"/>
                </a:solidFill>
                <a:latin typeface="Calibri"/>
              </a:rPr>
              <a:t>0.998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2194560"/>
            <a:ext cx="23774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 i="0">
                <a:solidFill>
                  <a:srgbClr val="CBD5E1"/>
                </a:solidFill>
                <a:latin typeface="Calibri"/>
              </a:rPr>
              <a:t>Precision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595360" y="1371600"/>
            <a:ext cx="2560320" cy="1371600"/>
          </a:xfrm>
          <a:prstGeom prst="rect">
            <a:avLst/>
          </a:prstGeom>
          <a:solidFill>
            <a:srgbClr val="1A2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0" y="1463040"/>
            <a:ext cx="2377440" cy="7772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3600" b="1" i="0">
                <a:solidFill>
                  <a:srgbClr val="60A5FA"/>
                </a:solidFill>
                <a:latin typeface="Calibri"/>
              </a:rPr>
              <a:t>0.995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0" y="2194560"/>
            <a:ext cx="23774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 i="0">
                <a:solidFill>
                  <a:srgbClr val="CBD5E1"/>
                </a:solidFill>
                <a:latin typeface="Calibri"/>
              </a:rPr>
              <a:t>F1-Score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017520"/>
            <a:ext cx="5303520" cy="1188720"/>
          </a:xfrm>
          <a:prstGeom prst="rect">
            <a:avLst/>
          </a:prstGeom>
          <a:solidFill>
            <a:srgbClr val="1A17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0352" y="3154679"/>
            <a:ext cx="5029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F59E0B"/>
                </a:solidFill>
                <a:latin typeface="Calibri"/>
              </a:rPr>
              <a:t>⭐  LR Outperforms LDA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" y="3493008"/>
            <a:ext cx="5029200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LR beats LDA by +2.3% accuracy and +0.003 AUC. Consistent with theory: LDA's normality assumptions are violated by skewed financial data.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434340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>
                <a:solidFill>
                  <a:srgbClr val="2563EB"/>
                </a:solidFill>
                <a:latin typeface="Calibri"/>
              </a:rPr>
              <a:t>▸  </a:t>
            </a:r>
            <a:r>
              <a:rPr sz="1200">
                <a:solidFill>
                  <a:srgbClr val="CBD5E1"/>
                </a:solidFill>
                <a:latin typeface="Calibri"/>
              </a:rPr>
              <a:t>Precision 1.00 on defaults — almost zero false alarms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2563EB"/>
                </a:solidFill>
                <a:latin typeface="Calibri"/>
              </a:rPr>
              <a:t>▸  </a:t>
            </a:r>
            <a:r>
              <a:rPr sz="1200">
                <a:solidFill>
                  <a:srgbClr val="CBD5E1"/>
                </a:solidFill>
                <a:latin typeface="Calibri"/>
              </a:rPr>
              <a:t>Recall 0.99 on defaults — almost zero missed defaults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2563EB"/>
                </a:solidFill>
                <a:latin typeface="Calibri"/>
              </a:rPr>
              <a:t>▸  </a:t>
            </a:r>
            <a:r>
              <a:rPr sz="1200">
                <a:solidFill>
                  <a:srgbClr val="CBD5E1"/>
                </a:solidFill>
                <a:latin typeface="Calibri"/>
              </a:rPr>
              <a:t>F1-Score 0.99 — excellent balance of precision and recall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2563EB"/>
                </a:solidFill>
                <a:latin typeface="Calibri"/>
              </a:rPr>
              <a:t>▸  </a:t>
            </a:r>
            <a:r>
              <a:rPr sz="1200">
                <a:solidFill>
                  <a:srgbClr val="CBD5E1"/>
                </a:solidFill>
                <a:latin typeface="Calibri"/>
              </a:rPr>
              <a:t>AUC = 0.9997 — near-perfect discriminative ability</a:t>
            </a:r>
          </a:p>
        </p:txBody>
      </p:sp>
      <p:pic>
        <p:nvPicPr>
          <p:cNvPr id="22" name="Picture 21" descr="lr_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926080"/>
            <a:ext cx="5303520" cy="4242816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400800" y="2743200"/>
            <a:ext cx="53035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60A5FA"/>
                </a:solidFill>
                <a:latin typeface="Calibri"/>
              </a:rPr>
              <a:t>Confusion Matrix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47120" y="6537960"/>
            <a:ext cx="914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900" b="0" i="0">
                <a:solidFill>
                  <a:srgbClr val="334155"/>
                </a:solidFill>
                <a:latin typeface="Calibri"/>
              </a:rPr>
              <a:t>11 / 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09360"/>
            <a:ext cx="12188952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7315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60A5FA"/>
                </a:solidFill>
                <a:latin typeface="Calibri"/>
              </a:rPr>
              <a:t>MODEL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109728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LDA vs Logistic Regression — ROC Comparison</a:t>
            </a:r>
          </a:p>
        </p:txBody>
      </p:sp>
      <p:pic>
        <p:nvPicPr>
          <p:cNvPr id="6" name="Picture 5" descr="roc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71600"/>
            <a:ext cx="5943600" cy="4245429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492240" y="1371600"/>
            <a:ext cx="5303520" cy="1280160"/>
          </a:xfrm>
          <a:prstGeom prst="rect">
            <a:avLst/>
          </a:prstGeom>
          <a:solidFill>
            <a:srgbClr val="1A2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56831" y="1508760"/>
            <a:ext cx="5029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60A5FA"/>
                </a:solidFill>
                <a:latin typeface="Calibri"/>
              </a:rPr>
              <a:t>📈  What Is the ROC Curve?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56831" y="1847088"/>
            <a:ext cx="5029200" cy="777239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Plots True Positive Rate (catching actual defaults) vs. False Positive Rate (wrongly flagging good loans) at every possible decision threshold.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834640"/>
            <a:ext cx="5303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60A5FA"/>
                </a:solidFill>
                <a:latin typeface="Calibri"/>
              </a:rPr>
              <a:t>Results Summary: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92240" y="3291840"/>
            <a:ext cx="5303520" cy="5303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3383280"/>
            <a:ext cx="2560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Model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0" y="3383280"/>
            <a:ext cx="1371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Accuracy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0" y="3383280"/>
            <a:ext cx="1371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AUC-ROC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92240" y="3858768"/>
            <a:ext cx="5303520" cy="530352"/>
          </a:xfrm>
          <a:prstGeom prst="rect">
            <a:avLst/>
          </a:prstGeom>
          <a:solidFill>
            <a:srgbClr val="1A2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3950207"/>
            <a:ext cx="2560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CBD5E1"/>
                </a:solidFill>
                <a:latin typeface="Calibri"/>
              </a:rPr>
              <a:t>LDA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0" y="3950207"/>
            <a:ext cx="1371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 i="0">
                <a:solidFill>
                  <a:srgbClr val="10B981"/>
                </a:solidFill>
                <a:latin typeface="Calibri"/>
              </a:rPr>
              <a:t>97.3%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3950207"/>
            <a:ext cx="1371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 i="0">
                <a:solidFill>
                  <a:srgbClr val="10B981"/>
                </a:solidFill>
                <a:latin typeface="Calibri"/>
              </a:rPr>
              <a:t>0.997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92240" y="4425696"/>
            <a:ext cx="5303520" cy="530352"/>
          </a:xfrm>
          <a:prstGeom prst="rect">
            <a:avLst/>
          </a:prstGeom>
          <a:solidFill>
            <a:srgbClr val="10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0" y="4517136"/>
            <a:ext cx="2560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CBD5E1"/>
                </a:solidFill>
                <a:latin typeface="Calibri"/>
              </a:rPr>
              <a:t>Logistic Regression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0" y="4517136"/>
            <a:ext cx="1371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 i="0">
                <a:solidFill>
                  <a:srgbClr val="10B981"/>
                </a:solidFill>
                <a:latin typeface="Calibri"/>
              </a:rPr>
              <a:t>99.6%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41280" y="4517136"/>
            <a:ext cx="1371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 i="0">
                <a:solidFill>
                  <a:srgbClr val="10B981"/>
                </a:solidFill>
                <a:latin typeface="Calibri"/>
              </a:rPr>
              <a:t>0.9997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92240" y="5166360"/>
            <a:ext cx="5303520" cy="1097280"/>
          </a:xfrm>
          <a:prstGeom prst="rect">
            <a:avLst/>
          </a:prstGeom>
          <a:solidFill>
            <a:srgbClr val="101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56831" y="5303520"/>
            <a:ext cx="5029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10B981"/>
                </a:solidFill>
                <a:latin typeface="Calibri"/>
              </a:rPr>
              <a:t>📐  AUC Interpretation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56831" y="5641848"/>
            <a:ext cx="5029200" cy="594359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AUC = 1.0 → perfect. AUC = 0.5 → random guessing.
Both models are at 0.997+ — exceptional discrimination.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47120" y="6537960"/>
            <a:ext cx="914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900" b="0" i="0">
                <a:solidFill>
                  <a:srgbClr val="334155"/>
                </a:solidFill>
                <a:latin typeface="Calibri"/>
              </a:rPr>
              <a:t>12 / 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09360"/>
            <a:ext cx="12188952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7315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60A5FA"/>
                </a:solidFill>
                <a:latin typeface="Calibri"/>
              </a:rPr>
              <a:t>★ INTERACTIVE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109728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000" b="1" i="0">
                <a:solidFill>
                  <a:srgbClr val="F59E0B"/>
                </a:solidFill>
                <a:latin typeface="Calibri"/>
              </a:rPr>
              <a:t>Live Credit Risk Predictor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112471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 i="0">
                <a:solidFill>
                  <a:srgbClr val="CBD5E1"/>
                </a:solidFill>
                <a:latin typeface="Calibri"/>
              </a:rPr>
              <a:t>Open the live web app to enter real loan values and get instant predictions from the trained model.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2011680"/>
            <a:ext cx="2743200" cy="3200400"/>
          </a:xfrm>
          <a:prstGeom prst="rect">
            <a:avLst/>
          </a:prstGeom>
          <a:solidFill>
            <a:srgbClr val="1A2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63040" y="2103120"/>
            <a:ext cx="7315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0" i="0">
                <a:solidFill>
                  <a:srgbClr val="FFFFFF"/>
                </a:solidFill>
                <a:latin typeface="Calibri"/>
              </a:rPr>
              <a:t>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834640"/>
            <a:ext cx="2560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 i="0">
                <a:solidFill>
                  <a:srgbClr val="10B981"/>
                </a:solidFill>
                <a:latin typeface="Calibri"/>
              </a:rPr>
              <a:t>Ideal Borrower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337560"/>
            <a:ext cx="2560320" cy="8229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 i="0">
                <a:solidFill>
                  <a:srgbClr val="CBD5E1"/>
                </a:solidFill>
                <a:latin typeface="Calibri"/>
              </a:rPr>
              <a:t>FICO 790 · Income $120K · DTI 8%
Revol Util 12% · Grade 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4297680"/>
            <a:ext cx="2377440" cy="5029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4343400"/>
            <a:ext cx="23774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1" i="0">
                <a:solidFill>
                  <a:srgbClr val="0D1B2E"/>
                </a:solidFill>
                <a:latin typeface="Calibri"/>
              </a:rPr>
              <a:t>Will Repay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37560" y="2011680"/>
            <a:ext cx="2743200" cy="3200400"/>
          </a:xfrm>
          <a:prstGeom prst="rect">
            <a:avLst/>
          </a:prstGeom>
          <a:solidFill>
            <a:srgbClr val="1A2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34840" y="2103120"/>
            <a:ext cx="7315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0" i="0">
                <a:solidFill>
                  <a:srgbClr val="FFFFFF"/>
                </a:solidFill>
                <a:latin typeface="Calibri"/>
              </a:rPr>
              <a:t>⚖️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9000" y="2834640"/>
            <a:ext cx="2560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 i="0">
                <a:solidFill>
                  <a:srgbClr val="60A5FA"/>
                </a:solidFill>
                <a:latin typeface="Calibri"/>
              </a:rPr>
              <a:t>Average Borrower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29000" y="3337560"/>
            <a:ext cx="2560320" cy="8229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 i="0">
                <a:solidFill>
                  <a:srgbClr val="CBD5E1"/>
                </a:solidFill>
                <a:latin typeface="Calibri"/>
              </a:rPr>
              <a:t>FICO 700 · Income $65K · DTI 18%
Revol Util 45% · Grade C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20440" y="4297680"/>
            <a:ext cx="2377440" cy="50292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20440" y="4343400"/>
            <a:ext cx="23774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1" i="0">
                <a:solidFill>
                  <a:srgbClr val="0D1B2E"/>
                </a:solidFill>
                <a:latin typeface="Calibri"/>
              </a:rPr>
              <a:t>Will Repay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2011680"/>
            <a:ext cx="2743200" cy="3200400"/>
          </a:xfrm>
          <a:prstGeom prst="rect">
            <a:avLst/>
          </a:prstGeom>
          <a:solidFill>
            <a:srgbClr val="1A2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06640" y="2103120"/>
            <a:ext cx="7315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0" i="0">
                <a:solidFill>
                  <a:srgbClr val="FFFFFF"/>
                </a:solidFill>
                <a:latin typeface="Calibri"/>
              </a:rPr>
              <a:t>⚠️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2834640"/>
            <a:ext cx="2560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 i="0">
                <a:solidFill>
                  <a:srgbClr val="F59E0B"/>
                </a:solidFill>
                <a:latin typeface="Calibri"/>
              </a:rPr>
              <a:t>Risky Borrower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3337560"/>
            <a:ext cx="2560320" cy="8229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 i="0">
                <a:solidFill>
                  <a:srgbClr val="CBD5E1"/>
                </a:solidFill>
                <a:latin typeface="Calibri"/>
              </a:rPr>
              <a:t>FICO 620 · Income $42K · DTI 32%
Revol Util 78% · Grade 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92240" y="4297680"/>
            <a:ext cx="2377440" cy="5029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4343400"/>
            <a:ext cx="23774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1" i="0">
                <a:solidFill>
                  <a:srgbClr val="0D1B2E"/>
                </a:solidFill>
                <a:latin typeface="Calibri"/>
              </a:rPr>
              <a:t>Borderline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281160" y="2011680"/>
            <a:ext cx="2743200" cy="3200400"/>
          </a:xfrm>
          <a:prstGeom prst="rect">
            <a:avLst/>
          </a:prstGeom>
          <a:solidFill>
            <a:srgbClr val="1A2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378440" y="2103120"/>
            <a:ext cx="7315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0" i="0">
                <a:solidFill>
                  <a:srgbClr val="FFFFFF"/>
                </a:solidFill>
                <a:latin typeface="Calibri"/>
              </a:rPr>
              <a:t>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72600" y="2834640"/>
            <a:ext cx="2560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 i="0">
                <a:solidFill>
                  <a:srgbClr val="EF4444"/>
                </a:solidFill>
                <a:latin typeface="Calibri"/>
              </a:rPr>
              <a:t>Very High Risk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72600" y="3337560"/>
            <a:ext cx="2560320" cy="8229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 i="0">
                <a:solidFill>
                  <a:srgbClr val="CBD5E1"/>
                </a:solidFill>
                <a:latin typeface="Calibri"/>
              </a:rPr>
              <a:t>FICO 560 · Income $28K · DTI 40%
Revol Util 95% · Grade 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464040" y="4297680"/>
            <a:ext cx="2377440" cy="5029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464040" y="4343400"/>
            <a:ext cx="23774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1" i="0">
                <a:solidFill>
                  <a:srgbClr val="0D1B2E"/>
                </a:solidFill>
                <a:latin typeface="Calibri"/>
              </a:rPr>
              <a:t>Default Risk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5486400"/>
            <a:ext cx="5486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60A5FA"/>
                </a:solidFill>
                <a:latin typeface="Calibri"/>
              </a:rPr>
              <a:t>The live predictor (web app) lets you: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5852160"/>
            <a:ext cx="11247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>
                <a:solidFill>
                  <a:srgbClr val="2563EB"/>
                </a:solidFill>
                <a:latin typeface="Calibri"/>
              </a:rPr>
              <a:t>▸  </a:t>
            </a:r>
            <a:r>
              <a:rPr sz="1200">
                <a:solidFill>
                  <a:srgbClr val="CBD5E1"/>
                </a:solidFill>
                <a:latin typeface="Calibri"/>
              </a:rPr>
              <a:t>Switch between Logistic Regression and LDA with one click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2563EB"/>
                </a:solidFill>
                <a:latin typeface="Calibri"/>
              </a:rPr>
              <a:t>▸  </a:t>
            </a:r>
            <a:r>
              <a:rPr sz="1200">
                <a:solidFill>
                  <a:srgbClr val="CBD5E1"/>
                </a:solidFill>
                <a:latin typeface="Calibri"/>
              </a:rPr>
              <a:t>Enter any custom loan values across 15 variables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2563EB"/>
                </a:solidFill>
                <a:latin typeface="Calibri"/>
              </a:rPr>
              <a:t>▸  </a:t>
            </a:r>
            <a:r>
              <a:rPr sz="1200">
                <a:solidFill>
                  <a:srgbClr val="CBD5E1"/>
                </a:solidFill>
                <a:latin typeface="Calibri"/>
              </a:rPr>
              <a:t>See probability bars, risk tier, and top 3 risk drivers instantly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247120" y="6537960"/>
            <a:ext cx="914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900" b="0" i="0">
                <a:solidFill>
                  <a:srgbClr val="334155"/>
                </a:solidFill>
                <a:latin typeface="Calibri"/>
              </a:rPr>
              <a:t>13 / 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09360"/>
            <a:ext cx="12188952" cy="7315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7315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60A5FA"/>
                </a:solidFill>
                <a:latin typeface="Calibri"/>
              </a:rPr>
              <a:t>CRITICAL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109728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Key Limitation: Data Leakage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112471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CBD5E1"/>
                </a:solidFill>
                <a:latin typeface="Calibri"/>
              </a:rPr>
              <a:t>The full dataset models (97–99%) include variables only known AFTER the loan resolves.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828800"/>
            <a:ext cx="5303520" cy="640080"/>
          </a:xfrm>
          <a:prstGeom prst="rect">
            <a:avLst/>
          </a:prstGeom>
          <a:solidFill>
            <a:srgbClr val="1F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874519"/>
            <a:ext cx="49377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EF4444"/>
                </a:solidFill>
                <a:latin typeface="Calibri"/>
              </a:rPr>
              <a:t>🔴  total_rec_prncp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48840"/>
            <a:ext cx="49377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Total principal recovered — only exists after the loan ends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560320"/>
            <a:ext cx="5303520" cy="640080"/>
          </a:xfrm>
          <a:prstGeom prst="rect">
            <a:avLst/>
          </a:prstGeom>
          <a:solidFill>
            <a:srgbClr val="1F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606039"/>
            <a:ext cx="49377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EF4444"/>
                </a:solidFill>
                <a:latin typeface="Calibri"/>
              </a:rPr>
              <a:t>🔴  recoveries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880360"/>
            <a:ext cx="49377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Money recovered post-default — only populated IF there was a default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291840"/>
            <a:ext cx="5303520" cy="640080"/>
          </a:xfrm>
          <a:prstGeom prst="rect">
            <a:avLst/>
          </a:prstGeom>
          <a:solidFill>
            <a:srgbClr val="1F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337560"/>
            <a:ext cx="49377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EF4444"/>
                </a:solidFill>
                <a:latin typeface="Calibri"/>
              </a:rPr>
              <a:t>🔴  collection_recovery_fee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611880"/>
            <a:ext cx="49377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Fee charged to recover defaulted funds — post-event only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4023360"/>
            <a:ext cx="5303520" cy="640080"/>
          </a:xfrm>
          <a:prstGeom prst="rect">
            <a:avLst/>
          </a:prstGeom>
          <a:solidFill>
            <a:srgbClr val="1F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069080"/>
            <a:ext cx="49377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EF4444"/>
                </a:solidFill>
                <a:latin typeface="Calibri"/>
              </a:rPr>
              <a:t>🔴  last_pymnt_amnt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343400"/>
            <a:ext cx="49377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Last payment made — known only after payment history unfolds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0" y="1828800"/>
            <a:ext cx="5852160" cy="1371600"/>
          </a:xfrm>
          <a:prstGeom prst="rect">
            <a:avLst/>
          </a:prstGeom>
          <a:solidFill>
            <a:srgbClr val="1A17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08192" y="1965960"/>
            <a:ext cx="55778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F59E0B"/>
                </a:solidFill>
                <a:latin typeface="Calibri"/>
              </a:rPr>
              <a:t>💡  The Analogy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08192" y="2304288"/>
            <a:ext cx="5577840" cy="8686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Trying to predict if a student will fail — and using their final exam score as a predictor. Of course the model is perfect. You're using the answer to predict the answer.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43600" y="3337560"/>
            <a:ext cx="5852160" cy="1371600"/>
          </a:xfrm>
          <a:prstGeom prst="rect">
            <a:avLst/>
          </a:prstGeom>
          <a:solidFill>
            <a:srgbClr val="101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08192" y="3474720"/>
            <a:ext cx="55778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10B981"/>
                </a:solidFill>
                <a:latin typeface="Calibri"/>
              </a:rPr>
              <a:t>✅  Our Live Predictor Fixes This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08192" y="3813048"/>
            <a:ext cx="5577840" cy="8686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The interactive predictor uses ONLY 15 origination-time features — variables known at application time. That is why accuracy is ~71%, not 99%. Honest and realistic.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0" y="4846320"/>
            <a:ext cx="5852160" cy="1234440"/>
          </a:xfrm>
          <a:prstGeom prst="rect">
            <a:avLst/>
          </a:prstGeom>
          <a:solidFill>
            <a:srgbClr val="1A2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08192" y="4983480"/>
            <a:ext cx="55778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60A5FA"/>
                </a:solidFill>
                <a:latin typeface="Calibri"/>
              </a:rPr>
              <a:t>📚  What Real Banks Do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08192" y="5321808"/>
            <a:ext cx="557784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Only use application-time data · Must comply with ECOA &amp; fair lending laws · Models are audited for discriminatory patterns before deployment.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47120" y="6537960"/>
            <a:ext cx="914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900" b="0" i="0">
                <a:solidFill>
                  <a:srgbClr val="334155"/>
                </a:solidFill>
                <a:latin typeface="Calibri"/>
              </a:rPr>
              <a:t>14 / 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09360"/>
            <a:ext cx="12188952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7315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60A5FA"/>
                </a:solidFill>
                <a:latin typeface="Calibri"/>
              </a:rP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109728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Summary &amp; Takeaways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463040"/>
            <a:ext cx="3657600" cy="2103120"/>
          </a:xfrm>
          <a:prstGeom prst="rect">
            <a:avLst/>
          </a:prstGeom>
          <a:solidFill>
            <a:srgbClr val="1A2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737360" y="1554480"/>
            <a:ext cx="9144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400" b="0" i="0">
                <a:solidFill>
                  <a:srgbClr val="FFFFFF"/>
                </a:solidFill>
                <a:latin typeface="Calibri"/>
              </a:rPr>
              <a:t>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94560"/>
            <a:ext cx="34747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Real Data, Real Cleaning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51760"/>
            <a:ext cx="3474720" cy="8229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 i="0">
                <a:solidFill>
                  <a:srgbClr val="CBD5E1"/>
                </a:solidFill>
                <a:latin typeface="Calibri"/>
              </a:rPr>
              <a:t>500K messy records → 292K clean rows through a rigorous 7-step pipeline.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1463040"/>
            <a:ext cx="3657600" cy="2103120"/>
          </a:xfrm>
          <a:prstGeom prst="rect">
            <a:avLst/>
          </a:prstGeom>
          <a:solidFill>
            <a:srgbClr val="1A2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0" y="1554480"/>
            <a:ext cx="9144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400" b="0" i="0">
                <a:solidFill>
                  <a:srgbClr val="FFFFFF"/>
                </a:solidFill>
                <a:latin typeface="Calibri"/>
              </a:rPr>
              <a:t>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2194560"/>
            <a:ext cx="34747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Factor Analysis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2651760"/>
            <a:ext cx="3474720" cy="8229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 i="0">
                <a:solidFill>
                  <a:srgbClr val="CBD5E1"/>
                </a:solidFill>
                <a:latin typeface="Calibri"/>
              </a:rPr>
              <a:t>6 latent factors — Loan Cost, Risk Pricing, Utilization, Breadth, Stress, Wealth — explaining 56.5% of variance.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1463040"/>
            <a:ext cx="3657600" cy="2103120"/>
          </a:xfrm>
          <a:prstGeom prst="rect">
            <a:avLst/>
          </a:prstGeom>
          <a:solidFill>
            <a:srgbClr val="1A2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0" y="1554480"/>
            <a:ext cx="9144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400" b="0" i="0">
                <a:solidFill>
                  <a:srgbClr val="FFFFFF"/>
                </a:solidFill>
                <a:latin typeface="Calibri"/>
              </a:rPr>
              <a:t>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2194560"/>
            <a:ext cx="34747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 i="0">
                <a:solidFill>
                  <a:srgbClr val="2563EB"/>
                </a:solidFill>
                <a:latin typeface="Calibri"/>
              </a:rPr>
              <a:t>LDA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2651760"/>
            <a:ext cx="3474720" cy="8229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 i="0">
                <a:solidFill>
                  <a:srgbClr val="CBD5E1"/>
                </a:solidFill>
                <a:latin typeface="Calibri"/>
              </a:rPr>
              <a:t>Separated good from default borrowers: 97.3% accuracy, AUC = 0.997.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749039"/>
            <a:ext cx="3657600" cy="2103120"/>
          </a:xfrm>
          <a:prstGeom prst="rect">
            <a:avLst/>
          </a:prstGeom>
          <a:solidFill>
            <a:srgbClr val="1A2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737360" y="3840479"/>
            <a:ext cx="9144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400" b="0" i="0">
                <a:solidFill>
                  <a:srgbClr val="FFFFFF"/>
                </a:solidFill>
                <a:latin typeface="Calibri"/>
              </a:rPr>
              <a:t>📊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480559"/>
            <a:ext cx="34747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 i="0">
                <a:solidFill>
                  <a:srgbClr val="10B981"/>
                </a:solidFill>
                <a:latin typeface="Calibri"/>
              </a:rPr>
              <a:t>Logistic Regression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937759"/>
            <a:ext cx="3474720" cy="8229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 i="0">
                <a:solidFill>
                  <a:srgbClr val="CBD5E1"/>
                </a:solidFill>
                <a:latin typeface="Calibri"/>
              </a:rPr>
              <a:t>Outperformed LDA: 99.6% accuracy, AUC = 0.9997. Better fit for skewed financial data.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97680" y="3749039"/>
            <a:ext cx="3657600" cy="2103120"/>
          </a:xfrm>
          <a:prstGeom prst="rect">
            <a:avLst/>
          </a:prstGeom>
          <a:solidFill>
            <a:srgbClr val="1A2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69280" y="3840479"/>
            <a:ext cx="9144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400" b="0" i="0">
                <a:solidFill>
                  <a:srgbClr val="FFFFFF"/>
                </a:solidFill>
                <a:latin typeface="Calibri"/>
              </a:rPr>
              <a:t>⚠️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89120" y="4480559"/>
            <a:ext cx="34747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 i="0">
                <a:solidFill>
                  <a:srgbClr val="EF4444"/>
                </a:solidFill>
                <a:latin typeface="Calibri"/>
              </a:rPr>
              <a:t>Data Leakage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89120" y="4937759"/>
            <a:ext cx="3474720" cy="8229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 i="0">
                <a:solidFill>
                  <a:srgbClr val="CBD5E1"/>
                </a:solidFill>
                <a:latin typeface="Calibri"/>
              </a:rPr>
              <a:t>High full-model accuracy is partly due to post-outcome variables. Origination-only model gives honest ~71%.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0" y="3749039"/>
            <a:ext cx="3657600" cy="2103120"/>
          </a:xfrm>
          <a:prstGeom prst="rect">
            <a:avLst/>
          </a:prstGeom>
          <a:solidFill>
            <a:srgbClr val="1A2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01200" y="3840479"/>
            <a:ext cx="9144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400" b="0" i="0">
                <a:solidFill>
                  <a:srgbClr val="FFFFFF"/>
                </a:solidFill>
                <a:latin typeface="Calibri"/>
              </a:rPr>
              <a:t>⚡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4480559"/>
            <a:ext cx="34747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 i="0">
                <a:solidFill>
                  <a:srgbClr val="F59E0B"/>
                </a:solidFill>
                <a:latin typeface="Calibri"/>
              </a:rPr>
              <a:t>Live Predictor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4937759"/>
            <a:ext cx="3474720" cy="8229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 i="0">
                <a:solidFill>
                  <a:srgbClr val="CBD5E1"/>
                </a:solidFill>
                <a:latin typeface="Calibri"/>
              </a:rPr>
              <a:t>Interactive web app: enter loan values and watch the trained model decide in real time.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47120" y="6537960"/>
            <a:ext cx="914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900" b="0" i="0">
                <a:solidFill>
                  <a:srgbClr val="334155"/>
                </a:solidFill>
                <a:latin typeface="Calibri"/>
              </a:rPr>
              <a:t>15 / 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