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Repositioning Webex with AI</a:t>
            </a:r>
          </a:p>
          <a:p>
            <a:pPr algn="ctr">
              <a:defRPr sz="2200">
                <a:solidFill>
                  <a:srgbClr val="00BCEB"/>
                </a:solidFill>
              </a:defRPr>
            </a:pPr>
            <a:r>
              <a:t>From Assistant-Led to Agentic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Cisco x WiB x SWE Spring 2026 Case Competition</a:t>
            </a:r>
          </a:p>
          <a:p>
            <a:pPr algn="ctr">
              <a:defRPr sz="600" b="0">
                <a:solidFill>
                  <a:srgbClr val="FFFFFF"/>
                </a:solidFill>
              </a:defRPr>
            </a:pP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What product and platform improvements can Cisco make to Webex,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powered by its AI Assistant, to outperform Zoom and Microsoft Teams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in the next phase of hybrid work?</a:t>
            </a:r>
          </a:p>
          <a:p>
            <a:pPr algn="ctr">
              <a:defRPr sz="1200" b="0">
                <a:solidFill>
                  <a:srgbClr val="FFFFFF"/>
                </a:solidFill>
              </a:defRPr>
            </a:pPr>
          </a:p>
          <a:p>
            <a:pPr algn="ctr">
              <a:defRPr sz="1600" b="1">
                <a:solidFill>
                  <a:srgbClr val="00BCEB"/>
                </a:solidFill>
              </a:defRPr>
            </a:pPr>
            <a:r>
              <a:t>Presented by: Lana Jalal Gidan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Watson College of Engineering and Applied Science</a:t>
            </a:r>
          </a:p>
          <a:p>
            <a:pPr algn="ctr">
              <a:defRPr sz="1300" b="0">
                <a:solidFill>
                  <a:srgbClr val="FFFFFF"/>
                </a:solidFill>
              </a:defRPr>
            </a:pPr>
            <a:r>
              <a:t>Binghamton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2060"/>
                </a:solidFill>
              </a:defRPr>
            </a:pPr>
            <a:r>
              <a:t>Industry Analysis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Problem Identification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Recommendations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Implementation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Financials &amp; KPIs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Risks &amp; Mitigations</a:t>
            </a:r>
          </a:p>
          <a:p>
            <a:pPr>
              <a:defRPr sz="600"/>
            </a:pPr>
          </a:p>
          <a:p>
            <a:pPr>
              <a:defRPr sz="1600" b="1">
                <a:solidFill>
                  <a:srgbClr val="002060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Industry Analysis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The UC&amp;C Market: $55B and Growing at 8.4% CAGR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Hybrid Work Revolution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48% of Knowledge Workers Now Operate in Hybrid Mode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hybrid_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Financial Overview: Cisco vs. Competitors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Source: SEC 10-K Filings (FY2024)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nanci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AI Feature Gap Analysis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Webex Trails in Agentic Capabilities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Problem Identification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Three Root-Cause Problems Limiting Webex Competitiveness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41148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Problem 1</a:t>
            </a:r>
          </a:p>
          <a:p>
            <a:pPr>
              <a:defRPr sz="400"/>
            </a:pPr>
          </a:p>
          <a:p>
            <a:pPr algn="ctr">
              <a:defRPr sz="1300" b="1">
                <a:solidFill>
                  <a:srgbClr val="002060"/>
                </a:solidFill>
              </a:defRPr>
            </a:pPr>
            <a:r>
              <a:t>Low User Engagement</a:t>
            </a:r>
            <a:br/>
            <a:r>
              <a:t>&amp; Adoption Gap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323232"/>
                </a:solidFill>
              </a:defRPr>
            </a:pPr>
            <a:r>
              <a:t>Webex ~150M vs Teams 320M MAU</a:t>
            </a:r>
            <a:br/>
            <a:r>
              <a:t>Market share: ~10% vs ~37%</a:t>
            </a:r>
          </a:p>
          <a:p>
            <a:pPr>
              <a:defRPr sz="600"/>
            </a:pPr>
          </a:p>
          <a:p>
            <a:pPr algn="ctr">
              <a:defRPr sz="900" b="1">
                <a:solidFill>
                  <a:srgbClr val="004FA9"/>
                </a:solidFill>
              </a:defRPr>
            </a:pPr>
            <a:r>
              <a:t>G2 Rating: 4.2 vs 4.5 (Zoom)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560320" cy="41148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Problem 2</a:t>
            </a:r>
          </a:p>
          <a:p>
            <a:pPr>
              <a:defRPr sz="400"/>
            </a:pPr>
          </a:p>
          <a:p>
            <a:pPr algn="ctr">
              <a:defRPr sz="1300" b="1">
                <a:solidFill>
                  <a:srgbClr val="002060"/>
                </a:solidFill>
              </a:defRPr>
            </a:pPr>
            <a:r>
              <a:t>AI Limited to</a:t>
            </a:r>
            <a:br/>
            <a:r>
              <a:t>Passive Assistance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323232"/>
                </a:solidFill>
              </a:defRPr>
            </a:pPr>
            <a:r>
              <a:t>Only summarizes &amp; transcribes</a:t>
            </a:r>
            <a:br/>
            <a:r>
              <a:t>vs. Copilot executes in Office 365</a:t>
            </a:r>
          </a:p>
          <a:p>
            <a:pPr>
              <a:defRPr sz="600"/>
            </a:pPr>
          </a:p>
          <a:p>
            <a:pPr algn="ctr">
              <a:defRPr sz="900" b="1">
                <a:solidFill>
                  <a:srgbClr val="004FA9"/>
                </a:solidFill>
              </a:defRPr>
            </a:pPr>
            <a:r>
              <a:t>No autonomous task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114800"/>
          </a:xfrm>
          <a:prstGeom prst="roundRect">
            <a:avLst/>
          </a:prstGeom>
          <a:solidFill>
            <a:srgbClr val="FFF5F5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400" b="1">
                <a:solidFill>
                  <a:srgbClr val="E74C3C"/>
                </a:solidFill>
              </a:defRPr>
            </a:pPr>
            <a:r>
              <a:t>Problem 3</a:t>
            </a:r>
          </a:p>
          <a:p>
            <a:pPr>
              <a:defRPr sz="400"/>
            </a:pPr>
          </a:p>
          <a:p>
            <a:pPr algn="ctr">
              <a:defRPr sz="1300" b="1">
                <a:solidFill>
                  <a:srgbClr val="002060"/>
                </a:solidFill>
              </a:defRPr>
            </a:pPr>
            <a:r>
              <a:t>Weak Ecosystem</a:t>
            </a:r>
            <a:br/>
            <a:r>
              <a:t>Integration</a:t>
            </a:r>
          </a:p>
          <a:p>
            <a:pPr>
              <a:defRPr sz="600"/>
            </a:pPr>
          </a:p>
          <a:p>
            <a:pPr algn="ctr">
              <a:defRPr sz="1000">
                <a:solidFill>
                  <a:srgbClr val="323232"/>
                </a:solidFill>
              </a:defRPr>
            </a:pPr>
            <a:r>
              <a:t>Limited 3rd-party app marketplace</a:t>
            </a:r>
            <a:br/>
            <a:r>
              <a:t>vs. Teams 2,000+ integrations</a:t>
            </a:r>
          </a:p>
          <a:p>
            <a:pPr>
              <a:defRPr sz="600"/>
            </a:pPr>
          </a:p>
          <a:p>
            <a:pPr algn="ctr">
              <a:defRPr sz="900" b="1">
                <a:solidFill>
                  <a:srgbClr val="004FA9"/>
                </a:solidFill>
              </a:defRPr>
            </a:pPr>
            <a:r>
              <a:t>Low developer SDK adoption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Problem 1: Low User Engagement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Webex Trails Competitors in Satisfaction &amp; Adoption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2_ra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502920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03520" y="14630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2060"/>
                </a:solidFill>
              </a:defRPr>
            </a:pPr>
            <a:r>
              <a:t>Root Cause (5 Whys):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Low engagement?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Less intuitive UX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Less intuitive?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No differentiated value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No differentiation?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AI features are basic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Basic AI?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Passive assistant-only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5. ROOT CAUSE: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AI does not perform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Problems 2 &amp; 3: Passive AI + Weak Ecosystem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Root Causes Traced Through 5 Whys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Problem 2: Passive AI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Current Webex AI can: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Summarize meetings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Transcribe in real-time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Translate 100+ languages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But CANNOT: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Execute follow-up tasks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Draft documents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Automate workflows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Coordinate across tools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Root Cause: No agentic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architecture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t>Problem 3: Weak Ecosystem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Integration comparison: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Teams: 2,000+ apps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Zoom: 2,500+ apps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- Webex: Significantly fewer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Self-reinforcing cycle: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Fewer integrations -&gt;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Lower stickiness -&gt;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Fewer developers -&gt;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Even fewer integrations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Root Cause: No open AI agent</a:t>
            </a:r>
          </a:p>
          <a:p>
            <a:pPr>
              <a:defRPr sz="1200" b="1">
                <a:solidFill>
                  <a:srgbClr val="E74C3C"/>
                </a:solidFill>
              </a:defRPr>
            </a:pPr>
            <a:r>
              <a:t>platform for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Problem-Solution Flowchart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From Root Causes to Agentic AI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Recommendation Overview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Three Solutions to Make Webex the Agentic Collaboration Leader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4114800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400" b="1">
                <a:solidFill>
                  <a:srgbClr val="27AE60"/>
                </a:solidFill>
              </a:defRPr>
            </a:pPr>
            <a:r>
              <a:t>Solution 1</a:t>
            </a:r>
          </a:p>
          <a:p>
            <a:pPr>
              <a:defRPr sz="400"/>
            </a:pPr>
          </a:p>
          <a:p>
            <a:pPr algn="ctr">
              <a:defRPr sz="1400" b="1">
                <a:solidFill>
                  <a:srgbClr val="002060"/>
                </a:solidFill>
              </a:defRPr>
            </a:pPr>
            <a:r>
              <a:t>Agentic AI</a:t>
            </a:r>
            <a:br/>
            <a:r>
              <a:t>Transformation</a:t>
            </a:r>
          </a:p>
          <a:p>
            <a:pPr>
              <a:defRPr sz="800"/>
            </a:pPr>
          </a:p>
          <a:p>
            <a:pPr algn="ctr">
              <a:defRPr sz="1100">
                <a:solidFill>
                  <a:srgbClr val="323232"/>
                </a:solidFill>
              </a:defRPr>
            </a:pPr>
            <a:r>
              <a:t>AI that WORKS, not just assists.</a:t>
            </a:r>
            <a:br/>
            <a:r>
              <a:t>Autonomous task execution:</a:t>
            </a:r>
            <a:br/>
            <a:r>
              <a:t>schedule, draft, assign, follow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560320" cy="4114800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004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400" b="1">
                <a:solidFill>
                  <a:srgbClr val="004FA9"/>
                </a:solidFill>
              </a:defRPr>
            </a:pPr>
            <a:r>
              <a:t>Solution 2</a:t>
            </a:r>
          </a:p>
          <a:p>
            <a:pPr>
              <a:defRPr sz="400"/>
            </a:pPr>
          </a:p>
          <a:p>
            <a:pPr algn="ctr">
              <a:defRPr sz="1400" b="1">
                <a:solidFill>
                  <a:srgbClr val="002060"/>
                </a:solidFill>
              </a:defRPr>
            </a:pPr>
            <a:r>
              <a:t>Webex AI Agent</a:t>
            </a:r>
            <a:br/>
            <a:r>
              <a:t>Platform (SDK)</a:t>
            </a:r>
          </a:p>
          <a:p>
            <a:pPr>
              <a:defRPr sz="800"/>
            </a:pPr>
          </a:p>
          <a:p>
            <a:pPr algn="ctr">
              <a:defRPr sz="1100">
                <a:solidFill>
                  <a:srgbClr val="323232"/>
                </a:solidFill>
              </a:defRPr>
            </a:pPr>
            <a:r>
              <a:t>Open developer framework for</a:t>
            </a:r>
            <a:br/>
            <a:r>
              <a:t>vertical-specific AI agents.</a:t>
            </a:r>
            <a:br/>
            <a:r>
              <a:t>Agent marketplace ecosystem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114800"/>
          </a:xfrm>
          <a:prstGeom prst="roundRect">
            <a:avLst/>
          </a:prstGeom>
          <a:solidFill>
            <a:srgbClr val="F5FFF5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400" b="1">
                <a:solidFill>
                  <a:srgbClr val="F39C12"/>
                </a:solidFill>
              </a:defRPr>
            </a:pPr>
            <a:r>
              <a:t>Solution 3</a:t>
            </a:r>
          </a:p>
          <a:p>
            <a:pPr>
              <a:defRPr sz="400"/>
            </a:pPr>
          </a:p>
          <a:p>
            <a:pPr algn="ctr">
              <a:defRPr sz="1400" b="1">
                <a:solidFill>
                  <a:srgbClr val="002060"/>
                </a:solidFill>
              </a:defRPr>
            </a:pPr>
            <a:r>
              <a:t>Intelligent Workflow</a:t>
            </a:r>
            <a:br/>
            <a:r>
              <a:t>Engine</a:t>
            </a:r>
          </a:p>
          <a:p>
            <a:pPr>
              <a:defRPr sz="800"/>
            </a:pPr>
          </a:p>
          <a:p>
            <a:pPr algn="ctr">
              <a:defRPr sz="1100">
                <a:solidFill>
                  <a:srgbClr val="323232"/>
                </a:solidFill>
              </a:defRPr>
            </a:pPr>
            <a:r>
              <a:t>200+ enterprise integrations.</a:t>
            </a:r>
            <a:br/>
            <a:r>
              <a:t>AI-powered cross-platform</a:t>
            </a:r>
            <a:br/>
            <a:r>
              <a:t>workflow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Solution 1: Agentic AI Transformation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Evolving from Assistant to Autonomous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ic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Solution 1: Technical Architecture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How Agentic AI Works in Webex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Core Components: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Task Decomposition Engine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LLM breaks requests into sub-tasks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e.g., 'organize review' becomes: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schedule + invite + agenda + data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Execution Layer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Secure API connectors to Salesforce,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Jira, ServiceNow, SAP, etc.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Human-in-the-Loop Guardrails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Configurable approval levels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High-stakes = user confirms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Routine = auto-execute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Learning Loop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Reinforcement from user feedback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Splunk data for pattern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t>Feasibility Evidence: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R&amp;D Budget: $7.98B (FY2024)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Sufficient for agentic development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Existing AI Infrastructure: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150M+ users already served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Real-time transcription at scale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Splunk Acquisition ($28B):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Enterprise data observability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Pattern recognition capability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Security Advantage: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FedRAMP, HIPAA, SOC 2 Type II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Zero-trust agent architecture</a:t>
            </a:r>
          </a:p>
          <a:p>
            <a:pPr>
              <a:defRPr sz="600"/>
            </a:pPr>
          </a:p>
          <a:p>
            <a:pPr>
              <a:defRPr sz="1100" b="1">
                <a:solidFill>
                  <a:srgbClr val="004FA9"/>
                </a:solidFill>
              </a:defRPr>
            </a:pPr>
            <a:r>
              <a:t>Scalability: Microservices-based</a:t>
            </a:r>
          </a:p>
          <a:p>
            <a:pPr>
              <a:defRPr sz="1100" b="1">
                <a:solidFill>
                  <a:srgbClr val="004FA9"/>
                </a:solidFill>
              </a:defRPr>
            </a:pPr>
            <a:r>
              <a:t>agents on Cisco global cloud (40+</a:t>
            </a:r>
          </a:p>
          <a:p>
            <a:pPr>
              <a:defRPr sz="1100" b="1">
                <a:solidFill>
                  <a:srgbClr val="004FA9"/>
                </a:solidFill>
              </a:defRPr>
            </a:pPr>
            <a:r>
              <a:t>data center locations)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Solution 2: Webex AI Agent Platform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Open Developer SDK &amp; Agent Marketplace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Platform Components: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Agent SDK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Python &amp; JavaScript SDKs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Pre-built agent templates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(meeting coordinator, PM, etc.)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Agent Runtime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Sandboxed execution in Webex Cloud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Enterprise-grade security &amp; isolation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Container-based (Kubernetes)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Agent Marketplace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Discover, deploy, monetize agents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Revenue sharing for developers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Vertical Templates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Healthcare (HIPAA-compliant)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Finance (compliance-aware)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Government (FedRAMP-certified)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4FA9"/>
                </a:solidFill>
              </a:defRPr>
            </a:pPr>
            <a:r>
              <a:t>Adoption Strategy: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$10M Developer Incentive Fund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(Modeled on Salesforce Trailhead)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University Hackathons (50+)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Partner with CS programs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Systems Integrator Partners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Accenture, Deloitte, Wipro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for initial vertical agents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F39C12"/>
                </a:solidFill>
              </a:defRPr>
            </a:pPr>
            <a:r>
              <a:t>Risk Mitigation: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Primary risk: developer adoption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Mitigation: incentives + hackathons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Security risk: 3rd-party agents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Mitigation: sandboxed execution +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mandatory security review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Solution 3: Intelligent Workflow Engine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AI-Powered Cross-Platform Automation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How It Works: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User says: 'After every customer call, update the CRM, create a follow-up task, and schedule a review if deal &gt; $50K'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Technical Architecture: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1. Intent Recognition: NLP converts requests into workflow DAGs (Directed Acyclic Graphs)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2. Connector Framework: Pre-built connectors for top 50 enterprise SaaS tools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   (Salesforce, HubSpot, Jira, ServiceNow, SAP, Workday, Slack, GitHub, etc.)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3. AI Orchestration Engine: Coordinates multi-agent workflows with error recovery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4. Analytics Dashboard: Real-time ROI tracking powered by Splunk observability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27AE60"/>
                </a:solidFill>
              </a:defRPr>
            </a:pPr>
            <a:r>
              <a:t>Feasibility:</a:t>
            </a:r>
          </a:p>
          <a:p>
            <a:pPr>
              <a:defRPr sz="600"/>
            </a:pP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Cisco already owns AppDynamics ($3.7B acquisition) + Splunk ($28B) for monitoring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Standard REST/GraphQL APIs available from all major SaaS platforms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Estimated development: 12-18 months for first 50 connectors, scale to 200+</a:t>
            </a:r>
          </a:p>
          <a:p>
            <a:pPr>
              <a:defRPr sz="600"/>
            </a:pPr>
          </a:p>
          <a:p>
            <a:pPr>
              <a:defRPr sz="1200" b="1">
                <a:solidFill>
                  <a:srgbClr val="004FA9"/>
                </a:solidFill>
              </a:defRPr>
            </a:pPr>
            <a:r>
              <a:t>SaaS Integration market: $15.6B by 2027 (MarketsandMarkets)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The Agentic AI Opportunity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Market Growing from $5.1B to $47B by 2030 (CAGR 44.8%)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entic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Implementation Timeline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18-Month Phased Roadmap (Q3 2026 - Q4 2027)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877824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Implementation Plan: Phased Approach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Engineering Perspective from Watson College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3200400"/>
                <a:gridCol w="2377440"/>
              </a:tblGrid>
              <a:tr h="10287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Timeline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Activities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Resources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 1:</a:t>
                      </a:r>
                    </a:p>
                    <a:p>
                      <a:pPr algn="ctr">
                        <a:defRPr sz="1000"/>
                      </a:pPr>
                      <a:r>
                        <a:t>Foundation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Q3-Q4 2026</a:t>
                      </a:r>
                    </a:p>
                    <a:p>
                      <a:pPr algn="ctr">
                        <a:defRPr sz="1000"/>
                      </a:pPr>
                      <a:r>
                        <a:t>(6 months)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Core agent framework</a:t>
                      </a:r>
                    </a:p>
                    <a:p>
                      <a:pPr algn="ctr">
                        <a:defRPr sz="1000"/>
                      </a:pPr>
                      <a:r>
                        <a:t>API connector library</a:t>
                      </a:r>
                    </a:p>
                    <a:p>
                      <a:pPr algn="ctr">
                        <a:defRPr sz="1000"/>
                      </a:pPr>
                      <a:r>
                        <a:t>Security 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$150M R&amp;D</a:t>
                      </a:r>
                    </a:p>
                    <a:p>
                      <a:pPr algn="ctr">
                        <a:defRPr sz="1000"/>
                      </a:pPr>
                      <a:r>
                        <a:t>50 engineers</a:t>
                      </a:r>
                    </a:p>
                    <a:p>
                      <a:pPr algn="ctr">
                        <a:defRPr sz="1000"/>
                      </a:pPr>
                      <a:r>
                        <a:t>AI/ML team</a:t>
                      </a:r>
                    </a:p>
                  </a:txBody>
                  <a:tcPr anchor="ctr"/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 2:</a:t>
                      </a:r>
                    </a:p>
                    <a:p>
                      <a:pPr algn="ctr">
                        <a:defRPr sz="1000"/>
                      </a:pPr>
                      <a:r>
                        <a:t>Beta &amp; SDK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Q1-Q2 2027</a:t>
                      </a:r>
                    </a:p>
                    <a:p>
                      <a:pPr algn="ctr">
                        <a:defRPr sz="1000"/>
                      </a:pPr>
                      <a:r>
                        <a:t>(6 months)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Enterprise beta (50 partners)</a:t>
                      </a:r>
                    </a:p>
                    <a:p>
                      <a:pPr algn="ctr">
                        <a:defRPr sz="1000"/>
                      </a:pPr>
                      <a:r>
                        <a:t>SDK developer preview</a:t>
                      </a:r>
                    </a:p>
                    <a:p>
                      <a:pPr algn="ctr">
                        <a:defRPr sz="1000"/>
                      </a:pPr>
                      <a:r>
                        <a:t>Hackathon program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$100M investment</a:t>
                      </a:r>
                    </a:p>
                    <a:p>
                      <a:pPr algn="ctr">
                        <a:defRPr sz="1000"/>
                      </a:pPr>
                      <a:r>
                        <a:t>10K developers</a:t>
                      </a:r>
                    </a:p>
                    <a:p>
                      <a:pPr algn="ctr">
                        <a:defRPr sz="1000"/>
                      </a:pPr>
                      <a:r>
                        <a:t>3 SI partners</a:t>
                      </a:r>
                    </a:p>
                  </a:txBody>
                  <a:tcPr anchor="ctr"/>
                </a:tc>
              </a:tr>
              <a:tr h="10287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Phase 3:</a:t>
                      </a:r>
                    </a:p>
                    <a:p>
                      <a:pPr algn="ctr">
                        <a:defRPr sz="1000"/>
                      </a:pPr>
                      <a:r>
                        <a:t>Scale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Q3-Q4 2027</a:t>
                      </a:r>
                    </a:p>
                    <a:p>
                      <a:pPr algn="ctr">
                        <a:defRPr sz="1000"/>
                      </a:pPr>
                      <a:r>
                        <a:t>(6 months)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GA launch agentic AI</a:t>
                      </a:r>
                    </a:p>
                    <a:p>
                      <a:pPr algn="ctr">
                        <a:defRPr sz="1000"/>
                      </a:pPr>
                      <a:r>
                        <a:t>Marketplace launch</a:t>
                      </a:r>
                    </a:p>
                    <a:p>
                      <a:pPr algn="ctr">
                        <a:defRPr sz="1000"/>
                      </a:pPr>
                      <a:r>
                        <a:t>200+ integrations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$50M marketing</a:t>
                      </a:r>
                    </a:p>
                    <a:p>
                      <a:pPr algn="ctr">
                        <a:defRPr sz="1000"/>
                      </a:pPr>
                      <a:r>
                        <a:t>Global rollout</a:t>
                      </a:r>
                    </a:p>
                    <a:p>
                      <a:pPr algn="ctr">
                        <a:defRPr sz="1000"/>
                      </a:pPr>
                      <a:r>
                        <a:t>Continuous iteration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Financial Projections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Projected Revenue Impact of Agentic AI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evenue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160"/>
            <a:ext cx="859536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2120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</a:defRPr>
            </a:pPr>
            <a:r>
              <a:t>Investment: ~$300M over 18 months (from existing $7.98B R&amp;D budget = 3.8% reallocation)</a:t>
            </a:r>
          </a:p>
          <a:p>
            <a:pPr>
              <a:defRPr sz="1100">
                <a:solidFill>
                  <a:srgbClr val="323232"/>
                </a:solidFill>
              </a:defRPr>
            </a:pPr>
            <a:r>
              <a:t>Projected Return: +$2.1B incremental ARR by FY2029 | ROI: ~600% over 4 years</a:t>
            </a:r>
          </a:p>
          <a:p>
            <a:pPr>
              <a:defRPr sz="1000" b="0">
                <a:solidFill>
                  <a:srgbClr val="646464"/>
                </a:solidFill>
              </a:defRPr>
            </a:pPr>
            <a:r>
              <a:t>Based on IDC UC&amp;C CAGR 8.4% + estimated 3-5% market share gain from agentic differentiation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Key Performance Indicators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Measurable Success Metrics Over 18 Months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27AE60"/>
                </a:solidFill>
              </a:defRPr>
            </a:pPr>
            <a:r>
              <a:t>Solution 1</a:t>
            </a:r>
          </a:p>
          <a:p>
            <a:pPr algn="ctr">
              <a:defRPr sz="1400" b="1">
                <a:solidFill>
                  <a:srgbClr val="002060"/>
                </a:solidFill>
              </a:defRPr>
            </a:pPr>
            <a:r>
              <a:t>Agentic AI</a:t>
            </a:r>
          </a:p>
          <a:p>
            <a:pPr>
              <a:defRPr sz="8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+35% daily active usage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25% meeting-to-action rate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NPS: 4.2 -&gt; 4.5+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85% task completion accuracy</a:t>
            </a:r>
          </a:p>
          <a:p>
            <a:pPr>
              <a:defRPr sz="400"/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3291840" y="146304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4F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004FA9"/>
                </a:solidFill>
              </a:defRPr>
            </a:pPr>
            <a:r>
              <a:t>Solution 2</a:t>
            </a:r>
          </a:p>
          <a:p>
            <a:pPr algn="ctr">
              <a:defRPr sz="1400" b="1">
                <a:solidFill>
                  <a:srgbClr val="002060"/>
                </a:solidFill>
              </a:defRPr>
            </a:pPr>
            <a:r>
              <a:t>Agent Platform</a:t>
            </a:r>
          </a:p>
          <a:p>
            <a:pPr>
              <a:defRPr sz="8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10,000+ developers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500+ marketplace agents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3 vertical solutions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200+ enterprise adopters</a:t>
            </a:r>
          </a:p>
          <a:p>
            <a:pPr>
              <a:defRPr sz="400"/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6126480" y="1463040"/>
            <a:ext cx="25603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200" b="1">
                <a:solidFill>
                  <a:srgbClr val="F39C12"/>
                </a:solidFill>
              </a:defRPr>
            </a:pPr>
            <a:r>
              <a:t>Solution 3</a:t>
            </a:r>
          </a:p>
          <a:p>
            <a:pPr algn="ctr">
              <a:defRPr sz="1400" b="1">
                <a:solidFill>
                  <a:srgbClr val="002060"/>
                </a:solidFill>
              </a:defRPr>
            </a:pPr>
            <a:r>
              <a:t>Workflow Engine</a:t>
            </a:r>
          </a:p>
          <a:p>
            <a:pPr>
              <a:defRPr sz="8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200+ integrations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40% automation rate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50% less app switching</a:t>
            </a:r>
          </a:p>
          <a:p>
            <a:pPr>
              <a:defRPr sz="400"/>
            </a:pPr>
          </a:p>
          <a:p>
            <a:pPr algn="ctr">
              <a:defRPr sz="1200">
                <a:solidFill>
                  <a:srgbClr val="323232"/>
                </a:solidFill>
              </a:defRPr>
            </a:pPr>
            <a:r>
              <a:t>+$2.1B ARR by FY2029</a:t>
            </a:r>
          </a:p>
          <a:p>
            <a:pPr>
              <a:defRPr sz="400"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Risks and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438912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Developer SDK</a:t>
                      </a:r>
                    </a:p>
                    <a:p>
                      <a:pPr algn="ctr">
                        <a:defRPr sz="1000"/>
                      </a:pPr>
                      <a:r>
                        <a:t>adoption slower</a:t>
                      </a:r>
                    </a:p>
                    <a:p>
                      <a:pPr algn="ctr">
                        <a:defRPr sz="1000"/>
                      </a:pPr>
                      <a:r>
                        <a:t>than expected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$10M incentive fund</a:t>
                      </a:r>
                    </a:p>
                    <a:p>
                      <a:pPr algn="ctr">
                        <a:defRPr sz="1000"/>
                      </a:pPr>
                      <a:r>
                        <a:t>50+ university hackathons</a:t>
                      </a:r>
                    </a:p>
                    <a:p>
                      <a:pPr algn="ctr">
                        <a:defRPr sz="1000"/>
                      </a:pPr>
                      <a:r>
                        <a:t>3 major SI partnerships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AI agent errors</a:t>
                      </a:r>
                    </a:p>
                    <a:p>
                      <a:pPr algn="ctr">
                        <a:defRPr sz="1000"/>
                      </a:pPr>
                      <a:r>
                        <a:t>in enterprise</a:t>
                      </a:r>
                    </a:p>
                    <a:p>
                      <a:pPr algn="ctr">
                        <a:defRPr sz="1000"/>
                      </a:pPr>
                      <a:r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Human-in-the-loop guardrails</a:t>
                      </a:r>
                    </a:p>
                    <a:p>
                      <a:pPr algn="ctr">
                        <a:defRPr sz="1000"/>
                      </a:pPr>
                      <a:r>
                        <a:t>Configurable autonomy levels</a:t>
                      </a:r>
                    </a:p>
                    <a:p>
                      <a:pPr algn="ctr">
                        <a:defRPr sz="1000"/>
                      </a:pPr>
                      <a:r>
                        <a:t>Comprehensive audit logging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Competitor response</a:t>
                      </a:r>
                    </a:p>
                    <a:p>
                      <a:pPr algn="ctr">
                        <a:defRPr sz="1000"/>
                      </a:pPr>
                      <a:r>
                        <a:t>(Microsoft / Zoom</a:t>
                      </a:r>
                    </a:p>
                    <a:p>
                      <a:pPr algn="ctr">
                        <a:defRPr sz="1000"/>
                      </a:pPr>
                      <a:r>
                        <a:t>accelerate AI)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First-mover advantage in</a:t>
                      </a:r>
                    </a:p>
                    <a:p>
                      <a:pPr algn="ctr">
                        <a:defRPr sz="1000"/>
                      </a:pPr>
                      <a:r>
                        <a:t>agentic architecture</a:t>
                      </a:r>
                    </a:p>
                    <a:p>
                      <a:pPr algn="ctr">
                        <a:defRPr sz="1000"/>
                      </a:pPr>
                      <a:r>
                        <a:t>Security moat (FedRAMP/HIPAA)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Integration</a:t>
                      </a:r>
                    </a:p>
                    <a:p>
                      <a:pPr algn="ctr">
                        <a:defRPr sz="1000"/>
                      </a:pPr>
                      <a:r>
                        <a:t>scalability</a:t>
                      </a:r>
                    </a:p>
                    <a:p>
                      <a:pPr algn="ctr">
                        <a:defRPr sz="1000"/>
                      </a:pPr>
                      <a:r>
                        <a:t>challenges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Microservices architecture</a:t>
                      </a:r>
                    </a:p>
                    <a:p>
                      <a:pPr algn="ctr">
                        <a:defRPr sz="1000"/>
                      </a:pPr>
                      <a:r>
                        <a:t>Cisco's 40+ global data centers</a:t>
                      </a:r>
                    </a:p>
                    <a:p>
                      <a:pPr algn="ctr">
                        <a:defRPr sz="1000"/>
                      </a:pPr>
                      <a:r>
                        <a:t>Kubernetes orchestration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Engineering Trade-offs &amp; Constraints</a:t>
            </a:r>
          </a:p>
          <a:p>
            <a:pPr algn="l">
              <a:defRPr sz="1300">
                <a:solidFill>
                  <a:srgbClr val="00BCEB"/>
                </a:solidFill>
              </a:defRPr>
            </a:pPr>
            <a:r>
              <a:t>Watson College Engineering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2060"/>
                </a:solidFill>
              </a:defRPr>
            </a:pPr>
            <a:r>
              <a:t>Autonomy vs. Control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More agentic capability increases productivity but raises risk of unintended actions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Solution: Configurable autonomy levels (low / medium / high) per organization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Open Platform vs. Security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Open Agent SDK increases ecosystem growth but expands attack surface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Solution: Sandboxed execution + mandatory security review for marketplace agents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Build vs. Buy for Workflow Engine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Building in-house ensures deep integration; acquiring iPaaS is faster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Solution: Hybrid -- build AI orchestration layer, partner for connector framework</a:t>
            </a:r>
          </a:p>
          <a:p>
            <a:pPr>
              <a:defRPr sz="600"/>
            </a:pPr>
          </a:p>
          <a:p>
            <a:pPr>
              <a:defRPr sz="1400" b="1">
                <a:solidFill>
                  <a:srgbClr val="002060"/>
                </a:solidFill>
              </a:defRPr>
            </a:pPr>
            <a:r>
              <a:t>Latency Constraint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Agentic tasks must complete within 2-5 seconds for user satisfaction</a:t>
            </a:r>
          </a:p>
          <a:p>
            <a:pPr>
              <a:defRPr sz="1200">
                <a:solidFill>
                  <a:srgbClr val="323232"/>
                </a:solidFill>
              </a:defRPr>
            </a:pPr>
            <a:r>
              <a:t>Multi-tool workflows may exceed this; use async execution with real-time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2560320" cy="18288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Low User Engagement</a:t>
            </a:r>
            <a:br/>
            <a:r>
              <a:t>&amp; Adoption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2560320" cy="18288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Agentic AI Transformation</a:t>
            </a:r>
            <a:br/>
            <a:r>
              <a:t>AI that executes tasks,</a:t>
            </a:r>
            <a:br/>
            <a:r>
              <a:t>not just assists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463040"/>
            <a:ext cx="2560320" cy="18288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AI Limited to</a:t>
            </a:r>
            <a:br/>
            <a:r>
              <a:t>Passive Assistance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840480"/>
            <a:ext cx="2560320" cy="18288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Webex AI Agent Platform</a:t>
            </a:r>
            <a:br/>
            <a:r>
              <a:t>Open SDK + marketplace</a:t>
            </a:r>
            <a:br/>
            <a:r>
              <a:t>for custom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2560320" cy="18288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E74C3C"/>
                </a:solidFill>
              </a:defRPr>
            </a:pPr>
            <a:r>
              <a:t>Weak Ecosystem</a:t>
            </a:r>
            <a:br/>
            <a:r>
              <a:t>Integration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2560320" cy="1828800"/>
          </a:xfrm>
          <a:prstGeom prst="roundRect">
            <a:avLst/>
          </a:prstGeom>
          <a:solidFill>
            <a:srgbClr val="F0FFF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7AE60"/>
                </a:solidFill>
              </a:defRPr>
            </a:pPr>
            <a:r>
              <a:t>Intelligent Workflow Engine</a:t>
            </a:r>
            <a:br/>
            <a:r>
              <a:t>200+ integrations with</a:t>
            </a:r>
            <a:br/>
            <a:r>
              <a:t>AI orchestration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2060"/>
                </a:solidFill>
              </a:defRPr>
            </a:pPr>
            <a:r>
              <a:t>Projected Impact: +$2.1B incremental ARR by FY2029 | Investment: ~$300M (3.8% of R&amp;D)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371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Data Sources &amp;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9144000" cy="45720"/>
          </a:xfrm>
          <a:prstGeom prst="rect">
            <a:avLst/>
          </a:prstGeom>
          <a:solidFill>
            <a:srgbClr val="00BC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 Data Used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Cisco 10-K FY2024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investor.cisco.com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Rev: $53.8B, R&amp;D: $7.98B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Microsoft FY2024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microsoft.com/investor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Teams: 320M MAU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Zoom FY2025 10-K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investors.zoom.us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Rev: $4.6B, 3,900+ enterprise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IDC UC&amp;C 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idc.com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Market: $55B, CAGR 8.4%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Gartner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gartner.com/newsroom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48% hybrid workers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MarketsandMarkets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marketsandmarkets.com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Agentic AI: $5.1B-$47B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G2 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g2.com/categories/video-conferencing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Webex: 4.2, Zoom: 4.5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McKinsey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mckinsey.com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58% hybrid opportunity</a:t>
                      </a:r>
                    </a:p>
                  </a:txBody>
                  <a:tcPr anchor="ctr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Webex AI Docs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webex.com/ai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AI Assistant features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40080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969696"/>
                </a:solidFill>
              </a:defRPr>
            </a:pPr>
            <a:r>
              <a:t>Industry Analysis | Problem Identification | Recommendations | Implementation | Financials | Risks | Executive Summary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1000"/>
            </a:pPr>
          </a:p>
          <a:p>
            <a:pPr algn="ctr">
              <a:defRPr sz="2400">
                <a:solidFill>
                  <a:srgbClr val="00BCEB"/>
                </a:solidFill>
              </a:defRPr>
            </a:pPr>
            <a:r>
              <a:t>Questions?</a:t>
            </a:r>
          </a:p>
          <a:p>
            <a:pPr>
              <a:defRPr sz="2000"/>
            </a:pPr>
          </a:p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Lana Jalal Gidan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Watson College of Engineering | Binghamton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