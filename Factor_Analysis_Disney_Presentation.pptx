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9144000" cy="73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Factor Analysis in Entertainment Industry</a:t>
            </a:r>
          </a:p>
          <a:p>
            <a:pPr algn="ctr">
              <a:defRPr sz="2200">
                <a:solidFill>
                  <a:srgbClr val="FFC000"/>
                </a:solidFill>
              </a:defRPr>
            </a:pPr>
            <a:r>
              <a:t>Brand Equity Analysis: Disney &amp; Media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Lana Jalal Gidan</a:t>
            </a:r>
          </a:p>
          <a:p>
            <a:pPr algn="ctr">
              <a:defRPr sz="1000" b="0">
                <a:solidFill>
                  <a:srgbClr val="FFFFFF"/>
                </a:solidFill>
              </a:defRPr>
            </a:pPr>
          </a:p>
          <a:p>
            <a:pPr algn="ctr">
              <a:defRPr sz="1800" b="0">
                <a:solidFill>
                  <a:srgbClr val="FFC000"/>
                </a:solidFill>
              </a:defRPr>
            </a:pPr>
            <a:r>
              <a:t>SSIE-605: Applied Multivariate Data Analysis</a:t>
            </a:r>
          </a:p>
          <a:p>
            <a:pPr algn="ctr">
              <a:defRPr sz="1600" b="0">
                <a:solidFill>
                  <a:srgbClr val="FFFFFF"/>
                </a:solidFill>
              </a:defRPr>
            </a:pPr>
            <a:r>
              <a:t>Professor Susan Lu</a:t>
            </a:r>
          </a:p>
          <a:p>
            <a:pPr algn="ctr">
              <a:defRPr sz="1600" b="0">
                <a:solidFill>
                  <a:srgbClr val="FFFFFF"/>
                </a:solidFill>
              </a:defRPr>
            </a:pPr>
            <a:r>
              <a:t>Binghamton University</a:t>
            </a:r>
          </a:p>
          <a:p>
            <a:pPr algn="ctr">
              <a:defRPr sz="1000" b="0">
                <a:solidFill>
                  <a:srgbClr val="FFFFFF"/>
                </a:solidFill>
              </a:defRPr>
            </a:pPr>
          </a:p>
          <a:p>
            <a:pPr algn="ctr">
              <a:defRPr sz="1400" b="0">
                <a:solidFill>
                  <a:srgbClr val="0070C0"/>
                </a:solidFill>
              </a:defRPr>
            </a:pPr>
            <a:r>
              <a:t>Technical Presentation 2: Factor Analysis Application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Oval 2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59" y="1371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Problem Statement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Why Factor Analysis in Entertainment?</a:t>
            </a:r>
          </a:p>
        </p:txBody>
      </p:sp>
      <p:sp>
        <p:nvSpPr>
          <p:cNvPr id="5" name="Oval 4"/>
          <p:cNvSpPr/>
          <p:nvPr/>
        </p:nvSpPr>
        <p:spPr>
          <a:xfrm>
            <a:off x="274320" y="2240280"/>
            <a:ext cx="457200" cy="4572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40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Article Information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Research Papers &amp; Sources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3108960"/>
            <a:ext cx="457200" cy="4572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089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Factor Analysis Overview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EFA vs CFA</a:t>
            </a:r>
          </a:p>
        </p:txBody>
      </p:sp>
      <p:sp>
        <p:nvSpPr>
          <p:cNvPr id="9" name="Oval 8"/>
          <p:cNvSpPr/>
          <p:nvPr/>
        </p:nvSpPr>
        <p:spPr>
          <a:xfrm>
            <a:off x="274320" y="3977639"/>
            <a:ext cx="457200" cy="4572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977639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Case Study Introduction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Disney Brand Equity</a:t>
            </a:r>
          </a:p>
        </p:txBody>
      </p:sp>
      <p:sp>
        <p:nvSpPr>
          <p:cNvPr id="11" name="Oval 10"/>
          <p:cNvSpPr/>
          <p:nvPr/>
        </p:nvSpPr>
        <p:spPr>
          <a:xfrm>
            <a:off x="274320" y="4846320"/>
            <a:ext cx="457200" cy="4572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8463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Research Framework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5 Dimensions of Brand Equity</a:t>
            </a:r>
          </a:p>
        </p:txBody>
      </p:sp>
      <p:sp>
        <p:nvSpPr>
          <p:cNvPr id="13" name="Oval 12"/>
          <p:cNvSpPr/>
          <p:nvPr/>
        </p:nvSpPr>
        <p:spPr>
          <a:xfrm>
            <a:off x="274320" y="5715000"/>
            <a:ext cx="457200" cy="4572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57150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Research Methodology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Data Collection &amp; Approach</a:t>
            </a:r>
          </a:p>
        </p:txBody>
      </p:sp>
      <p:sp>
        <p:nvSpPr>
          <p:cNvPr id="15" name="Oval 14"/>
          <p:cNvSpPr/>
          <p:nvPr/>
        </p:nvSpPr>
        <p:spPr>
          <a:xfrm>
            <a:off x="4754880" y="1371600"/>
            <a:ext cx="457200" cy="4572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7.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1371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Reliability Analysis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Cronbach's Alpha Results</a:t>
            </a:r>
          </a:p>
        </p:txBody>
      </p:sp>
      <p:sp>
        <p:nvSpPr>
          <p:cNvPr id="17" name="Oval 16"/>
          <p:cNvSpPr/>
          <p:nvPr/>
        </p:nvSpPr>
        <p:spPr>
          <a:xfrm>
            <a:off x="4754880" y="2240280"/>
            <a:ext cx="457200" cy="4572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2240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CFA &amp; Validity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Factor Loadings, AVE, CR</a:t>
            </a:r>
          </a:p>
        </p:txBody>
      </p:sp>
      <p:sp>
        <p:nvSpPr>
          <p:cNvPr id="19" name="Oval 18"/>
          <p:cNvSpPr/>
          <p:nvPr/>
        </p:nvSpPr>
        <p:spPr>
          <a:xfrm>
            <a:off x="4754880" y="3108960"/>
            <a:ext cx="457200" cy="4572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9.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1089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Model Fit Assessment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Goodness-of-Fit Indices</a:t>
            </a:r>
          </a:p>
        </p:txBody>
      </p:sp>
      <p:sp>
        <p:nvSpPr>
          <p:cNvPr id="21" name="Oval 20"/>
          <p:cNvSpPr/>
          <p:nvPr/>
        </p:nvSpPr>
        <p:spPr>
          <a:xfrm>
            <a:off x="4754880" y="3977639"/>
            <a:ext cx="457200" cy="4572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10.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3977639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SEM Path Analysis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Structural Model Results</a:t>
            </a:r>
          </a:p>
        </p:txBody>
      </p:sp>
      <p:sp>
        <p:nvSpPr>
          <p:cNvPr id="23" name="Oval 22"/>
          <p:cNvSpPr/>
          <p:nvPr/>
        </p:nvSpPr>
        <p:spPr>
          <a:xfrm>
            <a:off x="4754880" y="4846320"/>
            <a:ext cx="457200" cy="4572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48463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Supporting Study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Media Advertising Impact</a:t>
            </a:r>
          </a:p>
        </p:txBody>
      </p:sp>
      <p:sp>
        <p:nvSpPr>
          <p:cNvPr id="25" name="Oval 24"/>
          <p:cNvSpPr/>
          <p:nvPr/>
        </p:nvSpPr>
        <p:spPr>
          <a:xfrm>
            <a:off x="4754880" y="5715000"/>
            <a:ext cx="457200" cy="4572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12.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57150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Discussion &amp; Conclusion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Findings, Limitations, Improvements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02060"/>
                </a:solidFill>
              </a:defRPr>
            </a:pPr>
            <a:r>
              <a:t>Why Factor Analysis in Entertainment?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The entertainment industry (Disney, NBCUniversal, Warner Bros.) manages complex brand portfolios across multiple business segments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Understanding which brand dimensions drive brand equity is critical for strategic decision-making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600" b="1">
                <a:solidFill>
                  <a:srgbClr val="00468C"/>
                </a:solidFill>
              </a:defRPr>
            </a:pPr>
            <a:r>
              <a:t>Key Questions: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Which dimensions (awareness, image, quality, association, loyalty) most strongly influence brand equity?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Can factor analysis reveal hidden patterns in consumer brand perception?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How do entertainment brands differ from traditional product brands?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600" b="1">
                <a:solidFill>
                  <a:srgbClr val="008000"/>
                </a:solidFill>
              </a:defRPr>
            </a:pPr>
            <a:r>
              <a:t>Business Impact: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Disney's brand value: $57.0 billion (Brand Finance, 2022)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Multi-segment strategy: Media, Parks, Studio, Streaming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• Factor Analysis helps identify which dimensions to invest 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Article Information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02060"/>
                </a:solidFill>
              </a:defRPr>
            </a:pPr>
            <a:r>
              <a:t>Paper 1 (Primary Case Study):</a:t>
            </a:r>
          </a:p>
          <a:p>
            <a:pPr>
              <a:spcAft>
                <a:spcPts val="600"/>
              </a:spcAft>
              <a:defRPr sz="1200" b="0">
                <a:solidFill>
                  <a:srgbClr val="323232"/>
                </a:solidFill>
              </a:defRPr>
            </a:pPr>
            <a:r>
              <a:t>Gilitwala, B. &amp; Nag, A.K. (2022). "Understanding Effective Factors Affecting Brand Equity."</a:t>
            </a:r>
          </a:p>
          <a:p>
            <a:pPr>
              <a:spcAft>
                <a:spcPts val="600"/>
              </a:spcAft>
              <a:defRPr sz="1200" b="0">
                <a:solidFill>
                  <a:srgbClr val="323232"/>
                </a:solidFill>
              </a:defRPr>
            </a:pPr>
            <a:r>
              <a:t>Cogent Business &amp; Management, 9(1), 2104431.</a:t>
            </a:r>
          </a:p>
          <a:p>
            <a:pPr>
              <a:spcAft>
                <a:spcPts val="600"/>
              </a:spcAft>
              <a:defRPr sz="1100" b="1">
                <a:solidFill>
                  <a:srgbClr val="0070C0"/>
                </a:solidFill>
              </a:defRPr>
            </a:pPr>
            <a:r>
              <a:t>DOI: 10.1080/23311975.2022.2104431</a:t>
            </a:r>
          </a:p>
          <a:p>
            <a:pPr>
              <a:spcAft>
                <a:spcPts val="600"/>
              </a:spcAft>
              <a:defRPr sz="1100" b="0">
                <a:solidFill>
                  <a:srgbClr val="008000"/>
                </a:solidFill>
              </a:defRPr>
            </a:pPr>
            <a:r>
              <a:t>Method: CFA + SEM | Sample: 400 | Application: Disney Brand Equity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500" b="1">
                <a:solidFill>
                  <a:srgbClr val="002060"/>
                </a:solidFill>
              </a:defRPr>
            </a:pPr>
            <a:r>
              <a:t>Paper 2 (Supporting Study):</a:t>
            </a:r>
          </a:p>
          <a:p>
            <a:pPr>
              <a:spcAft>
                <a:spcPts val="600"/>
              </a:spcAft>
              <a:defRPr sz="1200" b="0">
                <a:solidFill>
                  <a:srgbClr val="323232"/>
                </a:solidFill>
              </a:defRPr>
            </a:pPr>
            <a:r>
              <a:t>Sama, R. (2019). "Impact of Media Advertisements on Consumer Behaviour."</a:t>
            </a:r>
          </a:p>
          <a:p>
            <a:pPr>
              <a:spcAft>
                <a:spcPts val="600"/>
              </a:spcAft>
              <a:defRPr sz="1200" b="0">
                <a:solidFill>
                  <a:srgbClr val="323232"/>
                </a:solidFill>
              </a:defRPr>
            </a:pPr>
            <a:r>
              <a:t>Journal of Creative Communications, 14(1), 54-68.</a:t>
            </a:r>
          </a:p>
          <a:p>
            <a:pPr>
              <a:spcAft>
                <a:spcPts val="600"/>
              </a:spcAft>
              <a:defRPr sz="1100" b="1">
                <a:solidFill>
                  <a:srgbClr val="0070C0"/>
                </a:solidFill>
              </a:defRPr>
            </a:pPr>
            <a:r>
              <a:t>DOI: 10.1177/0973258618822624</a:t>
            </a:r>
          </a:p>
          <a:p>
            <a:pPr>
              <a:spcAft>
                <a:spcPts val="600"/>
              </a:spcAft>
              <a:defRPr sz="1100" b="0">
                <a:solidFill>
                  <a:srgbClr val="008000"/>
                </a:solidFill>
              </a:defRPr>
            </a:pPr>
            <a:r>
              <a:t>Method: EFA + PCA | Sample: 529 | Application: Media Advertising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500" b="1">
                <a:solidFill>
                  <a:srgbClr val="002060"/>
                </a:solidFill>
              </a:defRPr>
            </a:pPr>
            <a:r>
              <a:t>Paper 3 (Methodology Reference):</a:t>
            </a:r>
          </a:p>
          <a:p>
            <a:pPr>
              <a:spcAft>
                <a:spcPts val="600"/>
              </a:spcAft>
              <a:defRPr sz="1200" b="0">
                <a:solidFill>
                  <a:srgbClr val="323232"/>
                </a:solidFill>
              </a:defRPr>
            </a:pPr>
            <a:r>
              <a:t>Shrestha, N. (2021). "Factor Analysis as a Tool for Survey Analysis."</a:t>
            </a:r>
          </a:p>
          <a:p>
            <a:pPr>
              <a:spcAft>
                <a:spcPts val="600"/>
              </a:spcAft>
              <a:defRPr sz="1200" b="0">
                <a:solidFill>
                  <a:srgbClr val="323232"/>
                </a:solidFill>
              </a:defRPr>
            </a:pPr>
            <a:r>
              <a:t>American Journal of Applied Mathematics and Statistics, 9(1), 4-11.</a:t>
            </a:r>
          </a:p>
          <a:p>
            <a:pPr>
              <a:spcAft>
                <a:spcPts val="600"/>
              </a:spcAft>
              <a:defRPr sz="1100" b="1">
                <a:solidFill>
                  <a:srgbClr val="0070C0"/>
                </a:solidFill>
              </a:defRPr>
            </a:pPr>
            <a:r>
              <a:t>DOI: 10.12691/ajams-9-1-2</a:t>
            </a:r>
          </a:p>
          <a:p>
            <a:pPr>
              <a:spcAft>
                <a:spcPts val="600"/>
              </a:spcAft>
              <a:defRPr sz="1100" b="0">
                <a:solidFill>
                  <a:srgbClr val="008000"/>
                </a:solidFill>
              </a:defRPr>
            </a:pPr>
            <a:r>
              <a:t>Method: EFA | Application: FA Methodology &amp; Best Practices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What is Factor Analysis?</a:t>
            </a:r>
          </a:p>
          <a:p>
            <a:pPr algn="l">
              <a:defRPr sz="1400">
                <a:solidFill>
                  <a:srgbClr val="FFC000"/>
                </a:solidFill>
              </a:defRPr>
            </a:pPr>
            <a:r>
              <a:t>Brief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2060"/>
                </a:solidFill>
              </a:defRPr>
            </a:pPr>
            <a:r>
              <a:t>Definition: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A statistical method that reduces many observed variables into a smaller set of underlying factors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468C"/>
                </a:solidFill>
              </a:defRPr>
            </a:pPr>
            <a:r>
              <a:t>Mathematical Model:</a:t>
            </a:r>
          </a:p>
          <a:p>
            <a:pPr>
              <a:spcAft>
                <a:spcPts val="600"/>
              </a:spcAft>
              <a:defRPr sz="1300" b="1">
                <a:solidFill>
                  <a:srgbClr val="800000"/>
                </a:solidFill>
              </a:defRPr>
            </a:pPr>
            <a:r>
              <a:t>Xi = ai1F1 + ai2F2 + ... + aimFm + ei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Xi = observed variable i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F1...Fm = common factors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ai = factor loading coefficients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ei = unique/error factor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8000"/>
                </a:solidFill>
              </a:defRPr>
            </a:pPr>
            <a:r>
              <a:t>In This Study: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Brand Equity = f(Awareness, Image, Quality, Association, Loyalty)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128016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2060"/>
                </a:solidFill>
              </a:defRPr>
            </a:pPr>
            <a:r>
              <a:t>Two Main Types: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468C"/>
                </a:solidFill>
              </a:defRPr>
            </a:pPr>
            <a:r>
              <a:t>EFA (Exploratory):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Discovers factor structure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No prior assumptions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Uses eigenvalues &amp; scree plots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Rotation: Varimax/Oblimin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468C"/>
                </a:solidFill>
              </a:defRPr>
            </a:pPr>
            <a:r>
              <a:t>CFA (Confirmatory):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Tests hypothesized structure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Requires theoretical model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Uses goodness-of-fit indices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Part of SEM framework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 b="1">
                <a:solidFill>
                  <a:srgbClr val="008000"/>
                </a:solidFill>
              </a:defRPr>
            </a:pPr>
            <a:r>
              <a:t>This study uses CFA + SEM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Factor Analysis Procedure (CFA/SEM)</a:t>
            </a:r>
          </a:p>
        </p:txBody>
      </p:sp>
      <p:pic>
        <p:nvPicPr>
          <p:cNvPr id="3" name="Picture 2" descr="fa_proced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859536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EFA vs CFA: Understanding the Difference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32004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Aspect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EFA (Exploratory)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CFA (Confirmatory)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2060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Discover factor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Test hypothesized structure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2060"/>
                          </a:solidFill>
                        </a:defRPr>
                      </a:pPr>
                      <a:r>
                        <a:t>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No prior theory needed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Theory-driven model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2060"/>
                          </a:solidFill>
                        </a:defRPr>
                      </a:pPr>
                      <a:r>
                        <a:t>Extraction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PCA / Principal Axis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Maximum Likelihood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2060"/>
                          </a:solidFill>
                        </a:defRPr>
                      </a:pPr>
                      <a:r>
                        <a:t>Rotation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Varimax / Oblimin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Not applicable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2060"/>
                          </a:solidFill>
                        </a:defRPr>
                      </a:pPr>
                      <a:r>
                        <a:t>Fit Indices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Not typically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CFI, RMSEA, TLI, etc.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2060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Factor loadings, eigenvalues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Path coefficients, fit indices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2060"/>
                          </a:solidFill>
                        </a:defRPr>
                      </a:pPr>
                      <a:r>
                        <a:t>Software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SPSS, R, 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AMOS, Mplus, lavaan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2060"/>
                          </a:solidFill>
                        </a:defRPr>
                      </a:pPr>
                      <a:r>
                        <a:t>Used By</a:t>
                      </a:r>
                    </a:p>
                  </a:txBody>
                  <a:tcPr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Sama (2019)</a:t>
                      </a:r>
                    </a:p>
                  </a:txBody>
                  <a:tcPr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Gilitwala &amp; Nag (2022)</a:t>
                      </a:r>
                    </a:p>
                  </a:txBody>
                  <a:tcPr>
                    <a:solidFill>
                      <a:srgbClr val="DCEB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669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468C"/>
                </a:solidFill>
              </a:defRPr>
            </a:pPr>
            <a:r>
              <a:t>This presentation primarily focuses on CFA + SEM (Gilitwala &amp; Nag, 2022), with EFA comparison from Sama (2019)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Case Study: Disney Brand Equity</a:t>
            </a:r>
          </a:p>
          <a:p>
            <a:pPr algn="l">
              <a:defRPr sz="1400">
                <a:solidFill>
                  <a:srgbClr val="FFC000"/>
                </a:solidFill>
              </a:defRPr>
            </a:pPr>
            <a:r>
              <a:t>Gilitwala &amp; Nag (2022)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2060"/>
                </a:solidFill>
              </a:defRPr>
            </a:pPr>
            <a:r>
              <a:t>About Disney: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The Walt Disney Company is one of the world's largest entertainment conglomerates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468C"/>
                </a:solidFill>
              </a:defRPr>
            </a:pPr>
            <a:r>
              <a:t>Four Business Segments: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Media Networks (ABC, ESPN, Disney Channel)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Parks, Experiences &amp; Products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Studio Entertainment (Pixar, Marvel, Lucasfilm)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Direct-to-Consumer (Disney+, Hulu)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468C"/>
                </a:solidFill>
              </a:defRPr>
            </a:pPr>
            <a:r>
              <a:t>Competitors: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NBCUniversal (Comcast) - Peacock, Universal Studios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Warner Bros. Discovery - HBO, DC Comics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Netflix, Amazon Prime Video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Paramount Global - CBS, MTV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128016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2060"/>
                </a:solidFill>
              </a:defRPr>
            </a:pPr>
            <a:r>
              <a:t>Study Details: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 b="1">
                <a:solidFill>
                  <a:srgbClr val="00468C"/>
                </a:solidFill>
              </a:defRPr>
            </a:pPr>
            <a:r>
              <a:t>Location: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Disney Shop, DLF Mall, Noida, India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 b="1">
                <a:solidFill>
                  <a:srgbClr val="00468C"/>
                </a:solidFill>
              </a:defRPr>
            </a:pPr>
            <a:r>
              <a:t>Sample Size: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400 respondents (online questionnaire)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 b="1">
                <a:solidFill>
                  <a:srgbClr val="00468C"/>
                </a:solidFill>
              </a:defRPr>
            </a:pPr>
            <a:r>
              <a:t>Sampling: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Convenient sampling technique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 b="1">
                <a:solidFill>
                  <a:srgbClr val="00468C"/>
                </a:solidFill>
              </a:defRPr>
            </a:pPr>
            <a:r>
              <a:t>Scale: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5-point Likert scale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 b="1">
                <a:solidFill>
                  <a:srgbClr val="00468C"/>
                </a:solidFill>
              </a:defRPr>
            </a:pPr>
            <a:r>
              <a:t>Analysis Tool: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IBM AMOS (Version 24)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CB-SEM approach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Research Framework: 5 Dimensions of Brand Equity</a:t>
            </a:r>
          </a:p>
        </p:txBody>
      </p:sp>
      <p:pic>
        <p:nvPicPr>
          <p:cNvPr id="3" name="Picture 2" descr="research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029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0" y="128016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02060"/>
                </a:solidFill>
              </a:defRPr>
            </a:pPr>
            <a:r>
              <a:t>Five Hypotheses Tested: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H1: Brand Awareness → Brand Equity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H2: Brand Image → Brand Equity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H3: Perceived Quality → Brand Equity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H4: Brand Association → Brand Equity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H5: Brand Loyalty → Brand Equity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468C"/>
                </a:solidFill>
              </a:defRPr>
            </a:pPr>
            <a:r>
              <a:t>Theoretical Basis: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Aaker (1991) Brand Equity Model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Keller (1993) Customer-Based Brand Equity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100" b="1">
                <a:solidFill>
                  <a:srgbClr val="0070C0"/>
                </a:solidFill>
              </a:defRPr>
            </a:pPr>
            <a:r>
              <a:t>Source: Gilitwala &amp; Nag, 2022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1: Correlation Matrix</a:t>
            </a:r>
          </a:p>
          <a:p>
            <a:pPr algn="l">
              <a:defRPr sz="1400">
                <a:solidFill>
                  <a:srgbClr val="FFC000"/>
                </a:solidFill>
              </a:defRPr>
            </a:pPr>
            <a:r>
              <a:t>Examining Relationships Between Variables</a:t>
            </a:r>
          </a:p>
        </p:txBody>
      </p:sp>
      <p:pic>
        <p:nvPicPr>
          <p:cNvPr id="3" name="Picture 2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475488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128016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02060"/>
                </a:solidFill>
              </a:defRPr>
            </a:pPr>
            <a:r>
              <a:t>Key Observations: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Brand Image has the strongest relationship with Brand Equity (highest β in SEM)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Brand Loyalty also strongly relates to Brand Equity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Brand Awareness has the weakest (negative) relationship with Brand Equity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468C"/>
                </a:solidFill>
              </a:defRPr>
            </a:pPr>
            <a:r>
              <a:t>Why This Matters: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Moderate correlations between variables suggest they share variance but are distinct constructs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This supports the applicability of CFA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000" b="0">
                <a:solidFill>
                  <a:srgbClr val="323232"/>
                </a:solidFill>
              </a:defRPr>
            </a:pPr>
            <a:r>
              <a:t>Illustrative correlation pattern based on</a:t>
            </a:r>
          </a:p>
          <a:p>
            <a:pPr>
              <a:spcAft>
                <a:spcPts val="600"/>
              </a:spcAft>
              <a:defRPr sz="1000" b="0">
                <a:solidFill>
                  <a:srgbClr val="323232"/>
                </a:solidFill>
              </a:defRPr>
            </a:pPr>
            <a:r>
              <a:t>reported SEM results in Gilitwala &amp; Nag (2022)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2: Reliability Analysis (Cronbach's Alpha)</a:t>
            </a:r>
          </a:p>
        </p:txBody>
      </p:sp>
      <p:pic>
        <p:nvPicPr>
          <p:cNvPr id="3" name="Picture 2" descr="cronbach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80160"/>
            <a:ext cx="5029200" cy="36576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03520" y="1371600"/>
          <a:ext cx="3657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219200"/>
                <a:gridCol w="1219200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α Value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2060"/>
                          </a:solidFill>
                        </a:defRPr>
                      </a:pPr>
                      <a:r>
                        <a:t>Brand Awareness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2060"/>
                          </a:solidFill>
                        </a:defRPr>
                      </a:pPr>
                      <a:r>
                        <a:t>0.909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2060"/>
                          </a:solidFill>
                        </a:defRPr>
                      </a:pPr>
                      <a:r>
                        <a:t>Excellent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2060"/>
                          </a:solidFill>
                        </a:defRPr>
                      </a:pPr>
                      <a:r>
                        <a:t>Brand Image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2060"/>
                          </a:solidFill>
                        </a:defRPr>
                      </a:pPr>
                      <a:r>
                        <a:t>0.711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2060"/>
                          </a:solidFill>
                        </a:defRPr>
                      </a:pPr>
                      <a:r>
                        <a:t>Acceptable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2060"/>
                          </a:solidFill>
                        </a:defRPr>
                      </a:pPr>
                      <a:r>
                        <a:t>Perceived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2060"/>
                          </a:solidFill>
                        </a:defRPr>
                      </a:pPr>
                      <a:r>
                        <a:t>0.889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2060"/>
                          </a:solidFill>
                        </a:defRPr>
                      </a:pPr>
                      <a:r>
                        <a:t>Good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2060"/>
                          </a:solidFill>
                        </a:defRPr>
                      </a:pPr>
                      <a:r>
                        <a:t>Brand Association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2060"/>
                          </a:solidFill>
                        </a:defRPr>
                      </a:pPr>
                      <a:r>
                        <a:t>0.943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2060"/>
                          </a:solidFill>
                        </a:defRPr>
                      </a:pPr>
                      <a:r>
                        <a:t>Excellent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2060"/>
                          </a:solidFill>
                        </a:defRPr>
                      </a:pPr>
                      <a:r>
                        <a:t>Brand Loyalty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2060"/>
                          </a:solidFill>
                        </a:defRPr>
                      </a:pPr>
                      <a:r>
                        <a:t>0.912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2060"/>
                          </a:solidFill>
                        </a:defRPr>
                      </a:pPr>
                      <a:r>
                        <a:t>Excellent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2060"/>
                          </a:solidFill>
                        </a:defRPr>
                      </a:pPr>
                      <a:r>
                        <a:t>Brand Equity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2060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2060"/>
                          </a:solidFill>
                        </a:defRPr>
                      </a:pPr>
                      <a:r>
                        <a:t>Good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303520" y="448056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8000"/>
                </a:solidFill>
              </a:defRPr>
            </a:pPr>
            <a:r>
              <a:t>All values &gt; 0.70 threshold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Questionnaire is reliable and acceptable for the study (Peterson, 1994)</a:t>
            </a:r>
          </a:p>
          <a:p>
            <a:pPr>
              <a:defRPr sz="600"/>
            </a:pPr>
          </a:p>
          <a:p>
            <a:pPr>
              <a:defRPr sz="1000" b="1">
                <a:solidFill>
                  <a:srgbClr val="0070C0"/>
                </a:solidFill>
              </a:defRPr>
            </a:pPr>
            <a:r>
              <a:t>Source: Gilitwala &amp; Nag (2022), Table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3: Confirmatory Factor Analysis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02060"/>
                </a:solidFill>
              </a:defRPr>
            </a:pPr>
            <a:r>
              <a:t>CFA Validity Criteria (Gilitwala &amp; Nag, 2022):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468C"/>
                </a:solidFill>
              </a:defRPr>
            </a:pPr>
            <a:r>
              <a:t>Convergent Validity: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All factor loadings &gt; 0.70 (threshold met)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Average Variance Extracted (AVE) &gt; 0.50 for all constructs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Composite Reliability (CR) &gt; 0.70 for all constructs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468C"/>
                </a:solidFill>
              </a:defRPr>
            </a:pPr>
            <a:r>
              <a:t>Discriminant Validity: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Square root of AVE &gt; inter-construct correlations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All constructs are distinct from each other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8000"/>
                </a:solidFill>
              </a:defRPr>
            </a:pPr>
            <a:r>
              <a:t>What This Means: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The 5 brand equity dimensions are reliably measured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Each dimension captures a unique aspect of brand perception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The measurement model is valid for structural analysis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846320" y="1371600"/>
          <a:ext cx="46634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22960"/>
                <a:gridCol w="822960"/>
                <a:gridCol w="822960"/>
                <a:gridCol w="82296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Construct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FL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AVE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α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Brand Awareness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0.909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Brand Image</a:t>
                      </a:r>
                    </a:p>
                  </a:txBody>
                  <a:tcPr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0.70</a:t>
                      </a:r>
                    </a:p>
                  </a:txBody>
                  <a:tcPr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0.50</a:t>
                      </a:r>
                    </a:p>
                  </a:txBody>
                  <a:tcPr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0.70</a:t>
                      </a:r>
                    </a:p>
                  </a:txBody>
                  <a:tcPr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0.711</a:t>
                      </a:r>
                    </a:p>
                  </a:txBody>
                  <a:tcPr>
                    <a:solidFill>
                      <a:srgbClr val="F0F5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Perceived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0.889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Brand Association</a:t>
                      </a:r>
                    </a:p>
                  </a:txBody>
                  <a:tcPr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0.70</a:t>
                      </a:r>
                    </a:p>
                  </a:txBody>
                  <a:tcPr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0.50</a:t>
                      </a:r>
                    </a:p>
                  </a:txBody>
                  <a:tcPr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0.70</a:t>
                      </a:r>
                    </a:p>
                  </a:txBody>
                  <a:tcPr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0.943</a:t>
                      </a:r>
                    </a:p>
                  </a:txBody>
                  <a:tcPr>
                    <a:solidFill>
                      <a:srgbClr val="F0F5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Brand Loyalty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0.912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Brand Equity</a:t>
                      </a:r>
                    </a:p>
                  </a:txBody>
                  <a:tcPr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0.70</a:t>
                      </a:r>
                    </a:p>
                  </a:txBody>
                  <a:tcPr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0.50</a:t>
                      </a:r>
                    </a:p>
                  </a:txBody>
                  <a:tcPr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0.70</a:t>
                      </a:r>
                    </a:p>
                  </a:txBody>
                  <a:tcPr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0F5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846320" y="475488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23232"/>
                </a:solidFill>
              </a:defRPr>
            </a:pPr>
            <a:r>
              <a:t>FL = Factor Loading, AVE = Average Variance Extracted</a:t>
            </a:r>
          </a:p>
          <a:p>
            <a:pPr>
              <a:defRPr sz="900">
                <a:solidFill>
                  <a:srgbClr val="323232"/>
                </a:solidFill>
              </a:defRPr>
            </a:pPr>
            <a:r>
              <a:t>CR = Composite Reliability, α = Cronbach's Alpha</a:t>
            </a:r>
          </a:p>
          <a:p>
            <a:pPr>
              <a:defRPr sz="1000" b="1">
                <a:solidFill>
                  <a:srgbClr val="0070C0"/>
                </a:solidFill>
              </a:defRPr>
            </a:pPr>
            <a:r>
              <a:t>Source: Gilitwala &amp; Nag (2022), Table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4: Model Fit Assessment</a:t>
            </a:r>
          </a:p>
        </p:txBody>
      </p:sp>
      <p:pic>
        <p:nvPicPr>
          <p:cNvPr id="3" name="Picture 2" descr="model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80160"/>
            <a:ext cx="5486400" cy="36576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60720" y="1371600"/>
          <a:ext cx="3200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100"/>
                <a:gridCol w="800100"/>
                <a:gridCol w="800100"/>
                <a:gridCol w="800100"/>
              </a:tblGrid>
              <a:tr h="4343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Index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Threshold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CMIN/df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2.975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&lt; 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8000"/>
                          </a:solidFill>
                        </a:defRPr>
                      </a:pPr>
                      <a:r>
                        <a:t>Good Fit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GFI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0.880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86400"/>
                          </a:solidFill>
                        </a:defRPr>
                      </a:pPr>
                      <a:r>
                        <a:t>Marginal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CFI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0.970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8000"/>
                          </a:solidFill>
                        </a:defRPr>
                      </a:pPr>
                      <a:r>
                        <a:t>Good Fit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IFI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0.971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8000"/>
                          </a:solidFill>
                        </a:defRPr>
                      </a:pPr>
                      <a:r>
                        <a:t>Good Fit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NFI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0.956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8000"/>
                          </a:solidFill>
                        </a:defRPr>
                      </a:pPr>
                      <a:r>
                        <a:t>Good Fit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TLI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0.965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&gt; 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8000"/>
                          </a:solidFill>
                        </a:defRPr>
                      </a:pPr>
                      <a:r>
                        <a:t>Good Fit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RMSEA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2060"/>
                          </a:solidFill>
                        </a:defRPr>
                      </a:pPr>
                      <a:r>
                        <a:t>&lt; 0.08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8000"/>
                          </a:solidFill>
                        </a:defRPr>
                      </a:pPr>
                      <a:r>
                        <a:t>Good Fit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760720" y="50292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8000"/>
                </a:solidFill>
              </a:defRPr>
            </a:pPr>
            <a:r>
              <a:t>6 out of 7 indices indicate Good Fit</a:t>
            </a:r>
          </a:p>
          <a:p>
            <a:pPr>
              <a:defRPr sz="1000" b="1">
                <a:solidFill>
                  <a:srgbClr val="0070C0"/>
                </a:solidFill>
              </a:defRPr>
            </a:pPr>
            <a:r>
              <a:t>Source: Gilitwala &amp; Nag (2022), Table 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5: Structural Equation Model (Path Analysis)</a:t>
            </a:r>
          </a:p>
        </p:txBody>
      </p:sp>
      <p:pic>
        <p:nvPicPr>
          <p:cNvPr id="3" name="Picture 2" descr="sem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80160"/>
            <a:ext cx="530352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28016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02060"/>
                </a:solidFill>
              </a:defRPr>
            </a:pPr>
            <a:r>
              <a:t>Path Coefficients (β):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 b="1">
                <a:solidFill>
                  <a:srgbClr val="006400"/>
                </a:solidFill>
              </a:defRPr>
            </a:pPr>
            <a:r>
              <a:t>Brand Image → BE: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Highest positive relationship (strongest predictor)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 b="1">
                <a:solidFill>
                  <a:srgbClr val="004080"/>
                </a:solidFill>
              </a:defRPr>
            </a:pPr>
            <a:r>
              <a:t>Brand Loyalty → BE: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Second strongest, significant relationship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323232"/>
                </a:solidFill>
              </a:defRPr>
            </a:pPr>
            <a:r>
              <a:t>Perceived Quality → BE: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Low, insignificant relationship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323232"/>
                </a:solidFill>
              </a:defRPr>
            </a:pPr>
            <a:r>
              <a:t>Brand Association → BE: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Low, insignificant relationship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 b="1">
                <a:solidFill>
                  <a:srgbClr val="C80000"/>
                </a:solidFill>
              </a:defRPr>
            </a:pPr>
            <a:r>
              <a:t>Brand Awareness → BE: β = -0.086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Negative effect (saturation effect)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000" b="1">
                <a:solidFill>
                  <a:srgbClr val="0070C0"/>
                </a:solidFill>
              </a:defRPr>
            </a:pPr>
            <a:r>
              <a:t>Source: Gilitwala &amp; Nag (2022), Table 6</a:t>
            </a:r>
          </a:p>
          <a:p>
            <a:pPr>
              <a:spcAft>
                <a:spcPts val="600"/>
              </a:spcAft>
              <a:defRPr sz="900" b="0">
                <a:solidFill>
                  <a:srgbClr val="323232"/>
                </a:solidFill>
              </a:defRPr>
            </a:pPr>
            <a:r>
              <a:t>Note: β = -0.086 is directly reported;</a:t>
            </a:r>
          </a:p>
          <a:p>
            <a:pPr>
              <a:spcAft>
                <a:spcPts val="600"/>
              </a:spcAft>
              <a:defRPr sz="900" b="0">
                <a:solidFill>
                  <a:srgbClr val="323232"/>
                </a:solidFill>
              </a:defRPr>
            </a:pPr>
            <a:r>
              <a:t>other β values are illustrative of</a:t>
            </a:r>
          </a:p>
          <a:p>
            <a:pPr>
              <a:spcAft>
                <a:spcPts val="600"/>
              </a:spcAft>
              <a:defRPr sz="900" b="0">
                <a:solidFill>
                  <a:srgbClr val="323232"/>
                </a:solidFill>
              </a:defRPr>
            </a:pPr>
            <a:r>
              <a:t>reported relative effect sizes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6: Impact of Dimensions on Disney Brand Equity</a:t>
            </a:r>
          </a:p>
        </p:txBody>
      </p:sp>
      <p:pic>
        <p:nvPicPr>
          <p:cNvPr id="3" name="Picture 2" descr="brand_equity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4864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720" y="1280160"/>
            <a:ext cx="3200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02060"/>
                </a:solidFill>
              </a:defRPr>
            </a:pPr>
            <a:r>
              <a:t>Key Insights: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 b="1">
                <a:solidFill>
                  <a:srgbClr val="006400"/>
                </a:solidFill>
              </a:defRPr>
            </a:pPr>
            <a:r>
              <a:t>Brand Image is #1 driver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How consumers perceive Disney emotionally matters most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 b="1">
                <a:solidFill>
                  <a:srgbClr val="004080"/>
                </a:solidFill>
              </a:defRPr>
            </a:pPr>
            <a:r>
              <a:t>Brand Loyalty is #2 driver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Repeat purchase and devotion are crucial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 b="1">
                <a:solidFill>
                  <a:srgbClr val="C80000"/>
                </a:solidFill>
              </a:defRPr>
            </a:pPr>
            <a:r>
              <a:t>Surprising Finding: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Brand Awareness has a negative effect (regression weight = -0.086)!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Possible saturation: everyone knows Disney, but awareness alone does not create equity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000" b="1">
                <a:solidFill>
                  <a:srgbClr val="0070C0"/>
                </a:solidFill>
              </a:defRPr>
            </a:pPr>
            <a:r>
              <a:t>Source: Gilitwala &amp; Nag (2022)</a:t>
            </a:r>
          </a:p>
          <a:p>
            <a:pPr>
              <a:spcAft>
                <a:spcPts val="600"/>
              </a:spcAft>
              <a:defRPr sz="900" b="0">
                <a:solidFill>
                  <a:srgbClr val="323232"/>
                </a:solidFill>
              </a:defRPr>
            </a:pPr>
            <a:r>
              <a:t>Chart shows illustrative β values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Supporting Study: Media Advertisements &amp; Consumer Behaviour</a:t>
            </a:r>
          </a:p>
          <a:p>
            <a:pPr algn="l">
              <a:defRPr sz="1400">
                <a:solidFill>
                  <a:srgbClr val="FFC000"/>
                </a:solidFill>
              </a:defRPr>
            </a:pPr>
            <a:r>
              <a:t>Sama (2019) - EFA Application</a:t>
            </a:r>
          </a:p>
        </p:txBody>
      </p:sp>
      <p:pic>
        <p:nvPicPr>
          <p:cNvPr id="3" name="Picture 2" descr="media_e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80160"/>
            <a:ext cx="50292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0" y="128016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02060"/>
                </a:solidFill>
              </a:defRPr>
            </a:pPr>
            <a:r>
              <a:t>Study Overview: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529 respondents, online survey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5 media: TV, Radio, Newspaper, Magazine, Internet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468C"/>
                </a:solidFill>
              </a:defRPr>
            </a:pPr>
            <a:r>
              <a:t>EFA Results: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Extraction: PCA with Varimax rotation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2 factors extracted (eigenvalue &gt; 1):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 b="1">
                <a:solidFill>
                  <a:srgbClr val="004080"/>
                </a:solidFill>
              </a:defRPr>
            </a:pPr>
            <a:r>
              <a:t>Factor 1 - Pre-Purchase: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Awareness, Interest, Conviction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 b="1">
                <a:solidFill>
                  <a:srgbClr val="C89600"/>
                </a:solidFill>
              </a:defRPr>
            </a:pPr>
            <a:r>
              <a:t>Factor 2 - Purchase: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Purchase, Post-Purchase behaviour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200" b="1">
                <a:solidFill>
                  <a:srgbClr val="008000"/>
                </a:solidFill>
              </a:defRPr>
            </a:pPr>
            <a:r>
              <a:t>Both factors: Cronbach's α &gt; 0.70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900" b="0">
                <a:solidFill>
                  <a:srgbClr val="323232"/>
                </a:solidFill>
              </a:defRPr>
            </a:pPr>
            <a:r>
              <a:t>Chart: Illustrative loadings based on</a:t>
            </a:r>
          </a:p>
          <a:p>
            <a:pPr>
              <a:spcAft>
                <a:spcPts val="600"/>
              </a:spcAft>
              <a:defRPr sz="900" b="0">
                <a:solidFill>
                  <a:srgbClr val="323232"/>
                </a:solidFill>
              </a:defRPr>
            </a:pPr>
            <a:r>
              <a:t>the two-factor structure in Sama (2019)</a:t>
            </a:r>
          </a:p>
          <a:p>
            <a:pPr>
              <a:spcAft>
                <a:spcPts val="600"/>
              </a:spcAft>
              <a:defRPr sz="1000" b="1">
                <a:solidFill>
                  <a:srgbClr val="0070C0"/>
                </a:solidFill>
              </a:defRPr>
            </a:pPr>
            <a:r>
              <a:t>DOI: 10.1177/0973258618822624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Factor Interpretation &amp; Business Implications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2060"/>
                </a:solidFill>
              </a:defRPr>
            </a:pPr>
            <a:r>
              <a:t>Disney Brand Equity Drivers: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6400"/>
                </a:solidFill>
              </a:defRPr>
            </a:pPr>
            <a:r>
              <a:t>Most Important → Brand Image: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Emotional connection ('magical', 'fun')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Visual identity and character recognition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Nostalgic brand associations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Cross-generational appeal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4080"/>
                </a:solidFill>
              </a:defRPr>
            </a:pPr>
            <a:r>
              <a:t>Second Most Important → Brand Loyalty: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Repeat purchases of Disney products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Willingness to pay premium prices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Recommendation to family and friends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Theme park revisits &amp; streaming retention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128016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2060"/>
                </a:solidFill>
              </a:defRPr>
            </a:pPr>
            <a:r>
              <a:t>Implications for Media Companies: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468C"/>
                </a:solidFill>
              </a:defRPr>
            </a:pPr>
            <a:r>
              <a:t>For Disney: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Invest in brand image (content quality, emotional storytelling)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Build loyalty programs (Disney+, annual passes)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468C"/>
                </a:solidFill>
              </a:defRPr>
            </a:pPr>
            <a:r>
              <a:t>For NBCUniversal: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Strengthen brand image through franchise experiences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Develop Peacock loyalty features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Universal Studios immersive attractions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 b="1">
                <a:solidFill>
                  <a:srgbClr val="00468C"/>
                </a:solidFill>
              </a:defRPr>
            </a:pPr>
            <a:r>
              <a:t>For All Media Companies: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Brand awareness alone is insufficient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Focus on emotional engagement &gt; awareness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Loyalty drives long-term brand equity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Discussion &amp; 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412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06400"/>
                </a:solidFill>
              </a:defRPr>
            </a:pPr>
            <a:r>
              <a:t>Finding 1: Brand Image is the Primary Driver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Disney's emotional storytelling, character recognition, and 'magical' brand perception create the strongest impact on brand equity (highest positive relationship)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500" b="1">
                <a:solidFill>
                  <a:srgbClr val="004080"/>
                </a:solidFill>
              </a:defRPr>
            </a:pPr>
            <a:r>
              <a:t>Finding 2: Brand Loyalty is the Second Driver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Repeat consumption, willingness to pay premium, and brand devotion significantly predict brand equity (second strongest relationship)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500" b="1">
                <a:solidFill>
                  <a:srgbClr val="C80000"/>
                </a:solidFill>
              </a:defRPr>
            </a:pPr>
            <a:r>
              <a:t>Finding 3: Brand Awareness Has Negative Effect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Surprising result: regression weight = -0.086. Possible explanation: Disney is so universally known that mere awareness creates a saturation effect without adding equity value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500" b="1">
                <a:solidFill>
                  <a:srgbClr val="00468C"/>
                </a:solidFill>
              </a:defRPr>
            </a:pPr>
            <a:r>
              <a:t>Finding 4: Media Advertising Operates in Two Stages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Sama (2019) found advertising effects split into Pre-Purchase (awareness, interest, conviction) and Purchase (buying decision, post-purchase) stages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500" b="1">
                <a:solidFill>
                  <a:srgbClr val="002060"/>
                </a:solidFill>
              </a:defRPr>
            </a:pPr>
            <a:r>
              <a:t>Finding 5: CFA/SEM Validates Brand Equity Dimensions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The five-factor model (Aaker, 1991) is statistically validated for Disney with strong model fit (CFI = 0.970, RMSEA = 0.070)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Comments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2060"/>
                </a:solidFill>
              </a:defRPr>
            </a:pPr>
            <a:r>
              <a:t>Strengths of Gilitwala &amp; Nag (2022):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Strong theoretical foundation based on Aaker's (1991) Brand Equity Model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Large sample size (n = 400) exceeds minimum requirements for CFA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Use of CB-SEM with AMOS provides rigorous statistical testing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All reliability and validity criteria met (CR &gt; 0.70, AVE &gt; 0.50)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Open access (CC-BY 4.0) promotes research transparency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002060"/>
                </a:solidFill>
              </a:defRPr>
            </a:pPr>
            <a:r>
              <a:t>Strengths of Sama (2019):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Comprehensive coverage of 5 media platforms across 5 behaviour stages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Large sample (n = 529) with diverse student population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EFA reveals clear two-factor structure in consumer behaviour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008000"/>
                </a:solidFill>
              </a:defRPr>
            </a:pPr>
            <a:r>
              <a:t>Practical Relevance: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Both studies provide actionable insights for entertainment marketing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Results can guide budget allocation between brand image vs. awareness campaigns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Factor analysis methodology is well-suited for brand equity measurement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2060"/>
                </a:solidFill>
              </a:defRPr>
            </a:pPr>
            <a:r>
              <a:t>Gilitwala &amp; Nag (2022) Limitations: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Single location: Only Disney Shop at DLF Mall, Noida, India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Convenience sampling: May not represent all Disney consumers globally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GFI = 0.880 is slightly below the recommended 0.90 threshold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Cross-sectional design: Cannot capture changes in brand equity over time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Cultural bias: Indian consumers may perceive Disney differently than Western markets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002060"/>
                </a:solidFill>
              </a:defRPr>
            </a:pPr>
            <a:r>
              <a:t>Sama (2019) Limitations: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Student-only sample (529 respondents): Limited generalizability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Did not include emerging media (social media influencers, podcasts)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Exact KMO and Bartlett's test statistics not prominently reported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00468C"/>
                </a:solidFill>
              </a:defRPr>
            </a:pPr>
            <a:r>
              <a:t>General Limitations: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Self-reported data may contain response bias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Factor analysis assumes linear relationships between variables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Results are context-specific and may not generalize to other entertainment companies like NBCUniversal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Suggested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2060"/>
                </a:solidFill>
              </a:defRPr>
            </a:pPr>
            <a:r>
              <a:t>Methodological Improvements: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Use probability sampling (stratified random) for better generalizability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Include multi-location data collection (Disney parks, stores across countries)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Apply longitudinal design to track brand equity changes over time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Compare EFA and CFA approaches on the same dataset for robustness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00468C"/>
                </a:solidFill>
              </a:defRPr>
            </a:pPr>
            <a:r>
              <a:t>Extended Scope: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Include competitor comparison: Disney vs. NBCUniversal vs. Warner Bros.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Add digital brand equity dimensions: social media engagement, streaming metrics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Include Net Promoter Score (NPS) and Customer Lifetime Value (CLV)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Study the impact of Disney+ streaming launch on brand equity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008000"/>
                </a:solidFill>
              </a:defRPr>
            </a:pPr>
            <a:r>
              <a:t>Advanced Analytics: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Apply Multi-Group Analysis (MGA) to compare across demographics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Use higher-order CFA with second-order factor for overall brand equity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Incorporate sentiment analysis from social media as additional data source</a:t>
            </a:r>
          </a:p>
          <a:p>
            <a:pPr>
              <a:spcAft>
                <a:spcPts val="600"/>
              </a:spcAft>
              <a:defRPr sz="1300">
                <a:solidFill>
                  <a:srgbClr val="323232"/>
                </a:solidFill>
              </a:defRPr>
            </a:pPr>
            <a:r>
              <a:t>Test mediation effects: Image → Loyalty → Equity (indirect effects)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412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02060"/>
                </a:solidFill>
              </a:defRPr>
            </a:pPr>
            <a:r>
              <a:t>Summary: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Factor Analysis (CFA/SEM) is a powerful tool for understanding brand equity in the entertainment industry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Disney's brand equity is primarily driven by Brand Image and Brand Loyalty, not just Brand Awareness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The five-factor model (Awareness, Image, Quality, Association, Loyalty) is validated for Disney with strong model fit indices (CFI = 0.970, RMSEA = 0.070)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Brand Awareness alone has a negative effect on equity, suggesting entertainment companies should focus on building emotional connections, not just recognition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Media advertising operates in two distinct stages (Pre-Purchase and Purchase), as confirmed by EFA in Sama (2019)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008000"/>
                </a:solidFill>
              </a:defRPr>
            </a:pPr>
            <a:r>
              <a:t>Key Takeaway:</a:t>
            </a:r>
          </a:p>
          <a:p>
            <a:pPr>
              <a:spcAft>
                <a:spcPts val="600"/>
              </a:spcAft>
              <a:defRPr sz="1400">
                <a:solidFill>
                  <a:srgbClr val="323232"/>
                </a:solidFill>
              </a:defRPr>
            </a:pPr>
            <a:r>
              <a:t>For entertainment companies like Disney and NBCUniversal, investing in brand image and customer loyalty yields stronger brand equity than increasing awareness alone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1. Gilitwala, B. &amp; Nag, A.K. (2022). "Understanding Effective Factors Affecting Brand Equity." Cogent Business &amp; Management, 9(1), 2104431. DOI: 10.1080/23311975.2022.2104431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2. Sama, R. (2019). "Impact of Media Advertisements on Consumer Behaviour." Journal of Creative Communications, 14(1), 54-68. DOI: 10.1177/0973258618822624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3. Shrestha, N. (2021). "Factor Analysis as a Tool for Survey Analysis." American J. of Applied Mathematics and Statistics, 9(1), 4-11. DOI: 10.12691/ajams-9-1-2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4. Aaker, D.A. (1991). Managing Brand Equity: Capitalizing on the Value of a Brand Name. Free Press, New York.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5. Keller, K.L. (1993). "Conceptualizing, Measuring, and Managing Customer-Based Brand Equity." Journal of Marketing, 57(1), 1-22.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6. Peterson, R.A. (1994). "A Meta-Analysis of Cronbach's Coefficient Alpha." Journal of Consumer Research, 21(2), 381-391.</a:t>
            </a: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100">
                <a:solidFill>
                  <a:srgbClr val="323232"/>
                </a:solidFill>
              </a:defRPr>
            </a:pPr>
            <a:r>
              <a:t>7. Tong, X. &amp; Hawley, J.M. (2009). "Measuring Customer-Based Brand Equity." Journal of Fashion Marketing and Management, 13(3), 357-376.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9144000" cy="73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C000"/>
                </a:solidFill>
              </a:defRPr>
            </a:pPr>
            <a:r>
              <a:t>Questions &amp; Discussion</a:t>
            </a:r>
          </a:p>
          <a:p>
            <a:pPr>
              <a:defRPr sz="1000"/>
            </a:pP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Lana Jalal Gidan</a:t>
            </a:r>
          </a:p>
          <a:p>
            <a:pPr algn="ctr">
              <a:defRPr sz="1400" b="1">
                <a:solidFill>
                  <a:srgbClr val="0070C0"/>
                </a:solidFill>
              </a:defRPr>
            </a:pPr>
            <a:r>
              <a:t>SSIE-605 | Binghamton University | Professor Susan Lu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