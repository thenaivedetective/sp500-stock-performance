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Factor Analysis in Marketing</a:t>
            </a:r>
          </a:p>
          <a:p>
            <a:pPr algn="ctr">
              <a:defRPr sz="2000">
                <a:solidFill>
                  <a:srgbClr val="FFC000"/>
                </a:solidFill>
              </a:defRPr>
            </a:pPr>
            <a:r>
              <a:t>Applications, Methodology &amp; Real-World Case Study</a:t>
            </a:r>
          </a:p>
          <a:p>
            <a:pPr>
              <a:defRPr sz="1200"/>
            </a:pP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SSIE 605 – Applied Multivariate Data Analysis</a:t>
            </a:r>
          </a:p>
          <a:p>
            <a:pPr algn="ctr">
              <a:defRPr sz="1600">
                <a:solidFill>
                  <a:srgbClr val="B4D2FF"/>
                </a:solidFill>
              </a:defRPr>
            </a:pPr>
            <a:r>
              <a:t>Professor Susan Lu</a:t>
            </a:r>
          </a:p>
          <a:p>
            <a:pPr>
              <a:defRPr sz="1000"/>
            </a:pPr>
          </a:p>
          <a:p>
            <a:pPr algn="ctr">
              <a:defRPr sz="2200" b="1">
                <a:solidFill>
                  <a:srgbClr val="FFFFFF"/>
                </a:solidFill>
              </a:defRPr>
            </a:pPr>
            <a:r>
              <a:t>Lana Jalal Gidan</a:t>
            </a:r>
          </a:p>
          <a:p>
            <a:pPr algn="ctr">
              <a:defRPr sz="1400">
                <a:solidFill>
                  <a:srgbClr val="B4D2FF"/>
                </a:solidFill>
              </a:defRPr>
            </a:pPr>
            <a:r>
              <a:t>Binghamton University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2060"/>
                </a:solidFill>
              </a:defRPr>
            </a:pPr>
            <a:r>
              <a:t>1. 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002060"/>
                </a:solidFill>
              </a:defRPr>
            </a:pPr>
            <a:r>
              <a:t>2.  Article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002060"/>
                </a:solidFill>
              </a:defRPr>
            </a:pPr>
            <a:r>
              <a:t>3.  What is Factor Analysis?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002060"/>
                </a:solidFill>
              </a:defRPr>
            </a:pPr>
            <a:r>
              <a:t>4.  Factor Analysis 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002060"/>
                </a:solidFill>
              </a:defRPr>
            </a:pPr>
            <a:r>
              <a:t>5.  Case Study: Consumer Preferences (Toothpaste Market)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002060"/>
                </a:solidFill>
              </a:defRPr>
            </a:pPr>
            <a:r>
              <a:t>6.  Statistical Results &amp; Numerical Outputs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002060"/>
                </a:solidFill>
              </a:defRPr>
            </a:pPr>
            <a:r>
              <a:t>7.  Factor Interpretation &amp; Visualization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463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002060"/>
                </a:solidFill>
              </a:defRPr>
            </a:pPr>
            <a:r>
              <a:t>8.  Discussion &amp; Key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03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002060"/>
                </a:solidFill>
              </a:defRPr>
            </a:pPr>
            <a:r>
              <a:t>9.  Comments, Limitations &amp; Improvements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60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002060"/>
                </a:solidFill>
              </a:defRPr>
            </a:pPr>
            <a:r>
              <a:t>10.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23232"/>
                </a:solidFill>
              </a:defRPr>
            </a:pPr>
            <a:r>
              <a:t>• Marketing researchers collect large volumes of consumer data with many variables</a:t>
            </a:r>
          </a:p>
          <a:p>
            <a:pPr>
              <a:spcAft>
                <a:spcPts val="600"/>
              </a:spcAft>
              <a:defRPr sz="1700">
                <a:solidFill>
                  <a:srgbClr val="323232"/>
                </a:solidFill>
              </a:defRPr>
            </a:pPr>
            <a:r>
              <a:t>• Too many correlated variables lead to multicollinearity and overfitting</a:t>
            </a:r>
          </a:p>
          <a:p>
            <a:pPr>
              <a:spcAft>
                <a:spcPts val="600"/>
              </a:spcAft>
              <a:defRPr sz="1700">
                <a:solidFill>
                  <a:srgbClr val="323232"/>
                </a:solidFill>
              </a:defRPr>
            </a:pPr>
            <a:r>
              <a:t>• Understanding what really drives consumer decisions requires identifying hidden patterns</a:t>
            </a:r>
          </a:p>
          <a:p>
            <a:pPr>
              <a:spcAft>
                <a:spcPts val="600"/>
              </a:spcAft>
              <a:defRPr sz="1700">
                <a:solidFill>
                  <a:srgbClr val="323232"/>
                </a:solidFill>
              </a:defRPr>
            </a:pPr>
            <a:r>
              <a:t>• Factor Analysis helps reduce complexity by uncovering latent (hidden) factors behind observed consumer behaviors</a:t>
            </a:r>
          </a:p>
          <a:p>
            <a:pPr>
              <a:spcAft>
                <a:spcPts val="600"/>
              </a:spcAft>
              <a:defRPr sz="1700">
                <a:solidFill>
                  <a:srgbClr val="323232"/>
                </a:solidFill>
              </a:defRPr>
            </a:pPr>
            <a:r>
              <a:t>• Key Question: Can we identify a small number of underlying factors that explain consumer preferences in marketing surveys?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Article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2060"/>
                </a:solidFill>
              </a:defRPr>
            </a:pPr>
            <a:r>
              <a:t>Primary Reference:</a:t>
            </a:r>
          </a:p>
          <a:p>
            <a:pPr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323232"/>
                </a:solidFill>
              </a:defRPr>
            </a:pPr>
            <a:r>
              <a:t>Title: "Factor Analysis as a Tool for Survey Analysis"</a:t>
            </a:r>
          </a:p>
          <a:p>
            <a:pPr>
              <a:spcAft>
                <a:spcPts val="600"/>
              </a:spcAft>
              <a:defRPr sz="1500" b="0">
                <a:solidFill>
                  <a:srgbClr val="323232"/>
                </a:solidFill>
              </a:defRPr>
            </a:pPr>
            <a:r>
              <a:t>Author: Noora Shrestha</a:t>
            </a:r>
          </a:p>
          <a:p>
            <a:pPr>
              <a:spcAft>
                <a:spcPts val="600"/>
              </a:spcAft>
              <a:defRPr sz="1400" b="0">
                <a:solidFill>
                  <a:srgbClr val="323232"/>
                </a:solidFill>
              </a:defRPr>
            </a:pPr>
            <a:r>
              <a:t>Journal: American Journal of Applied Mathematics and Statistics, Vol. 9, No. 1, pp. 4-11</a:t>
            </a:r>
          </a:p>
          <a:p>
            <a:pPr>
              <a:spcAft>
                <a:spcPts val="600"/>
              </a:spcAft>
              <a:defRPr sz="1500" b="0">
                <a:solidFill>
                  <a:srgbClr val="323232"/>
                </a:solidFill>
              </a:defRPr>
            </a:pPr>
            <a:r>
              <a:t>Year: 2021</a:t>
            </a:r>
          </a:p>
          <a:p>
            <a:pPr>
              <a:spcAft>
                <a:spcPts val="600"/>
              </a:spcAft>
              <a:defRPr sz="1500" b="1">
                <a:solidFill>
                  <a:srgbClr val="0070C0"/>
                </a:solidFill>
              </a:defRPr>
            </a:pPr>
            <a:r>
              <a:t>DOI: 10.12691/ajams-9-1-2</a:t>
            </a:r>
          </a:p>
          <a:p>
            <a:pPr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002060"/>
                </a:solidFill>
              </a:defRPr>
            </a:pPr>
            <a:r>
              <a:t>Supplementary Reference:</a:t>
            </a:r>
          </a:p>
          <a:p>
            <a:pPr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323232"/>
                </a:solidFill>
              </a:defRPr>
            </a:pPr>
            <a:r>
              <a:t>Title: "An Easy Approach to Exploratory Factor Analysis: Marketing Perspective"</a:t>
            </a:r>
          </a:p>
          <a:p>
            <a:pPr>
              <a:spcAft>
                <a:spcPts val="600"/>
              </a:spcAft>
              <a:defRPr sz="1400" b="0">
                <a:solidFill>
                  <a:srgbClr val="323232"/>
                </a:solidFill>
              </a:defRPr>
            </a:pPr>
            <a:r>
              <a:t>Authors: Noor Ul Hadi, Naziruddin Abdullah, Ilham Sentosa</a:t>
            </a:r>
          </a:p>
          <a:p>
            <a:pPr>
              <a:spcAft>
                <a:spcPts val="600"/>
              </a:spcAft>
              <a:defRPr sz="1400" b="0">
                <a:solidFill>
                  <a:srgbClr val="323232"/>
                </a:solidFill>
              </a:defRPr>
            </a:pPr>
            <a:r>
              <a:t>Journal: Journal of Educational and Social Research, Vol. 6, No. 1</a:t>
            </a:r>
          </a:p>
          <a:p>
            <a:pPr>
              <a:spcAft>
                <a:spcPts val="600"/>
              </a:spcAft>
              <a:defRPr sz="1400" b="1">
                <a:solidFill>
                  <a:srgbClr val="0070C0"/>
                </a:solidFill>
              </a:defRPr>
            </a:pPr>
            <a:r>
              <a:t>Year: 2016       DOI: 10.5901/jesr.2016.v6n1p215</a:t>
            </a:r>
          </a:p>
          <a:p>
            <a:pPr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00468C"/>
                </a:solidFill>
              </a:defRPr>
            </a:pPr>
            <a:r>
              <a:t>Case Study Data: Toothpaste Consumer Survey (Malhotra, 2010)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What is Factor Analysis?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• A statistical method used for data reduction and summarization</a:t>
            </a:r>
          </a:p>
          <a:p>
            <a:pPr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• Identifies underlying dimensions (latent factors) that explain correlations among observed variables</a:t>
            </a:r>
          </a:p>
          <a:p>
            <a:pPr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• An interdependence technique – no distinction between dependent and independent variables</a:t>
            </a:r>
          </a:p>
          <a:p>
            <a:pPr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• Reduces a large set of correlated variables into a smaller set of uncorrelated factors</a:t>
            </a:r>
          </a:p>
          <a:p>
            <a:pPr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• Widely used in marketing for: customer segmentation, brand perception, satisfaction surveys, and product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Mathematical Model:</a:t>
            </a:r>
          </a:p>
          <a:p>
            <a:pPr algn="ctr">
              <a:defRPr sz="1800" b="1">
                <a:solidFill>
                  <a:srgbClr val="00468C"/>
                </a:solidFill>
              </a:defRPr>
            </a:pPr>
            <a:r>
              <a:t>Xi = Ai1F1 + Ai2F2 + ... + AimFm + ViUi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Where Xi = observed variable, Aij = factor loading, Fj = common factor, Ui = unique factor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Factor Analysis Procedure</a:t>
            </a:r>
          </a:p>
        </p:txBody>
      </p:sp>
      <p:pic>
        <p:nvPicPr>
          <p:cNvPr id="3" name="Picture 2" descr="fa_proced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Factor Analysis vs. PCA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4114800" cy="5029200"/>
          </a:xfrm>
          <a:prstGeom prst="roundRect">
            <a:avLst/>
          </a:prstGeom>
          <a:solidFill>
            <a:srgbClr val="E6F0FF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002060"/>
                </a:solidFill>
              </a:defRPr>
            </a:pPr>
            <a:r>
              <a:t>Factor Analysis (FA)</a:t>
            </a:r>
          </a:p>
          <a:p>
            <a:pPr>
              <a:spcAft>
                <a:spcPts val="400"/>
              </a:spcAft>
              <a:defRPr sz="1300">
                <a:solidFill>
                  <a:srgbClr val="323232"/>
                </a:solidFill>
              </a:defRPr>
            </a:pPr>
            <a:r>
              <a:t>• Produces latent factors</a:t>
            </a:r>
          </a:p>
          <a:p>
            <a:pPr>
              <a:spcAft>
                <a:spcPts val="400"/>
              </a:spcAft>
              <a:defRPr sz="1300">
                <a:solidFill>
                  <a:srgbClr val="323232"/>
                </a:solidFill>
              </a:defRPr>
            </a:pPr>
            <a:r>
              <a:t>• Analyzes covariance (communality)</a:t>
            </a:r>
          </a:p>
          <a:p>
            <a:pPr>
              <a:spcAft>
                <a:spcPts val="400"/>
              </a:spcAft>
              <a:defRPr sz="1300">
                <a:solidFill>
                  <a:srgbClr val="323232"/>
                </a:solidFill>
              </a:defRPr>
            </a:pPr>
            <a:r>
              <a:t>• Close approximation to R matrix</a:t>
            </a:r>
          </a:p>
          <a:p>
            <a:pPr>
              <a:spcAft>
                <a:spcPts val="400"/>
              </a:spcAft>
              <a:defRPr sz="1300">
                <a:solidFill>
                  <a:srgbClr val="323232"/>
                </a:solidFill>
              </a:defRPr>
            </a:pPr>
            <a:r>
              <a:t>• Explains covariance with minimum factors</a:t>
            </a:r>
          </a:p>
          <a:p>
            <a:pPr>
              <a:spcAft>
                <a:spcPts val="400"/>
              </a:spcAft>
              <a:defRPr sz="1300">
                <a:solidFill>
                  <a:srgbClr val="323232"/>
                </a:solidFill>
              </a:defRPr>
            </a:pPr>
            <a:r>
              <a:t>• Multiple solutions possible</a:t>
            </a:r>
          </a:p>
          <a:p>
            <a:pPr>
              <a:spcAft>
                <a:spcPts val="400"/>
              </a:spcAft>
              <a:defRPr sz="1300">
                <a:solidFill>
                  <a:srgbClr val="323232"/>
                </a:solidFill>
              </a:defRPr>
            </a:pPr>
            <a:r>
              <a:t>• Goals: data reduction, describe &amp; explore relationships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371600"/>
            <a:ext cx="4114800" cy="5029200"/>
          </a:xfrm>
          <a:prstGeom prst="roundRect">
            <a:avLst/>
          </a:prstGeom>
          <a:solidFill>
            <a:srgbClr val="FFF0E6"/>
          </a:solidFill>
          <a:ln>
            <a:solidFill>
              <a:srgbClr val="C8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C86400"/>
                </a:solidFill>
              </a:defRPr>
            </a:pPr>
            <a:r>
              <a:t>Principal Component Analysis (PCA)</a:t>
            </a:r>
          </a:p>
          <a:p>
            <a:pPr>
              <a:spcAft>
                <a:spcPts val="400"/>
              </a:spcAft>
              <a:defRPr sz="1300">
                <a:solidFill>
                  <a:srgbClr val="323232"/>
                </a:solidFill>
              </a:defRPr>
            </a:pPr>
            <a:r>
              <a:t>• Produces components</a:t>
            </a:r>
          </a:p>
          <a:p>
            <a:pPr>
              <a:spcAft>
                <a:spcPts val="400"/>
              </a:spcAft>
              <a:defRPr sz="1300">
                <a:solidFill>
                  <a:srgbClr val="323232"/>
                </a:solidFill>
              </a:defRPr>
            </a:pPr>
            <a:r>
              <a:t>• Analyzes total variance</a:t>
            </a:r>
          </a:p>
          <a:p>
            <a:pPr>
              <a:spcAft>
                <a:spcPts val="400"/>
              </a:spcAft>
              <a:defRPr sz="1300">
                <a:solidFill>
                  <a:srgbClr val="323232"/>
                </a:solidFill>
              </a:defRPr>
            </a:pPr>
            <a:r>
              <a:t>• Reproduces R matrix completely</a:t>
            </a:r>
          </a:p>
          <a:p>
            <a:pPr>
              <a:spcAft>
                <a:spcPts val="400"/>
              </a:spcAft>
              <a:defRPr sz="1300">
                <a:solidFill>
                  <a:srgbClr val="323232"/>
                </a:solidFill>
              </a:defRPr>
            </a:pPr>
            <a:r>
              <a:t>• Extracts max variance with fewest factors</a:t>
            </a:r>
          </a:p>
          <a:p>
            <a:pPr>
              <a:spcAft>
                <a:spcPts val="400"/>
              </a:spcAft>
              <a:defRPr sz="1300">
                <a:solidFill>
                  <a:srgbClr val="323232"/>
                </a:solidFill>
              </a:defRPr>
            </a:pPr>
            <a:r>
              <a:t>• Gives a unique solution</a:t>
            </a:r>
          </a:p>
          <a:p>
            <a:pPr>
              <a:spcAft>
                <a:spcPts val="400"/>
              </a:spcAft>
              <a:defRPr sz="1300">
                <a:solidFill>
                  <a:srgbClr val="323232"/>
                </a:solidFill>
              </a:defRPr>
            </a:pPr>
            <a:r>
              <a:t>• Goal: variance reduction, fewer variables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Case Study: Toothpaste Consumer Preferences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28016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2060"/>
                </a:solidFill>
              </a:defRPr>
            </a:pPr>
            <a:r>
              <a:t>Study Objective:</a:t>
            </a:r>
          </a:p>
          <a:p>
            <a:pPr>
              <a:spcAft>
                <a:spcPts val="600"/>
              </a:spcAft>
              <a:defRPr sz="1500">
                <a:solidFill>
                  <a:srgbClr val="323232"/>
                </a:solidFill>
              </a:defRPr>
            </a:pPr>
            <a:r>
              <a:t>Determine the underlying benefits consumers seek when purchasing toothpaste</a:t>
            </a:r>
          </a:p>
          <a:p>
            <a:pPr>
              <a:spcAft>
                <a:spcPts val="600"/>
              </a:spcAft>
              <a:defRPr sz="15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02060"/>
                </a:solidFill>
              </a:defRPr>
            </a:pPr>
            <a:r>
              <a:t>Survey Design:</a:t>
            </a:r>
          </a:p>
          <a:p>
            <a:pPr>
              <a:spcAft>
                <a:spcPts val="600"/>
              </a:spcAft>
              <a:defRPr sz="1500">
                <a:solidFill>
                  <a:srgbClr val="323232"/>
                </a:solidFill>
              </a:defRPr>
            </a:pPr>
            <a:r>
              <a:t>30 respondents rated 6 statements on a 7-point Likert scale (1 = Strongly Disagree to 7 = Strongly Agree)</a:t>
            </a:r>
          </a:p>
          <a:p>
            <a:pPr>
              <a:spcAft>
                <a:spcPts val="600"/>
              </a:spcAft>
              <a:defRPr sz="15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02060"/>
                </a:solidFill>
              </a:defRPr>
            </a:pPr>
            <a:r>
              <a:t>Variables Measured:</a:t>
            </a:r>
          </a:p>
          <a:p>
            <a:pPr>
              <a:spcAft>
                <a:spcPts val="600"/>
              </a:spcAft>
              <a:defRPr sz="1500">
                <a:solidFill>
                  <a:srgbClr val="323232"/>
                </a:solidFill>
              </a:defRPr>
            </a:pPr>
            <a:r>
              <a:t>V1: Important to buy toothpaste that prevents cavities</a:t>
            </a:r>
          </a:p>
          <a:p>
            <a:pPr>
              <a:spcAft>
                <a:spcPts val="600"/>
              </a:spcAft>
              <a:defRPr sz="1500">
                <a:solidFill>
                  <a:srgbClr val="323232"/>
                </a:solidFill>
              </a:defRPr>
            </a:pPr>
            <a:r>
              <a:t>V2: I like toothpaste that gives shiny teeth</a:t>
            </a:r>
          </a:p>
          <a:p>
            <a:pPr>
              <a:spcAft>
                <a:spcPts val="600"/>
              </a:spcAft>
              <a:defRPr sz="1500">
                <a:solidFill>
                  <a:srgbClr val="323232"/>
                </a:solidFill>
              </a:defRPr>
            </a:pPr>
            <a:r>
              <a:t>V3: Toothpaste should strengthen gums</a:t>
            </a:r>
          </a:p>
          <a:p>
            <a:pPr>
              <a:spcAft>
                <a:spcPts val="600"/>
              </a:spcAft>
              <a:defRPr sz="1500">
                <a:solidFill>
                  <a:srgbClr val="323232"/>
                </a:solidFill>
              </a:defRPr>
            </a:pPr>
            <a:r>
              <a:t>V4: I prefer toothpaste that freshens breath</a:t>
            </a:r>
          </a:p>
          <a:p>
            <a:pPr>
              <a:spcAft>
                <a:spcPts val="600"/>
              </a:spcAft>
              <a:defRPr sz="1500">
                <a:solidFill>
                  <a:srgbClr val="323232"/>
                </a:solidFill>
              </a:defRPr>
            </a:pPr>
            <a:r>
              <a:t>V5: Prevention of tooth decay is NOT an important benefit</a:t>
            </a:r>
          </a:p>
          <a:p>
            <a:pPr>
              <a:spcAft>
                <a:spcPts val="600"/>
              </a:spcAft>
              <a:defRPr sz="1500">
                <a:solidFill>
                  <a:srgbClr val="323232"/>
                </a:solidFill>
              </a:defRPr>
            </a:pPr>
            <a:r>
              <a:t>V6: Most important consideration is attractive teeth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Step 1: Correlation Matrix</a:t>
            </a:r>
          </a:p>
        </p:txBody>
      </p:sp>
      <p:pic>
        <p:nvPicPr>
          <p:cNvPr id="3" name="Picture 2" descr="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45720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46320" y="128016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2060"/>
                </a:solidFill>
              </a:defRPr>
            </a:pPr>
            <a:r>
              <a:t>Key Observations: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V1 &amp; V3 highly correlated (r = 0.873) → both relate to dental health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V2, V4, V6 correlated with each other → cosmetic/aesthetic concerns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V1 &amp; V5 strongly negative (r = -0.858) → opposite statements about decay prevention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Pattern suggests TWO distinct groups of variables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00468C"/>
                </a:solidFill>
              </a:defRPr>
            </a:pPr>
            <a:r>
              <a:t>Conclusion: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Strong correlations indicate factor analysis is appropriate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Step 2: KMO &amp; Bartlett's Test of Sphericity</a:t>
            </a:r>
          </a:p>
        </p:txBody>
      </p:sp>
      <p:pic>
        <p:nvPicPr>
          <p:cNvPr id="3" name="Picture 2" descr="kmo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943600" cy="27432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4206240"/>
            <a:ext cx="8229600" cy="2286000"/>
          </a:xfrm>
          <a:prstGeom prst="roundRect">
            <a:avLst/>
          </a:prstGeom>
          <a:solidFill>
            <a:srgbClr val="F0F8FF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600" b="1">
                <a:solidFill>
                  <a:srgbClr val="002060"/>
                </a:solidFill>
              </a:defRPr>
            </a:pPr>
            <a:r>
              <a:t>Results from Shrestha (2021):</a:t>
            </a:r>
          </a:p>
          <a:p>
            <a:pPr>
              <a:defRPr sz="1500">
                <a:solidFill>
                  <a:srgbClr val="323232"/>
                </a:solidFill>
              </a:defRPr>
            </a:pPr>
            <a:r>
              <a:t>KMO Measure of Sampling Adequacy: 0.813 (Meritorious)</a:t>
            </a:r>
          </a:p>
          <a:p>
            <a:pPr>
              <a:defRPr sz="1500">
                <a:solidFill>
                  <a:srgbClr val="323232"/>
                </a:solidFill>
              </a:defRPr>
            </a:pPr>
            <a:r>
              <a:t>Bartlett's Test of Sphericity:</a:t>
            </a:r>
          </a:p>
          <a:p>
            <a:pPr>
              <a:defRPr sz="1500">
                <a:solidFill>
                  <a:srgbClr val="323232"/>
                </a:solidFill>
              </a:defRPr>
            </a:pPr>
            <a:r>
              <a:t>    Chi-Square = 637.65,    Significance: p &lt; 0.0001</a:t>
            </a:r>
          </a:p>
          <a:p>
            <a:pPr>
              <a:defRPr sz="1500" b="1">
                <a:solidFill>
                  <a:srgbClr val="008000"/>
                </a:solidFill>
              </a:defRPr>
            </a:pPr>
            <a:r>
              <a:t>Conclusion: Data is SUITABLE for Factor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Step 3: Communalities</a:t>
            </a:r>
          </a:p>
        </p:txBody>
      </p:sp>
      <p:pic>
        <p:nvPicPr>
          <p:cNvPr id="3" name="Picture 2" descr="communal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029200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0" y="128016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2060"/>
                </a:solidFill>
              </a:defRPr>
            </a:pPr>
            <a:r>
              <a:t>What are Communalities?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Proportion of variance in a variable explained by the extracted factors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500" b="1">
                <a:solidFill>
                  <a:srgbClr val="002060"/>
                </a:solidFill>
              </a:defRPr>
            </a:pPr>
            <a:r>
              <a:t>Interpretation: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All values exceed 0.5 threshold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V1 (Cavities): 0.926 → 92.6% of variance explained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V3 (Gums): 0.894 → 89.4% explained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V5 (Decay): 0.878 → 87.8% explained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008000"/>
                </a:solidFill>
              </a:defRPr>
            </a:pPr>
            <a:r>
              <a:t>Conclusion: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t>All variables are well-represented by the factor solution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Step 4: Eigenvalues &amp; Total Variance Explained</a:t>
            </a:r>
          </a:p>
        </p:txBody>
      </p:sp>
      <p:pic>
        <p:nvPicPr>
          <p:cNvPr id="3" name="Picture 2" descr="variance_expla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5029200" cy="32004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03520" y="1371600"/>
          <a:ext cx="3657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</a:tblGrid>
              <a:tr h="39188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Eigenvalue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% Variance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Cumulative %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206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C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2060"/>
                          </a:solidFill>
                        </a:defRPr>
                      </a:pPr>
                      <a:r>
                        <a:t>2.731</a:t>
                      </a:r>
                    </a:p>
                  </a:txBody>
                  <a:tcPr>
                    <a:solidFill>
                      <a:srgbClr val="DC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2060"/>
                          </a:solidFill>
                        </a:defRPr>
                      </a:pPr>
                      <a:r>
                        <a:t>45.52%</a:t>
                      </a:r>
                    </a:p>
                  </a:txBody>
                  <a:tcPr>
                    <a:solidFill>
                      <a:srgbClr val="DC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2060"/>
                          </a:solidFill>
                        </a:defRPr>
                      </a:pPr>
                      <a:r>
                        <a:t>45.52%</a:t>
                      </a:r>
                    </a:p>
                  </a:txBody>
                  <a:tcPr>
                    <a:solidFill>
                      <a:srgbClr val="DCEB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206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C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2060"/>
                          </a:solidFill>
                        </a:defRPr>
                      </a:pPr>
                      <a:r>
                        <a:t>2.218</a:t>
                      </a:r>
                    </a:p>
                  </a:txBody>
                  <a:tcPr>
                    <a:solidFill>
                      <a:srgbClr val="DC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2060"/>
                          </a:solidFill>
                        </a:defRPr>
                      </a:pPr>
                      <a:r>
                        <a:t>36.97%</a:t>
                      </a:r>
                    </a:p>
                  </a:txBody>
                  <a:tcPr>
                    <a:solidFill>
                      <a:srgbClr val="DCE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2060"/>
                          </a:solidFill>
                        </a:defRPr>
                      </a:pPr>
                      <a:r>
                        <a:t>82.49%</a:t>
                      </a:r>
                    </a:p>
                  </a:txBody>
                  <a:tcPr>
                    <a:solidFill>
                      <a:srgbClr val="DCEB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0.442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89.85%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0.341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95.54%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3.04%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98.58%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0.085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1.42%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100.00%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03520" y="429768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2060"/>
                </a:solidFill>
              </a:defRPr>
            </a:pPr>
            <a:r>
              <a:t>Kaiser's Rule: Retain factors with eigenvalue &gt; 1.0</a:t>
            </a:r>
          </a:p>
          <a:p>
            <a:pPr>
              <a:defRPr sz="1400" b="1">
                <a:solidFill>
                  <a:srgbClr val="008000"/>
                </a:solidFill>
              </a:defRPr>
            </a:pPr>
            <a:r>
              <a:t>→ 2 factors retained</a:t>
            </a:r>
          </a:p>
          <a:p>
            <a:pPr>
              <a:defRPr sz="1400" b="1">
                <a:solidFill>
                  <a:srgbClr val="008000"/>
                </a:solidFill>
              </a:defRPr>
            </a:pPr>
            <a:r>
              <a:t>→ Explain 82.49% of total variance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(Exceeds 60% minimum threshold)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Step 4 (cont.): Scree Plot</a:t>
            </a:r>
          </a:p>
        </p:txBody>
      </p:sp>
      <p:pic>
        <p:nvPicPr>
          <p:cNvPr id="3" name="Picture 2" descr="scree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685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2060"/>
                </a:solidFill>
              </a:defRPr>
            </a:pPr>
            <a:r>
              <a:t>The scree plot confirms 2 factors: sharp drop after Component 2, then leveling off (the "elbow")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Step 5: Rotated Component Matrix (Varimax)</a:t>
            </a:r>
          </a:p>
        </p:txBody>
      </p:sp>
      <p:pic>
        <p:nvPicPr>
          <p:cNvPr id="3" name="Picture 2" descr="rotated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41148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0" y="128016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4080"/>
                </a:solidFill>
              </a:defRPr>
            </a:pPr>
            <a:r>
              <a:t>Factor 1 – Health Benefits: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V1 (Cavities): 0.962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V3 (Gums): 0.934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V5 (Decay): -0.933 (reverse coded)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C86400"/>
                </a:solidFill>
              </a:defRPr>
            </a:pPr>
            <a:r>
              <a:t>Factor 2 – Cosmetic Benefits: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V6 (Attractive teeth): 0.885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V4 (Fresh breath): 0.854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V2 (Shiny teeth): 0.848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002060"/>
                </a:solidFill>
              </a:defRPr>
            </a:pPr>
            <a:r>
              <a:t>Rotation Method: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Varimax with Kaiser Normalization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Converged in 3 iterations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Step 6: Factor Loading Plot &amp; Interpretation</a:t>
            </a:r>
          </a:p>
        </p:txBody>
      </p:sp>
      <p:pic>
        <p:nvPicPr>
          <p:cNvPr id="3" name="Picture 2" descr="factor_loading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4572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0" y="128016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02060"/>
                </a:solidFill>
              </a:defRPr>
            </a:pPr>
            <a:r>
              <a:t>Visual Interpretation: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V1, V3, V5 cluster along Factor 1 axis → Health dimension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V2, V4, V6 cluster along Factor 2 axis → Cosmetic dimension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Clear separation confirms two distinct consumer benefit dimensions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500" b="1">
                <a:solidFill>
                  <a:srgbClr val="008000"/>
                </a:solidFill>
              </a:defRPr>
            </a:pPr>
            <a:r>
              <a:t>Marketing Insight: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Consumers evaluate toothpaste on TWO main dimensions: health protection and cosmetic appeal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Step 7: Factor Scores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280160"/>
            <a:ext cx="8595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2060"/>
                </a:solidFill>
              </a:defRPr>
            </a:pPr>
            <a:r>
              <a:t>Factor Score Equation:</a:t>
            </a:r>
          </a:p>
          <a:p>
            <a:pPr>
              <a:spcAft>
                <a:spcPts val="600"/>
              </a:spcAft>
              <a:defRPr sz="15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800" b="1">
                <a:solidFill>
                  <a:srgbClr val="00468C"/>
                </a:solidFill>
              </a:defRPr>
            </a:pPr>
            <a:r>
              <a:t>Fi = Wi1X1 + Wi2X2 + Wi3X3 + ... + WikXk</a:t>
            </a:r>
          </a:p>
          <a:p>
            <a:pPr>
              <a:spcAft>
                <a:spcPts val="600"/>
              </a:spcAft>
              <a:defRPr sz="15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02060"/>
                </a:solidFill>
              </a:defRPr>
            </a:pPr>
            <a:r>
              <a:t>Component Score Coefficient Matrix: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3200400"/>
          <a:ext cx="3657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Factor 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Factor 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0.358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0.011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-0.001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0.375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-0.043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V4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-0.017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0.377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V5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-0.350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-0.059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V6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0.395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0" y="32004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2060"/>
                </a:solidFill>
              </a:defRPr>
            </a:pPr>
            <a:r>
              <a:t>Application: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Factor scores replace original 6 variables with 2 factor scores per respondent</a:t>
            </a:r>
          </a:p>
          <a:p>
            <a:pPr>
              <a:spcAft>
                <a:spcPts val="600"/>
              </a:spcAft>
              <a:defRPr sz="1300">
                <a:solidFill>
                  <a:srgbClr val="323232"/>
                </a:solidFill>
              </a:defRPr>
            </a:pPr>
            <a:r>
              <a:t>These can be used in subsequent regression, clustering, or segmentation analysis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Discussion &amp; 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28016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2060"/>
                </a:solidFill>
              </a:defRPr>
            </a:pPr>
            <a:r>
              <a:t>Key Finding 1: Two-Factor Solution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Factor Analysis successfully reduced 6 correlated variables to 2 independent factors, explaining 82.49% of total variance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02060"/>
                </a:solidFill>
              </a:defRPr>
            </a:pPr>
            <a:r>
              <a:t>Key Finding 2: Clear Factor Structure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Factor 1 (Health): Cavity prevention, gum strength, decay prevention → functional benefits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Factor 2 (Cosmetic): Shiny teeth, fresh breath, attractive teeth → aesthetic benefits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02060"/>
                </a:solidFill>
              </a:defRPr>
            </a:pPr>
            <a:r>
              <a:t>Key Finding 3: High Data Suitability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KMO = 0.813 (Meritorious) and Bartlett's test significant (p &lt; 0.0001) confirm data appropriateness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02060"/>
                </a:solidFill>
              </a:defRPr>
            </a:pPr>
            <a:r>
              <a:t>Key Finding 4: Marketing Implications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Toothpaste brands can position products along Health vs. Cosmetic dimensions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Different consumer segments prioritize different benefit dimensions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Comments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28016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23232"/>
                </a:solidFill>
              </a:defRPr>
            </a:pPr>
            <a:r>
              <a:t>• The study demonstrates that Factor Analysis is a powerful tool for uncovering hidden patterns in marketing survey data</a:t>
            </a:r>
          </a:p>
          <a:p>
            <a:pPr>
              <a:spcAft>
                <a:spcPts val="600"/>
              </a:spcAft>
              <a:defRPr sz="15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500">
                <a:solidFill>
                  <a:srgbClr val="323232"/>
                </a:solidFill>
              </a:defRPr>
            </a:pPr>
            <a:r>
              <a:t>• The toothpaste example is a classic marketing case that clearly shows how correlated variables group into meaningful factors</a:t>
            </a:r>
          </a:p>
          <a:p>
            <a:pPr>
              <a:spcAft>
                <a:spcPts val="600"/>
              </a:spcAft>
              <a:defRPr sz="15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500">
                <a:solidFill>
                  <a:srgbClr val="323232"/>
                </a:solidFill>
              </a:defRPr>
            </a:pPr>
            <a:r>
              <a:t>• The two-factor solution (Health vs. Cosmetic) aligns well with marketing theory – consumers evaluate products on functional vs. emotional/aesthetic dimensions</a:t>
            </a:r>
          </a:p>
          <a:p>
            <a:pPr>
              <a:spcAft>
                <a:spcPts val="600"/>
              </a:spcAft>
              <a:defRPr sz="15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500">
                <a:solidFill>
                  <a:srgbClr val="323232"/>
                </a:solidFill>
              </a:defRPr>
            </a:pPr>
            <a:r>
              <a:t>• The high communalities (all &gt; 0.72) indicate that the factor solution captures most of the information in the original variables</a:t>
            </a:r>
          </a:p>
          <a:p>
            <a:pPr>
              <a:spcAft>
                <a:spcPts val="600"/>
              </a:spcAft>
              <a:defRPr sz="15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500">
                <a:solidFill>
                  <a:srgbClr val="323232"/>
                </a:solidFill>
              </a:defRPr>
            </a:pPr>
            <a:r>
              <a:t>• Varimax rotation produced a clean, interpretable solution where each variable loads strongly on only one factor – this is the ideal "simple structure" in Factor Analysis</a:t>
            </a:r>
          </a:p>
          <a:p>
            <a:pPr>
              <a:spcAft>
                <a:spcPts val="600"/>
              </a:spcAft>
              <a:defRPr sz="15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500">
                <a:solidFill>
                  <a:srgbClr val="323232"/>
                </a:solidFill>
              </a:defRPr>
            </a:pPr>
            <a:r>
              <a:t>• The methodology used (PCA extraction + Varimax rotation) follows standard practice recommended by Hair et al. (2006) and Tabachnick &amp; Fidell (2007)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28016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• Small sample size (n = 30): Below the recommended minimum of 50 observations; a ratio of at least 5:1 (observations to variables) is recommended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• Limited to 6 variables: A broader set of toothpaste attributes (price, brand loyalty, packaging, ingredients) could reveal additional factors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• Only Varimax (orthogonal) rotation was used: Oblique rotation (e.g., Promax) should be explored if factors are expected to be correlated – health and cosmetic concerns may not be fully independent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• Cross-sectional design: The study captures preferences at one point in time; consumer preferences change over time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• Subjective factor naming: The labeling of factors as "Health" and "Cosmetic" involves researcher interpretation, which introduces potential bias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• No Confirmatory Factor Analysis (CFA): EFA results were not validated using CFA on an independent sample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Suggested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28016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• Increase sample size to at least 200-300 respondents for more reliable factor extraction and stable loadings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• Include more variables (10-15) covering additional attributes like price sensitivity, brand preference, ingredient awareness, and packaging appeal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• Apply both orthogonal (Varimax) and oblique (Promax) rotation methods and compare the solutions for robustness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• Use Parallel Analysis (Horn, 1965) in addition to Kaiser's eigenvalue &gt; 1 rule for more accurate determination of the number of factors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• Follow up with Confirmatory Factor Analysis (CFA) using Structural Equation Modeling (SEM) to validate the factor structure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• Conduct longitudinal studies to track how consumer preference factors evolve over time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</a:defRPr>
            </a:pPr>
            <a:r>
              <a:t>• Apply the factor solution to real marketing decisions – use factor scores for customer segmentation and targeted advertising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37160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• Factor Analysis successfully reduced 6 correlated consumer preference variables into 2 meaningful, independent factors</a:t>
            </a:r>
          </a:p>
          <a:p>
            <a:pPr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• The two factors – Health Benefits and Cosmetic Benefits – explain 82.49% of the total variance in the data</a:t>
            </a:r>
          </a:p>
          <a:p>
            <a:pPr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• KMO = 0.813 and significant Bartlett's test confirmed data suitability for factor analysis</a:t>
            </a:r>
          </a:p>
          <a:p>
            <a:pPr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• The rotated component matrix showed clean factor loadings, making interpretation straightforward</a:t>
            </a:r>
          </a:p>
          <a:p>
            <a:pPr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• Factor Analysis proves to be a valuable tool in marketing research for uncovering hidden dimensions of consumer decision-making</a:t>
            </a:r>
          </a:p>
          <a:p>
            <a:pPr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600">
                <a:solidFill>
                  <a:srgbClr val="323232"/>
                </a:solidFill>
              </a:defRPr>
            </a:pPr>
            <a:r>
              <a:t>• The methodology can be applied to any marketing survey to reduce complexity and identify key drivers of consumer behavior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1. Shrestha, N. (2021). "Factor Analysis as a Tool for Survey Analysis." American Journal of Applied Mathematics and Statistics, 9(1), 4-11. DOI: 10.12691/ajams-9-1-2</a:t>
            </a:r>
          </a:p>
          <a:p>
            <a:pPr>
              <a:defRPr sz="800">
                <a:solidFill>
                  <a:srgbClr val="323232"/>
                </a:solidFill>
              </a:defRPr>
            </a:pP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2. Hadi, N.U., Abdullah, N., &amp; Sentosa, I. (2016). "An Easy Approach to Exploratory Factor Analysis: Marketing Perspective." Journal of Educational and Social Research, 6(1), 215. DOI: 10.5901/jesr.2016.v6n1p215</a:t>
            </a:r>
          </a:p>
          <a:p>
            <a:pPr>
              <a:defRPr sz="800">
                <a:solidFill>
                  <a:srgbClr val="323232"/>
                </a:solidFill>
              </a:defRPr>
            </a:pP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3. Malhotra, N.K. (2010). Marketing Research: An Applied Orientation. 6th Edition, Pearson.</a:t>
            </a:r>
          </a:p>
          <a:p>
            <a:pPr>
              <a:defRPr sz="800">
                <a:solidFill>
                  <a:srgbClr val="323232"/>
                </a:solidFill>
              </a:defRPr>
            </a:pP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4. Hair, J.F., Black, W.C., Babin, B.J., &amp; Anderson, R.E. (2006). Multivariate Data Analysis. 7th Edition, Pearson.</a:t>
            </a:r>
          </a:p>
          <a:p>
            <a:pPr>
              <a:defRPr sz="800">
                <a:solidFill>
                  <a:srgbClr val="323232"/>
                </a:solidFill>
              </a:defRPr>
            </a:pP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5. Tabachnick, B.G. &amp; Fidell, L.S. (2007). Using Multivariate Statistics. 5th Edition, Pearson Education.</a:t>
            </a:r>
          </a:p>
          <a:p>
            <a:pPr>
              <a:defRPr sz="800">
                <a:solidFill>
                  <a:srgbClr val="323232"/>
                </a:solidFill>
              </a:defRPr>
            </a:pP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6. Kaiser, H.F. (1974). "An Index of Factorial Simplicity." Psychometrika, 39(1), 31-36. DOI: 10.1007/BF02291575</a:t>
            </a:r>
          </a:p>
          <a:p>
            <a:pPr>
              <a:defRPr sz="800">
                <a:solidFill>
                  <a:srgbClr val="323232"/>
                </a:solidFill>
              </a:defRPr>
            </a:pP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7. Bartlett, M.S. (1951). "The Effect of Standardization on a Chi-Square Approximation in Factor Analysis." Biometrika, 38(3/4), 337-344.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8229600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>
              <a:defRPr sz="1600"/>
            </a:pPr>
          </a:p>
          <a:p>
            <a:pPr algn="ctr">
              <a:defRPr sz="2800">
                <a:solidFill>
                  <a:srgbClr val="FFC000"/>
                </a:solidFill>
              </a:defRPr>
            </a:pPr>
            <a:r>
              <a:t>Questions?</a:t>
            </a:r>
          </a:p>
          <a:p>
            <a:pPr>
              <a:defRPr sz="2000"/>
            </a:pP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Lana Jalal Gidan</a:t>
            </a:r>
          </a:p>
          <a:p>
            <a:pPr algn="ctr">
              <a:defRPr sz="1600">
                <a:solidFill>
                  <a:srgbClr val="B4D2FF"/>
                </a:solidFill>
              </a:defRPr>
            </a:pPr>
            <a:r>
              <a:t>SSIE 605 – Binghamton University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92240"/>
            <a:ext cx="8229600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