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Factor Analysis in Supply Chain Management</a:t>
            </a:r>
          </a:p>
          <a:p>
            <a:pPr algn="ctr">
              <a:defRPr sz="2000">
                <a:solidFill>
                  <a:srgbClr val="FFC000"/>
                </a:solidFill>
              </a:defRPr>
            </a:pPr>
            <a:r>
              <a:t>Green Supply Chain Management Practices &amp; Sustainability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Based on: Gupta, P., Sharma, Y., Chauhan, A., Parewa, B., Rai, P. &amp; Naik, N. (2025)</a:t>
            </a:r>
          </a:p>
          <a:p>
            <a:pPr algn="ctr">
              <a:defRPr sz="1400" b="1">
                <a:solidFill>
                  <a:srgbClr val="FFC000"/>
                </a:solidFill>
              </a:defRPr>
            </a:pPr>
            <a:r>
              <a:t>Scientific Reports, 15, 14909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DOI: 10.1038/s41598-025-95940-9</a:t>
            </a:r>
          </a:p>
          <a:p>
            <a:pPr algn="ctr">
              <a:defRPr sz="600" b="0">
                <a:solidFill>
                  <a:srgbClr val="FFFFFF"/>
                </a:solidFill>
              </a:defRPr>
            </a:pP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Presented by: Lana Jalal Gidan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SSIE-605: Applied Multivariate Data Analysis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Binghamton University — Professor Susan 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• 1. Introduction to Green Supply Chain Management (GSCM)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2. Research Context &amp; Study Overview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3. Methodology: Sample &amp; Survey Design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4. Demographic Profile of Respondents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5. PCA Eigenvalue Decomposition &amp; Scree Plot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6. Total Variance Explained by Components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7. Measurement Model: Factor Loadings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8. Reliability Analysis: Cronbach's Alpha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9. Convergent Validity: CR &amp; AVE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10. SEM: Hypothesis Testing &amp; Path Coefficients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11. Variance Explained (R²) &amp; Effect Sizes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12. Key Findings &amp; Practical Implications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13. Conclusions &amp; Future Research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Introduction to Green Supply Chain Management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Integrating Environmental Sustainability into Supply 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What is Green Supply Chain Management (GSCM)?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GSCM integrates environmental thinking into supply chain management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Encompasses procurement, manufacturing, distribution, and end-of-life management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Aims to minimize ecological footprint while maintaining competitive advantage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Why Factor Analysis in GSCM Research?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Identifies underlying dimensions that drive green practices adoption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Reduces complex multi-item questionnaires to interpretable factors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Validates measurement instruments for organizational sustainability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Enables Structural Equation Modeling (SEM) for hypothesis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Context &amp; Study Overview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Gupta et al. (2025) — Scientific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Study Focus: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Examines the impact of GSCM practices on top management performance,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low-carbon performance, sustainable manufacturing, and sustainable society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Research Setting: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Indian bag-manufacturing firms implementing GSCM practices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Data collection: March–September 2020 via structured questionnaire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480 responses received; 389 valid after screening (81% response rate)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Analytical Approach: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Principal Component Analysis (PCA) for dimensionality assessment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Confirmatory Factor Analysis (CFA) via SmartPLS for measurement model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Structural Equation Modeling (SEM) for hypothesis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Methodology: Sample &amp; Survey Design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Rigorous Data Collection from Manufacturing Sector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 = 389 valid responses (from 480 collected)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Managers in Indian bag-manufacturing firms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Respondent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Junior (42.67%), Middle (34.70%), Top (25.19%)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5-point Likert (Strongly Disagree to Strongly Agree)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Total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 items across 8 constructs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Sampling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Convenience + Snowball sampling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Data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Google Forms (mandatory fields, no missing data)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Analysis 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SmartPLS (SEM analysis)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Eight GSCM Constructs Measured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41 Items Across 4 GSCM Practices + 4 Outcome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914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Construct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Abbr.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Procurement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GSCM Practice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Logistics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GSCM Practice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Product &amp; Product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GSCM Practice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Regulatory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GSCM Practice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 Management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Mediator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 Carbon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Mediator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Society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Outcome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Manufacturing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Outcome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Demographic Profile of Respondents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2: n=389 Manufacturing Managers from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mograph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PCA Eigenvalue Decomposition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6: 8 Components with Eigenvalue &gt; 1.0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Eigenvalue Details: Kaiser Criterion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6: Initial Eigenvalues from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6400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Eigenvalue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Variance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Cumulative %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11.389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26.485%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26.485%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7.785%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34.271%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3.153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7.332%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41.603%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2.815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6.546%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48.149%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2.472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5.750%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53.899%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2.181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5.071%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58.970%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1.965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4.570%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63.539%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2.481%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66.020%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760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8 components retained explaining 66.02% of total variance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Total Variance Explained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6: Individual &amp; Cumulative Variance by Component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arianc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Measurement Model: Factor Loadings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Standardized Factor Loadings (CFA)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"/>
                <a:gridCol w="146304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Construct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Loading Range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Highest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Lowest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Procurement (GP)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0.681–0.767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GP2: 0.767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GP1: 0.681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Logistics (GL)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0.604–0.781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GL3: 0.781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GL1: 0.604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Product &amp; Design (GD)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0.780–0.819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GD1: 0.819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GD3: 0.780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Regulatory Framework (RF)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0.673–0.771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RF2: 0.771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RF6: 0.673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 Mgmt. Performance (TMC)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0.736–0.844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TMC4: 0.844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TMC3: 0.736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 Carbon Perf. (CP)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0.622–0.786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CP5: 0.786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CP7: 0.622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Society (SS)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0.738–0.792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SS4: 0.792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SS1: 0.738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Mfg. (SM)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0.682–0.841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SM2: 0.841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SM1: 0.682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Loading Ranges Visualization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All Loadings Above 0.50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ctor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Reliability Analysis: Cronbach's Alpha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Internal Consistency by Construct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nbach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Reliability &amp; Validity Summary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Cronbach's α, Composite Reliability, 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1887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Construct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Cronbach's α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C.R.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AVE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Procurement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Logistics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Product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Regulatory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 Mgmt.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 Carbon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Society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Sustainable Manufacturing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Acceptable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Convergent Validity: CR &amp; AVE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All Constructs Exceed Minimum Thresholds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_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Common Method Bias Assessment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Harman's Single-Factor Test &amp; PCA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Harman's Single-Factor Test (Table 6):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All 41 items subjected to unrotated Principal Component Analysis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First component explains only 26.48% of total variance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Below the 50% threshold → No common method bias detected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Additional Safeguards: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Anonymous survey responses to reduce social desirability bias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Mandatory fields in Google Forms eliminated missing data issues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Mixed positive/negative items to reduce acquiescence bias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Conclusion: Data is free from significant common method bias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Structural Equation Model: Research Hypotheses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7 Hypothesized Relationships Tested via SmartPLS SEM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24688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Hypothesis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Direction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Procurement → Top Mgmt.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Logistics → Top Mgmt.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Green Product &amp; Design → Top Mgmt.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Regulatory Framework → Top Mgmt.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Top Mgmt. Performance → Low Carbon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 Carbon Performance → Sustainable Society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 Carbon Performance → Sustainable Mfg.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Positive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SEM Results: Path Coefficients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7: All 7 Hypotheses Supported (p &lt; 0.05)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m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SEM Hypothesis Testing: Complete Results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7: Path Coefficients, Standard Errors, and R²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914400"/>
                <a:gridCol w="914400"/>
                <a:gridCol w="914400"/>
                <a:gridCol w="310896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β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GP → TMP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GL → TMP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GD → TMP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RF → TMP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TMP → 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19.5%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CP → 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CP → 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Supported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Variance Explained (R²) in Outcome Variables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7: Predictive Power of the SEM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_squ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Effect Size Analysis: Cohen's f²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Practical Significance of Structural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ffe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Psychometric Properties: Radar Summary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Table 3: α, CR, and AVE Across All Constructs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Findings: GSCM Practice Effects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Which Green Practices Matter Most?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Ranking of GSCM Practices on Top Management Performance: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1. Green Product &amp; Design (β = 0.274) — Strongest influence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Product innovation and eco-design drive leadership commitment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2. Green Logistics (β = 0.200) — Second strongest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Efficient transportation and distribution practices matter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3. Green Procurement (β = 0.130) — Moderate influence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Sustainable supplier selection contributes to performance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4. Regulatory Framework (β = 0.100) — Significant but smallest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 Government regulations play a supporting role (p = 0.007)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Findings: Sustainability Outcomes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Cascading Effects from Management to Society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Cascading Impact Chain: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GSCM Practices → Top Management Performance (R² = 20.7%)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Top Management → Low Carbon Performance (β = 0.388, medium effect)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Low Carbon → Sustainable Society (β = 0.359, medium effect)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Low Carbon → Sustainable Manufacturing (β = 0.295, small effect)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Critical Insight: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Top management commitment is the key mediator between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green supply chain practices and environmental outcomes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Organizations with strong senior leadership support are more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likely to achieve carbon reduction and sustainability goals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Practical Implications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Actionable Insights for Manufacturing Firms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For Manufacturing Organizations: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Prioritize green product design and eco-innovation initiatives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Invest in green logistics to reduce environmental footprint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Develop sustainable procurement policies with green suppliers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For Policymakers: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Regulatory frameworks support GSCM adoption (β = 0.100, p = 0.007)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Subsidies and green labels facilitate smoother green product rollout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For Researchers: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41-item instrument with 8 constructs shows acceptable-to-good reliability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SmartPLS SEM effectively models complex GSCM relationships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 &amp; Future Research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Opportunities for Further Investigation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Study Limitations: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Single industry focus (bag manufacturing) limits generalizability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Cross-sectional design; longitudinal studies would capture trends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Self-reported data from managers may introduce response bias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Indian context may not generalize to other economies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2060"/>
                </a:solidFill>
              </a:defRPr>
            </a:pPr>
            <a:r>
              <a:t>Future Research Directions: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Extend to other manufacturing sectors (automotive, electronics)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Include financial performance as an additional outcome variable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Conduct multi-country comparative studies on GSCM adoption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Explore moderating effects of firm size and industry type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Primary Study:</a:t>
            </a:r>
          </a:p>
          <a:p>
            <a:pPr>
              <a:defRPr sz="6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1. Gupta, P., Sharma, Y., Chauhan, A., Parewa, B., Rai, P. &amp; Naik, N. (2025).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"Investigation of green supply chain management practices and sustainability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in Indian manufacturing enterprises using a structural equation modelling approach."</a:t>
            </a:r>
          </a:p>
          <a:p>
            <a:pPr>
              <a:defRPr sz="1100" b="1">
                <a:solidFill>
                  <a:srgbClr val="00468C"/>
                </a:solidFill>
              </a:defRPr>
            </a:pPr>
            <a:r>
              <a:t>   Scientific Reports, 15, 14909. DOI: 10.1038/s41598-025-95940-9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Supporting References:</a:t>
            </a:r>
          </a:p>
          <a:p>
            <a:pPr>
              <a:defRPr sz="6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2. Hair, J.F., Black, W.C., Babin, B.J. &amp; Anderson, R.E. (2019).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Multivariate Data Analysis (8th Ed.). Cengage Learning.</a:t>
            </a:r>
          </a:p>
          <a:p>
            <a:pPr>
              <a:defRPr sz="6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3. Kaiser, H.F. (1974). "An Index of Factorial Simplicity."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Psychometrika, 39, 31–36.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