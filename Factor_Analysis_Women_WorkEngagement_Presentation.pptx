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D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Factor Analysis of Work Engagement</a:t>
            </a:r>
          </a:p>
          <a:p>
            <a:pPr algn="ctr">
              <a:defRPr sz="2000">
                <a:solidFill>
                  <a:srgbClr val="E9C46A"/>
                </a:solidFill>
              </a:defRPr>
            </a:pPr>
            <a:r>
              <a:t>Women &amp; Workforce Engagement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EFA &amp; CFA of the 9-Item Utrecht Work Engagement Scale (UWES-9)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 a Multi-Occupational Female Sample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</a:p>
          <a:p>
            <a:pPr algn="ctr">
              <a:defRPr sz="1300" b="1">
                <a:solidFill>
                  <a:srgbClr val="E9C46A"/>
                </a:solidFill>
              </a:defRPr>
            </a:pPr>
            <a:r>
              <a:t>Primary Study: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Willmer, M., Westerberg Jacobson, J. &amp; Lindberg, M. (2019)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Frontiers in Psychology, 10, Article 2771</a:t>
            </a:r>
          </a:p>
          <a:p>
            <a:pPr algn="ctr">
              <a:defRPr sz="1100" b="0">
                <a:solidFill>
                  <a:srgbClr val="C8C8C8"/>
                </a:solidFill>
              </a:defRPr>
            </a:pPr>
            <a:r>
              <a:t>DOI: 10.3389/fpsyg.2019.02771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</a:p>
          <a:p>
            <a:pPr algn="ctr">
              <a:defRPr sz="1600" b="1">
                <a:solidFill>
                  <a:srgbClr val="E9C46A"/>
                </a:solidFill>
              </a:defRPr>
            </a:pPr>
            <a:r>
              <a:t>Presented by: Lana Jalal Gidan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SSIE-605: Applied Multivariate Data Analysis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Professor Susan Lu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Watson College of Engineering | Binghamton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4653"/>
                </a:solidFill>
              </a:defRPr>
            </a:pPr>
            <a:r>
              <a:t>1. Introduction &amp; Background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264653"/>
                </a:solidFill>
              </a:defRPr>
            </a:pPr>
            <a:r>
              <a:t>2. Literature Review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264653"/>
                </a:solidFill>
              </a:defRPr>
            </a:pPr>
            <a:r>
              <a:t>3. Research Methodology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264653"/>
                </a:solidFill>
              </a:defRPr>
            </a:pPr>
            <a:r>
              <a:t>4. Results: EFA &amp; CFA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264653"/>
                </a:solidFill>
              </a:defRPr>
            </a:pPr>
            <a:r>
              <a:t>5. Discussion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264653"/>
                </a:solidFill>
              </a:defRPr>
            </a:pPr>
            <a:r>
              <a:t>6. Conclusion &amp; Implications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264653"/>
                </a:solidFill>
              </a:defRPr>
            </a:pPr>
            <a:r>
              <a:t>7.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Introduction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Work Engagement &amp; Women in the Workforce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B2D7B"/>
                </a:solidFill>
              </a:defRPr>
            </a:pPr>
            <a:r>
              <a:t>What is Work Engagement?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A positive, work-related state of mind characterized by three dimensions:</a:t>
            </a:r>
          </a:p>
          <a:p>
            <a:pPr>
              <a:defRPr sz="600"/>
            </a:pP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Vigor: High energy, mental resilience, willingness to invest effort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Dedication: Sense of significance, enthusiasm, inspiration, pride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Absorption: Being fully engrossed in work, time passes quickly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6B2D7B"/>
                </a:solidFill>
              </a:defRPr>
            </a:pPr>
            <a:r>
              <a:t>Why Study Women Specifically?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- Most UWES-9 studies use mixed-gender samples with majority male participants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- Gender may influence how work engagement is structured and experienced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- Only one prior Swedish study existed, using 186 IT consultants (63% male)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- Understanding women's engagement patterns is critical for retention &amp; policy</a:t>
            </a:r>
          </a:p>
          <a:p>
            <a:pPr>
              <a:defRPr sz="600"/>
            </a:pPr>
          </a:p>
          <a:p>
            <a:pPr>
              <a:defRPr sz="1000" b="0">
                <a:solidFill>
                  <a:srgbClr val="787878"/>
                </a:solidFill>
              </a:defRPr>
            </a:pPr>
            <a:r>
              <a:t>(Schaufeli et al., 2002; Hallberg &amp; Schaufeli, 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Literature Review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The UWES-9 Debate: One Factor vs. Three Factors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2D7B"/>
                </a:solidFill>
              </a:defRPr>
            </a:pPr>
            <a:r>
              <a:t>The UWES-9 Instrument: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- 9 items rated on 0-6 scale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(Never to All the time)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- 3 theoretical subscales: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Vigor (3 items: 1, 2, 5)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Dedication (3 items: 3, 4, 7)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Absorption (3 items: 6, 8, 9)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E76F51"/>
                </a:solidFill>
              </a:defRPr>
            </a:pPr>
            <a:r>
              <a:t>The Core Debate: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Kulikowski (2017) review of 21 studies: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- 3 confirmed 1-factor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- 3 confirmed 3-factor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- 4 found both equivalent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- 1 supported neither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No definitive conclusion reached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Key Prior Findings: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Swedish (Hallberg &amp; Schaufeli, 2006):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n = 186 IT consultants (37% women)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Both 1-factor &amp; 3-factor fit equally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RMSEA = 0.13, CFI = 0.97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Norwegian (Nerstad et al., 2010):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n = 1,266 multi-occupational (67% women)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3-factor supported, but factors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highly correlated (suggesting 1 factor)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Finnish (Seppala et al., 2009):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n = 9,404 multi-occupational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Both structures reasonable</a:t>
            </a:r>
          </a:p>
          <a:p>
            <a:pPr>
              <a:defRPr sz="600"/>
            </a:pPr>
          </a:p>
          <a:p>
            <a:pPr>
              <a:defRPr sz="1100" b="1">
                <a:solidFill>
                  <a:srgbClr val="E76F51"/>
                </a:solidFill>
              </a:defRPr>
            </a:pPr>
            <a:r>
              <a:t>Gap: No all-female, multi-occupational</a:t>
            </a:r>
          </a:p>
          <a:p>
            <a:pPr>
              <a:defRPr sz="1100" b="1">
                <a:solidFill>
                  <a:srgbClr val="E76F51"/>
                </a:solidFill>
              </a:defRPr>
            </a:pPr>
            <a:r>
              <a:t>Swedish study existed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Sample Demographics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n = 702 Women, Aged 26-37, Multi-Occupational Swedish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877824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Research Methodology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Split-Sample Design: EFA + CFA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2D7B"/>
                </a:solidFill>
              </a:defRPr>
            </a:pPr>
            <a:r>
              <a:t>Study Design: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Cross-sectional study (2015 data)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Part of 20-year longitudinal follow-up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Originally recruited as girls (1995)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Currently working women only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Final sample: n = 702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6B2D7B"/>
                </a:solidFill>
              </a:defRPr>
            </a:pPr>
            <a:r>
              <a:t>Sample Split: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EFA sample: n = 341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CFA sample: n = 342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- 19 cases excluded (missing data, 3%)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Total with complete data: n = 683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Statistical Methods: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Exploratory Factor Analysis (EFA):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- Maximum likelihood extraction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- Eigenvalues &gt; 1 criterion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- Promax rotation (forced 3-factor)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- Parallel Analysis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- Velicer's MAP test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Confirmatory Factor Analysis (CFA):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- Maximum likelihood estimation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- Three models tested: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 1-factor, 2-factor, 3-factor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Software: Stata 14 + SPSS</a:t>
            </a:r>
          </a:p>
          <a:p>
            <a:pPr>
              <a:defRPr sz="600"/>
            </a:pPr>
          </a:p>
          <a:p>
            <a:pPr>
              <a:defRPr sz="1000" b="0">
                <a:solidFill>
                  <a:srgbClr val="787878"/>
                </a:solidFill>
              </a:defRPr>
            </a:pPr>
            <a:r>
              <a:t>Ethics: Uppsala Regional Board (2014/401)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Sampling Adequacy &amp; Reliability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KMO = 0.922 (Marvellous) | Cronbach's Alpha = 0.947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mo_bartle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UWES-9 Subscale Scores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Overall Mean = 4.06 | Dedication Highest at 4.24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bscale_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Individual Item Mean Scores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Item 7 (Pride) Highest | Item 9 (Immersion) Lowest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tem_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Item Distribution Properties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Skewness &amp; Kurtosis Within Acceptable Range for ML Estimation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kewness_kurt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EFA Results: One-Factor Solution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All Loadings &gt; 0.65 | One Factor Explains &gt; 70% Variance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ctor_lo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EFA Summary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Multiple Tests Converge on One-Factor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B2D7B"/>
                </a:solidFill>
              </a:defRPr>
            </a:pPr>
            <a:r>
              <a:t>EFA Key Findings (n = 341):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1. Unrotated EFA: One factor explains &gt; 70% of variance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- Chi-squared = 332.43 (df = 27), p &lt; 0.001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2. Scree Plot: Strongly favors one-factor structure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3. Velicer's MAP Test: Both original and revised versions point to one factor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4. Parallel Analysis: Raw data eigenvalue exceeded 95th percentile for 4 factors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- This was the only test that disagreed with the one-factor solution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5. Forced 3-Factor Promax Rotation: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- Chi-squared = 45.72 (df = 12), p &lt; 0.001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- Items did NOT load on their expected theoretical factors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- Dedication had 4 items (3, 4, 5, 6) instead of 3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- Vigor had only 2 items (1, 2) instead of 3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2A9D8F"/>
                </a:solidFill>
              </a:defRPr>
            </a:pPr>
            <a:r>
              <a:t>Conclusion: EFA strongly supports a single 'Work Engagement'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CFA Model 1: One-Factor Structure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Single Latent Factor: Work Engagement (Figure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e_facto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CFA Model 3: Three-Factor Structure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Vigor, Dedication, Absorption (Figure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ree_facto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CFA Standardized Coefficients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All Three Models Compared (Table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fa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CFA Coefficients: Detailed Results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All p-values &lt; 0.0001 (Table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75895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Subscale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1-Factor Coef.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2-Factor Coef.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3-Factor Coef.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z-value (1F)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Item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Vigor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50.42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Item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Vigor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59.95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Item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Dedication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132.99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Item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Dedication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109.15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Item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Vigor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55.85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Item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Absorption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83.55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Item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Dedication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44.83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Item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Absorption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57.54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Item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Absorption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33.19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CFA Goodness-of-Fit Statistics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None of the Three Models Achieved Good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oodness_of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Goodness-of-Fit: Full Table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Table 5 from Willmer et al. (2019)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of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Key Findings Summary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EFA vs. CFA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743200" cy="4572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500" b="1">
                <a:solidFill>
                  <a:srgbClr val="2A9D8F"/>
                </a:solidFill>
              </a:defRPr>
            </a:pPr>
            <a:r>
              <a:t>EFA Results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One factor explains &gt; 70% variance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KMO = 0.922 (Marvellous)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All loadings: 0.65 - 0.93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MAP test: 1-factor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Forced 3-factor: items misload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463040"/>
            <a:ext cx="2743200" cy="4572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500" b="1">
                <a:solidFill>
                  <a:srgbClr val="E76F51"/>
                </a:solidFill>
              </a:defRPr>
            </a:pPr>
            <a:r>
              <a:t>CFA Results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RMSEA: 0.167 - 0.192 (poor)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CFI: 0.882 - 0.920 (below 0.95)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TLI: 0.837 - 0.880 (below 0.95)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SRMR: 0.046 - 0.065 (acceptable)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No model shows good overall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743200" cy="4572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500" b="1">
                <a:solidFill>
                  <a:srgbClr val="6B2D7B"/>
                </a:solidFill>
              </a:defRPr>
            </a:pPr>
            <a:r>
              <a:t>Interpretation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EFA supports 1-factor structure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CFA cannot confirm any model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3 subscales highly correlated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Possible gender/culture effects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Further research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Discussion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Why Did CFA Fail to Confirm the EFA Results?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B2D7B"/>
                </a:solidFill>
              </a:defRPr>
            </a:pPr>
            <a:r>
              <a:t>Possible Explanations: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1. Gender Effects: All-female sample may experience work engagement differently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than mixed-gender samples used in original UWES validation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2. Cultural Context: Swedish work culture emphasizes egalitarianism and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work-life balance, potentially affecting how engagement manifests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3. Subscale Overlap: Inter-factor correlations of 0.79-0.84 suggest the three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dimensions are not clearly distinct -- they may be measuring the same thing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4. Instrument Limitation: Shirom (2003) argued the three UWES dimensions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were not theoretically deduced and overlap conceptually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2A9D8F"/>
                </a:solidFill>
              </a:defRPr>
            </a:pPr>
            <a:r>
              <a:t>Comparison with Similar Studies: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Wefald et al. (2012): Similar sample size (n = 382), similar education level,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RMSEA = 0.18 and 0.16 -- almost identical to our 0.181 and 0.167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This suggests the issue may be with the UWES-9 instrument itself,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not specific to this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Women &amp; Work Engagement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Implications for Workforce Policy &amp;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2D7B"/>
                </a:solidFill>
              </a:defRPr>
            </a:pPr>
            <a:r>
              <a:t>What This Study Tells Us About Women's Engagement: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Women in this sample reported moderately high engagement (Mean = 4.06/6.0)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Dedication (meaning, pride, enthusiasm) scored highest at 4.24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Item 7 'I am proud of the work that I do' had the highest individual score (4.62)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This suggests pride and purpose are strongest drivers for women's engagement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2A9D8F"/>
                </a:solidFill>
              </a:defRPr>
            </a:pPr>
            <a:r>
              <a:t>Practical Implications: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Organizations should focus on meaningfulness and purpose to engage women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Standard 3-subscale UWES-9 scoring may not be appropriate for all-female populations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Total score (1-factor) may be more reliable than subscale scores for women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Work engagement instruments may need gender-specific validation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E76F51"/>
                </a:solidFill>
              </a:defRPr>
            </a:pPr>
            <a:r>
              <a:t>Limitations: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No data on specific occupations (only education level)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Swedish-speaking women only (though 21.6% had immigrant background)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Age range limited to 26-37 years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- University-educated majority (61%) may not represent all working women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B2D7B"/>
                </a:solidFill>
              </a:defRPr>
            </a:pPr>
            <a:r>
              <a:t>Study Summary: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EFA on n = 341 women: One-factor solution best fits the data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(KMO = 0.922, &gt; 70% variance explained, all loadings 0.65-0.93)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CFA on n = 342 women: Could NOT confirm any model (1-, 2-, or 3-factor)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(RMSEA never below 0.167, CFI/TLI below 0.95 for all models)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2A9D8F"/>
                </a:solidFill>
              </a:defRPr>
            </a:pPr>
            <a:r>
              <a:t>Key Takeaway: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The optimal factor structure of the UWES-9 remains unresolved.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Further research is needed to understand how gender, nationality,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and occupation influence the measurement of work engagement.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E76F51"/>
                </a:solidFill>
              </a:defRPr>
            </a:pPr>
            <a:r>
              <a:t>Future Directions: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Test UWES-9 in larger all-female samples across different cultures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Develop gender-specific engagement instruments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Investigate whether a shorter version (UWES-3) performs better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- Examine the role of occupation type in factor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Factor Analysis Methods Applied</a:t>
            </a:r>
          </a:p>
          <a:p>
            <a:pPr algn="l">
              <a:defRPr sz="1300">
                <a:solidFill>
                  <a:srgbClr val="E9C46A"/>
                </a:solidFill>
              </a:defRPr>
            </a:pPr>
            <a:r>
              <a:t>EFA &amp; CFA Techniques Used in This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56616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KMO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Sampling adequacy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0.922 (Marvellous)</a:t>
                      </a:r>
                    </a:p>
                  </a:txBody>
                  <a:tcPr anchor="ctr"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Bartlett's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Sphericity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 &lt; 0.001 (Significant)</a:t>
                      </a:r>
                    </a:p>
                  </a:txBody>
                  <a:tcPr anchor="ctr"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EFA (ML extraction)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Identify factor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factor, &gt; 70% variance</a:t>
                      </a:r>
                    </a:p>
                  </a:txBody>
                  <a:tcPr anchor="ctr"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Scree Plot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Visual eigenvalue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Supports 1-factor</a:t>
                      </a:r>
                    </a:p>
                  </a:txBody>
                  <a:tcPr anchor="ctr"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Velicer's 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Minimum average 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Supports 1-factor</a:t>
                      </a:r>
                    </a:p>
                  </a:txBody>
                  <a:tcPr anchor="ctr"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Parallel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Compare with random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Suggested 4 factors</a:t>
                      </a:r>
                    </a:p>
                  </a:txBody>
                  <a:tcPr anchor="ctr"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CFA: 1-Factor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Test unidimensional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RMSEA = 0.181 (poor)</a:t>
                      </a:r>
                    </a:p>
                  </a:txBody>
                  <a:tcPr anchor="ctr"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CFA: 2-Factor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Test V+D / A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RMSEA = 0.192 (poor)</a:t>
                      </a:r>
                    </a:p>
                  </a:txBody>
                  <a:tcPr anchor="ctr"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CFA: 3-Factor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Test V / D / A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RMSEA = 0.167 (poor)</a:t>
                      </a:r>
                    </a:p>
                  </a:txBody>
                  <a:tcPr anchor="ctr"/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Cronbach's Alpha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Internal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0.947 (Excellent)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B2D7B"/>
                </a:solidFill>
              </a:defRPr>
            </a:pPr>
            <a:r>
              <a:t>Primary Study: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Willmer, M., Westerberg Jacobson, J. &amp; Lindberg, M. (2019). Exploratory and Confirmatory Factor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Analysis of the 9-Item UWES in a Multi-Occupational Female Sample. Frontiers in Psychology, 10, 2771.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DOI: 10.3389/fpsyg.2019.02771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2A9D8F"/>
                </a:solidFill>
              </a:defRPr>
            </a:pPr>
            <a:r>
              <a:t>Supporting References: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Schaufeli, W.B., Salanova, M., Gonzalez-Roma, V. &amp; Bakker, A.B. (2002). The measurement of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engagement and burnout. Journal of Happiness Studies, 3, 71-92.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Kulikowski, K. (2017). Do we all agree on how to measure work engagement? Factorial validity of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UWES-9 and UWES-17. Polish Psychological Bulletin, 48(3), 350-360.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Hair, J.F., Black, W.C., Babin, B.J. &amp; Anderson, R.E. (2019). Multivariate Data Analysis (8th Ed.).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Cengage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Introduction | Literature Review | Methodology | Results | Discussion | Conclusion | References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D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1000"/>
            </a:pPr>
          </a:p>
          <a:p>
            <a:pPr algn="ctr">
              <a:defRPr sz="2400">
                <a:solidFill>
                  <a:srgbClr val="E9C46A"/>
                </a:solidFill>
              </a:defRPr>
            </a:pPr>
            <a:r>
              <a:t>Questions?</a:t>
            </a:r>
          </a:p>
          <a:p>
            <a:pPr>
              <a:defRPr sz="2000"/>
            </a:pP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SSIE-605 | Professor Susan Lu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Watson College of Engineering | Binghamton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