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743200"/>
          </a:xfrm>
          <a:prstGeom prst="rect">
            <a:avLst/>
          </a:prstGeom>
          <a:solidFill>
            <a:srgbClr val="00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C000"/>
                </a:solidFill>
              </a:defRPr>
            </a:pPr>
            <a:r>
              <a:t>SSIE-605: Applied Multivariate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Factor Analysis in Financial</a:t>
            </a:r>
            <a:br/>
            <a:r>
              <a:t>Performance Evaluation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C000"/>
                </a:solidFill>
              </a:defRPr>
            </a:pPr>
            <a:r>
              <a:t>Evaluating Listed Real Estate Companies Using</a:t>
            </a:r>
            <a:br/>
            <a:r>
              <a:t>Exploratory Factor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>
              <a:defRPr sz="1300" b="0">
                <a:solidFill>
                  <a:srgbClr val="B4C6E7"/>
                </a:solidFill>
              </a:defRPr>
            </a:pPr>
            <a:r>
              <a:t>Binghamton University | Professor Susan Lu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82296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1. Introduction  |  Why factor analysis matters in financial performance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2. Study Background  |  Real estate industry challenges and research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3. Research Design  |  Sample selection, variables, and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4. Factor Analysis Methodology  |  Step-by-step EFA procedure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5. Suitability Testing  |  KMO and Bartlett's test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6. Factor Extraction &amp; Rotation  |  Eigenvalues, variance explained, and factor loadings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7. Factor Interpretation  |  Naming and understanding the three extracted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8. Company Scoring &amp; Evaluation  |  Comprehensive financial performance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9. Key Findings &amp; Implications  |  Practical takeaways for industry and investors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97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10. Conclusion  |  Summary and significance of factor analysis in finance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Factor Analysis?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Reducing Complexity in Financial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Definition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Factor Analysis is a statistical method that reduces many observed variables into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a smaller number of underlying 'factors' that explain shared patterns in the data.</a:t>
            </a:r>
          </a:p>
          <a:p>
            <a:pPr>
              <a:defRPr sz="600"/>
            </a:pPr>
          </a:p>
          <a:p>
            <a:pPr>
              <a:defRPr sz="1800" b="1">
                <a:solidFill>
                  <a:srgbClr val="002060"/>
                </a:solidFill>
              </a:defRPr>
            </a:pPr>
            <a:r>
              <a:t>Why Use It in Finance?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Financial performance involves many correlated indicators (profitability, debt ratios, growth, etc.)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Factor analysis identifies the key underlying dimensions that drive company performance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Reduces 9+ financial indicators into 2-3 core factors for clearer evaluation</a:t>
            </a:r>
          </a:p>
          <a:p>
            <a:pPr>
              <a:defRPr sz="600"/>
            </a:pPr>
          </a:p>
          <a:p>
            <a:pPr>
              <a:defRPr sz="1800" b="1">
                <a:solidFill>
                  <a:srgbClr val="002060"/>
                </a:solidFill>
              </a:defRPr>
            </a:pPr>
            <a:r>
              <a:t>Two Main Types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Exploratory Factor Analysis (EFA): Discovers the underlying factor structure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Confirmatory Factor Analysis (CFA): Tests a pre-specified factor structure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468C"/>
                </a:solidFill>
              </a:defRPr>
            </a:pPr>
            <a:r>
              <a:t>This Study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Uses EFA with Principal Component Analysis to evaluate 100 real estate companies (Wang &amp; Song,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Study Background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China's Real Estate Industry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The Problem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Real estate is a critical economic driver in China, linked to employment and related industries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The Evergrande Group crisis (2021) exposed severe financial risks across the sector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The pandemic (2022) caused dramatic market contraction and broken capital chains</a:t>
            </a:r>
          </a:p>
          <a:p>
            <a:pPr>
              <a:defRPr sz="600"/>
            </a:pPr>
          </a:p>
          <a:p>
            <a:pPr>
              <a:defRPr sz="1800" b="1">
                <a:solidFill>
                  <a:srgbClr val="002060"/>
                </a:solidFill>
              </a:defRPr>
            </a:pPr>
            <a:r>
              <a:t>Why This Research Matters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Traditional single-indicator analysis cannot capture the complexity of financial health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Real estate companies face intertwined pressures: market fluctuations, capital turnover,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 cost control, regulatory policies, and misappropriation risks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Scientific multi-dimensional evaluation is needed for corporate managers and investors</a:t>
            </a:r>
          </a:p>
          <a:p>
            <a:pPr>
              <a:defRPr sz="600"/>
            </a:pPr>
          </a:p>
          <a:p>
            <a:pPr>
              <a:defRPr sz="1800" b="1">
                <a:solidFill>
                  <a:srgbClr val="00468C"/>
                </a:solidFill>
              </a:defRPr>
            </a:pPr>
            <a:r>
              <a:t>Research Goal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Use factor analysis to identify the core dimensions driving financial performance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of listed real estate companies and evaluate their relative standings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Research Design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Sample, Data Sources, and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Sample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 listed real estate companies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Data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2023 financial year data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Data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CSMAR database, Wind database, company reports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Exclusions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ST-labeled companies; incomplete data removed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Multiple regions, sizes, and development stages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 financial indicators across 4 dimensions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Exploratory Factor Analysis (PCA extraction)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Varimax (orthogonal rotation)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SPSS and Stata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Financial Performance Indicators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9 Variables Across 4 Dimensions (Table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riable_defin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Variable Definitions — Detail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1: Wang &amp; Song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82880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Operational Cap.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Inventory Turnover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COGS / Ending Inventory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Operational Cap.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A/R Turnover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Revenue / Ending A/R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Debt-paying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Current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Current Assets / Current Liabilities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Debt-paying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Quick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Quick Assets / Current Liabilities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Debt-paying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Debt-to-Asset (R)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Total Assets / Total Liabilities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Profitability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Asset Return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(Profit + Fin. Exp.) / Total Assets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Profitability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Net Profit / Total Assets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Profitability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EBIT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(Net Profit + Tax + Fin. Exp.) / Revenue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Revenue Growth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(Current Rev. - Prior Rev.) / Prior Rev.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Analysis Procedure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Step-by-Step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fa_proced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Suitability Testing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KMO and Bartlett's Sphericity Test (Table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mo_bartle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KMO = 0.706 (Meritorious) confirms sampling adequacy; Bartlett's p = 0.000 confirms variable correlations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Suitability Test Results — Table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2: Wang &amp; Song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KMO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Sampling Adequacy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0.706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Bartlett's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Approx. Chi-Square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573.599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Bartlett's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Degrees of Freedom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Bartlett's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Significance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Interpretation: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KMO &gt; 0.7 indicates the data is suitable for factor analysis (Kaiser, 1974)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Bartlett's test significance (p &lt; 0.05) confirms variables are correlated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Both tests confirm factor analysis is appropriate for these 9 financial indicators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Scree Plot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Eigenvalue Analysis for Factor Extraction (Table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3 factors retained with eigenvalues &gt; 1: 3.262, 2.057, 1.300 (only retained factors reported in paper)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Eigenvalues: Before vs. After Rotation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Effect of Varimax Rotation (Table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igenval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Rotation redistributes variance more evenly: F1 decreases (3.262 to 2.733), F2 increases (2.057 to 2.522)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Total Variance Explained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Before and After Rotation (Table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riance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3 factors explain 73.55% of total variance in financial performance indicators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Variance Explained — Full Table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3: Wang &amp; Song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Eigenvalue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(Before)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Variance %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(Before)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Cumul. %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(Before)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Eigenvalue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(After)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Variance %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(After)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Cumul. %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(After)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3.262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36.248%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36.248%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30.369%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30.369%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2.057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22.852%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59.101%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2.522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28.025%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58.395%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14.449%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73.550%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15.155%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73.550%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Key Observations: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Before rotation: F1 dominates with 36.25% variance; uneven distribution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After Varimax rotation: Variance is redistributed more evenly across factors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F1 drops from 36.25% to 30.37%; F2 rises from 22.85% to 28.03%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Total cumulative variance remains unchanged at 73.55%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This redistribution makes factor interpretation clearer and more meaningful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Rotated Factor Loading Matrix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Varimax Rotation Results (Table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ctor_loading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Primary Factor Loadings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Which Variables Define Each Factor (Table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ctor_loading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F1: Solvency (0.929-0.956) | F2: Profitability (0.778-0.955) | F3: Oper. Dev. (0.732-0.744)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Rotated Component Matrix — Table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4: Wang &amp; Song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F1: Solvency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F2: Profitability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F3: Oper. Dev.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X1: Inventory Turnover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-0.479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X2: A/R Turnover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0.732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X3: Current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-0.020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X4: Quick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-0.154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X5: Debt-to-Asset (R)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-0.034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X6: Asset Return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-0.065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X7: ROA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-0.071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X8: EBIT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0.103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X9: Revenue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0.744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Interpretation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Understanding the Three Extracted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Factor 1: Solvency Factor (30.37% variance)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Loaded by: Current Ratio (0.956), Debt-to-Asset Reciprocal (0.945), Quick Ratio (0.929)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Measures the company's ability to repay debts and meet financial obligations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Reflects short-term liquidity and overall financial stability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E67E22"/>
                </a:solidFill>
              </a:defRPr>
            </a:pPr>
            <a:r>
              <a:t>Factor 2: Profitability Factor (28.03% variance)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Loaded by: Asset Return Ratio (0.955), ROA (0.940), EBIT Margin (0.778)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Measures the company's capacity to generate profits from its assets and operations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Reflects long-term earning power and market competitiveness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27AE60"/>
                </a:solidFill>
              </a:defRPr>
            </a:pPr>
            <a:r>
              <a:t>Factor 3: Operational Development Capability (15.16% variance)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Loaded by: Revenue Growth Rate (0.744), A/R Turnover (0.732)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Measures the company's growth trajectory and operational efficiency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Reflects expansion momentum and asset utilization effectiveness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Component Score Coefficients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Building the Scoring Equations (Table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ore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Scoring Equations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From Table 5 Coefficients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Factor Score Equations (from Table 5):</a:t>
            </a:r>
          </a:p>
          <a:p>
            <a:pPr>
              <a:defRPr sz="600"/>
            </a:pPr>
          </a:p>
          <a:p>
            <a:pPr>
              <a:defRPr sz="1300" b="0">
                <a:solidFill>
                  <a:srgbClr val="2E86C1"/>
                </a:solidFill>
              </a:defRPr>
            </a:pPr>
            <a:r>
              <a:t>F1 = -0.062X1 + 0.026X2 + 0.367X3 + 0.342X4 + 0.359X5</a:t>
            </a:r>
          </a:p>
          <a:p>
            <a:pPr>
              <a:defRPr sz="1300" b="0">
                <a:solidFill>
                  <a:srgbClr val="2E86C1"/>
                </a:solidFill>
              </a:defRPr>
            </a:pPr>
            <a:r>
              <a:t>      - 0.086X6 - 0.033X7 + 0.010X8 + 0.019X9</a:t>
            </a:r>
          </a:p>
          <a:p>
            <a:pPr>
              <a:defRPr sz="600"/>
            </a:pPr>
          </a:p>
          <a:p>
            <a:pPr>
              <a:defRPr sz="1300" b="0">
                <a:solidFill>
                  <a:srgbClr val="E67E22"/>
                </a:solidFill>
              </a:defRPr>
            </a:pPr>
            <a:r>
              <a:t>F2 = 0.108X1 + 0.038X2 - 0.049X3 - 0.029X4 - 0.036X5</a:t>
            </a:r>
          </a:p>
          <a:p>
            <a:pPr>
              <a:defRPr sz="1300" b="0">
                <a:solidFill>
                  <a:srgbClr val="E67E22"/>
                </a:solidFill>
              </a:defRPr>
            </a:pPr>
            <a:r>
              <a:t>      + 0.397X6 + 0.379X7 + 0.309X8 + 0.051X9</a:t>
            </a:r>
          </a:p>
          <a:p>
            <a:pPr>
              <a:defRPr sz="600"/>
            </a:pPr>
          </a:p>
          <a:p>
            <a:pPr>
              <a:defRPr sz="1300" b="0">
                <a:solidFill>
                  <a:srgbClr val="27AE60"/>
                </a:solidFill>
              </a:defRPr>
            </a:pPr>
            <a:r>
              <a:t>F3 = -0.358X1 + 0.544X2 + 0.062X3 - 0.040X4 + 0.051X5</a:t>
            </a:r>
          </a:p>
          <a:p>
            <a:pPr>
              <a:defRPr sz="1300" b="0">
                <a:solidFill>
                  <a:srgbClr val="27AE60"/>
                </a:solidFill>
              </a:defRPr>
            </a:pPr>
            <a:r>
              <a:t>      - 0.044X6 - 0.038X7 + 0.096X8 + 0.553X9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Comprehensive Score:</a:t>
            </a:r>
          </a:p>
          <a:p>
            <a:pPr>
              <a:defRPr sz="1300" b="1">
                <a:solidFill>
                  <a:srgbClr val="323232"/>
                </a:solidFill>
              </a:defRPr>
            </a:pPr>
            <a:r>
              <a:t>F = (30.369/73.550) x F1 + (28.025/73.550) x F2 + (15.155/73.550) x F3</a:t>
            </a:r>
          </a:p>
          <a:p>
            <a:pPr>
              <a:defRPr sz="1400" b="1">
                <a:solidFill>
                  <a:srgbClr val="00468C"/>
                </a:solidFill>
              </a:defRPr>
            </a:pPr>
            <a:r>
              <a:t>F = 0.413 x F1 + 0.381 x F2 + 0.206 x F3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Score Ranges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Performance Distribution Across 100 Companies (Table 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ctor_score_r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Wide score ranges indicate significant differentiation in financial performance among companies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What the Analysis Revealed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1. Three Core Dimensions Drive Financial Performance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Solvency, Profitability, and Operational Development Capability explain 73.55% of variance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2. Significant Differentiation Among Companies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Solvency scores range from -24.85 to 46.09 — some companies face serious debt risk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Profitability scores range from -0.32 to 66.24 — large gap between top and bottom performers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Operational development scores range from -156.91 to 947.95 — extreme variation in growth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3. Debt Risk is a Major Concern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Some companies have very low solvency scores, indicating capital chain vulnerabilities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This aligns with the post-Evergrande industry reality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4. Factor Analysis Provides Superior Evaluation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Reduces 9 indicators into 3 interpretable factors for clearer assessment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Weighted comprehensive scoring enables fair cross-company comparison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Practical Implications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Recommendations from the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For Company Managers: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Strengthen profitability through better cost control and revenue diversification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Improve operational development capability via faster asset turnover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Pay close attention to debt risks and maintain healthy capital chains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Use multi-dimensional evaluation (not just single metrics) for strategic decisions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For Investors: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Look beyond simple profit metrics — solvency and growth are equally important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Companies with balanced scores across all 3 factors are more financially stable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Low solvency scores signal potential bankruptcy or capital chain risks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For Policy Makers: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The significant differentiation highlights need for industry-level risk monitoring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Factor analysis can serve as an early warning system for sector-wide financial stress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Factor Analysis Works for Finance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Advantages of the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Advantages: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Handles multicollinearity — financial ratios are often highly correlated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Reduces dimensionality — 9 variables condensed into 3 interpretable factors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Objective weighting — factor weights come from data, not subjective judgment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Comprehensive scoring — enables fair ranking of companies on multiple dimensions</a:t>
            </a:r>
          </a:p>
          <a:p>
            <a:pPr>
              <a:defRPr sz="600"/>
            </a:pPr>
          </a:p>
          <a:p>
            <a:pPr>
              <a:defRPr sz="1800" b="1">
                <a:solidFill>
                  <a:srgbClr val="C0392B"/>
                </a:solidFill>
              </a:defRPr>
            </a:pPr>
            <a:r>
              <a:t>Limitations: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Requires sufficient sample size (this study uses 100 companies)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Results depend on variable selection (only 9 indicators used here)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Historical data — reflects past performance, not predictive of future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Cross-sectional analysis — captures one year (2023) only</a:t>
            </a:r>
          </a:p>
          <a:p>
            <a:pPr>
              <a:defRPr sz="600"/>
            </a:pPr>
          </a:p>
          <a:p>
            <a:pPr>
              <a:defRPr sz="1800" b="1">
                <a:solidFill>
                  <a:srgbClr val="00468C"/>
                </a:solidFill>
              </a:defRPr>
            </a:pPr>
            <a:r>
              <a:t>Broader Applications in Finance: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Portfolio risk assessment and diversification analysis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Credit scoring and loan default prediction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Stock return factor models (e.g., Fama-French factors)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Macroeconomic forecasting using latent factor models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Summary: All Real Published Data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Data Source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Element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Sample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 companies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Wang &amp; Song (2025)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KMO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Table 2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Bartlett's Chi-Square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573.599 (df=36, p=0.000)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Table 2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Eigenvalues (before rot.)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3.262, 2.057, 1.300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Table 3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Eigenvalues (after rot.)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2.733, 2.522, 1.364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Table 3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Total Variance Explained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73.550%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Table 3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Factor Loadings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 variables x 3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Table 4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Score Coefficients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 variables x 3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Table 5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Score Ranges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Min/Max per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Table 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Primary Study: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Wang, Y. &amp; Song, X. (2025). "Research on the Financial Performance Evaluation of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Listed Companies in the Real Estate Industry Based on Factor Analysis Method."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Academic Journal of Business &amp; Management, 7(5), 78-84.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DOI: 10.25236/AJBM.2025.070510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Supporting References: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Kaiser, H.F. (1974). "An Index of Factorial Simplicity." Psychometrika, 39, 31-36.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Hair, J.F., Black, W.C., Babin, B.J. &amp; Anderson, R.E. (2019). Multivariate Data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Analysis, 8th Ed. Cengage Learning.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Shrestha, N. (2021). "Factor Analysis as a Tool for Survey Analysis."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American Journal of Applied Mathematics and Statistics, 9(1), 4-11.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   DOI: 10.12691/ajams-9-1-2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743200"/>
          </a:xfrm>
          <a:prstGeom prst="rect">
            <a:avLst/>
          </a:prstGeom>
          <a:solidFill>
            <a:srgbClr val="00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C000"/>
                </a:solidFill>
              </a:defRPr>
            </a:pPr>
            <a:r>
              <a:t>Factor Analysis in Financial Performance Evaluation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>
              <a:defRPr sz="1300" b="0">
                <a:solidFill>
                  <a:srgbClr val="B4C6E7"/>
                </a:solidFill>
              </a:defRPr>
            </a:pPr>
            <a:r>
              <a:t>SSIE-605 | Binghamton University | Professor Susan Lu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212080"/>
            <a:ext cx="82296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