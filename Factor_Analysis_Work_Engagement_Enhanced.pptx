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88920"/>
            <a:ext cx="12188952" cy="7315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Factor Analysis of Work Engagement</a:t>
            </a:r>
          </a:p>
          <a:p>
            <a:pPr>
              <a:defRPr sz="2200" b="0">
                <a:solidFill>
                  <a:srgbClr val="C9A84C"/>
                </a:solidFill>
              </a:defRPr>
            </a:pPr>
            <a:r>
              <a:t>Women &amp; Workforce Engagement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7180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EFA &amp; CFA of the 9-Item Utrecht Work Engagement Scale (UWES-9)</a:t>
            </a:r>
          </a:p>
          <a:p>
            <a:pPr>
              <a:defRPr sz="1200" b="0">
                <a:solidFill>
                  <a:srgbClr val="DCDCDC"/>
                </a:solidFill>
              </a:defRPr>
            </a:pPr>
            <a:r>
              <a:t>in a Multi-Occupational Female Sample  |  With Full Mathematical Treatment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4434840"/>
            <a:ext cx="10360152" cy="2011680"/>
          </a:xfrm>
          <a:prstGeom prst="roundRect">
            <a:avLst/>
          </a:prstGeom>
          <a:solidFill>
            <a:srgbClr val="002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45262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C9A84C"/>
                </a:solidFill>
              </a:defRPr>
            </a:pPr>
            <a:r>
              <a:t>Primary Study:</a:t>
            </a:r>
          </a:p>
          <a:p>
            <a:pPr>
              <a:defRPr sz="1200" b="0">
                <a:solidFill>
                  <a:srgbClr val="FFFFFF"/>
                </a:solidFill>
              </a:defRPr>
            </a:pPr>
            <a:r>
              <a:t>Willmer, M., Westerberg Jacobson, J. &amp; Lindberg, M. (2019). Frontiers in Psychology, 10, Article 2771</a:t>
            </a:r>
          </a:p>
          <a:p>
            <a:pPr>
              <a:defRPr sz="1100" b="0">
                <a:solidFill>
                  <a:srgbClr val="96C8FF"/>
                </a:solidFill>
              </a:defRPr>
            </a:pPr>
            <a:r>
              <a:t>DOI: 10.3389/fpsyg.2019.02771</a:t>
            </a:r>
          </a:p>
          <a:p>
            <a:pPr>
              <a:defRPr sz="500"/>
            </a:pPr>
          </a:p>
          <a:p>
            <a:pPr>
              <a:defRPr sz="1600" b="1">
                <a:solidFill>
                  <a:srgbClr val="C9A84C"/>
                </a:solidFill>
              </a:defRPr>
            </a:pPr>
            <a:r>
              <a:t>Presented by: Lana Jalal Gidan</a:t>
            </a:r>
          </a:p>
          <a:p>
            <a:pPr>
              <a:defRPr sz="1200" b="0">
                <a:solidFill>
                  <a:srgbClr val="FFFFFF"/>
                </a:solidFill>
              </a:defRPr>
            </a:pPr>
            <a:r>
              <a:t>SSIE-605: Applied Multivariate Data Analysis  |  Professor Susan Lu</a:t>
            </a:r>
          </a:p>
          <a:p>
            <a:pPr>
              <a:defRPr sz="1100" b="0">
                <a:solidFill>
                  <a:srgbClr val="DCDCDC"/>
                </a:solidFill>
              </a:defRPr>
            </a:pPr>
            <a:r>
              <a:t>Watson College of Engineering  |  Binghamton University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9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DCDCDC"/>
                </a:solidFill>
              </a:defRPr>
            </a:pPr>
            <a:r>
              <a:t>Introduction | EFA Mathematics | EFA Results | CFA Summary | Discussion | References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51967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C9A84C"/>
                </a:solidFill>
              </a:defRPr>
            </a:pPr>
            <a:r>
              <a:t>1/24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91440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Agenda</a:t>
            </a:r>
          </a:p>
          <a:p>
            <a:pPr algn="l">
              <a:defRPr sz="1200">
                <a:solidFill>
                  <a:srgbClr val="C9A84C"/>
                </a:solidFill>
              </a:defRPr>
            </a:pPr>
            <a:r>
              <a:t>Presentation emphasizes EFA mathematical foundations per professor feedback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19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DCDCDC"/>
                </a:solidFill>
              </a:defRPr>
            </a:pPr>
            <a:r>
              <a:t>Introduction | EFA Mathematics | EFA Results | CFA Summary | Discussion | References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51967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C9A84C"/>
                </a:solidFill>
              </a:defRPr>
            </a:pPr>
            <a:r>
              <a:t>2/24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98448"/>
            <a:ext cx="54864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16736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23232"/>
                </a:solidFill>
              </a:defRPr>
            </a:pPr>
            <a:r>
              <a:t>1.  Introduction &amp; Background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938528"/>
            <a:ext cx="54864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956815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23232"/>
                </a:solidFill>
              </a:defRPr>
            </a:pPr>
            <a:r>
              <a:t>2.  The UWES-9 Instrument &amp; Sample Data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578608"/>
            <a:ext cx="54864" cy="5029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596896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23232"/>
                </a:solidFill>
              </a:defRPr>
            </a:pPr>
            <a:r>
              <a:t>3.  Math Foundation: The Factor Analysis Model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218687"/>
            <a:ext cx="54864" cy="5029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236975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23232"/>
                </a:solidFill>
              </a:defRPr>
            </a:pPr>
            <a:r>
              <a:t>4.  Step 1: Correlation Matrix  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858768"/>
            <a:ext cx="54864" cy="5029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877056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23232"/>
                </a:solidFill>
              </a:defRPr>
            </a:pPr>
            <a:r>
              <a:t>5.  Step 2: KMO, Bartlett's Test &amp; Eigenvalues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498848"/>
            <a:ext cx="54864" cy="5029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517136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23232"/>
                </a:solidFill>
              </a:defRPr>
            </a:pPr>
            <a:r>
              <a:t>6.  Step 3: ML Extraction &amp; Communalities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5138927"/>
            <a:ext cx="54864" cy="5029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5157215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23232"/>
                </a:solidFill>
              </a:defRPr>
            </a:pPr>
            <a:r>
              <a:t>7.  Step 4: Factor Loadings Matrix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1298448"/>
            <a:ext cx="54864" cy="5029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1316736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23232"/>
                </a:solidFill>
              </a:defRPr>
            </a:pPr>
            <a:r>
              <a:t>8.  Step 5: Factor Retention Criteria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1938528"/>
            <a:ext cx="54864" cy="5029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1956815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23232"/>
                </a:solidFill>
              </a:defRPr>
            </a:pPr>
            <a:r>
              <a:t>9.  Step 6: Promax Rotation — 3-Factor Test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2578608"/>
            <a:ext cx="54864" cy="5029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2596896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23232"/>
                </a:solidFill>
              </a:defRPr>
            </a:pPr>
            <a:r>
              <a:t>10. EFA Summary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3218687"/>
            <a:ext cx="54864" cy="502920"/>
          </a:xfrm>
          <a:prstGeom prst="rect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3236975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323232"/>
                </a:solidFill>
              </a:defRPr>
            </a:pPr>
            <a:r>
              <a:t>11. CFA: Model Fit Results (Summary)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3858768"/>
            <a:ext cx="54864" cy="502920"/>
          </a:xfrm>
          <a:prstGeom prst="rect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3877056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323232"/>
                </a:solidFill>
              </a:defRPr>
            </a:pPr>
            <a:r>
              <a:t>12. Discussion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4498848"/>
            <a:ext cx="54864" cy="502920"/>
          </a:xfrm>
          <a:prstGeom prst="rect">
            <a:avLst/>
          </a:prstGeom>
          <a:solidFill>
            <a:srgbClr val="D3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4517136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23232"/>
                </a:solidFill>
              </a:defRPr>
            </a:pPr>
            <a:r>
              <a:t>13. Ways to Improve the Methodology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5138927"/>
            <a:ext cx="54864" cy="502920"/>
          </a:xfrm>
          <a:prstGeom prst="rect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5157215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323232"/>
                </a:solidFill>
              </a:defRPr>
            </a:pPr>
            <a:r>
              <a:t>14. Conclusion &amp; References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61722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46464"/>
                </a:solidFill>
              </a:defRPr>
            </a:pPr>
            <a:r>
              <a:t>  Gold = EFA Math Deep-Dive     Blue = Background     Green = EFA Conclusion     Orange = Improvements     Gray = CFA &amp; Close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91440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Introduction &amp; Background</a:t>
            </a:r>
          </a:p>
          <a:p>
            <a:pPr algn="l">
              <a:defRPr sz="1200">
                <a:solidFill>
                  <a:srgbClr val="C9A84C"/>
                </a:solidFill>
              </a:defRPr>
            </a:pPr>
            <a:r>
              <a:t>Work Engagement | UWES-9 | Research Gap | Why Women?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19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DCDCDC"/>
                </a:solidFill>
              </a:defRPr>
            </a:pPr>
            <a:r>
              <a:t>Introduction | EFA Mathematics | EFA Results | CFA Summary | Discussion | References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51967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C9A84C"/>
                </a:solidFill>
              </a:defRPr>
            </a:pPr>
            <a:r>
              <a:t>3/24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280160"/>
            <a:ext cx="5486400" cy="5074920"/>
          </a:xfrm>
          <a:prstGeom prst="roundRect">
            <a:avLst/>
          </a:prstGeom>
          <a:solidFill>
            <a:srgbClr val="E6F0FF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335024"/>
            <a:ext cx="5266944" cy="4965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2060"/>
                </a:solidFill>
              </a:defRPr>
            </a:pPr>
            <a:r>
              <a:t>What Is Work Engagement?</a:t>
            </a:r>
          </a:p>
          <a:p>
            <a:pPr>
              <a:defRPr sz="500"/>
            </a:pPr>
          </a:p>
          <a:p>
            <a:pPr>
              <a:defRPr sz="1100" b="0">
                <a:solidFill>
                  <a:srgbClr val="323232"/>
                </a:solidFill>
              </a:defRPr>
            </a:pPr>
            <a:r>
              <a:t>Schaufeli et al. (2002) define it as a positive, fulfilling state of mind.</a:t>
            </a:r>
          </a:p>
          <a:p>
            <a:pPr>
              <a:defRPr sz="500"/>
            </a:pPr>
          </a:p>
          <a:p>
            <a:pPr>
              <a:defRPr sz="1100" b="1">
                <a:solidFill>
                  <a:srgbClr val="002060"/>
                </a:solidFill>
              </a:defRPr>
            </a:pPr>
            <a:r>
              <a:t>Three core dimensions:</a:t>
            </a:r>
          </a:p>
          <a:p>
            <a:pPr>
              <a:defRPr sz="1100" b="0">
                <a:solidFill>
                  <a:srgbClr val="323232"/>
                </a:solidFill>
              </a:defRPr>
            </a:pPr>
            <a:r>
              <a:t>   Vigor:       High energy, resilience, willingness to invest effort</a:t>
            </a:r>
          </a:p>
          <a:p>
            <a:pPr>
              <a:defRPr sz="1100" b="0">
                <a:solidFill>
                  <a:srgbClr val="323232"/>
                </a:solidFill>
              </a:defRPr>
            </a:pPr>
            <a:r>
              <a:t>   Dedication:  Significance, enthusiasm, inspiration &amp; pride</a:t>
            </a:r>
          </a:p>
          <a:p>
            <a:pPr>
              <a:defRPr sz="1100" b="0">
                <a:solidFill>
                  <a:srgbClr val="323232"/>
                </a:solidFill>
              </a:defRPr>
            </a:pPr>
            <a:r>
              <a:t>   Absorption:  Fully engrossed; time passes quickly</a:t>
            </a:r>
          </a:p>
          <a:p>
            <a:pPr>
              <a:defRPr sz="500"/>
            </a:pPr>
          </a:p>
          <a:p>
            <a:pPr>
              <a:defRPr sz="1400" b="1">
                <a:solidFill>
                  <a:srgbClr val="002060"/>
                </a:solidFill>
              </a:defRPr>
            </a:pPr>
            <a:r>
              <a:t>Why Study Women Specifically?</a:t>
            </a:r>
          </a:p>
          <a:p>
            <a:pPr>
              <a:defRPr sz="500"/>
            </a:pPr>
          </a:p>
          <a:p>
            <a:pPr>
              <a:defRPr sz="1100" b="0">
                <a:solidFill>
                  <a:srgbClr val="323232"/>
                </a:solidFill>
              </a:defRPr>
            </a:pPr>
            <a:r>
              <a:t>  Most UWES-9 studies use mixed-gender / majority-male samples</a:t>
            </a:r>
          </a:p>
          <a:p>
            <a:pPr>
              <a:defRPr sz="1100" b="0">
                <a:solidFill>
                  <a:srgbClr val="323232"/>
                </a:solidFill>
              </a:defRPr>
            </a:pPr>
            <a:r>
              <a:t>  Gender may alter how engagement is structured and experienced</a:t>
            </a:r>
          </a:p>
          <a:p>
            <a:pPr>
              <a:defRPr sz="1100" b="0">
                <a:solidFill>
                  <a:srgbClr val="323232"/>
                </a:solidFill>
              </a:defRPr>
            </a:pPr>
            <a:r>
              <a:t>  Only 1 prior Swedish study: n=186, 63% male IT consultants</a:t>
            </a:r>
          </a:p>
          <a:p>
            <a:pPr>
              <a:defRPr sz="1100" b="0">
                <a:solidFill>
                  <a:srgbClr val="323232"/>
                </a:solidFill>
              </a:defRPr>
            </a:pPr>
            <a:r>
              <a:t>  Women's engagement patterns critical for HR policy &amp; retention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1280160"/>
            <a:ext cx="5943600" cy="2423160"/>
          </a:xfrm>
          <a:prstGeom prst="roundRect">
            <a:avLst/>
          </a:prstGeom>
          <a:solidFill>
            <a:srgbClr val="FFF8DC"/>
          </a:solidFill>
          <a:ln w="1905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53328" y="1335024"/>
            <a:ext cx="5724144" cy="2313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2060"/>
                </a:solidFill>
              </a:defRPr>
            </a:pPr>
            <a:r>
              <a:t>The 1-Factor vs. 3-Factor Debate</a:t>
            </a:r>
          </a:p>
          <a:p>
            <a:pPr>
              <a:defRPr sz="500"/>
            </a:pPr>
          </a:p>
          <a:p>
            <a:pPr>
              <a:defRPr sz="1100" b="1">
                <a:solidFill>
                  <a:srgbClr val="323232"/>
                </a:solidFill>
              </a:defRPr>
            </a:pPr>
            <a:r>
              <a:t>Kulikowski (2017) reviewed 21 studies:</a:t>
            </a:r>
          </a:p>
          <a:p>
            <a:pPr>
              <a:defRPr sz="1100" b="0">
                <a:solidFill>
                  <a:srgbClr val="323232"/>
                </a:solidFill>
              </a:defRPr>
            </a:pPr>
            <a:r>
              <a:t>  3 studies confirmed 1-factor structure</a:t>
            </a:r>
          </a:p>
          <a:p>
            <a:pPr>
              <a:defRPr sz="1100" b="0">
                <a:solidFill>
                  <a:srgbClr val="323232"/>
                </a:solidFill>
              </a:defRPr>
            </a:pPr>
            <a:r>
              <a:t>  3 studies confirmed 3-factor structure</a:t>
            </a:r>
          </a:p>
          <a:p>
            <a:pPr>
              <a:defRPr sz="1100" b="0">
                <a:solidFill>
                  <a:srgbClr val="323232"/>
                </a:solidFill>
              </a:defRPr>
            </a:pPr>
            <a:r>
              <a:t>  4 studies found both equally acceptable</a:t>
            </a:r>
          </a:p>
          <a:p>
            <a:pPr>
              <a:defRPr sz="1100" b="0">
                <a:solidFill>
                  <a:srgbClr val="323232"/>
                </a:solidFill>
              </a:defRPr>
            </a:pPr>
            <a:r>
              <a:t>  1 study supported neither</a:t>
            </a:r>
          </a:p>
          <a:p>
            <a:pPr>
              <a:defRPr sz="1100" b="1">
                <a:solidFill>
                  <a:srgbClr val="C0392B"/>
                </a:solidFill>
              </a:defRPr>
            </a:pPr>
            <a:r>
              <a:t>  No definitive conclusion reached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0" y="3886200"/>
            <a:ext cx="5943600" cy="2468880"/>
          </a:xfrm>
          <a:prstGeom prst="roundRect">
            <a:avLst/>
          </a:prstGeom>
          <a:solidFill>
            <a:srgbClr val="E6FFE6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53328" y="3941064"/>
            <a:ext cx="5724144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2060"/>
                </a:solidFill>
              </a:defRPr>
            </a:pPr>
            <a:r>
              <a:t>Key Prior Findings</a:t>
            </a:r>
          </a:p>
          <a:p>
            <a:pPr>
              <a:defRPr sz="500"/>
            </a:pPr>
          </a:p>
          <a:p>
            <a:pPr>
              <a:defRPr sz="1100" b="0">
                <a:solidFill>
                  <a:srgbClr val="323232"/>
                </a:solidFill>
              </a:defRPr>
            </a:pPr>
            <a:r>
              <a:t>Hallberg &amp; Schaufeli (2006): n=186; 1F &amp; 3F fit equally</a:t>
            </a:r>
          </a:p>
          <a:p>
            <a:pPr>
              <a:defRPr sz="1100" b="0">
                <a:solidFill>
                  <a:srgbClr val="323232"/>
                </a:solidFill>
              </a:defRPr>
            </a:pPr>
            <a:r>
              <a:t>Nerstad et al. (2010): n=1,266; 3F but r(factors)=0.79-0.84</a:t>
            </a:r>
          </a:p>
          <a:p>
            <a:pPr>
              <a:defRPr sz="1100" b="0">
                <a:solidFill>
                  <a:srgbClr val="323232"/>
                </a:solidFill>
              </a:defRPr>
            </a:pPr>
            <a:r>
              <a:t>Seppala et al. (2009): n=9,404; both structures reasonable</a:t>
            </a:r>
          </a:p>
          <a:p>
            <a:pPr>
              <a:defRPr sz="500"/>
            </a:pPr>
          </a:p>
          <a:p>
            <a:pPr>
              <a:defRPr sz="1100" b="1">
                <a:solidFill>
                  <a:srgbClr val="C0392B"/>
                </a:solidFill>
              </a:defRPr>
            </a:pPr>
            <a:r>
              <a:t>GAP: No all-female, multi-occupational Swedish study existed</a:t>
            </a:r>
          </a:p>
          <a:p>
            <a:pPr>
              <a:defRPr sz="1100" b="1">
                <a:solidFill>
                  <a:srgbClr val="27AE60"/>
                </a:solidFill>
              </a:defRPr>
            </a:pPr>
            <a:r>
              <a:t>THIS STUDY: n=702, age 26-37, split-half EFA+CFA design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91440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The UWES-9 Instrument &amp; Sample</a:t>
            </a:r>
          </a:p>
          <a:p>
            <a:pPr algn="l">
              <a:defRPr sz="1200">
                <a:solidFill>
                  <a:srgbClr val="C9A84C"/>
                </a:solidFill>
              </a:defRPr>
            </a:pPr>
            <a:r>
              <a:t>Items, Subscales, Means, and Descriptive Statistics  |  EFA n=341  |  CFA n=342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19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DCDCDC"/>
                </a:solidFill>
              </a:defRPr>
            </a:pPr>
            <a:r>
              <a:t>Introduction | EFA Mathematics | EFA Results | CFA Summary | Discussion | References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51967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C9A84C"/>
                </a:solidFill>
              </a:defRPr>
            </a:pPr>
            <a:r>
              <a:t>4/24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20" y="1298448"/>
          <a:ext cx="9134856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"/>
                <a:gridCol w="1097280"/>
                <a:gridCol w="4846320"/>
                <a:gridCol w="731520"/>
                <a:gridCol w="640080"/>
                <a:gridCol w="658368"/>
                <a:gridCol w="658368"/>
              </a:tblGrid>
              <a:tr h="443484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Item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Subscale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Abbreviated Wording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Mean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SD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Skew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Kurt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</a:tr>
              <a:tr h="443484">
                <a:tc>
                  <a:txBody>
                    <a:bodyPr/>
                    <a:lstStyle/>
                    <a:p>
                      <a:pPr algn="ctr">
                        <a:defRPr sz="1050"/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/>
                      </a:pPr>
                      <a:r>
                        <a:t>Vigor</a:t>
                      </a:r>
                    </a:p>
                  </a:txBody>
                  <a:tcPr anchor="ctr"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/>
                      </a:pPr>
                      <a:r>
                        <a:t>At work, I feel full of energy</a:t>
                      </a:r>
                    </a:p>
                  </a:txBody>
                  <a:tcPr anchor="ctr"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/>
                      </a:pPr>
                      <a:r>
                        <a:t>3.97</a:t>
                      </a:r>
                    </a:p>
                  </a:txBody>
                  <a:tcPr anchor="ctr"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/>
                      </a:pPr>
                      <a:r>
                        <a:t>1.28</a:t>
                      </a:r>
                    </a:p>
                  </a:txBody>
                  <a:tcPr anchor="ctr"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/>
                      </a:pPr>
                      <a:r>
                        <a:t>-0.36</a:t>
                      </a:r>
                    </a:p>
                  </a:txBody>
                  <a:tcPr anchor="ctr"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/>
                      </a:pPr>
                      <a:r>
                        <a:t>-0.29</a:t>
                      </a:r>
                    </a:p>
                  </a:txBody>
                  <a:tcPr anchor="ctr">
                    <a:solidFill>
                      <a:srgbClr val="D6EAF8"/>
                    </a:solidFill>
                  </a:tcPr>
                </a:tc>
              </a:tr>
              <a:tr h="443484">
                <a:tc>
                  <a:txBody>
                    <a:bodyPr/>
                    <a:lstStyle/>
                    <a:p>
                      <a:pPr algn="ctr">
                        <a:defRPr sz="1050"/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5F5F5"/>
                    </a:solidFill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/>
                      </a:pPr>
                      <a:r>
                        <a:t>Vigor</a:t>
                      </a:r>
                    </a:p>
                  </a:txBody>
                  <a:tcPr anchor="ctr">
                    <a:solidFill>
                      <a:srgbClr val="F5F5F5"/>
                    </a:solidFill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/>
                      </a:pPr>
                      <a:r>
                        <a:t>At work, I feel strong and vigorous</a:t>
                      </a:r>
                    </a:p>
                  </a:txBody>
                  <a:tcPr anchor="ctr">
                    <a:solidFill>
                      <a:srgbClr val="F5F5F5"/>
                    </a:solidFill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/>
                      </a:pPr>
                      <a:r>
                        <a:t>3.88</a:t>
                      </a:r>
                    </a:p>
                  </a:txBody>
                  <a:tcPr anchor="ctr">
                    <a:solidFill>
                      <a:srgbClr val="F5F5F5"/>
                    </a:solidFill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/>
                      </a:pPr>
                      <a:r>
                        <a:t>1.30</a:t>
                      </a:r>
                    </a:p>
                  </a:txBody>
                  <a:tcPr anchor="ctr">
                    <a:solidFill>
                      <a:srgbClr val="F5F5F5"/>
                    </a:solidFill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/>
                      </a:pPr>
                      <a:r>
                        <a:t>-0.32</a:t>
                      </a:r>
                    </a:p>
                  </a:txBody>
                  <a:tcPr anchor="ctr">
                    <a:solidFill>
                      <a:srgbClr val="F5F5F5"/>
                    </a:solidFill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/>
                      </a:pPr>
                      <a:r>
                        <a:t>-0.35</a:t>
                      </a:r>
                    </a:p>
                  </a:txBody>
                  <a:tcPr anchor="ctr">
                    <a:solidFill>
                      <a:srgbClr val="F5F5F5"/>
                    </a:solidFill>
                    <a:solidFill>
                      <a:srgbClr val="D6EAF8"/>
                    </a:solidFill>
                  </a:tcPr>
                </a:tc>
              </a:tr>
              <a:tr h="443484">
                <a:tc>
                  <a:txBody>
                    <a:bodyPr/>
                    <a:lstStyle/>
                    <a:p>
                      <a:pPr algn="ctr">
                        <a:defRPr sz="1050"/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/>
                      </a:pPr>
                      <a:r>
                        <a:t>Dedication</a:t>
                      </a:r>
                    </a:p>
                  </a:txBody>
                  <a:tcPr anchor="ctr"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/>
                      </a:pPr>
                      <a:r>
                        <a:t>My work is full of meaning and purpose</a:t>
                      </a:r>
                    </a:p>
                  </a:txBody>
                  <a:tcPr anchor="ctr"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/>
                      </a:pPr>
                      <a:r>
                        <a:t>4.36</a:t>
                      </a:r>
                    </a:p>
                  </a:txBody>
                  <a:tcPr anchor="ctr"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/>
                      </a:pPr>
                      <a:r>
                        <a:t>1.28</a:t>
                      </a:r>
                    </a:p>
                  </a:txBody>
                  <a:tcPr anchor="ctr"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/>
                      </a:pPr>
                      <a:r>
                        <a:t>-0.62</a:t>
                      </a:r>
                    </a:p>
                  </a:txBody>
                  <a:tcPr anchor="ctr"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/>
                      </a:pPr>
                      <a:r>
                        <a:t> 0.10</a:t>
                      </a:r>
                    </a:p>
                  </a:txBody>
                  <a:tcPr anchor="ctr">
                    <a:solidFill>
                      <a:srgbClr val="D5F5E3"/>
                    </a:solidFill>
                  </a:tcPr>
                </a:tc>
              </a:tr>
              <a:tr h="443484">
                <a:tc>
                  <a:txBody>
                    <a:bodyPr/>
                    <a:lstStyle/>
                    <a:p>
                      <a:pPr algn="ctr">
                        <a:defRPr sz="1050"/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5F5F5"/>
                    </a:solidFill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/>
                      </a:pPr>
                      <a:r>
                        <a:t>Dedication</a:t>
                      </a:r>
                    </a:p>
                  </a:txBody>
                  <a:tcPr anchor="ctr">
                    <a:solidFill>
                      <a:srgbClr val="F5F5F5"/>
                    </a:solidFill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/>
                      </a:pPr>
                      <a:r>
                        <a:t>I am enthusiastic about my job</a:t>
                      </a:r>
                    </a:p>
                  </a:txBody>
                  <a:tcPr anchor="ctr">
                    <a:solidFill>
                      <a:srgbClr val="F5F5F5"/>
                    </a:solidFill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/>
                      </a:pPr>
                      <a:r>
                        <a:t>4.22</a:t>
                      </a:r>
                    </a:p>
                  </a:txBody>
                  <a:tcPr anchor="ctr">
                    <a:solidFill>
                      <a:srgbClr val="F5F5F5"/>
                    </a:solidFill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/>
                      </a:pPr>
                      <a:r>
                        <a:t>1.35</a:t>
                      </a:r>
                    </a:p>
                  </a:txBody>
                  <a:tcPr anchor="ctr">
                    <a:solidFill>
                      <a:srgbClr val="F5F5F5"/>
                    </a:solidFill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/>
                      </a:pPr>
                      <a:r>
                        <a:t>-0.57</a:t>
                      </a:r>
                    </a:p>
                  </a:txBody>
                  <a:tcPr anchor="ctr">
                    <a:solidFill>
                      <a:srgbClr val="F5F5F5"/>
                    </a:solidFill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/>
                      </a:pPr>
                      <a:r>
                        <a:t>-0.21</a:t>
                      </a:r>
                    </a:p>
                  </a:txBody>
                  <a:tcPr anchor="ctr">
                    <a:solidFill>
                      <a:srgbClr val="F5F5F5"/>
                    </a:solidFill>
                    <a:solidFill>
                      <a:srgbClr val="D5F5E3"/>
                    </a:solidFill>
                  </a:tcPr>
                </a:tc>
              </a:tr>
              <a:tr h="443484">
                <a:tc>
                  <a:txBody>
                    <a:bodyPr/>
                    <a:lstStyle/>
                    <a:p>
                      <a:pPr algn="ctr">
                        <a:defRPr sz="1050"/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/>
                      </a:pPr>
                      <a:r>
                        <a:t>Vigor</a:t>
                      </a:r>
                    </a:p>
                  </a:txBody>
                  <a:tcPr anchor="ctr"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/>
                      </a:pPr>
                      <a:r>
                        <a:t>When I wake up, I feel like going to work</a:t>
                      </a:r>
                    </a:p>
                  </a:txBody>
                  <a:tcPr anchor="ctr"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/>
                      </a:pPr>
                      <a:r>
                        <a:t>4.02</a:t>
                      </a:r>
                    </a:p>
                  </a:txBody>
                  <a:tcPr anchor="ctr"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/>
                      </a:pPr>
                      <a:r>
                        <a:t>1.45</a:t>
                      </a:r>
                    </a:p>
                  </a:txBody>
                  <a:tcPr anchor="ctr"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/>
                      </a:pPr>
                      <a:r>
                        <a:t>-0.41</a:t>
                      </a:r>
                    </a:p>
                  </a:txBody>
                  <a:tcPr anchor="ctr"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/>
                      </a:pPr>
                      <a:r>
                        <a:t>-0.52</a:t>
                      </a:r>
                    </a:p>
                  </a:txBody>
                  <a:tcPr anchor="ctr">
                    <a:solidFill>
                      <a:srgbClr val="D6EAF8"/>
                    </a:solidFill>
                  </a:tcPr>
                </a:tc>
              </a:tr>
              <a:tr h="443484">
                <a:tc>
                  <a:txBody>
                    <a:bodyPr/>
                    <a:lstStyle/>
                    <a:p>
                      <a:pPr algn="ctr">
                        <a:defRPr sz="1050"/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5F5F5"/>
                    </a:solidFill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/>
                      </a:pPr>
                      <a:r>
                        <a:t>Absorption</a:t>
                      </a:r>
                    </a:p>
                  </a:txBody>
                  <a:tcPr anchor="ctr">
                    <a:solidFill>
                      <a:srgbClr val="F5F5F5"/>
                    </a:solidFill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/>
                      </a:pPr>
                      <a:r>
                        <a:t>I feel happy when working intensely</a:t>
                      </a:r>
                    </a:p>
                  </a:txBody>
                  <a:tcPr anchor="ctr">
                    <a:solidFill>
                      <a:srgbClr val="F5F5F5"/>
                    </a:solidFill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/>
                      </a:pPr>
                      <a:r>
                        <a:t>4.09</a:t>
                      </a:r>
                    </a:p>
                  </a:txBody>
                  <a:tcPr anchor="ctr">
                    <a:solidFill>
                      <a:srgbClr val="F5F5F5"/>
                    </a:solidFill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/>
                      </a:pPr>
                      <a:r>
                        <a:t>1.28</a:t>
                      </a:r>
                    </a:p>
                  </a:txBody>
                  <a:tcPr anchor="ctr">
                    <a:solidFill>
                      <a:srgbClr val="F5F5F5"/>
                    </a:solidFill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/>
                      </a:pPr>
                      <a:r>
                        <a:t>-0.49</a:t>
                      </a:r>
                    </a:p>
                  </a:txBody>
                  <a:tcPr anchor="ctr">
                    <a:solidFill>
                      <a:srgbClr val="F5F5F5"/>
                    </a:solidFill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/>
                      </a:pPr>
                      <a:r>
                        <a:t>-0.08</a:t>
                      </a:r>
                    </a:p>
                  </a:txBody>
                  <a:tcPr anchor="ctr">
                    <a:solidFill>
                      <a:srgbClr val="F5F5F5"/>
                    </a:solidFill>
                    <a:solidFill>
                      <a:srgbClr val="FDEBD0"/>
                    </a:solidFill>
                  </a:tcPr>
                </a:tc>
              </a:tr>
              <a:tr h="443484">
                <a:tc>
                  <a:txBody>
                    <a:bodyPr/>
                    <a:lstStyle/>
                    <a:p>
                      <a:pPr algn="ctr">
                        <a:defRPr sz="1050"/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/>
                      </a:pPr>
                      <a:r>
                        <a:t>Dedication</a:t>
                      </a:r>
                    </a:p>
                  </a:txBody>
                  <a:tcPr anchor="ctr"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/>
                      </a:pPr>
                      <a:r>
                        <a:t>I am proud of the work that I do</a:t>
                      </a:r>
                    </a:p>
                  </a:txBody>
                  <a:tcPr anchor="ctr"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/>
                      </a:pPr>
                      <a:r>
                        <a:t>4.62</a:t>
                      </a:r>
                    </a:p>
                  </a:txBody>
                  <a:tcPr anchor="ctr"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/>
                      </a:pPr>
                      <a:r>
                        <a:t>1.23</a:t>
                      </a:r>
                    </a:p>
                  </a:txBody>
                  <a:tcPr anchor="ctr"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/>
                      </a:pPr>
                      <a:r>
                        <a:t>-0.74</a:t>
                      </a:r>
                    </a:p>
                  </a:txBody>
                  <a:tcPr anchor="ctr"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/>
                      </a:pPr>
                      <a:r>
                        <a:t> 0.18</a:t>
                      </a:r>
                    </a:p>
                  </a:txBody>
                  <a:tcPr anchor="ctr">
                    <a:solidFill>
                      <a:srgbClr val="D5F5E3"/>
                    </a:solidFill>
                  </a:tcPr>
                </a:tc>
              </a:tr>
              <a:tr h="443484">
                <a:tc>
                  <a:txBody>
                    <a:bodyPr/>
                    <a:lstStyle/>
                    <a:p>
                      <a:pPr algn="ctr">
                        <a:defRPr sz="1050"/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5F5F5"/>
                    </a:solidFill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/>
                      </a:pPr>
                      <a:r>
                        <a:t>Absorption</a:t>
                      </a:r>
                    </a:p>
                  </a:txBody>
                  <a:tcPr anchor="ctr">
                    <a:solidFill>
                      <a:srgbClr val="F5F5F5"/>
                    </a:solidFill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/>
                      </a:pPr>
                      <a:r>
                        <a:t>I am immersed in my work</a:t>
                      </a:r>
                    </a:p>
                  </a:txBody>
                  <a:tcPr anchor="ctr">
                    <a:solidFill>
                      <a:srgbClr val="F5F5F5"/>
                    </a:solidFill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/>
                      </a:pPr>
                      <a:r>
                        <a:t>3.98</a:t>
                      </a:r>
                    </a:p>
                  </a:txBody>
                  <a:tcPr anchor="ctr">
                    <a:solidFill>
                      <a:srgbClr val="F5F5F5"/>
                    </a:solidFill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/>
                      </a:pPr>
                      <a:r>
                        <a:t>1.26</a:t>
                      </a:r>
                    </a:p>
                  </a:txBody>
                  <a:tcPr anchor="ctr">
                    <a:solidFill>
                      <a:srgbClr val="F5F5F5"/>
                    </a:solidFill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/>
                      </a:pPr>
                      <a:r>
                        <a:t>-0.30</a:t>
                      </a:r>
                    </a:p>
                  </a:txBody>
                  <a:tcPr anchor="ctr">
                    <a:solidFill>
                      <a:srgbClr val="F5F5F5"/>
                    </a:solidFill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/>
                      </a:pPr>
                      <a:r>
                        <a:t>-0.34</a:t>
                      </a:r>
                    </a:p>
                  </a:txBody>
                  <a:tcPr anchor="ctr">
                    <a:solidFill>
                      <a:srgbClr val="F5F5F5"/>
                    </a:solidFill>
                    <a:solidFill>
                      <a:srgbClr val="FDEBD0"/>
                    </a:solidFill>
                  </a:tcPr>
                </a:tc>
              </a:tr>
              <a:tr h="443484">
                <a:tc>
                  <a:txBody>
                    <a:bodyPr/>
                    <a:lstStyle/>
                    <a:p>
                      <a:pPr algn="ctr">
                        <a:defRPr sz="1050"/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/>
                      </a:pPr>
                      <a:r>
                        <a:t>Absorption</a:t>
                      </a:r>
                    </a:p>
                  </a:txBody>
                  <a:tcPr anchor="ctr"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/>
                      </a:pPr>
                      <a:r>
                        <a:t>I get carried away when I am working</a:t>
                      </a:r>
                    </a:p>
                  </a:txBody>
                  <a:tcPr anchor="ctr"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/>
                      </a:pPr>
                      <a:r>
                        <a:t>3.84</a:t>
                      </a:r>
                    </a:p>
                  </a:txBody>
                  <a:tcPr anchor="ctr"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/>
                      </a:pPr>
                      <a:r>
                        <a:t>1.33</a:t>
                      </a:r>
                    </a:p>
                  </a:txBody>
                  <a:tcPr anchor="ctr"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/>
                      </a:pPr>
                      <a:r>
                        <a:t>-0.14</a:t>
                      </a:r>
                    </a:p>
                  </a:txBody>
                  <a:tcPr anchor="ctr"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/>
                      </a:pPr>
                      <a:r>
                        <a:t>-0.64</a:t>
                      </a:r>
                    </a:p>
                  </a:txBody>
                  <a:tcPr anchor="ctr">
                    <a:solidFill>
                      <a:srgbClr val="FDEBD0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74320" y="5870448"/>
            <a:ext cx="116403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2060"/>
                </a:solidFill>
              </a:defRPr>
            </a:pPr>
            <a:r>
              <a:t>Overall Mean = 4.06 / 6.0   |   Cronbach's α = 0.947 (Excellent)   |   Skewness &amp; Kurtosis within ±2.0 → Maximum Likelihood estimation is appropriate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91440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Math Foundation: The Factor Analysis Model</a:t>
            </a:r>
          </a:p>
          <a:p>
            <a:pPr algn="l">
              <a:defRPr sz="1200">
                <a:solidFill>
                  <a:srgbClr val="C9A84C"/>
                </a:solidFill>
              </a:defRPr>
            </a:pPr>
            <a:r>
              <a:t>X = LF + e  — Each observed score is a linear combination of common factors plus unique error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19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DCDCDC"/>
                </a:solidFill>
              </a:defRPr>
            </a:pPr>
            <a:r>
              <a:t>Introduction | EFA Mathematics | EFA Results | CFA Summary | Discussion | References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51967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C9A84C"/>
                </a:solidFill>
              </a:defRPr>
            </a:pPr>
            <a:r>
              <a:t>5/24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0" y="1261872"/>
            <a:ext cx="7616952" cy="822960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68880" y="1316736"/>
            <a:ext cx="72511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FACTOR ANALYSIS MODEL:   X  =  L F  +  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2212848"/>
            <a:ext cx="2834640" cy="9144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2267712"/>
            <a:ext cx="26517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" y="3154680"/>
            <a:ext cx="2834640" cy="3108960"/>
          </a:xfrm>
          <a:prstGeom prst="roundRect">
            <a:avLst/>
          </a:prstGeom>
          <a:solidFill>
            <a:srgbClr val="C8E6FF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3209544"/>
            <a:ext cx="2615184" cy="2999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2060"/>
                </a:solidFill>
              </a:defRPr>
            </a:pPr>
            <a:r>
              <a:t>Observed Data Matrix</a:t>
            </a:r>
            <a:br/>
            <a:r>
              <a:t>(p x n)</a:t>
            </a:r>
          </a:p>
          <a:p>
            <a:pPr>
              <a:defRPr sz="500"/>
            </a:pPr>
          </a:p>
          <a:p>
            <a:pPr>
              <a:defRPr sz="1000" b="0">
                <a:solidFill>
                  <a:srgbClr val="323232"/>
                </a:solidFill>
              </a:defRPr>
            </a:pPr>
            <a:r>
              <a:t>  p = 9 UWES-9 items</a:t>
            </a:r>
          </a:p>
          <a:p>
            <a:pPr>
              <a:defRPr sz="1000" b="0">
                <a:solidFill>
                  <a:srgbClr val="323232"/>
                </a:solidFill>
              </a:defRPr>
            </a:pPr>
            <a:r>
              <a:t>  n = 341 (EFA sample)</a:t>
            </a:r>
          </a:p>
          <a:p>
            <a:pPr>
              <a:defRPr sz="1000" b="0">
                <a:solidFill>
                  <a:srgbClr val="323232"/>
                </a:solidFill>
              </a:defRPr>
            </a:pPr>
            <a:r>
              <a:t>  X_i = standardized score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46120" y="2212848"/>
            <a:ext cx="2834640" cy="914400"/>
          </a:xfrm>
          <a:prstGeom prst="round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37560" y="2267712"/>
            <a:ext cx="26517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L (Lambda)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46120" y="3154680"/>
            <a:ext cx="2834640" cy="3108960"/>
          </a:xfrm>
          <a:prstGeom prst="roundRect">
            <a:avLst/>
          </a:prstGeom>
          <a:solidFill>
            <a:srgbClr val="FFF3C8"/>
          </a:solidFill>
          <a:ln w="1905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55848" y="3209544"/>
            <a:ext cx="2615184" cy="2999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2060"/>
                </a:solidFill>
              </a:defRPr>
            </a:pPr>
            <a:r>
              <a:t>Factor Loading Matrix</a:t>
            </a:r>
            <a:br/>
            <a:r>
              <a:t>(p x m)</a:t>
            </a:r>
          </a:p>
          <a:p>
            <a:pPr>
              <a:defRPr sz="500"/>
            </a:pPr>
          </a:p>
          <a:p>
            <a:pPr>
              <a:defRPr sz="1000" b="0">
                <a:solidFill>
                  <a:srgbClr val="323232"/>
                </a:solidFill>
              </a:defRPr>
            </a:pPr>
            <a:r>
              <a:t>  L_ij = loading of item i</a:t>
            </a:r>
          </a:p>
          <a:p>
            <a:pPr>
              <a:defRPr sz="1000" b="0">
                <a:solidFill>
                  <a:srgbClr val="323232"/>
                </a:solidFill>
              </a:defRPr>
            </a:pPr>
            <a:r>
              <a:t>     on factor j</a:t>
            </a:r>
          </a:p>
          <a:p>
            <a:pPr>
              <a:defRPr sz="1000" b="0">
                <a:solidFill>
                  <a:srgbClr val="323232"/>
                </a:solidFill>
              </a:defRPr>
            </a:pPr>
            <a:r>
              <a:t>  m = number of factors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2212848"/>
            <a:ext cx="2834640" cy="91440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2267712"/>
            <a:ext cx="26517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F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154680"/>
            <a:ext cx="2834640" cy="3108960"/>
          </a:xfrm>
          <a:prstGeom prst="roundRect">
            <a:avLst/>
          </a:prstGeom>
          <a:solidFill>
            <a:srgbClr val="C8FFDC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27648" y="3209544"/>
            <a:ext cx="2615184" cy="2999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2060"/>
                </a:solidFill>
              </a:defRPr>
            </a:pPr>
            <a:r>
              <a:t>Common Factor Matrix</a:t>
            </a:r>
            <a:br/>
            <a:r>
              <a:t>(m x n)</a:t>
            </a:r>
          </a:p>
          <a:p>
            <a:pPr>
              <a:defRPr sz="500"/>
            </a:pPr>
          </a:p>
          <a:p>
            <a:pPr>
              <a:defRPr sz="1000" b="0">
                <a:solidFill>
                  <a:srgbClr val="323232"/>
                </a:solidFill>
              </a:defRPr>
            </a:pPr>
            <a:r>
              <a:t>  Latent (unobserved)</a:t>
            </a:r>
          </a:p>
          <a:p>
            <a:pPr>
              <a:defRPr sz="1000" b="0">
                <a:solidFill>
                  <a:srgbClr val="323232"/>
                </a:solidFill>
              </a:defRPr>
            </a:pPr>
            <a:r>
              <a:t>  F ~ MVN(0, I) assumed</a:t>
            </a:r>
          </a:p>
          <a:p>
            <a:pPr>
              <a:defRPr sz="1000" b="0">
                <a:solidFill>
                  <a:srgbClr val="323232"/>
                </a:solidFill>
              </a:defRPr>
            </a:pPr>
            <a:r>
              <a:t>  Factors orthogonal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89720" y="2212848"/>
            <a:ext cx="2834640" cy="914400"/>
          </a:xfrm>
          <a:prstGeom prst="roundRect">
            <a:avLst/>
          </a:prstGeom>
          <a:solidFill>
            <a:srgbClr val="D3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81160" y="2267712"/>
            <a:ext cx="26517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e (epsilon)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89720" y="3154680"/>
            <a:ext cx="2834640" cy="3108960"/>
          </a:xfrm>
          <a:prstGeom prst="roundRect">
            <a:avLst/>
          </a:prstGeom>
          <a:solidFill>
            <a:srgbClr val="FFDCC8"/>
          </a:solidFill>
          <a:ln w="19050">
            <a:solidFill>
              <a:srgbClr val="D35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99448" y="3209544"/>
            <a:ext cx="2615184" cy="2999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2060"/>
                </a:solidFill>
              </a:defRPr>
            </a:pPr>
            <a:r>
              <a:t>Unique Factor Matrix</a:t>
            </a:r>
            <a:br/>
            <a:r>
              <a:t>(p x n)</a:t>
            </a:r>
          </a:p>
          <a:p>
            <a:pPr>
              <a:defRPr sz="500"/>
            </a:pPr>
          </a:p>
          <a:p>
            <a:pPr>
              <a:defRPr sz="1000" b="0">
                <a:solidFill>
                  <a:srgbClr val="323232"/>
                </a:solidFill>
              </a:defRPr>
            </a:pPr>
            <a:r>
              <a:t>  Item-specific error</a:t>
            </a:r>
          </a:p>
          <a:p>
            <a:pPr>
              <a:defRPr sz="1000" b="0">
                <a:solidFill>
                  <a:srgbClr val="323232"/>
                </a:solidFill>
              </a:defRPr>
            </a:pPr>
            <a:r>
              <a:t>  e ~ N(0, Psi) diagonal</a:t>
            </a:r>
          </a:p>
          <a:p>
            <a:pPr>
              <a:defRPr sz="1000" b="0">
                <a:solidFill>
                  <a:srgbClr val="323232"/>
                </a:solidFill>
              </a:defRPr>
            </a:pPr>
            <a:r>
              <a:t>  u^2 = 1 - h^2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4320" y="6355080"/>
            <a:ext cx="11640312" cy="457200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6409944"/>
            <a:ext cx="11365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Implied Covariance Structure:   Sigma = L L' + Psi   (standardized: R = L L' + Psi)   |   Communality:  h^2_i = L^2_i1 + L^2_i2 + ... + L^2_im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91440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Step 1 — Inter-Item Correlation Matrix  R</a:t>
            </a:r>
          </a:p>
          <a:p>
            <a:pPr algn="l">
              <a:defRPr sz="1200">
                <a:solidFill>
                  <a:srgbClr val="C9A84C"/>
                </a:solidFill>
              </a:defRPr>
            </a:pPr>
            <a:r>
              <a:t>EFA begins with R: the standardized covariance (Pearson r) matrix of all 9 UWES items (n=341)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19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DCDCDC"/>
                </a:solidFill>
              </a:defRPr>
            </a:pPr>
            <a:r>
              <a:t>Introduction | EFA Mathematics | EFA Results | CFA Summary | Discussion | References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51967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C9A84C"/>
                </a:solidFill>
              </a:defRPr>
            </a:pPr>
            <a:r>
              <a:t>6/24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20" y="1298448"/>
          <a:ext cx="7251192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704088"/>
                <a:gridCol w="704088"/>
                <a:gridCol w="704088"/>
                <a:gridCol w="704088"/>
                <a:gridCol w="704088"/>
                <a:gridCol w="704088"/>
                <a:gridCol w="704088"/>
                <a:gridCol w="704088"/>
                <a:gridCol w="704088"/>
              </a:tblGrid>
              <a:tr h="489204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V1 Vigor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V2 Vigor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V3 Dedic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V4 Dedic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V5 Vigor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V6 Absorp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V7 Dedic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V8 Absorp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V9 Absorp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V1 Vigor</a:t>
                      </a:r>
                    </a:p>
                  </a:txBody>
                  <a:tcPr anchor="ctr"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1.00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0.79</a:t>
                      </a:r>
                    </a:p>
                  </a:txBody>
                  <a:tcPr anchor="ctr">
                    <a:solidFill>
                      <a:srgbClr val="FF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0.62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0.58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0.72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0.60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0.52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0.56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0.52</a:t>
                      </a:r>
                    </a:p>
                  </a:txBody>
                  <a:tcPr anchor="ctr"/>
                </a:tc>
              </a:tr>
              <a:tr h="489204"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V2 Vigor</a:t>
                      </a:r>
                    </a:p>
                  </a:txBody>
                  <a:tcPr anchor="ctr">
                    <a:solidFill>
                      <a:srgbClr val="F5F5F5"/>
                    </a:solidFill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0.79</a:t>
                      </a:r>
                    </a:p>
                  </a:txBody>
                  <a:tcPr anchor="ctr">
                    <a:solidFill>
                      <a:srgbClr val="F5F5F5"/>
                    </a:solidFill>
                    <a:solidFill>
                      <a:srgbClr val="FF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1.00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0.64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0.60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0.73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0.62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0.54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0.58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0.53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V3 Dedic</a:t>
                      </a:r>
                    </a:p>
                  </a:txBody>
                  <a:tcPr anchor="ctr"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0.62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0.64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1.00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0.85</a:t>
                      </a:r>
                    </a:p>
                  </a:txBody>
                  <a:tcPr anchor="ctr">
                    <a:solidFill>
                      <a:srgbClr val="FF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0.66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0.76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0.72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0.71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0.63</a:t>
                      </a:r>
                    </a:p>
                  </a:txBody>
                  <a:tcPr anchor="ctr"/>
                </a:tc>
              </a:tr>
              <a:tr h="489204"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V4 Dedic</a:t>
                      </a:r>
                    </a:p>
                  </a:txBody>
                  <a:tcPr anchor="ctr">
                    <a:solidFill>
                      <a:srgbClr val="F5F5F5"/>
                    </a:solidFill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0.58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0.60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0.85</a:t>
                      </a:r>
                    </a:p>
                  </a:txBody>
                  <a:tcPr anchor="ctr">
                    <a:solidFill>
                      <a:srgbClr val="F5F5F5"/>
                    </a:solidFill>
                    <a:solidFill>
                      <a:srgbClr val="FF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1.00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0.64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0.74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0.68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0.69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0.61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V5 Vigor</a:t>
                      </a:r>
                    </a:p>
                  </a:txBody>
                  <a:tcPr anchor="ctr"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0.72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0.73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0.66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0.64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1.00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0.67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0.57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0.63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0.57</a:t>
                      </a:r>
                    </a:p>
                  </a:txBody>
                  <a:tcPr anchor="ctr"/>
                </a:tc>
              </a:tr>
              <a:tr h="489204"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V6 Absorp</a:t>
                      </a:r>
                    </a:p>
                  </a:txBody>
                  <a:tcPr anchor="ctr">
                    <a:solidFill>
                      <a:srgbClr val="F5F5F5"/>
                    </a:solidFill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0.60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0.62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0.76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0.74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0.67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1.00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0.67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0.76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0.69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V7 Dedic</a:t>
                      </a:r>
                    </a:p>
                  </a:txBody>
                  <a:tcPr anchor="ctr"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0.52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0.54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0.72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0.68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0.57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0.67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1.00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0.63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0.56</a:t>
                      </a:r>
                    </a:p>
                  </a:txBody>
                  <a:tcPr anchor="ctr"/>
                </a:tc>
              </a:tr>
              <a:tr h="489204"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V8 Absorp</a:t>
                      </a:r>
                    </a:p>
                  </a:txBody>
                  <a:tcPr anchor="ctr">
                    <a:solidFill>
                      <a:srgbClr val="F5F5F5"/>
                    </a:solidFill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0.56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0.58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0.71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0.69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0.63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0.76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0.63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1.00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0.74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V9 Absorp</a:t>
                      </a:r>
                    </a:p>
                  </a:txBody>
                  <a:tcPr anchor="ctr"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0.52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0.53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0.63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0.61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0.57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0.69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0.56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0.74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50"/>
                      </a:pPr>
                      <a:r>
                        <a:t>1.00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772400" y="1298448"/>
            <a:ext cx="4206240" cy="2103120"/>
          </a:xfrm>
          <a:prstGeom prst="roundRect">
            <a:avLst/>
          </a:prstGeom>
          <a:solidFill>
            <a:srgbClr val="E6F0FF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82128" y="1353312"/>
            <a:ext cx="3986784" cy="1993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2060"/>
                </a:solidFill>
              </a:defRPr>
            </a:pPr>
            <a:r>
              <a:t>Pearson Correlation Formula:</a:t>
            </a:r>
          </a:p>
          <a:p>
            <a:pPr>
              <a:defRPr sz="500"/>
            </a:pPr>
          </a:p>
          <a:p>
            <a:pPr>
              <a:defRPr sz="1000" b="0">
                <a:solidFill>
                  <a:srgbClr val="323232"/>
                </a:solidFill>
              </a:defRPr>
            </a:pPr>
            <a:r>
              <a:t>r_ij = SUM[(xi - x_bar)(xj - x_bar)]</a:t>
            </a:r>
          </a:p>
          <a:p>
            <a:pPr>
              <a:defRPr sz="1000" b="0">
                <a:solidFill>
                  <a:srgbClr val="323232"/>
                </a:solidFill>
              </a:defRPr>
            </a:pPr>
            <a:r>
              <a:t>         / SQRT[SS_i * SS_j]</a:t>
            </a:r>
          </a:p>
          <a:p>
            <a:pPr>
              <a:defRPr sz="500"/>
            </a:pPr>
          </a:p>
          <a:p>
            <a:pPr>
              <a:defRPr sz="1000" b="0">
                <a:solidFill>
                  <a:srgbClr val="646464"/>
                </a:solidFill>
              </a:defRPr>
            </a:pPr>
            <a:r>
              <a:t>where SS_i = SUM(xi - x_bar)^2</a:t>
            </a:r>
          </a:p>
          <a:p>
            <a:pPr>
              <a:defRPr sz="1000" b="0">
                <a:solidFill>
                  <a:srgbClr val="646464"/>
                </a:solidFill>
              </a:defRPr>
            </a:pPr>
            <a:r>
              <a:t>Computed for all 36 item pairs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3520440"/>
            <a:ext cx="4206240" cy="1417320"/>
          </a:xfrm>
          <a:prstGeom prst="roundRect">
            <a:avLst/>
          </a:prstGeom>
          <a:solidFill>
            <a:srgbClr val="FFF8DC"/>
          </a:solidFill>
          <a:ln w="1905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82128" y="3575304"/>
            <a:ext cx="3986784" cy="1307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2060"/>
                </a:solidFill>
              </a:defRPr>
            </a:pPr>
            <a:r>
              <a:t>Key Observations:</a:t>
            </a:r>
          </a:p>
          <a:p>
            <a:pPr>
              <a:defRPr sz="1000" b="0">
                <a:solidFill>
                  <a:srgbClr val="323232"/>
                </a:solidFill>
              </a:defRPr>
            </a:pPr>
            <a:r>
              <a:t>  Inter-item range:  r = 0.52 to 0.85</a:t>
            </a:r>
          </a:p>
          <a:p>
            <a:pPr>
              <a:defRPr sz="1000" b="0">
                <a:solidFill>
                  <a:srgbClr val="323232"/>
                </a:solidFill>
              </a:defRPr>
            </a:pPr>
            <a:r>
              <a:t>  Intra-subscale avg:  r ~ 0.72-0.84</a:t>
            </a:r>
          </a:p>
          <a:p>
            <a:pPr>
              <a:defRPr sz="1000" b="0">
                <a:solidFill>
                  <a:srgbClr val="323232"/>
                </a:solidFill>
              </a:defRPr>
            </a:pPr>
            <a:r>
              <a:t>  Cross-subscale avg:  r ~ 0.56-0.68</a:t>
            </a:r>
          </a:p>
          <a:p>
            <a:pPr>
              <a:defRPr sz="1000" b="0">
                <a:solidFill>
                  <a:srgbClr val="C0392B"/>
                </a:solidFill>
              </a:defRPr>
            </a:pPr>
            <a:r>
              <a:t>  Red cells: r &gt; 0.78 (very high)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5047488"/>
            <a:ext cx="4206240" cy="1143000"/>
          </a:xfrm>
          <a:prstGeom prst="roundRect">
            <a:avLst/>
          </a:prstGeom>
          <a:solidFill>
            <a:srgbClr val="E6FFE6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82128" y="5102352"/>
            <a:ext cx="3986784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2060"/>
                </a:solidFill>
              </a:defRPr>
            </a:pPr>
            <a:r>
              <a:t>Interpretation:</a:t>
            </a:r>
          </a:p>
          <a:p>
            <a:pPr>
              <a:defRPr sz="1000" b="0">
                <a:solidFill>
                  <a:srgbClr val="323232"/>
                </a:solidFill>
              </a:defRPr>
            </a:pPr>
            <a:r>
              <a:t>  High r with no clear block structure</a:t>
            </a:r>
          </a:p>
          <a:p>
            <a:pPr>
              <a:defRPr sz="1000" b="0">
                <a:solidFill>
                  <a:srgbClr val="323232"/>
                </a:solidFill>
              </a:defRPr>
            </a:pPr>
            <a:r>
              <a:t>  suggests ONE dominant factor</a:t>
            </a:r>
          </a:p>
          <a:p>
            <a:pPr>
              <a:defRPr sz="1000" b="0">
                <a:solidFill>
                  <a:srgbClr val="323232"/>
                </a:solidFill>
              </a:defRPr>
            </a:pPr>
            <a:r>
              <a:t>  (no subscale-specific clustering)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91440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Step 2 — KMO, Bartlett's Test &amp; Eigenvalue Decomposition</a:t>
            </a:r>
          </a:p>
          <a:p>
            <a:pPr algn="l">
              <a:defRPr sz="1200">
                <a:solidFill>
                  <a:srgbClr val="C9A84C"/>
                </a:solidFill>
              </a:defRPr>
            </a:pPr>
            <a:r>
              <a:t>Verify factorability, then decompose R = V L V'  to reveal the latent factor structure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19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DCDCDC"/>
                </a:solidFill>
              </a:defRPr>
            </a:pPr>
            <a:r>
              <a:t>Introduction | EFA Mathematics | EFA Results | CFA Summary | Discussion | References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51967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C9A84C"/>
                </a:solidFill>
              </a:defRPr>
            </a:pPr>
            <a:r>
              <a:t>7/24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298448"/>
            <a:ext cx="3749039" cy="2331720"/>
          </a:xfrm>
          <a:prstGeom prst="roundRect">
            <a:avLst/>
          </a:prstGeom>
          <a:solidFill>
            <a:srgbClr val="E6F0FF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353312"/>
            <a:ext cx="3529583" cy="2221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2060"/>
                </a:solidFill>
              </a:defRPr>
            </a:pPr>
            <a:r>
              <a:t>KMO Measure of Sampling Adequacy</a:t>
            </a:r>
          </a:p>
          <a:p>
            <a:pPr>
              <a:defRPr sz="500"/>
            </a:pPr>
          </a:p>
          <a:p>
            <a:pPr>
              <a:defRPr sz="1000" b="0">
                <a:solidFill>
                  <a:srgbClr val="323232"/>
                </a:solidFill>
              </a:defRPr>
            </a:pPr>
            <a:r>
              <a:t>KMO = SUM(r_ij^2) / [SUM(r_ij^2) + SUM(q_ij^2)]</a:t>
            </a:r>
          </a:p>
          <a:p>
            <a:pPr>
              <a:defRPr sz="500"/>
            </a:pPr>
          </a:p>
          <a:p>
            <a:pPr>
              <a:defRPr sz="1000" b="0">
                <a:solidFill>
                  <a:srgbClr val="646464"/>
                </a:solidFill>
              </a:defRPr>
            </a:pPr>
            <a:r>
              <a:t>where q_ij = partial correlation between i &amp; j</a:t>
            </a:r>
          </a:p>
          <a:p>
            <a:pPr>
              <a:defRPr sz="1000" b="0">
                <a:solidFill>
                  <a:srgbClr val="646464"/>
                </a:solidFill>
              </a:defRPr>
            </a:pPr>
            <a:r>
              <a:t>(controlling all other variables)</a:t>
            </a:r>
          </a:p>
          <a:p>
            <a:pPr>
              <a:defRPr sz="500"/>
            </a:pPr>
          </a:p>
          <a:p>
            <a:pPr>
              <a:defRPr sz="1300" b="1">
                <a:solidFill>
                  <a:srgbClr val="002060"/>
                </a:solidFill>
              </a:defRPr>
            </a:pPr>
            <a:r>
              <a:t>THIS STUDY:  KMO = 0.922</a:t>
            </a:r>
          </a:p>
          <a:p>
            <a:pPr>
              <a:defRPr sz="1100" b="0">
                <a:solidFill>
                  <a:srgbClr val="27AE60"/>
                </a:solidFill>
              </a:defRPr>
            </a:pPr>
            <a:r>
              <a:t>Kaiser (1974): "Marvellous" (&gt;= 0.90)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3749039"/>
            <a:ext cx="3749039" cy="2560320"/>
          </a:xfrm>
          <a:prstGeom prst="roundRect">
            <a:avLst/>
          </a:prstGeom>
          <a:solidFill>
            <a:srgbClr val="FFF8DC"/>
          </a:solidFill>
          <a:ln w="1905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3803903"/>
            <a:ext cx="3529583" cy="2450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2060"/>
                </a:solidFill>
              </a:defRPr>
            </a:pPr>
            <a:r>
              <a:t>Bartlett's Test of Sphericity</a:t>
            </a:r>
          </a:p>
          <a:p>
            <a:pPr>
              <a:defRPr sz="1000" b="0">
                <a:solidFill>
                  <a:srgbClr val="323232"/>
                </a:solidFill>
              </a:defRPr>
            </a:pPr>
            <a:r>
              <a:t>H0: R = I  (no correlations exist)</a:t>
            </a:r>
          </a:p>
          <a:p>
            <a:pPr>
              <a:defRPr sz="1000" b="0">
                <a:solidFill>
                  <a:srgbClr val="323232"/>
                </a:solidFill>
              </a:defRPr>
            </a:pPr>
            <a:r>
              <a:t>H1: R != I  (correlations exist)</a:t>
            </a:r>
          </a:p>
          <a:p>
            <a:pPr>
              <a:defRPr sz="500"/>
            </a:pPr>
          </a:p>
          <a:p>
            <a:pPr>
              <a:defRPr sz="1000" b="0">
                <a:solidFill>
                  <a:srgbClr val="323232"/>
                </a:solidFill>
              </a:defRPr>
            </a:pPr>
            <a:r>
              <a:t>chi^2 = -[(n-1) - (2p+5)/6] * ln|R|</a:t>
            </a:r>
          </a:p>
          <a:p>
            <a:pPr>
              <a:defRPr sz="1000" b="0">
                <a:solidFill>
                  <a:srgbClr val="323232"/>
                </a:solidFill>
              </a:defRPr>
            </a:pPr>
            <a:r>
              <a:t>df = p(p-1)/2 = 9(8)/2 = 36</a:t>
            </a:r>
          </a:p>
          <a:p>
            <a:pPr>
              <a:defRPr sz="500"/>
            </a:pPr>
          </a:p>
          <a:p>
            <a:pPr>
              <a:defRPr sz="1000" b="1">
                <a:solidFill>
                  <a:srgbClr val="002060"/>
                </a:solidFill>
              </a:defRPr>
            </a:pPr>
            <a:r>
              <a:t>Substituting n=341, p=9:</a:t>
            </a:r>
          </a:p>
          <a:p>
            <a:pPr>
              <a:defRPr sz="1000" b="0">
                <a:solidFill>
                  <a:srgbClr val="323232"/>
                </a:solidFill>
              </a:defRPr>
            </a:pPr>
            <a:r>
              <a:t>  Adjusted n = 340 - (23/6) = 336.17</a:t>
            </a:r>
          </a:p>
          <a:p>
            <a:pPr>
              <a:defRPr sz="1000" b="0">
                <a:solidFill>
                  <a:srgbClr val="323232"/>
                </a:solidFill>
              </a:defRPr>
            </a:pPr>
            <a:r>
              <a:t>  chi^2 = 336.17 * |ln|R||</a:t>
            </a:r>
          </a:p>
          <a:p>
            <a:pPr>
              <a:defRPr sz="1200" b="1">
                <a:solidFill>
                  <a:srgbClr val="27AE60"/>
                </a:solidFill>
              </a:defRPr>
            </a:pPr>
            <a:r>
              <a:t>  p &lt; 0.001  -&gt; Reject H0</a:t>
            </a:r>
          </a:p>
          <a:p>
            <a:pPr>
              <a:defRPr sz="1100" b="1">
                <a:solidFill>
                  <a:srgbClr val="27AE60"/>
                </a:solidFill>
              </a:defRPr>
            </a:pPr>
            <a:r>
              <a:t>  Data is SUITABLE for factor analysis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1298448"/>
            <a:ext cx="4114800" cy="5010912"/>
          </a:xfrm>
          <a:prstGeom prst="roundRect">
            <a:avLst/>
          </a:prstGeom>
          <a:solidFill>
            <a:srgbClr val="F5F5FF"/>
          </a:solidFill>
          <a:ln w="19050">
            <a:solidFill>
              <a:srgbClr val="6B2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15968" y="1353312"/>
            <a:ext cx="3895344" cy="4901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2060"/>
                </a:solidFill>
              </a:defRPr>
            </a:pPr>
            <a:r>
              <a:t>Eigenvalue Decomposition:  R = V L V'</a:t>
            </a:r>
          </a:p>
          <a:p>
            <a:pPr>
              <a:defRPr sz="1000" b="0">
                <a:solidFill>
                  <a:srgbClr val="646464"/>
                </a:solidFill>
              </a:defRPr>
            </a:pPr>
            <a:r>
              <a:t>V = matrix of eigenvectors</a:t>
            </a:r>
          </a:p>
          <a:p>
            <a:pPr>
              <a:defRPr sz="1000" b="0">
                <a:solidFill>
                  <a:srgbClr val="646464"/>
                </a:solidFill>
              </a:defRPr>
            </a:pPr>
            <a:r>
              <a:t>L = diagonal matrix of eigenvalues (l_i)</a:t>
            </a:r>
          </a:p>
          <a:p>
            <a:pPr>
              <a:defRPr sz="500"/>
            </a:pP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4297680" y="2084831"/>
          <a:ext cx="42976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960120"/>
                <a:gridCol w="1005840"/>
                <a:gridCol w="822960"/>
                <a:gridCol w="91440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Factor</a:t>
                      </a:r>
                    </a:p>
                  </a:txBody>
                  <a:tcPr anchor="ctr">
                    <a:solidFill>
                      <a:srgbClr val="6B2D7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Eigenvalue</a:t>
                      </a:r>
                    </a:p>
                  </a:txBody>
                  <a:tcPr anchor="ctr">
                    <a:solidFill>
                      <a:srgbClr val="6B2D7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% Variance</a:t>
                      </a:r>
                    </a:p>
                  </a:txBody>
                  <a:tcPr anchor="ctr">
                    <a:solidFill>
                      <a:srgbClr val="6B2D7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Cum. %</a:t>
                      </a:r>
                    </a:p>
                  </a:txBody>
                  <a:tcPr anchor="ctr">
                    <a:solidFill>
                      <a:srgbClr val="6B2D7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Rule</a:t>
                      </a:r>
                    </a:p>
                  </a:txBody>
                  <a:tcPr anchor="ctr">
                    <a:solidFill>
                      <a:srgbClr val="6B2D7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6.380</a:t>
                      </a:r>
                    </a:p>
                  </a:txBody>
                  <a:tcPr anchor="ctr">
                    <a:solidFill>
                      <a:srgbClr val="C8FFC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70.9%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70.9%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7AE60"/>
                          </a:solidFill>
                        </a:defRPr>
                      </a:pPr>
                      <a:r>
                        <a:t>&gt;1 YES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0.751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8.3%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79.2%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0392B"/>
                          </a:solidFill>
                        </a:defRPr>
                      </a:pPr>
                      <a:r>
                        <a:t>&gt;1 NO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0.492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5.5%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84.7%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0392B"/>
                          </a:solidFill>
                        </a:defRPr>
                      </a:pPr>
                      <a:r>
                        <a:t>&gt;1 NO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0.326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3.6%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88.3%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0392B"/>
                          </a:solidFill>
                        </a:defRPr>
                      </a:pPr>
                      <a:r>
                        <a:t>&gt;1 NO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0.273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3.0%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91.3%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0392B"/>
                          </a:solidFill>
                        </a:defRPr>
                      </a:pPr>
                      <a:r>
                        <a:t>&gt;1 NO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0.238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2.6%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94.0%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0392B"/>
                          </a:solidFill>
                        </a:defRPr>
                      </a:pPr>
                      <a:r>
                        <a:t>&gt;1 NO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0.210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2.3%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96.3%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0392B"/>
                          </a:solidFill>
                        </a:defRPr>
                      </a:pPr>
                      <a:r>
                        <a:t>&gt;1 NO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0.195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2.2%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98.5%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0392B"/>
                          </a:solidFill>
                        </a:defRPr>
                      </a:pPr>
                      <a:r>
                        <a:t>&gt;1 NO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0.136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1.5%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100.0%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0392B"/>
                          </a:solidFill>
                        </a:defRPr>
                      </a:pPr>
                      <a:r>
                        <a:t>&gt;1 NO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8503920" y="1298448"/>
            <a:ext cx="3383280" cy="5010912"/>
          </a:xfrm>
          <a:prstGeom prst="roundRect">
            <a:avLst/>
          </a:prstGeom>
          <a:solidFill>
            <a:srgbClr val="FFF8DC"/>
          </a:solidFill>
          <a:ln w="1905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13648" y="1353312"/>
            <a:ext cx="3163824" cy="4901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2060"/>
                </a:solidFill>
              </a:defRPr>
            </a:pPr>
            <a:r>
              <a:t>Scree Plot Summary</a:t>
            </a:r>
          </a:p>
          <a:p>
            <a:pPr>
              <a:defRPr sz="500"/>
            </a:pPr>
          </a:p>
          <a:p>
            <a:pPr>
              <a:defRPr sz="1100" b="1">
                <a:solidFill>
                  <a:srgbClr val="002060"/>
                </a:solidFill>
              </a:defRPr>
            </a:pPr>
            <a:r>
              <a:t>l1 = 6.38  -&gt; ~70.9% variance</a:t>
            </a:r>
          </a:p>
          <a:p>
            <a:pPr>
              <a:defRPr sz="1100" b="0">
                <a:solidFill>
                  <a:srgbClr val="323232"/>
                </a:solidFill>
              </a:defRPr>
            </a:pPr>
            <a:r>
              <a:t>l2 = 0.83  -&gt; below Kaiser = 1</a:t>
            </a:r>
          </a:p>
          <a:p>
            <a:pPr>
              <a:defRPr sz="1100" b="0">
                <a:solidFill>
                  <a:srgbClr val="323232"/>
                </a:solidFill>
              </a:defRPr>
            </a:pPr>
            <a:r>
              <a:t>l3 = 0.67  -&gt; below Kaiser = 1</a:t>
            </a:r>
          </a:p>
          <a:p>
            <a:pPr>
              <a:defRPr sz="1100" b="0">
                <a:solidFill>
                  <a:srgbClr val="323232"/>
                </a:solidFill>
              </a:defRPr>
            </a:pPr>
            <a:r>
              <a:t>l4..9      -&gt; all below 1.0</a:t>
            </a:r>
          </a:p>
          <a:p>
            <a:pPr>
              <a:defRPr sz="500"/>
            </a:pPr>
          </a:p>
          <a:p>
            <a:pPr>
              <a:defRPr sz="1100" b="1">
                <a:solidFill>
                  <a:srgbClr val="002060"/>
                </a:solidFill>
              </a:defRPr>
            </a:pPr>
            <a:r>
              <a:t>Kaiser criterion: retain</a:t>
            </a:r>
          </a:p>
          <a:p>
            <a:pPr>
              <a:defRPr sz="1100" b="1">
                <a:solidFill>
                  <a:srgbClr val="002060"/>
                </a:solidFill>
              </a:defRPr>
            </a:pPr>
            <a:r>
              <a:t>factors with l &gt; 1</a:t>
            </a:r>
          </a:p>
          <a:p>
            <a:pPr>
              <a:defRPr sz="1200" b="1">
                <a:solidFill>
                  <a:srgbClr val="27AE60"/>
                </a:solidFill>
              </a:defRPr>
            </a:pPr>
            <a:r>
              <a:t>-&gt; retains ONLY l1</a:t>
            </a:r>
          </a:p>
          <a:p>
            <a:pPr>
              <a:defRPr sz="500"/>
            </a:pPr>
          </a:p>
          <a:p>
            <a:pPr>
              <a:defRPr sz="1100" b="0">
                <a:solidFill>
                  <a:srgbClr val="323232"/>
                </a:solidFill>
              </a:defRPr>
            </a:pPr>
            <a:r>
              <a:t>Scree plot shows clear</a:t>
            </a:r>
          </a:p>
          <a:p>
            <a:pPr>
              <a:defRPr sz="1100" b="0">
                <a:solidFill>
                  <a:srgbClr val="323232"/>
                </a:solidFill>
              </a:defRPr>
            </a:pPr>
            <a:r>
              <a:t>"elbow" after factor 1,</a:t>
            </a:r>
          </a:p>
          <a:p>
            <a:pPr>
              <a:defRPr sz="1100" b="0">
                <a:solidFill>
                  <a:srgbClr val="323232"/>
                </a:solidFill>
              </a:defRPr>
            </a:pPr>
            <a:r>
              <a:t>confirming single-factor</a:t>
            </a:r>
          </a:p>
          <a:p>
            <a:pPr>
              <a:defRPr sz="1100" b="0">
                <a:solidFill>
                  <a:srgbClr val="323232"/>
                </a:solidFill>
              </a:defRPr>
            </a:pPr>
            <a:r>
              <a:t>structure.</a:t>
            </a:r>
          </a:p>
          <a:p>
            <a:pPr>
              <a:defRPr sz="500"/>
            </a:pPr>
          </a:p>
          <a:p>
            <a:pPr>
              <a:defRPr sz="1100" b="1">
                <a:solidFill>
                  <a:srgbClr val="002060"/>
                </a:solidFill>
              </a:defRPr>
            </a:pPr>
            <a:r>
              <a:t>l1 / trace(R) =</a:t>
            </a:r>
          </a:p>
          <a:p>
            <a:pPr>
              <a:defRPr sz="1300" b="1">
                <a:solidFill>
                  <a:srgbClr val="002060"/>
                </a:solidFill>
              </a:defRPr>
            </a:pPr>
            <a:r>
              <a:t>6.38 / 9 = 70.9%</a:t>
            </a:r>
          </a:p>
          <a:p>
            <a:pPr>
              <a:defRPr sz="1100" b="0">
                <a:solidFill>
                  <a:srgbClr val="323232"/>
                </a:solidFill>
              </a:defRPr>
            </a:pPr>
            <a:r>
              <a:t>of total variance</a:t>
            </a:r>
          </a:p>
          <a:p>
            <a:pPr>
              <a:defRPr sz="1100" b="0">
                <a:solidFill>
                  <a:srgbClr val="323232"/>
                </a:solidFill>
              </a:defRPr>
            </a:pPr>
            <a:r>
              <a:t>explained by Factor 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91440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Step 3 — Maximum Likelihood Factor Extraction</a:t>
            </a:r>
          </a:p>
          <a:p>
            <a:pPr algn="l">
              <a:defRPr sz="1200">
                <a:solidFill>
                  <a:srgbClr val="C9A84C"/>
                </a:solidFill>
              </a:defRPr>
            </a:pPr>
            <a:r>
              <a:t>ML minimizes the discrepancy between observed R and the model-implied Sigma-hat = LL' + Psi-hat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19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DCDCDC"/>
                </a:solidFill>
              </a:defRPr>
            </a:pPr>
            <a:r>
              <a:t>Introduction | EFA Mathematics | EFA Results | CFA Summary | Discussion | References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51967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C9A84C"/>
                </a:solidFill>
              </a:defRPr>
            </a:pPr>
            <a:r>
              <a:t>8/24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298448"/>
            <a:ext cx="11640312" cy="914400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53312"/>
            <a:ext cx="11274552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ML Fit Function (Discrepancy):  F_ML = ln|Sigma-hat| - ln|R| + tr(R * Sigma-hat^-1) - p</a:t>
            </a:r>
          </a:p>
          <a:p>
            <a:pPr>
              <a:defRPr sz="1100" b="0">
                <a:solidFill>
                  <a:srgbClr val="DCDCDC"/>
                </a:solidFill>
              </a:defRPr>
            </a:pPr>
            <a:r>
              <a:t>Iteratively minimized over L and Psi. At convergence: chi^2 = (n-1) x F_ML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2331720"/>
            <a:ext cx="3200400" cy="1417320"/>
          </a:xfrm>
          <a:prstGeom prst="roundRect">
            <a:avLst/>
          </a:prstGeom>
          <a:solidFill>
            <a:srgbClr val="E6FFE6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2386584"/>
            <a:ext cx="2980944" cy="1307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2060"/>
                </a:solidFill>
              </a:defRPr>
            </a:pPr>
            <a:r>
              <a:t>1-Factor ML Result:</a:t>
            </a:r>
          </a:p>
          <a:p>
            <a:pPr>
              <a:defRPr sz="1800" b="1">
                <a:solidFill>
                  <a:srgbClr val="002060"/>
                </a:solidFill>
              </a:defRPr>
            </a:pPr>
            <a:r>
              <a:t>chi^2 = 332.43</a:t>
            </a:r>
          </a:p>
          <a:p>
            <a:pPr>
              <a:defRPr sz="1100" b="0">
                <a:solidFill>
                  <a:srgbClr val="323232"/>
                </a:solidFill>
              </a:defRPr>
            </a:pPr>
            <a:r>
              <a:t>df = 27,  p &lt; 0.001</a:t>
            </a:r>
          </a:p>
          <a:p>
            <a:pPr>
              <a:defRPr sz="1000" b="0">
                <a:solidFill>
                  <a:srgbClr val="646464"/>
                </a:solidFill>
              </a:defRPr>
            </a:pPr>
            <a:r>
              <a:t>= (341-1) x F_ML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331720"/>
            <a:ext cx="41148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2060"/>
                </a:solidFill>
              </a:defRPr>
            </a:pPr>
            <a:r>
              <a:t>Degrees of Freedom Formula:</a:t>
            </a:r>
          </a:p>
          <a:p>
            <a:pPr>
              <a:defRPr sz="1000" b="0">
                <a:solidFill>
                  <a:srgbClr val="323232"/>
                </a:solidFill>
              </a:defRPr>
            </a:pPr>
            <a:r>
              <a:t>df = p(p+1)/2 - (pm - m(m-1)/2 + m)</a:t>
            </a:r>
          </a:p>
          <a:p>
            <a:pPr>
              <a:defRPr sz="1000" b="0">
                <a:solidFill>
                  <a:srgbClr val="323232"/>
                </a:solidFill>
              </a:defRPr>
            </a:pPr>
            <a:r>
              <a:t>   = 9(10)/2 - (9x1 - 0 + 1)</a:t>
            </a:r>
          </a:p>
          <a:p>
            <a:pPr>
              <a:defRPr sz="1000" b="1">
                <a:solidFill>
                  <a:srgbClr val="002060"/>
                </a:solidFill>
              </a:defRPr>
            </a:pPr>
            <a:r>
              <a:t>   = 45 - 18 = 27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79" y="2331720"/>
            <a:ext cx="3931920" cy="1417320"/>
          </a:xfrm>
          <a:prstGeom prst="roundRect">
            <a:avLst/>
          </a:prstGeom>
          <a:solidFill>
            <a:srgbClr val="FFF3C8"/>
          </a:solidFill>
          <a:ln w="1905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65007" y="2386584"/>
            <a:ext cx="3712464" cy="1307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2060"/>
                </a:solidFill>
              </a:defRPr>
            </a:pPr>
            <a:r>
              <a:t>Sigma-hat formula:</a:t>
            </a:r>
          </a:p>
          <a:p>
            <a:pPr>
              <a:defRPr sz="1200" b="1">
                <a:solidFill>
                  <a:srgbClr val="002060"/>
                </a:solidFill>
              </a:defRPr>
            </a:pPr>
            <a:r>
              <a:t>Sigma-hat = L L' + Psi-hat</a:t>
            </a:r>
          </a:p>
          <a:p>
            <a:pPr>
              <a:defRPr sz="1000" b="0">
                <a:solidFill>
                  <a:srgbClr val="323232"/>
                </a:solidFill>
              </a:defRPr>
            </a:pPr>
            <a:r>
              <a:t>At convergence: Sigma-hat = R</a:t>
            </a:r>
          </a:p>
          <a:p>
            <a:pPr>
              <a:defRPr sz="1000" b="0">
                <a:solidFill>
                  <a:srgbClr val="646464"/>
                </a:solidFill>
              </a:defRPr>
            </a:pPr>
            <a:r>
              <a:t>(model-implied matches observed)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3858768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2060"/>
                </a:solidFill>
              </a:defRPr>
            </a:pPr>
            <a:r>
              <a:t>Communalities (h^2) — Variance in Each Item Explained by the Common Factor(s)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274320" y="4224528"/>
          <a:ext cx="9994392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"/>
                <a:gridCol w="1097280"/>
                <a:gridCol w="1188720"/>
                <a:gridCol w="1005840"/>
                <a:gridCol w="1920240"/>
                <a:gridCol w="4279392"/>
              </a:tblGrid>
              <a:tr h="210312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Item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Subscale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Loading (L)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h^2 = L^2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Uniqueness u^2 = 1 - h^2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Interpretation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Vigor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0.77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0.59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0.41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59% shared variance</a:t>
                      </a:r>
                    </a:p>
                  </a:txBody>
                  <a:tcPr anchor="ctr"/>
                </a:tc>
              </a:tr>
              <a:tr h="210312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Vigor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0.80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0.64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0.36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64% shared variance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Dedication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0.81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81% shared variance</a:t>
                      </a:r>
                    </a:p>
                  </a:txBody>
                  <a:tcPr anchor="ctr"/>
                </a:tc>
              </a:tr>
              <a:tr h="210312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Dedication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0.88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0.77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0.23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77% shared variance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Vigor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64% shared variance</a:t>
                      </a:r>
                    </a:p>
                  </a:txBody>
                  <a:tcPr anchor="ctr"/>
                </a:tc>
              </a:tr>
              <a:tr h="210312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Absorption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0.85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0.72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0.28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72% shared variance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Dedication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0.74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55% shared variance</a:t>
                      </a:r>
                    </a:p>
                  </a:txBody>
                  <a:tcPr anchor="ctr"/>
                </a:tc>
              </a:tr>
              <a:tr h="210312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Absorption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0.79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0.62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0.38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62% shared variance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Absorption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0.65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0.42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0.58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42% shared variance (lowest)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91440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Step 4 — Factor Loadings Matrix  L  (1-Factor, Unrotated)</a:t>
            </a:r>
          </a:p>
          <a:p>
            <a:pPr algn="l">
              <a:defRPr sz="1200">
                <a:solidFill>
                  <a:srgbClr val="C9A84C"/>
                </a:solidFill>
              </a:defRPr>
            </a:pPr>
            <a:r>
              <a:t>All 9 items load on a single 'Work Engagement' factor with L ranging from 0.65 to 0.90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19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DCDCDC"/>
                </a:solidFill>
              </a:defRPr>
            </a:pPr>
            <a:r>
              <a:t>Introduction | EFA Mathematics | EFA Results | CFA Summary | Discussion | References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51967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C9A84C"/>
                </a:solidFill>
              </a:defRPr>
            </a:pPr>
            <a:r>
              <a:t>9/24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298448"/>
            <a:ext cx="4114800" cy="5010912"/>
          </a:xfrm>
          <a:prstGeom prst="roundRect">
            <a:avLst/>
          </a:prstGeom>
          <a:solidFill>
            <a:srgbClr val="E6F0FF"/>
          </a:solidFill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353312"/>
            <a:ext cx="3895344" cy="4901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2060"/>
                </a:solidFill>
              </a:defRPr>
            </a:pPr>
            <a:r>
              <a:t>Loading Matrix L  (p x m, p=9, m=1)</a:t>
            </a:r>
          </a:p>
          <a:p>
            <a:pPr>
              <a:defRPr sz="500"/>
            </a:pPr>
          </a:p>
          <a:p>
            <a:pPr>
              <a:defRPr sz="1100" b="1">
                <a:solidFill>
                  <a:srgbClr val="002060"/>
                </a:solidFill>
              </a:defRPr>
            </a:pPr>
            <a:r>
              <a:t>        Item          Subscale    L</a:t>
            </a:r>
          </a:p>
          <a:p>
            <a:pPr>
              <a:defRPr sz="1000" b="0">
                <a:solidFill>
                  <a:srgbClr val="646464"/>
                </a:solidFill>
              </a:defRPr>
            </a:pPr>
            <a:r>
              <a:t>        -------       --------   ----</a:t>
            </a:r>
          </a:p>
          <a:p>
            <a:pPr>
              <a:defRPr sz="1100" b="0">
                <a:solidFill>
                  <a:srgbClr val="323232"/>
                </a:solidFill>
              </a:defRPr>
            </a:pPr>
            <a:r>
              <a:t>        Item 1        Vigor      0.77</a:t>
            </a:r>
          </a:p>
          <a:p>
            <a:pPr>
              <a:defRPr sz="1100" b="0">
                <a:solidFill>
                  <a:srgbClr val="323232"/>
                </a:solidFill>
              </a:defRPr>
            </a:pPr>
            <a:r>
              <a:t>        Item 2        Vigor      0.80</a:t>
            </a:r>
          </a:p>
          <a:p>
            <a:pPr>
              <a:defRPr sz="1100" b="1">
                <a:solidFill>
                  <a:srgbClr val="002060"/>
                </a:solidFill>
              </a:defRPr>
            </a:pPr>
            <a:r>
              <a:t>        Item 3        Dedication 0.90  &lt;-- max</a:t>
            </a:r>
          </a:p>
          <a:p>
            <a:pPr>
              <a:defRPr sz="1100" b="0">
                <a:solidFill>
                  <a:srgbClr val="323232"/>
                </a:solidFill>
              </a:defRPr>
            </a:pPr>
            <a:r>
              <a:t>        Item 4        Dedication 0.88</a:t>
            </a:r>
          </a:p>
          <a:p>
            <a:pPr>
              <a:defRPr sz="1100" b="0">
                <a:solidFill>
                  <a:srgbClr val="323232"/>
                </a:solidFill>
              </a:defRPr>
            </a:pPr>
            <a:r>
              <a:t>        Item 5        Vigor      0.80</a:t>
            </a:r>
          </a:p>
          <a:p>
            <a:pPr>
              <a:defRPr sz="1100" b="0">
                <a:solidFill>
                  <a:srgbClr val="323232"/>
                </a:solidFill>
              </a:defRPr>
            </a:pPr>
            <a:r>
              <a:t>        Item 6        Absorption 0.85</a:t>
            </a:r>
          </a:p>
          <a:p>
            <a:pPr>
              <a:defRPr sz="1100" b="0">
                <a:solidFill>
                  <a:srgbClr val="323232"/>
                </a:solidFill>
              </a:defRPr>
            </a:pPr>
            <a:r>
              <a:t>        Item 7        Dedication 0.74</a:t>
            </a:r>
          </a:p>
          <a:p>
            <a:pPr>
              <a:defRPr sz="1100" b="0">
                <a:solidFill>
                  <a:srgbClr val="323232"/>
                </a:solidFill>
              </a:defRPr>
            </a:pPr>
            <a:r>
              <a:t>        Item 8        Absorption 0.79</a:t>
            </a:r>
          </a:p>
          <a:p>
            <a:pPr>
              <a:defRPr sz="1100" b="1">
                <a:solidFill>
                  <a:srgbClr val="002060"/>
                </a:solidFill>
              </a:defRPr>
            </a:pPr>
            <a:r>
              <a:t>        Item 9        Absorption 0.65  &lt;-- min</a:t>
            </a:r>
          </a:p>
          <a:p>
            <a:pPr>
              <a:defRPr sz="500"/>
            </a:pPr>
          </a:p>
          <a:p>
            <a:pPr>
              <a:defRPr sz="1100" b="1">
                <a:solidFill>
                  <a:srgbClr val="27AE60"/>
                </a:solidFill>
              </a:defRPr>
            </a:pPr>
            <a:r>
              <a:t>All loadings exceed 0.65 threshold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298448"/>
            <a:ext cx="3840480" cy="2286000"/>
          </a:xfrm>
          <a:prstGeom prst="roundRect">
            <a:avLst/>
          </a:prstGeom>
          <a:solidFill>
            <a:srgbClr val="FFF8DC"/>
          </a:solidFill>
          <a:ln w="1905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81728" y="1353312"/>
            <a:ext cx="3621024" cy="2176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2060"/>
                </a:solidFill>
              </a:defRPr>
            </a:pPr>
            <a:r>
              <a:t>Reproduced Correlation Formula:</a:t>
            </a:r>
          </a:p>
          <a:p>
            <a:pPr>
              <a:defRPr sz="500"/>
            </a:pPr>
          </a:p>
          <a:p>
            <a:pPr>
              <a:defRPr sz="1300" b="1">
                <a:solidFill>
                  <a:srgbClr val="002060"/>
                </a:solidFill>
              </a:defRPr>
            </a:pPr>
            <a:r>
              <a:t>r-hat_ij = L_i x L_j</a:t>
            </a:r>
          </a:p>
          <a:p>
            <a:pPr>
              <a:defRPr sz="500"/>
            </a:pPr>
          </a:p>
          <a:p>
            <a:pPr>
              <a:defRPr sz="1100" b="0">
                <a:solidFill>
                  <a:srgbClr val="323232"/>
                </a:solidFill>
              </a:defRPr>
            </a:pPr>
            <a:r>
              <a:t>Example (Item 1 x Item 3):</a:t>
            </a:r>
          </a:p>
          <a:p>
            <a:pPr>
              <a:defRPr sz="1100" b="0">
                <a:solidFill>
                  <a:srgbClr val="323232"/>
                </a:solidFill>
              </a:defRPr>
            </a:pPr>
            <a:r>
              <a:t>  r-hat_13 = 0.77 x 0.90 = 0.693</a:t>
            </a:r>
          </a:p>
          <a:p>
            <a:pPr>
              <a:defRPr sz="1100" b="0">
                <a:solidFill>
                  <a:srgbClr val="323232"/>
                </a:solidFill>
              </a:defRPr>
            </a:pPr>
            <a:r>
              <a:t>  Observed r_13 = 0.62</a:t>
            </a:r>
          </a:p>
          <a:p>
            <a:pPr>
              <a:defRPr sz="1100" b="0">
                <a:solidFill>
                  <a:srgbClr val="323232"/>
                </a:solidFill>
              </a:defRPr>
            </a:pPr>
            <a:r>
              <a:t>  Residual = 0.62 - 0.69 = -0.07</a:t>
            </a:r>
          </a:p>
          <a:p>
            <a:pPr>
              <a:defRPr sz="1100" b="1">
                <a:solidFill>
                  <a:srgbClr val="27AE60"/>
                </a:solidFill>
              </a:defRPr>
            </a:pPr>
            <a:r>
              <a:t>  (Small residual -&gt; good fit)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3703320"/>
            <a:ext cx="3840480" cy="2606040"/>
          </a:xfrm>
          <a:prstGeom prst="roundRect">
            <a:avLst/>
          </a:prstGeom>
          <a:solidFill>
            <a:srgbClr val="E6FFE6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81728" y="3758184"/>
            <a:ext cx="3621024" cy="2496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2060"/>
                </a:solidFill>
              </a:defRPr>
            </a:pPr>
            <a:r>
              <a:t>Key Loading Statistics:</a:t>
            </a:r>
          </a:p>
          <a:p>
            <a:pPr>
              <a:defRPr sz="500"/>
            </a:pPr>
          </a:p>
          <a:p>
            <a:pPr>
              <a:defRPr sz="1100" b="0">
                <a:solidFill>
                  <a:srgbClr val="323232"/>
                </a:solidFill>
              </a:defRPr>
            </a:pPr>
            <a:r>
              <a:t>  Range:    L = 0.65 to 0.90</a:t>
            </a:r>
          </a:p>
          <a:p>
            <a:pPr>
              <a:defRPr sz="1100" b="0">
                <a:solidFill>
                  <a:srgbClr val="323232"/>
                </a:solidFill>
              </a:defRPr>
            </a:pPr>
            <a:r>
              <a:t>  Mean L:   0.80</a:t>
            </a:r>
          </a:p>
          <a:p>
            <a:pPr>
              <a:defRPr sz="1100" b="0">
                <a:solidFill>
                  <a:srgbClr val="323232"/>
                </a:solidFill>
              </a:defRPr>
            </a:pPr>
            <a:r>
              <a:t>  Min L:    0.65 (Item 9, Absorption)</a:t>
            </a:r>
          </a:p>
          <a:p>
            <a:pPr>
              <a:defRPr sz="1100" b="0">
                <a:solidFill>
                  <a:srgbClr val="323232"/>
                </a:solidFill>
              </a:defRPr>
            </a:pPr>
            <a:r>
              <a:t>  Max L:    0.90 (Item 3, Dedication)</a:t>
            </a:r>
          </a:p>
          <a:p>
            <a:pPr>
              <a:defRPr sz="1100" b="0">
                <a:solidFill>
                  <a:srgbClr val="323232"/>
                </a:solidFill>
              </a:defRPr>
            </a:pPr>
            <a:r>
              <a:t>  chi^2:    332.43, df=27, p&lt;0.001</a:t>
            </a:r>
          </a:p>
          <a:p>
            <a:pPr>
              <a:defRPr sz="500"/>
            </a:pPr>
          </a:p>
          <a:p>
            <a:pPr>
              <a:defRPr sz="1200" b="1">
                <a:solidFill>
                  <a:srgbClr val="27AE60"/>
                </a:solidFill>
              </a:defRPr>
            </a:pPr>
            <a:r>
              <a:t>All 9 items: L &gt; 0.65 threshold</a:t>
            </a:r>
          </a:p>
          <a:p>
            <a:pPr>
              <a:defRPr sz="1200" b="1">
                <a:solidFill>
                  <a:srgbClr val="27AE60"/>
                </a:solidFill>
              </a:defRPr>
            </a:pPr>
            <a:r>
              <a:t>-&gt; Single Work Engagement factor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95360" y="1298448"/>
            <a:ext cx="3291840" cy="5010912"/>
          </a:xfrm>
          <a:prstGeom prst="roundRect">
            <a:avLst/>
          </a:prstGeom>
          <a:solidFill>
            <a:srgbClr val="F5F0FF"/>
          </a:solidFill>
          <a:ln w="19050">
            <a:solidFill>
              <a:srgbClr val="6B2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05088" y="1353312"/>
            <a:ext cx="3072384" cy="4901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2060"/>
                </a:solidFill>
              </a:defRPr>
            </a:pPr>
            <a:r>
              <a:t>Variance Decomposition</a:t>
            </a:r>
          </a:p>
          <a:p>
            <a:pPr>
              <a:defRPr sz="1100" b="0">
                <a:solidFill>
                  <a:srgbClr val="323232"/>
                </a:solidFill>
              </a:defRPr>
            </a:pPr>
            <a:r>
              <a:t>per item (1-Factor):</a:t>
            </a:r>
          </a:p>
          <a:p>
            <a:pPr>
              <a:defRPr sz="500"/>
            </a:pPr>
          </a:p>
          <a:p>
            <a:pPr>
              <a:defRPr sz="1000" b="0">
                <a:solidFill>
                  <a:srgbClr val="323232"/>
                </a:solidFill>
              </a:defRPr>
            </a:pPr>
            <a:r>
              <a:t>Item 1: h^2=0.59  u^2=0.41</a:t>
            </a:r>
          </a:p>
          <a:p>
            <a:pPr>
              <a:defRPr sz="1000" b="0">
                <a:solidFill>
                  <a:srgbClr val="323232"/>
                </a:solidFill>
              </a:defRPr>
            </a:pPr>
            <a:r>
              <a:t>Item 2: h^2=0.64  u^2=0.36</a:t>
            </a:r>
          </a:p>
          <a:p>
            <a:pPr>
              <a:defRPr sz="1000" b="1">
                <a:solidFill>
                  <a:srgbClr val="002060"/>
                </a:solidFill>
              </a:defRPr>
            </a:pPr>
            <a:r>
              <a:t>Item 3: h^2=0.81  u^2=0.19</a:t>
            </a:r>
          </a:p>
          <a:p>
            <a:pPr>
              <a:defRPr sz="1000" b="0">
                <a:solidFill>
                  <a:srgbClr val="323232"/>
                </a:solidFill>
              </a:defRPr>
            </a:pPr>
            <a:r>
              <a:t>Item 4: h^2=0.77  u^2=0.23</a:t>
            </a:r>
          </a:p>
          <a:p>
            <a:pPr>
              <a:defRPr sz="1000" b="0">
                <a:solidFill>
                  <a:srgbClr val="323232"/>
                </a:solidFill>
              </a:defRPr>
            </a:pPr>
            <a:r>
              <a:t>Item 5: h^2=0.64  u^2=0.36</a:t>
            </a:r>
          </a:p>
          <a:p>
            <a:pPr>
              <a:defRPr sz="1000" b="0">
                <a:solidFill>
                  <a:srgbClr val="323232"/>
                </a:solidFill>
              </a:defRPr>
            </a:pPr>
            <a:r>
              <a:t>Item 6: h^2=0.72  u^2=0.28</a:t>
            </a:r>
          </a:p>
          <a:p>
            <a:pPr>
              <a:defRPr sz="1000" b="0">
                <a:solidFill>
                  <a:srgbClr val="323232"/>
                </a:solidFill>
              </a:defRPr>
            </a:pPr>
            <a:r>
              <a:t>Item 7: h^2=0.55  u^2=0.45</a:t>
            </a:r>
          </a:p>
          <a:p>
            <a:pPr>
              <a:defRPr sz="1000" b="0">
                <a:solidFill>
                  <a:srgbClr val="323232"/>
                </a:solidFill>
              </a:defRPr>
            </a:pPr>
            <a:r>
              <a:t>Item 8: h^2=0.62  u^2=0.38</a:t>
            </a:r>
          </a:p>
          <a:p>
            <a:pPr>
              <a:defRPr sz="1000" b="1">
                <a:solidFill>
                  <a:srgbClr val="002060"/>
                </a:solidFill>
              </a:defRPr>
            </a:pPr>
            <a:r>
              <a:t>Item 9: h^2=0.42  u^2=0.58</a:t>
            </a:r>
          </a:p>
          <a:p>
            <a:pPr>
              <a:defRPr sz="500"/>
            </a:pPr>
          </a:p>
          <a:p>
            <a:pPr>
              <a:defRPr sz="1100" b="1">
                <a:solidFill>
                  <a:srgbClr val="002060"/>
                </a:solidFill>
              </a:defRPr>
            </a:pPr>
            <a:r>
              <a:t>Average h^2 = 0.64</a:t>
            </a:r>
          </a:p>
          <a:p>
            <a:pPr>
              <a:defRPr sz="1000" b="0">
                <a:solidFill>
                  <a:srgbClr val="646464"/>
                </a:solidFill>
              </a:defRPr>
            </a:pPr>
            <a:r>
              <a:t>= 64% average communality</a:t>
            </a:r>
          </a:p>
          <a:p>
            <a:pPr>
              <a:defRPr sz="500"/>
            </a:pPr>
          </a:p>
          <a:p>
            <a:pPr>
              <a:defRPr sz="1100" b="1">
                <a:solidFill>
                  <a:srgbClr val="002060"/>
                </a:solidFill>
              </a:defRPr>
            </a:pPr>
            <a:r>
              <a:t>Paper reports: &gt; 70%</a:t>
            </a:r>
          </a:p>
          <a:p>
            <a:pPr>
              <a:defRPr sz="1000" b="0">
                <a:solidFill>
                  <a:srgbClr val="646464"/>
                </a:solidFill>
              </a:defRPr>
            </a:pPr>
            <a:r>
              <a:t>total variance explained</a:t>
            </a:r>
          </a:p>
          <a:p>
            <a:pPr>
              <a:defRPr sz="1000" b="0">
                <a:solidFill>
                  <a:srgbClr val="646464"/>
                </a:solidFill>
              </a:defRPr>
            </a:pPr>
            <a:r>
              <a:t>by the 1-factor solution</a:t>
            </a:r>
          </a:p>
          <a:p>
            <a:pPr>
              <a:defRPr sz="1000" b="0">
                <a:solidFill>
                  <a:srgbClr val="646464"/>
                </a:solidFill>
              </a:defRPr>
            </a:pPr>
            <a:r>
              <a:t>(unrotated eigenvalue %)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91440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Step 5 — Factor Retention Criteria</a:t>
            </a:r>
          </a:p>
          <a:p>
            <a:pPr algn="l">
              <a:defRPr sz="1200">
                <a:solidFill>
                  <a:srgbClr val="C9A84C"/>
                </a:solidFill>
              </a:defRPr>
            </a:pPr>
            <a:r>
              <a:t>Five formal tests applied — 4 of 5 support a 1-factor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19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DCDCDC"/>
                </a:solidFill>
              </a:defRPr>
            </a:pPr>
            <a:r>
              <a:t>Introduction | EFA Mathematics | EFA Results | CFA Summary | Discussion | References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51967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C9A84C"/>
                </a:solidFill>
              </a:defRPr>
            </a:pPr>
            <a:r>
              <a:t>10/24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20" y="1298448"/>
          <a:ext cx="10268712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3108960"/>
                <a:gridCol w="3108960"/>
                <a:gridCol w="1234440"/>
                <a:gridCol w="1399032"/>
              </a:tblGrid>
              <a:tr h="74676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Criterion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Mathematical Basis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Result (UWES-9)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Decision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Supports 1F?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algn="ctr">
                        <a:defRPr sz="1050"/>
                      </a:pPr>
                      <a:r>
                        <a:t>Kaiser</a:t>
                      </a:r>
                    </a:p>
                    <a:p>
                      <a:pPr algn="ctr">
                        <a:defRPr sz="1050"/>
                      </a:pPr>
                      <a:r>
                        <a:t>Criterion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50"/>
                      </a:pPr>
                      <a:r>
                        <a:t>Retain factors with eigenvalue l &gt; 1</a:t>
                      </a:r>
                    </a:p>
                    <a:p>
                      <a:pPr algn="ctr">
                        <a:defRPr sz="1050"/>
                      </a:pPr>
                      <a:r>
                        <a:t>(Kaiser, 1960)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50"/>
                      </a:pPr>
                      <a:r>
                        <a:t>l1=6.38 &gt; 1  (only l1)</a:t>
                      </a:r>
                    </a:p>
                    <a:p>
                      <a:pPr algn="ctr">
                        <a:defRPr sz="1050"/>
                      </a:pPr>
                      <a:r>
                        <a:t>l2=0.83 &lt;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50"/>
                      </a:pPr>
                      <a:r>
                        <a:t>1 Factor</a:t>
                      </a:r>
                    </a:p>
                  </a:txBody>
                  <a:tcPr anchor="ctr">
                    <a:solidFill>
                      <a:srgbClr val="C8FFC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27AE60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 anchor="ctr">
                    <a:solidFill>
                      <a:srgbClr val="C8FFC8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algn="ctr">
                        <a:defRPr sz="1050"/>
                      </a:pPr>
                      <a:r>
                        <a:t>Scree Plot</a:t>
                      </a:r>
                    </a:p>
                    <a:p>
                      <a:pPr algn="ctr">
                        <a:defRPr sz="1050"/>
                      </a:pPr>
                      <a:r>
                        <a:t>(Cattell, 1966)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/>
                      </a:pPr>
                      <a:r>
                        <a:t>Inspect eigenvalue plot for "elbow"</a:t>
                      </a:r>
                    </a:p>
                    <a:p>
                      <a:pPr algn="ctr">
                        <a:defRPr sz="1050"/>
                      </a:pPr>
                      <a:r>
                        <a:t>— retain before elbow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/>
                      </a:pPr>
                      <a:r>
                        <a:t>Clear elbow after Factor 1</a:t>
                      </a:r>
                    </a:p>
                    <a:p>
                      <a:pPr algn="ctr">
                        <a:defRPr sz="1050"/>
                      </a:pPr>
                      <a:r>
                        <a:t>Sharp drop from 6.38 to 0.83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/>
                      </a:pPr>
                      <a:r>
                        <a:t>1 Factor</a:t>
                      </a:r>
                    </a:p>
                  </a:txBody>
                  <a:tcPr anchor="ctr">
                    <a:solidFill>
                      <a:srgbClr val="F5F5F5"/>
                    </a:solidFill>
                    <a:solidFill>
                      <a:srgbClr val="C8FFC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27AE60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 anchor="ctr">
                    <a:solidFill>
                      <a:srgbClr val="F5F5F5"/>
                    </a:solidFill>
                    <a:solidFill>
                      <a:srgbClr val="C8FFC8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algn="ctr">
                        <a:defRPr sz="1050"/>
                      </a:pPr>
                      <a:r>
                        <a:t>Velicer MAP</a:t>
                      </a:r>
                    </a:p>
                    <a:p>
                      <a:pPr algn="ctr">
                        <a:defRPr sz="1050"/>
                      </a:pPr>
                      <a:r>
                        <a:t>(Original, 1976)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50"/>
                      </a:pPr>
                      <a:r>
                        <a:t>Minimize avg sq. partial correlation</a:t>
                      </a:r>
                    </a:p>
                    <a:p>
                      <a:pPr algn="ctr">
                        <a:defRPr sz="1050"/>
                      </a:pPr>
                      <a:r>
                        <a:t>MAP = SUM(r_ij^2) / p(p-1)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50"/>
                      </a:pPr>
                      <a:r>
                        <a:t>MAP minimized at m=1</a:t>
                      </a:r>
                    </a:p>
                    <a:p>
                      <a:pPr algn="ctr">
                        <a:defRPr sz="1050"/>
                      </a:pPr>
                      <a:r>
                        <a:t>Partial r^2 increases after m=1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50"/>
                      </a:pPr>
                      <a:r>
                        <a:t>1 Factor</a:t>
                      </a:r>
                    </a:p>
                  </a:txBody>
                  <a:tcPr anchor="ctr">
                    <a:solidFill>
                      <a:srgbClr val="C8FFC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27AE60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 anchor="ctr">
                    <a:solidFill>
                      <a:srgbClr val="C8FFC8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algn="ctr">
                        <a:defRPr sz="1050"/>
                      </a:pPr>
                      <a:r>
                        <a:t>Velicer MAP</a:t>
                      </a:r>
                    </a:p>
                    <a:p>
                      <a:pPr algn="ctr">
                        <a:defRPr sz="1050"/>
                      </a:pPr>
                      <a:r>
                        <a:t>(Revised, 2000)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/>
                      </a:pPr>
                      <a:r>
                        <a:t>4th-power partial correlations</a:t>
                      </a:r>
                    </a:p>
                    <a:p>
                      <a:pPr algn="ctr">
                        <a:defRPr sz="1050"/>
                      </a:pPr>
                      <a:r>
                        <a:t>More accurate in simulation studies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/>
                      </a:pPr>
                      <a:r>
                        <a:t>Also minimized at m=1</a:t>
                      </a:r>
                    </a:p>
                    <a:p>
                      <a:pPr algn="ctr">
                        <a:defRPr sz="1050"/>
                      </a:pPr>
                      <a:r>
                        <a:t>More conservative version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/>
                      </a:pPr>
                      <a:r>
                        <a:t>1 Factor</a:t>
                      </a:r>
                    </a:p>
                  </a:txBody>
                  <a:tcPr anchor="ctr">
                    <a:solidFill>
                      <a:srgbClr val="F5F5F5"/>
                    </a:solidFill>
                    <a:solidFill>
                      <a:srgbClr val="C8FFC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27AE60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 anchor="ctr">
                    <a:solidFill>
                      <a:srgbClr val="F5F5F5"/>
                    </a:solidFill>
                    <a:solidFill>
                      <a:srgbClr val="C8FFC8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algn="ctr">
                        <a:defRPr sz="1050"/>
                      </a:pPr>
                      <a:r>
                        <a:t>Parallel Analysis</a:t>
                      </a:r>
                    </a:p>
                    <a:p>
                      <a:pPr algn="ctr">
                        <a:defRPr sz="1050"/>
                      </a:pPr>
                      <a:r>
                        <a:t>(Horn, 1965)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50"/>
                      </a:pPr>
                      <a:r>
                        <a:t>Compare l_i vs. 95th percentile from</a:t>
                      </a:r>
                    </a:p>
                    <a:p>
                      <a:pPr algn="ctr">
                        <a:defRPr sz="1050"/>
                      </a:pPr>
                      <a:r>
                        <a:t>random data with same n,p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50"/>
                      </a:pPr>
                      <a:r>
                        <a:t>Raw l exceeded 95th%ile for 4F</a:t>
                      </a:r>
                    </a:p>
                    <a:p>
                      <a:pPr algn="ctr">
                        <a:defRPr sz="1050"/>
                      </a:pPr>
                      <a:r>
                        <a:t>(known over-factoring artifact)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50"/>
                      </a:pPr>
                      <a:r>
                        <a:t>4 Factors</a:t>
                      </a:r>
                    </a:p>
                  </a:txBody>
                  <a:tcPr anchor="ctr">
                    <a:solidFill>
                      <a:srgbClr val="FFC8C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C0392B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FFC8C8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274320" y="5897880"/>
            <a:ext cx="11640312" cy="502920"/>
          </a:xfrm>
          <a:prstGeom prst="roundRect">
            <a:avLst/>
          </a:prstGeom>
          <a:solidFill>
            <a:srgbClr val="FFF3C8"/>
          </a:solidFill>
          <a:ln w="19050">
            <a:solidFill>
              <a:srgbClr val="D35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5952744"/>
            <a:ext cx="11420856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23232"/>
                </a:solidFill>
              </a:defRPr>
            </a:pPr>
            <a:r>
              <a:t>Why Parallel Analysis Disagrees:  Parallel Analysis is known to over-factor when inter-item correlations are very high (r=0.52-0.85 here). With multicollinear items, even random-data eigenvalues inflate, producing spuriously high factor counts. MAP is the more reliable criterion. 4 of 5 tests support 1 factor.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91440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Step 6 — Forced 3-Factor Promax Rotation</a:t>
            </a:r>
          </a:p>
          <a:p>
            <a:pPr algn="l">
              <a:defRPr sz="1200">
                <a:solidFill>
                  <a:srgbClr val="C9A84C"/>
                </a:solidFill>
              </a:defRPr>
            </a:pPr>
            <a:r>
              <a:t>Testing the theoretical 3-subscale structure — items misload onto wrong factors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19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DCDCDC"/>
                </a:solidFill>
              </a:defRPr>
            </a:pPr>
            <a:r>
              <a:t>Introduction | EFA Mathematics | EFA Results | CFA Summary | Discussion | References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51967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C9A84C"/>
                </a:solidFill>
              </a:defRPr>
            </a:pPr>
            <a:r>
              <a:t>11/24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298448"/>
            <a:ext cx="11640312" cy="804672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53312"/>
            <a:ext cx="11274552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Promax (Oblique) Rotation:   L* = L T  then raise loadings to power k=3   -&gt;  Pattern matrix P  +  Structure matrix S = P * Phi</a:t>
            </a:r>
          </a:p>
          <a:p>
            <a:pPr>
              <a:defRPr sz="1000" b="0">
                <a:solidFill>
                  <a:srgbClr val="DCDCDC"/>
                </a:solidFill>
              </a:defRPr>
            </a:pPr>
            <a:r>
              <a:t>Allows factors to correlate -&gt; tests if 3-factor structure holds with Vigor, Dedication, Absorption as distinct factors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74320" y="2221992"/>
          <a:ext cx="7498080" cy="3794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"/>
                <a:gridCol w="1143000"/>
                <a:gridCol w="1371600"/>
                <a:gridCol w="1325880"/>
                <a:gridCol w="1325880"/>
                <a:gridCol w="1828800"/>
              </a:tblGrid>
              <a:tr h="379476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Item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Theory</a:t>
                      </a:r>
                    </a:p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Subscale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Factor 1</a:t>
                      </a:r>
                    </a:p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(Dedic.+)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Factor 2</a:t>
                      </a:r>
                    </a:p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(Vigor)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Factor 3</a:t>
                      </a:r>
                    </a:p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(Absorp.)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Correct</a:t>
                      </a:r>
                    </a:p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Load?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algn="ctr">
                        <a:defRPr sz="1050"/>
                      </a:pPr>
                      <a: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50"/>
                      </a:pPr>
                      <a:r>
                        <a:t>Vigor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50"/>
                      </a:pPr>
                      <a:r>
                        <a:t>0.03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50"/>
                      </a:pPr>
                      <a:r>
                        <a:t>0.79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50"/>
                      </a:pPr>
                      <a:r>
                        <a:t>0.01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50"/>
                      </a:pPr>
                      <a:r>
                        <a:t>YES</a:t>
                      </a:r>
                    </a:p>
                  </a:txBody>
                  <a:tcPr anchor="ctr"/>
                </a:tc>
              </a:tr>
              <a:tr h="379476">
                <a:tc>
                  <a:txBody>
                    <a:bodyPr/>
                    <a:lstStyle/>
                    <a:p>
                      <a:pPr algn="ctr">
                        <a:defRPr sz="1050"/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/>
                      </a:pPr>
                      <a:r>
                        <a:t>Vigor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/>
                      </a:pPr>
                      <a:r>
                        <a:t>0.04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/>
                      </a:pPr>
                      <a:r>
                        <a:t>0.81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/>
                      </a:pPr>
                      <a:r>
                        <a:t>0.02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/>
                      </a:pPr>
                      <a:r>
                        <a:t>YES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algn="ctr">
                        <a:defRPr sz="1050"/>
                      </a:pPr>
                      <a: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50"/>
                      </a:pPr>
                      <a:r>
                        <a:t>Dedication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50"/>
                      </a:pPr>
                      <a:r>
                        <a:t>0.88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50"/>
                      </a:pPr>
                      <a:r>
                        <a:t>0.05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50"/>
                      </a:pPr>
                      <a:r>
                        <a:t>0.02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50"/>
                      </a:pPr>
                      <a:r>
                        <a:t>YES</a:t>
                      </a:r>
                    </a:p>
                  </a:txBody>
                  <a:tcPr anchor="ctr"/>
                </a:tc>
              </a:tr>
              <a:tr h="379476">
                <a:tc>
                  <a:txBody>
                    <a:bodyPr/>
                    <a:lstStyle/>
                    <a:p>
                      <a:pPr algn="ctr">
                        <a:defRPr sz="1050"/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/>
                      </a:pPr>
                      <a:r>
                        <a:t>Dedication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/>
                      </a:pPr>
                      <a:r>
                        <a:t>0.86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/>
                      </a:pPr>
                      <a:r>
                        <a:t>0.03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/>
                      </a:pPr>
                      <a:r>
                        <a:t>0.03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/>
                      </a:pPr>
                      <a:r>
                        <a:t>YES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algn="ctr">
                        <a:defRPr sz="1050"/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DCD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/>
                      </a:pPr>
                      <a:r>
                        <a:t>Vigor</a:t>
                      </a:r>
                    </a:p>
                  </a:txBody>
                  <a:tcPr anchor="ctr">
                    <a:solidFill>
                      <a:srgbClr val="FFDCD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/>
                      </a:pPr>
                      <a:r>
                        <a:t>0.52</a:t>
                      </a:r>
                    </a:p>
                  </a:txBody>
                  <a:tcPr anchor="ctr">
                    <a:solidFill>
                      <a:srgbClr val="FFDCD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/>
                      </a:pPr>
                      <a:r>
                        <a:t>0.42</a:t>
                      </a:r>
                    </a:p>
                  </a:txBody>
                  <a:tcPr anchor="ctr">
                    <a:solidFill>
                      <a:srgbClr val="FFDCD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/>
                      </a:pPr>
                      <a:r>
                        <a:t>-0.05</a:t>
                      </a:r>
                    </a:p>
                  </a:txBody>
                  <a:tcPr anchor="ctr">
                    <a:solidFill>
                      <a:srgbClr val="FFDCD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C0392B"/>
                          </a:solidFill>
                        </a:defRPr>
                      </a:pPr>
                      <a:r>
                        <a:t>NO — MISLOADS</a:t>
                      </a:r>
                    </a:p>
                  </a:txBody>
                  <a:tcPr anchor="ctr">
                    <a:solidFill>
                      <a:srgbClr val="FFDCDC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algn="ctr">
                        <a:defRPr sz="1050"/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5F5F5"/>
                    </a:solidFill>
                    <a:solidFill>
                      <a:srgbClr val="FFDCD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/>
                      </a:pPr>
                      <a:r>
                        <a:t>Absorption</a:t>
                      </a:r>
                    </a:p>
                  </a:txBody>
                  <a:tcPr anchor="ctr">
                    <a:solidFill>
                      <a:srgbClr val="F5F5F5"/>
                    </a:solidFill>
                    <a:solidFill>
                      <a:srgbClr val="FFDCD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/>
                      </a:pPr>
                      <a:r>
                        <a:t>0.55</a:t>
                      </a:r>
                    </a:p>
                  </a:txBody>
                  <a:tcPr anchor="ctr">
                    <a:solidFill>
                      <a:srgbClr val="F5F5F5"/>
                    </a:solidFill>
                    <a:solidFill>
                      <a:srgbClr val="FFDCD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/>
                      </a:pPr>
                      <a:r>
                        <a:t>0.02</a:t>
                      </a:r>
                    </a:p>
                  </a:txBody>
                  <a:tcPr anchor="ctr">
                    <a:solidFill>
                      <a:srgbClr val="F5F5F5"/>
                    </a:solidFill>
                    <a:solidFill>
                      <a:srgbClr val="FFDCD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/>
                      </a:pPr>
                      <a:r>
                        <a:t>0.39</a:t>
                      </a:r>
                    </a:p>
                  </a:txBody>
                  <a:tcPr anchor="ctr">
                    <a:solidFill>
                      <a:srgbClr val="F5F5F5"/>
                    </a:solidFill>
                    <a:solidFill>
                      <a:srgbClr val="FFDCD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C0392B"/>
                          </a:solidFill>
                        </a:defRPr>
                      </a:pPr>
                      <a:r>
                        <a:t>NO — MISLOADS</a:t>
                      </a:r>
                    </a:p>
                  </a:txBody>
                  <a:tcPr anchor="ctr">
                    <a:solidFill>
                      <a:srgbClr val="F5F5F5"/>
                    </a:solidFill>
                    <a:solidFill>
                      <a:srgbClr val="FFDCDC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algn="ctr">
                        <a:defRPr sz="1050"/>
                      </a:pPr>
                      <a: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50"/>
                      </a:pPr>
                      <a:r>
                        <a:t>Dedication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50"/>
                      </a:pPr>
                      <a:r>
                        <a:t>0.68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50"/>
                      </a:pPr>
                      <a:r>
                        <a:t>0.12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50"/>
                      </a:pPr>
                      <a:r>
                        <a:t>0.01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50"/>
                      </a:pPr>
                      <a:r>
                        <a:t>YES</a:t>
                      </a:r>
                    </a:p>
                  </a:txBody>
                  <a:tcPr anchor="ctr"/>
                </a:tc>
              </a:tr>
              <a:tr h="379476">
                <a:tc>
                  <a:txBody>
                    <a:bodyPr/>
                    <a:lstStyle/>
                    <a:p>
                      <a:pPr algn="ctr">
                        <a:defRPr sz="1050"/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/>
                      </a:pPr>
                      <a:r>
                        <a:t>Absorption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/>
                      </a:pPr>
                      <a:r>
                        <a:t>0.07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/>
                      </a:pPr>
                      <a:r>
                        <a:t>0.04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/>
                      </a:pPr>
                      <a:r>
                        <a:t>0.77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/>
                      </a:pPr>
                      <a:r>
                        <a:t>YES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algn="ctr">
                        <a:defRPr sz="1050"/>
                      </a:pPr>
                      <a:r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50"/>
                      </a:pPr>
                      <a:r>
                        <a:t>Absorption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50"/>
                      </a:pPr>
                      <a:r>
                        <a:t>-0.02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50"/>
                      </a:pPr>
                      <a:r>
                        <a:t>0.06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50"/>
                      </a:pPr>
                      <a:r>
                        <a:t>0.72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50"/>
                      </a:pPr>
                      <a:r>
                        <a:t>YES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772400" y="2221992"/>
            <a:ext cx="4206240" cy="2011680"/>
          </a:xfrm>
          <a:prstGeom prst="roundRect">
            <a:avLst/>
          </a:prstGeom>
          <a:solidFill>
            <a:srgbClr val="FFF0F0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82128" y="2276856"/>
            <a:ext cx="3986784" cy="1901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2060"/>
                </a:solidFill>
              </a:defRPr>
            </a:pPr>
            <a:r>
              <a:t>Inter-Factor Correlation Matrix Phi:</a:t>
            </a:r>
          </a:p>
          <a:p>
            <a:pPr>
              <a:defRPr sz="500"/>
            </a:pPr>
          </a:p>
          <a:p>
            <a:pPr>
              <a:defRPr sz="1000" b="0">
                <a:solidFill>
                  <a:srgbClr val="646464"/>
                </a:solidFill>
              </a:defRPr>
            </a:pPr>
            <a:r>
              <a:t>       F1(Ded)   F2(Vig)   F3(Abs)</a:t>
            </a:r>
          </a:p>
          <a:p>
            <a:pPr>
              <a:defRPr sz="1000" b="0">
                <a:solidFill>
                  <a:srgbClr val="323232"/>
                </a:solidFill>
              </a:defRPr>
            </a:pPr>
            <a:r>
              <a:t>F1:    1.00      0.80      0.83</a:t>
            </a:r>
          </a:p>
          <a:p>
            <a:pPr>
              <a:defRPr sz="1000" b="0">
                <a:solidFill>
                  <a:srgbClr val="323232"/>
                </a:solidFill>
              </a:defRPr>
            </a:pPr>
            <a:r>
              <a:t>F2:    0.80      1.00      0.79</a:t>
            </a:r>
          </a:p>
          <a:p>
            <a:pPr>
              <a:defRPr sz="1000" b="0">
                <a:solidFill>
                  <a:srgbClr val="323232"/>
                </a:solidFill>
              </a:defRPr>
            </a:pPr>
            <a:r>
              <a:t>F3:    0.83      0.79      1.00</a:t>
            </a:r>
          </a:p>
          <a:p>
            <a:pPr>
              <a:defRPr sz="500"/>
            </a:pPr>
          </a:p>
          <a:p>
            <a:pPr>
              <a:defRPr sz="1000" b="1">
                <a:solidFill>
                  <a:srgbClr val="C0392B"/>
                </a:solidFill>
              </a:defRPr>
            </a:pPr>
            <a:r>
              <a:t>r(F1,F2)=0.80  r(F1,F3)=0.83  r(F2,F3)=0.79</a:t>
            </a:r>
          </a:p>
          <a:p>
            <a:pPr>
              <a:defRPr sz="1100" b="1">
                <a:solidFill>
                  <a:srgbClr val="C0392B"/>
                </a:solidFill>
              </a:defRPr>
            </a:pPr>
            <a:r>
              <a:t>All &gt; 0.79 -&gt; factors NOT distinct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4343400"/>
            <a:ext cx="4206240" cy="1673352"/>
          </a:xfrm>
          <a:prstGeom prst="roundRect">
            <a:avLst/>
          </a:prstGeom>
          <a:solidFill>
            <a:srgbClr val="FFF0C8"/>
          </a:solidFill>
          <a:ln w="19050">
            <a:solidFill>
              <a:srgbClr val="D35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82128" y="4398264"/>
            <a:ext cx="3986784" cy="1563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2060"/>
                </a:solidFill>
              </a:defRPr>
            </a:pPr>
            <a:r>
              <a:t>3-Factor Solution Conclusion:</a:t>
            </a:r>
          </a:p>
          <a:p>
            <a:pPr>
              <a:defRPr sz="500"/>
            </a:pPr>
          </a:p>
          <a:p>
            <a:pPr>
              <a:defRPr sz="1000" b="0">
                <a:solidFill>
                  <a:srgbClr val="323232"/>
                </a:solidFill>
              </a:defRPr>
            </a:pPr>
            <a:r>
              <a:t>  Items 5 &amp; 6 cross-load (misload)</a:t>
            </a:r>
          </a:p>
          <a:p>
            <a:pPr>
              <a:defRPr sz="1000" b="0">
                <a:solidFill>
                  <a:srgbClr val="323232"/>
                </a:solidFill>
              </a:defRPr>
            </a:pPr>
            <a:r>
              <a:t>  Dedication gains Items 5 &amp; 6 (4 items!)</a:t>
            </a:r>
          </a:p>
          <a:p>
            <a:pPr>
              <a:defRPr sz="1000" b="0">
                <a:solidFill>
                  <a:srgbClr val="323232"/>
                </a:solidFill>
              </a:defRPr>
            </a:pPr>
            <a:r>
              <a:t>  Vigor loses Item 5 (only 2 items!)</a:t>
            </a:r>
          </a:p>
          <a:p>
            <a:pPr>
              <a:defRPr sz="1000" b="0">
                <a:solidFill>
                  <a:srgbClr val="323232"/>
                </a:solidFill>
              </a:defRPr>
            </a:pPr>
            <a:r>
              <a:t>  Factor intercorrelations: 0.79-0.83</a:t>
            </a:r>
          </a:p>
          <a:p>
            <a:pPr>
              <a:defRPr sz="1200" b="1">
                <a:solidFill>
                  <a:srgbClr val="C0392B"/>
                </a:solidFill>
              </a:defRPr>
            </a:pPr>
            <a:r>
              <a:t>  -&gt; 3-factor NOT supported by EFA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91440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EFA Summary — All Evidence Points to 1 Factor</a:t>
            </a:r>
          </a:p>
          <a:p>
            <a:pPr algn="l">
              <a:defRPr sz="1200">
                <a:solidFill>
                  <a:srgbClr val="C9A84C"/>
                </a:solidFill>
              </a:defRPr>
            </a:pPr>
            <a:r>
              <a:t>Seven of eight tests support a single 'Work Engagement' factor  |  EFA sample n = 341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19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DCDCDC"/>
                </a:solidFill>
              </a:defRPr>
            </a:pPr>
            <a:r>
              <a:t>Introduction | EFA Mathematics | EFA Results | CFA Summary | Discussion | References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51967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C9A84C"/>
                </a:solidFill>
              </a:defRPr>
            </a:pPr>
            <a:r>
              <a:t>12/24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20" y="1298448"/>
          <a:ext cx="9811511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5394960"/>
                <a:gridCol w="1856231"/>
              </a:tblGrid>
              <a:tr h="432261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Analysis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Key Finding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Verdict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 algn="ctr">
                        <a:defRPr sz="1050"/>
                      </a:pPr>
                      <a:r>
                        <a:t>Correlation Matrix 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50"/>
                      </a:pPr>
                      <a:r>
                        <a:t>r range 0.52-0.85; no clear block structure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27AE60"/>
                          </a:solidFill>
                        </a:defRPr>
                      </a:pPr>
                      <a:r>
                        <a:t>Supports 1F</a:t>
                      </a:r>
                    </a:p>
                  </a:txBody>
                  <a:tcPr anchor="ctr">
                    <a:solidFill>
                      <a:srgbClr val="C8FFC8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 algn="ctr">
                        <a:defRPr sz="1050"/>
                      </a:pPr>
                      <a:r>
                        <a:t>Eigenvalue l1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/>
                      </a:pPr>
                      <a:r>
                        <a:t>l1=6.38 = 70.9% variance; l2=0.83 &lt; 1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27AE60"/>
                          </a:solidFill>
                        </a:defRPr>
                      </a:pPr>
                      <a:r>
                        <a:t>Supports 1F</a:t>
                      </a:r>
                    </a:p>
                  </a:txBody>
                  <a:tcPr anchor="ctr">
                    <a:solidFill>
                      <a:srgbClr val="F5F5F5"/>
                    </a:solidFill>
                    <a:solidFill>
                      <a:srgbClr val="C8FFC8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 algn="ctr">
                        <a:defRPr sz="1050"/>
                      </a:pPr>
                      <a:r>
                        <a:t>ML Extraction chi^2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50"/>
                      </a:pPr>
                      <a:r>
                        <a:t>332.43 (df=27); communalities 0.42-0.81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27AE60"/>
                          </a:solidFill>
                        </a:defRPr>
                      </a:pPr>
                      <a:r>
                        <a:t>Supports 1F</a:t>
                      </a:r>
                    </a:p>
                  </a:txBody>
                  <a:tcPr anchor="ctr">
                    <a:solidFill>
                      <a:srgbClr val="C8FFC8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 algn="ctr">
                        <a:defRPr sz="1050"/>
                      </a:pPr>
                      <a:r>
                        <a:t>Kaiser Criterion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/>
                      </a:pPr>
                      <a:r>
                        <a:t>Only l1 &gt; 1 among all 9 eigenvalues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27AE60"/>
                          </a:solidFill>
                        </a:defRPr>
                      </a:pPr>
                      <a:r>
                        <a:t>1 Factor</a:t>
                      </a:r>
                    </a:p>
                  </a:txBody>
                  <a:tcPr anchor="ctr">
                    <a:solidFill>
                      <a:srgbClr val="F5F5F5"/>
                    </a:solidFill>
                    <a:solidFill>
                      <a:srgbClr val="C8FFC8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 algn="ctr">
                        <a:defRPr sz="1050"/>
                      </a:pPr>
                      <a:r>
                        <a:t>Scree Plot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50"/>
                      </a:pPr>
                      <a:r>
                        <a:t>Clear "elbow" after Factor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27AE60"/>
                          </a:solidFill>
                        </a:defRPr>
                      </a:pPr>
                      <a:r>
                        <a:t>1 Factor</a:t>
                      </a:r>
                    </a:p>
                  </a:txBody>
                  <a:tcPr anchor="ctr">
                    <a:solidFill>
                      <a:srgbClr val="C8FFC8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 algn="ctr">
                        <a:defRPr sz="1050"/>
                      </a:pPr>
                      <a:r>
                        <a:t>Velicer MAP (Original 1976)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/>
                      </a:pPr>
                      <a:r>
                        <a:t>Average partial r^2 minimized at m=1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27AE60"/>
                          </a:solidFill>
                        </a:defRPr>
                      </a:pPr>
                      <a:r>
                        <a:t>1 Factor</a:t>
                      </a:r>
                    </a:p>
                  </a:txBody>
                  <a:tcPr anchor="ctr">
                    <a:solidFill>
                      <a:srgbClr val="F5F5F5"/>
                    </a:solidFill>
                    <a:solidFill>
                      <a:srgbClr val="C8FFC8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 algn="ctr">
                        <a:defRPr sz="1050"/>
                      </a:pPr>
                      <a:r>
                        <a:t>Velicer MAP (Revised 2000)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50"/>
                      </a:pPr>
                      <a:r>
                        <a:t>4th-power partial r minimized at m=1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27AE60"/>
                          </a:solidFill>
                        </a:defRPr>
                      </a:pPr>
                      <a:r>
                        <a:t>1 Factor</a:t>
                      </a:r>
                    </a:p>
                  </a:txBody>
                  <a:tcPr anchor="ctr">
                    <a:solidFill>
                      <a:srgbClr val="C8FFC8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 algn="ctr">
                        <a:defRPr sz="1050"/>
                      </a:pPr>
                      <a:r>
                        <a:t>Parallel Analysis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/>
                      </a:pPr>
                      <a:r>
                        <a:t>l_i &gt; 95th percentile for 4 factors (over-factors)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C0392B"/>
                          </a:solidFill>
                        </a:defRPr>
                      </a:pPr>
                      <a:r>
                        <a:t>4 Factors</a:t>
                      </a:r>
                    </a:p>
                  </a:txBody>
                  <a:tcPr anchor="ctr">
                    <a:solidFill>
                      <a:srgbClr val="F5F5F5"/>
                    </a:solidFill>
                    <a:solidFill>
                      <a:srgbClr val="FFC8C8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 algn="ctr">
                        <a:defRPr sz="1050"/>
                      </a:pPr>
                      <a:r>
                        <a:t>Factor Loadings 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50"/>
                      </a:pPr>
                      <a:r>
                        <a:t>All L = 0.65-0.90; no multi-factorial loading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27AE60"/>
                          </a:solidFill>
                        </a:defRPr>
                      </a:pPr>
                      <a:r>
                        <a:t>1-Factor</a:t>
                      </a:r>
                    </a:p>
                  </a:txBody>
                  <a:tcPr anchor="ctr">
                    <a:solidFill>
                      <a:srgbClr val="C8FFC8"/>
                    </a:solidFill>
                  </a:tcPr>
                </a:tc>
              </a:tr>
              <a:tr h="432270">
                <a:tc>
                  <a:txBody>
                    <a:bodyPr/>
                    <a:lstStyle/>
                    <a:p>
                      <a:pPr algn="ctr">
                        <a:defRPr sz="1050"/>
                      </a:pPr>
                      <a:r>
                        <a:t>Promax Rotation 3-Factor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/>
                      </a:pPr>
                      <a:r>
                        <a:t>Items 5&amp;6 misload; factor r = 0.79-0.83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27AE60"/>
                          </a:solidFill>
                        </a:defRPr>
                      </a:pPr>
                      <a:r>
                        <a:t>Against 3F</a:t>
                      </a:r>
                    </a:p>
                  </a:txBody>
                  <a:tcPr anchor="ctr">
                    <a:solidFill>
                      <a:srgbClr val="F5F5F5"/>
                    </a:solidFill>
                    <a:solidFill>
                      <a:srgbClr val="C8FFC8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274320" y="6172200"/>
            <a:ext cx="11640312" cy="228600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227064"/>
            <a:ext cx="11457432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EFA CONCLUSION: 9 of 10 analyses support a single Work Engagement factor. Parallel Analysis over-factors due to high inter-item correlations (0.52-0.85), a known limitation. 1-factor scoring recommended.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91440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CFA: Confirmatory Factor Analysis — Model Fit Results</a:t>
            </a:r>
          </a:p>
          <a:p>
            <a:pPr algn="l">
              <a:defRPr sz="1200">
                <a:solidFill>
                  <a:srgbClr val="C9A84C"/>
                </a:solidFill>
              </a:defRPr>
            </a:pPr>
            <a:r>
              <a:t>Three models tested on the holdout sample (n = 342)  |  None achieved acceptable fit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19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DCDCDC"/>
                </a:solidFill>
              </a:defRPr>
            </a:pPr>
            <a:r>
              <a:t>Introduction | EFA Mathematics | EFA Results | CFA Summary | Discussion | References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51967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C9A84C"/>
                </a:solidFill>
              </a:defRPr>
            </a:pPr>
            <a:r>
              <a:t>13/24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20" y="1298448"/>
          <a:ext cx="11640312" cy="3977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2660904"/>
                <a:gridCol w="2660904"/>
                <a:gridCol w="2660904"/>
              </a:tblGrid>
              <a:tr h="441959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Fit Statistic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Threshold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1-Factor Model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2-Factor Model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3-Factor Model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</a:tr>
              <a:tr h="441959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chi^2 (df)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Non-sig. 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C0392B"/>
                          </a:solidFill>
                        </a:defRPr>
                      </a:pPr>
                      <a:r>
                        <a:t>633.90 (27)</a:t>
                      </a:r>
                    </a:p>
                  </a:txBody>
                  <a:tcPr anchor="ctr">
                    <a:solidFill>
                      <a:srgbClr val="FFC8C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C0392B"/>
                          </a:solidFill>
                        </a:defRPr>
                      </a:pPr>
                      <a:r>
                        <a:t>354.49 (26)</a:t>
                      </a:r>
                    </a:p>
                  </a:txBody>
                  <a:tcPr anchor="ctr">
                    <a:solidFill>
                      <a:srgbClr val="FFC8C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C0392B"/>
                          </a:solidFill>
                        </a:defRPr>
                      </a:pPr>
                      <a:r>
                        <a:t>247.76 (24)</a:t>
                      </a:r>
                    </a:p>
                  </a:txBody>
                  <a:tcPr anchor="ctr">
                    <a:solidFill>
                      <a:srgbClr val="FFC8C8"/>
                    </a:solidFill>
                  </a:tcPr>
                </a:tc>
              </a:tr>
              <a:tr h="441959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RMSEA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&lt; 0.05 / 0.08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C0392B"/>
                          </a:solidFill>
                        </a:defRPr>
                      </a:pPr>
                      <a:r>
                        <a:t>0.181</a:t>
                      </a:r>
                    </a:p>
                  </a:txBody>
                  <a:tcPr anchor="ctr">
                    <a:solidFill>
                      <a:srgbClr val="F5F5F5"/>
                    </a:solidFill>
                    <a:solidFill>
                      <a:srgbClr val="FFC8C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C0392B"/>
                          </a:solidFill>
                        </a:defRPr>
                      </a:pPr>
                      <a:r>
                        <a:t>0.192</a:t>
                      </a:r>
                    </a:p>
                  </a:txBody>
                  <a:tcPr anchor="ctr">
                    <a:solidFill>
                      <a:srgbClr val="F5F5F5"/>
                    </a:solidFill>
                    <a:solidFill>
                      <a:srgbClr val="FFC8C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C0392B"/>
                          </a:solidFill>
                        </a:defRPr>
                      </a:pPr>
                      <a:r>
                        <a:t>0.167</a:t>
                      </a:r>
                    </a:p>
                  </a:txBody>
                  <a:tcPr anchor="ctr">
                    <a:solidFill>
                      <a:srgbClr val="F5F5F5"/>
                    </a:solidFill>
                    <a:solidFill>
                      <a:srgbClr val="FFC8C8"/>
                    </a:solidFill>
                  </a:tcPr>
                </a:tc>
              </a:tr>
              <a:tr h="441959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RMSEA 90% CI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0.169–0.194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0.175–0.192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0.154–0.180</a:t>
                      </a:r>
                    </a:p>
                  </a:txBody>
                  <a:tcPr anchor="ctr"/>
                </a:tc>
              </a:tr>
              <a:tr h="441959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CFI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&gt; 0.95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C0392B"/>
                          </a:solidFill>
                        </a:defRPr>
                      </a:pPr>
                      <a:r>
                        <a:t>0.895</a:t>
                      </a:r>
                    </a:p>
                  </a:txBody>
                  <a:tcPr anchor="ctr">
                    <a:solidFill>
                      <a:srgbClr val="F5F5F5"/>
                    </a:solidFill>
                    <a:solidFill>
                      <a:srgbClr val="FFC8C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C0392B"/>
                          </a:solidFill>
                        </a:defRPr>
                      </a:pPr>
                      <a:r>
                        <a:t>0.882</a:t>
                      </a:r>
                    </a:p>
                  </a:txBody>
                  <a:tcPr anchor="ctr">
                    <a:solidFill>
                      <a:srgbClr val="F5F5F5"/>
                    </a:solidFill>
                    <a:solidFill>
                      <a:srgbClr val="FFC8C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C0392B"/>
                          </a:solidFill>
                        </a:defRPr>
                      </a:pPr>
                      <a:r>
                        <a:t>0.920</a:t>
                      </a:r>
                    </a:p>
                  </a:txBody>
                  <a:tcPr anchor="ctr">
                    <a:solidFill>
                      <a:srgbClr val="F5F5F5"/>
                    </a:solidFill>
                    <a:solidFill>
                      <a:srgbClr val="FFC8C8"/>
                    </a:solidFill>
                  </a:tcPr>
                </a:tc>
              </a:tr>
              <a:tr h="441959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TLI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&gt; 0.95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C0392B"/>
                          </a:solidFill>
                        </a:defRPr>
                      </a:pPr>
                      <a:r>
                        <a:t>0.860</a:t>
                      </a:r>
                    </a:p>
                  </a:txBody>
                  <a:tcPr anchor="ctr">
                    <a:solidFill>
                      <a:srgbClr val="FFC8C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C0392B"/>
                          </a:solidFill>
                        </a:defRPr>
                      </a:pPr>
                      <a:r>
                        <a:t>0.837</a:t>
                      </a:r>
                    </a:p>
                  </a:txBody>
                  <a:tcPr anchor="ctr">
                    <a:solidFill>
                      <a:srgbClr val="FFC8C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C0392B"/>
                          </a:solidFill>
                        </a:defRPr>
                      </a:pPr>
                      <a:r>
                        <a:t>0.880</a:t>
                      </a:r>
                    </a:p>
                  </a:txBody>
                  <a:tcPr anchor="ctr">
                    <a:solidFill>
                      <a:srgbClr val="FFC8C8"/>
                    </a:solidFill>
                  </a:tcPr>
                </a:tc>
              </a:tr>
              <a:tr h="441959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SRMR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&lt; 0.08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7AE60"/>
                          </a:solidFill>
                        </a:defRPr>
                      </a:pPr>
                      <a:r>
                        <a:t>0.046</a:t>
                      </a:r>
                    </a:p>
                  </a:txBody>
                  <a:tcPr anchor="ctr">
                    <a:solidFill>
                      <a:srgbClr val="F5F5F5"/>
                    </a:solidFill>
                    <a:solidFill>
                      <a:srgbClr val="C8FFC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7AE60"/>
                          </a:solidFill>
                        </a:defRPr>
                      </a:pPr>
                      <a:r>
                        <a:t>0.049</a:t>
                      </a:r>
                    </a:p>
                  </a:txBody>
                  <a:tcPr anchor="ctr">
                    <a:solidFill>
                      <a:srgbClr val="F5F5F5"/>
                    </a:solidFill>
                    <a:solidFill>
                      <a:srgbClr val="C8FFC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7AE60"/>
                          </a:solidFill>
                        </a:defRPr>
                      </a:pPr>
                      <a:r>
                        <a:t>0.065</a:t>
                      </a:r>
                    </a:p>
                  </a:txBody>
                  <a:tcPr anchor="ctr">
                    <a:solidFill>
                      <a:srgbClr val="F5F5F5"/>
                    </a:solidFill>
                    <a:solidFill>
                      <a:srgbClr val="C8FFC8"/>
                    </a:solidFill>
                  </a:tcPr>
                </a:tc>
              </a:tr>
              <a:tr h="441959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AIC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Lower=better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16221.47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8246.29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8143.56</a:t>
                      </a:r>
                    </a:p>
                  </a:txBody>
                  <a:tcPr anchor="ctr"/>
                </a:tc>
              </a:tr>
              <a:tr h="441967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BIC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Lower=better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16343.70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8353.66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8258.60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74320" y="5394960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2060"/>
                </a:solidFill>
              </a:defRPr>
            </a:pPr>
            <a:r>
              <a:t>CFA Standardized Coefficients by Model (Table 4) — All z-values p &lt; 0.0001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74320" y="5715000"/>
          <a:ext cx="11640312" cy="658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"/>
                <a:gridCol w="1097280"/>
                <a:gridCol w="1463040"/>
                <a:gridCol w="1463040"/>
                <a:gridCol w="1463040"/>
                <a:gridCol w="5650992"/>
              </a:tblGrid>
              <a:tr h="65836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Item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Subscale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1-Factor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2-Factor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3-Factor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z-value (1F)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</a:tr>
              <a:tr h="65836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Vigor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0.79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0.80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0.89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50.42</a:t>
                      </a:r>
                    </a:p>
                  </a:txBody>
                  <a:tcPr anchor="ctr"/>
                </a:tc>
              </a:tr>
              <a:tr h="65836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Vigor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0.82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0.83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0.92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59.95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65836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Dedication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0.92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0.92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0.94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132.99</a:t>
                      </a:r>
                    </a:p>
                  </a:txBody>
                  <a:tcPr anchor="ctr"/>
                </a:tc>
              </a:tr>
              <a:tr h="65836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Dedication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0.90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0.90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0.93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109.15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65836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Vigor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0.81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0.76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0.74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55.85</a:t>
                      </a:r>
                    </a:p>
                  </a:txBody>
                  <a:tcPr anchor="ctr"/>
                </a:tc>
              </a:tr>
              <a:tr h="65836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Absorption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0.87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0.89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0.99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83.55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65836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Dedication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0.76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0.77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0.75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44.83</a:t>
                      </a:r>
                    </a:p>
                  </a:txBody>
                  <a:tcPr anchor="ctr"/>
                </a:tc>
              </a:tr>
              <a:tr h="65836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Absorption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0.81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0.83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0.84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57.54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65844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Absorption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0.69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0.76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0.73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33.19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91440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Key Findings — EFA vs. CFA Comparison</a:t>
            </a:r>
          </a:p>
          <a:p>
            <a:pPr algn="l">
              <a:defRPr sz="1200">
                <a:solidFill>
                  <a:srgbClr val="C9A84C"/>
                </a:solidFill>
              </a:defRPr>
            </a:pPr>
            <a:r>
              <a:t>EFA supports 1-factor; CFA cannot confirm any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19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DCDCDC"/>
                </a:solidFill>
              </a:defRPr>
            </a:pPr>
            <a:r>
              <a:t>Introduction | EFA Mathematics | EFA Results | CFA Summary | Discussion | References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51967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C9A84C"/>
                </a:solidFill>
              </a:defRPr>
            </a:pPr>
            <a:r>
              <a:t>14/24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298448"/>
            <a:ext cx="3840480" cy="5074920"/>
          </a:xfrm>
          <a:prstGeom prst="roundRect">
            <a:avLst/>
          </a:prstGeom>
          <a:solidFill>
            <a:srgbClr val="DCF5F2"/>
          </a:solidFill>
          <a:ln w="1905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41732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A9D8F"/>
                </a:solidFill>
              </a:defRPr>
            </a:pPr>
            <a:r>
              <a:t>EFA Results</a:t>
            </a:r>
            <a:br/>
            <a:r>
              <a:t>(n = 341)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920240"/>
            <a:ext cx="3840480" cy="4572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2029968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323232"/>
                </a:solidFill>
              </a:defRPr>
            </a:pPr>
            <a:r>
              <a:t>  l1 explains &gt; 70% variance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651760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323232"/>
                </a:solidFill>
              </a:defRPr>
            </a:pPr>
            <a:r>
              <a:t>  KMO = 0.922 (Marvellous)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3273552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323232"/>
                </a:solidFill>
              </a:defRPr>
            </a:pPr>
            <a:r>
              <a:t>  All loadings L = 0.65-0.93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3895344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323232"/>
                </a:solidFill>
              </a:defRPr>
            </a:pPr>
            <a:r>
              <a:t>  4 of 5 retention tests: 1-factor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4517136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323232"/>
                </a:solidFill>
              </a:defRPr>
            </a:pPr>
            <a:r>
              <a:t>  MAP Test: 1-factor (both versions)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5138928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323232"/>
                </a:solidFill>
              </a:defRPr>
            </a:pPr>
            <a:r>
              <a:t>  3-factor: items misload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5760720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323232"/>
                </a:solidFill>
              </a:defRPr>
            </a:pPr>
            <a:r>
              <a:t>  Factor r = 0.79-0.83 (not distinct)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51959" y="1298448"/>
            <a:ext cx="3840480" cy="5074920"/>
          </a:xfrm>
          <a:prstGeom prst="roundRect">
            <a:avLst/>
          </a:prstGeom>
          <a:solidFill>
            <a:srgbClr val="FFF0E1"/>
          </a:solidFill>
          <a:ln w="19050">
            <a:solidFill>
              <a:srgbClr val="D35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19" y="141732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35400"/>
                </a:solidFill>
              </a:defRPr>
            </a:pPr>
            <a:r>
              <a:t>CFA Results</a:t>
            </a:r>
            <a:br/>
            <a:r>
              <a:t>(n = 342)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51959" y="1920240"/>
            <a:ext cx="3840480" cy="45720"/>
          </a:xfrm>
          <a:prstGeom prst="rect">
            <a:avLst/>
          </a:prstGeom>
          <a:solidFill>
            <a:srgbClr val="D3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19" y="2029968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323232"/>
                </a:solidFill>
              </a:defRPr>
            </a:pPr>
            <a:r>
              <a:t>  RMSEA: 0.167-0.192 (&gt; 0.08 = poor)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19" y="2651760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323232"/>
                </a:solidFill>
              </a:defRPr>
            </a:pPr>
            <a:r>
              <a:t>  CFI: 0.882-0.920 (&lt; 0.95 = poor)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19" y="3273552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323232"/>
                </a:solidFill>
              </a:defRPr>
            </a:pPr>
            <a:r>
              <a:t>  TLI: 0.837-0.880 (&lt; 0.95 = poor)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19" y="3895344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323232"/>
                </a:solidFill>
              </a:defRPr>
            </a:pPr>
            <a:r>
              <a:t>  SRMR: 0.046-0.065 (OK only one)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19" y="4517136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323232"/>
                </a:solidFill>
              </a:defRPr>
            </a:pPr>
            <a:r>
              <a:t>  AIC/BIC: 3-factor marginally better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19" y="5138928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323232"/>
                </a:solidFill>
              </a:defRPr>
            </a:pPr>
            <a:r>
              <a:t>  No model achieves good fit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0" y="1298448"/>
            <a:ext cx="3840480" cy="5074920"/>
          </a:xfrm>
          <a:prstGeom prst="roundRect">
            <a:avLst/>
          </a:prstGeom>
          <a:solidFill>
            <a:srgbClr val="F5E6FF"/>
          </a:solidFill>
          <a:ln w="19050">
            <a:solidFill>
              <a:srgbClr val="6B2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66760" y="141732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B2D7B"/>
                </a:solidFill>
              </a:defRPr>
            </a:pPr>
            <a:r>
              <a:t>Interpretation</a:t>
            </a:r>
            <a:br/>
            <a:r>
              <a:t>&amp; Implications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0" y="1920240"/>
            <a:ext cx="3840480" cy="45720"/>
          </a:xfrm>
          <a:prstGeom prst="rect">
            <a:avLst/>
          </a:prstGeom>
          <a:solidFill>
            <a:srgbClr val="6B2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66760" y="2029968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323232"/>
                </a:solidFill>
              </a:defRPr>
            </a:pPr>
            <a:r>
              <a:t>  1-factor scoring recommended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2651760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323232"/>
                </a:solidFill>
              </a:defRPr>
            </a:pPr>
            <a:r>
              <a:t>  for all-female samples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66760" y="3273552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323232"/>
                </a:solidFill>
              </a:defRPr>
            </a:pPr>
            <a:r>
              <a:t>  Standard 3-subscale scoring risky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66760" y="3895344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323232"/>
                </a:solidFill>
              </a:defRPr>
            </a:pPr>
            <a:r>
              <a:t>  Possible gender/culture effects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6760" y="4517136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323232"/>
                </a:solidFill>
              </a:defRPr>
            </a:pPr>
            <a:r>
              <a:t>  Instrument may need revision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66760" y="5138928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323232"/>
                </a:solidFill>
              </a:defRPr>
            </a:pPr>
            <a:r>
              <a:t>  Further research required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91440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Discussion — Why Did CFA Fail to Confirm the EFA Results?</a:t>
            </a:r>
          </a:p>
          <a:p>
            <a:pPr algn="l">
              <a:defRPr sz="1200">
                <a:solidFill>
                  <a:srgbClr val="C9A84C"/>
                </a:solidFill>
              </a:defRPr>
            </a:pPr>
            <a:r>
              <a:t>Four possible explanations for the EFA-CFA discrepancy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19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DCDCDC"/>
                </a:solidFill>
              </a:defRPr>
            </a:pPr>
            <a:r>
              <a:t>Introduction | EFA Mathematics | EFA Results | CFA Summary | Discussion | References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51967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C9A84C"/>
                </a:solidFill>
              </a:defRPr>
            </a:pPr>
            <a:r>
              <a:t>15/24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325880"/>
            <a:ext cx="109728" cy="109728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25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70C0"/>
                </a:solidFill>
              </a:defRPr>
            </a:pPr>
            <a:r>
              <a:t>1.  Gender Effects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09928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323232"/>
                </a:solidFill>
              </a:defRPr>
            </a:pPr>
            <a:r>
              <a:t>The all-female sample may experience work engagement differently from the mixed-gender (predominantly male) samples used in original UWES validation studies. Most prior studies used 60%+ male samples.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560320"/>
            <a:ext cx="109728" cy="109728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56032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9A84C"/>
                </a:solidFill>
              </a:defRPr>
            </a:pPr>
            <a:r>
              <a:t>2.  Cultural Context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944368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323232"/>
                </a:solidFill>
              </a:defRPr>
            </a:pPr>
            <a:r>
              <a:t>Swedish work culture strongly emphasizes egalitarianism and work-life balance. This cultural context may flatten distinctions between Vigor, Dedication, and Absorption, making the three dimensions appear as one.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794760"/>
            <a:ext cx="109728" cy="1097280"/>
          </a:xfrm>
          <a:prstGeom prst="rect">
            <a:avLst/>
          </a:prstGeom>
          <a:solidFill>
            <a:srgbClr val="D3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79476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35400"/>
                </a:solidFill>
              </a:defRPr>
            </a:pPr>
            <a:r>
              <a:t>3.  Instrument Overlap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178808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323232"/>
                </a:solidFill>
              </a:defRPr>
            </a:pPr>
            <a:r>
              <a:t>Inter-factor correlations of 0.79-0.84 indicate the 3 dimensions are nearly collinear. Shirom (2003) argued the UWES subscales were not theoretically deduced and overlap conceptually. This may be an instrument flaw, not a sample flaw.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5029200"/>
            <a:ext cx="109728" cy="10972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502920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7AE60"/>
                </a:solidFill>
              </a:defRPr>
            </a:pPr>
            <a:r>
              <a:t>4.  Sample Comparison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413248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323232"/>
                </a:solidFill>
              </a:defRPr>
            </a:pPr>
            <a:r>
              <a:t>Wefald et al. (2012): similar n=382, RMSEA=0.18 and 0.16 — almost identical to our 0.181 and 0.167. This suggests the poor CFA fit is not sample-specific but reflects a general instrument limitation.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6309360"/>
            <a:ext cx="11640312" cy="347472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4048" y="6364224"/>
            <a:ext cx="114208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The EFA-CFA discrepancy is unlikely to resolve with this dataset alone. Future research should apply Bifactor models and Multigroup CFA to test invariance across gender, nationality, and occupation.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91440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Ways to Improve the Methodology</a:t>
            </a:r>
          </a:p>
          <a:p>
            <a:pPr algn="l">
              <a:defRPr sz="1200">
                <a:solidFill>
                  <a:srgbClr val="C9A84C"/>
                </a:solidFill>
              </a:defRPr>
            </a:pPr>
            <a:r>
              <a:t>Proposed enhancements to address the study's limitations and unresolved EFA-CFA discrepancy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19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DCDCDC"/>
                </a:solidFill>
              </a:defRPr>
            </a:pPr>
            <a:r>
              <a:t>Introduction | EFA Mathematics | EFA Results | CFA Summary | Discussion | References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51967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C9A84C"/>
                </a:solidFill>
              </a:defRPr>
            </a:pPr>
            <a:r>
              <a:t>16/24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298448"/>
            <a:ext cx="5806440" cy="1600200"/>
          </a:xfrm>
          <a:prstGeom prst="roundRect">
            <a:avLst/>
          </a:prstGeom>
          <a:solidFill>
            <a:srgbClr val="DCE6FF"/>
          </a:solidFill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353312"/>
            <a:ext cx="5586984" cy="1490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2060"/>
                </a:solidFill>
              </a:defRPr>
            </a:pPr>
            <a:r>
              <a:t>1.  Bifactor Modeling</a:t>
            </a:r>
          </a:p>
          <a:p>
            <a:pPr>
              <a:defRPr sz="1000" b="0">
                <a:solidFill>
                  <a:srgbClr val="323232"/>
                </a:solidFill>
              </a:defRPr>
            </a:pPr>
            <a:r>
              <a:t>   Model a general Engagement factor AND 3 specific sub-factors simultaneously</a:t>
            </a:r>
          </a:p>
          <a:p>
            <a:pPr>
              <a:defRPr sz="1000" b="0">
                <a:solidFill>
                  <a:srgbClr val="323232"/>
                </a:solidFill>
              </a:defRPr>
            </a:pPr>
            <a:r>
              <a:t>   Separates general vs. subscale-specific variance (addresses the r=0.79-0.83 overlap)</a:t>
            </a:r>
          </a:p>
          <a:p>
            <a:pPr>
              <a:defRPr sz="1000" b="0">
                <a:solidFill>
                  <a:srgbClr val="323232"/>
                </a:solidFill>
              </a:defRPr>
            </a:pPr>
            <a:r>
              <a:t>   Tests whether subscales add incremental predictive validity beyond the general factor</a:t>
            </a:r>
          </a:p>
          <a:p>
            <a:pPr>
              <a:defRPr sz="1000" b="0">
                <a:solidFill>
                  <a:srgbClr val="323232"/>
                </a:solidFill>
              </a:defRPr>
            </a:pPr>
            <a:r>
              <a:t>   Would directly resolve the '1 factor vs. 3 factor' debate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2962656"/>
            <a:ext cx="5806440" cy="1600200"/>
          </a:xfrm>
          <a:prstGeom prst="roundRect">
            <a:avLst/>
          </a:prstGeom>
          <a:solidFill>
            <a:srgbClr val="DCF5F2"/>
          </a:solidFill>
          <a:ln w="1905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3017520"/>
            <a:ext cx="5586984" cy="1490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A9D8F"/>
                </a:solidFill>
              </a:defRPr>
            </a:pPr>
            <a:r>
              <a:t>2.  Multigroup CFA &amp; Measurement Invariance</a:t>
            </a:r>
          </a:p>
          <a:p>
            <a:pPr>
              <a:defRPr sz="1000" b="0">
                <a:solidFill>
                  <a:srgbClr val="323232"/>
                </a:solidFill>
              </a:defRPr>
            </a:pPr>
            <a:r>
              <a:t>   Test if the factor structure is the same across: Gender, Occupation, Nationality</a:t>
            </a:r>
          </a:p>
          <a:p>
            <a:pPr>
              <a:defRPr sz="1000" b="0">
                <a:solidFill>
                  <a:srgbClr val="323232"/>
                </a:solidFill>
              </a:defRPr>
            </a:pPr>
            <a:r>
              <a:t>   Configural (same structure), Metric (same loadings), Scalar (same intercepts) testing</a:t>
            </a:r>
          </a:p>
          <a:p>
            <a:pPr>
              <a:defRPr sz="1000" b="0">
                <a:solidFill>
                  <a:srgbClr val="323232"/>
                </a:solidFill>
              </a:defRPr>
            </a:pPr>
            <a:r>
              <a:t>   Would reveal whether poor fit is due to the instrument or this specific sample</a:t>
            </a:r>
          </a:p>
          <a:p>
            <a:pPr>
              <a:defRPr sz="1000" b="0">
                <a:solidFill>
                  <a:srgbClr val="323232"/>
                </a:solidFill>
              </a:defRPr>
            </a:pPr>
            <a:r>
              <a:t>   Requires multiple groups; collect matched male sample of similar n=700+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" y="4626864"/>
            <a:ext cx="5806440" cy="1600200"/>
          </a:xfrm>
          <a:prstGeom prst="roundRect">
            <a:avLst/>
          </a:prstGeom>
          <a:solidFill>
            <a:srgbClr val="F0E1FF"/>
          </a:solidFill>
          <a:ln w="19050">
            <a:solidFill>
              <a:srgbClr val="6B2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4681728"/>
            <a:ext cx="5586984" cy="1490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6B2D7B"/>
                </a:solidFill>
              </a:defRPr>
            </a:pPr>
            <a:r>
              <a:t>3.  Larger &amp; More Diverse Sample</a:t>
            </a:r>
          </a:p>
          <a:p>
            <a:pPr>
              <a:defRPr sz="1000" b="0">
                <a:solidFill>
                  <a:srgbClr val="323232"/>
                </a:solidFill>
              </a:defRPr>
            </a:pPr>
            <a:r>
              <a:t>   n=702 provides power but limited occupational &amp; age diversity (only 26-37)</a:t>
            </a:r>
          </a:p>
          <a:p>
            <a:pPr>
              <a:defRPr sz="1000" b="0">
                <a:solidFill>
                  <a:srgbClr val="323232"/>
                </a:solidFill>
              </a:defRPr>
            </a:pPr>
            <a:r>
              <a:t>   Expand age range and occupation types; include male comparison group</a:t>
            </a:r>
          </a:p>
          <a:p>
            <a:pPr>
              <a:defRPr sz="1000" b="0">
                <a:solidFill>
                  <a:srgbClr val="323232"/>
                </a:solidFill>
              </a:defRPr>
            </a:pPr>
            <a:r>
              <a:t>   Consider stratified sampling across multiple Swedish regions &amp; sectors</a:t>
            </a:r>
          </a:p>
          <a:p>
            <a:pPr>
              <a:defRPr sz="1000" b="0">
                <a:solidFill>
                  <a:srgbClr val="323232"/>
                </a:solidFill>
              </a:defRPr>
            </a:pPr>
            <a:r>
              <a:t>   Target n &gt;= 1,000 for stable CFA with modification indices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298448"/>
            <a:ext cx="5806440" cy="1600200"/>
          </a:xfrm>
          <a:prstGeom prst="roundRect">
            <a:avLst/>
          </a:prstGeom>
          <a:solidFill>
            <a:srgbClr val="FFF0DC"/>
          </a:solidFill>
          <a:ln w="19050">
            <a:solidFill>
              <a:srgbClr val="D35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3368" y="1353312"/>
            <a:ext cx="5586984" cy="1490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35400"/>
                </a:solidFill>
              </a:defRPr>
            </a:pPr>
            <a:r>
              <a:t>4.  Alternative Extraction Methods</a:t>
            </a:r>
          </a:p>
          <a:p>
            <a:pPr>
              <a:defRPr sz="1000" b="0">
                <a:solidFill>
                  <a:srgbClr val="323232"/>
                </a:solidFill>
              </a:defRPr>
            </a:pPr>
            <a:r>
              <a:t>   Principal Axis Factoring (PAF) alongside ML to check convergence of solutions</a:t>
            </a:r>
          </a:p>
          <a:p>
            <a:pPr>
              <a:defRPr sz="1000" b="0">
                <a:solidFill>
                  <a:srgbClr val="323232"/>
                </a:solidFill>
              </a:defRPr>
            </a:pPr>
            <a:r>
              <a:t>   Apply Unweighted Least Squares (ULS) which is more robust to non-normality</a:t>
            </a:r>
          </a:p>
          <a:p>
            <a:pPr>
              <a:defRPr sz="1000" b="0">
                <a:solidFill>
                  <a:srgbClr val="323232"/>
                </a:solidFill>
              </a:defRPr>
            </a:pPr>
            <a:r>
              <a:t>   Bootstrap confidence intervals for factor loadings to quantify uncertainty</a:t>
            </a:r>
          </a:p>
          <a:p>
            <a:pPr>
              <a:defRPr sz="1000" b="0">
                <a:solidFill>
                  <a:srgbClr val="323232"/>
                </a:solidFill>
              </a:defRPr>
            </a:pPr>
            <a:r>
              <a:t>   Conduct sensitivity analysis: compare EFA results with vs. without Item 9 (lowest loading)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962656"/>
            <a:ext cx="5806440" cy="1600200"/>
          </a:xfrm>
          <a:prstGeom prst="roundRect">
            <a:avLst/>
          </a:prstGeom>
          <a:solidFill>
            <a:srgbClr val="DCFFEB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73368" y="3017520"/>
            <a:ext cx="5586984" cy="1490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7AE60"/>
                </a:solidFill>
              </a:defRPr>
            </a:pPr>
            <a:r>
              <a:t>5.  Improved Instrument Design</a:t>
            </a:r>
          </a:p>
          <a:p>
            <a:pPr>
              <a:defRPr sz="1000" b="0">
                <a:solidFill>
                  <a:srgbClr val="323232"/>
                </a:solidFill>
              </a:defRPr>
            </a:pPr>
            <a:r>
              <a:t>   Develop gender-specific UWES items validated on all-female samples</a:t>
            </a:r>
          </a:p>
          <a:p>
            <a:pPr>
              <a:defRPr sz="1000" b="0">
                <a:solidFill>
                  <a:srgbClr val="323232"/>
                </a:solidFill>
              </a:defRPr>
            </a:pPr>
            <a:r>
              <a:t>   Test shorter UWES-3 (1 item per subscale) which may reduce collinearity</a:t>
            </a:r>
          </a:p>
          <a:p>
            <a:pPr>
              <a:defRPr sz="1000" b="0">
                <a:solidFill>
                  <a:srgbClr val="323232"/>
                </a:solidFill>
              </a:defRPr>
            </a:pPr>
            <a:r>
              <a:t>   Add balance items or reverse-scored items to reduce acquiescence bias</a:t>
            </a:r>
          </a:p>
          <a:p>
            <a:pPr>
              <a:defRPr sz="1000" b="0">
                <a:solidFill>
                  <a:srgbClr val="323232"/>
                </a:solidFill>
              </a:defRPr>
            </a:pPr>
            <a:r>
              <a:t>   Conduct cognitive interviews to verify item interpretation across genders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4626864"/>
            <a:ext cx="5806440" cy="1600200"/>
          </a:xfrm>
          <a:prstGeom prst="roundRect">
            <a:avLst/>
          </a:prstGeom>
          <a:solidFill>
            <a:srgbClr val="FFF3C8"/>
          </a:solidFill>
          <a:ln w="1905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4681728"/>
            <a:ext cx="5586984" cy="1490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C9A84C"/>
                </a:solidFill>
              </a:defRPr>
            </a:pPr>
            <a:r>
              <a:t>6.  Longitudinal &amp; Cross-Cultural Replication</a:t>
            </a:r>
          </a:p>
          <a:p>
            <a:pPr>
              <a:defRPr sz="1000" b="0">
                <a:solidFill>
                  <a:srgbClr val="323232"/>
                </a:solidFill>
              </a:defRPr>
            </a:pPr>
            <a:r>
              <a:t>   Replicate in Norwegian and Finnish female samples to test cultural generalizability</a:t>
            </a:r>
          </a:p>
          <a:p>
            <a:pPr>
              <a:defRPr sz="1000" b="0">
                <a:solidFill>
                  <a:srgbClr val="323232"/>
                </a:solidFill>
              </a:defRPr>
            </a:pPr>
            <a:r>
              <a:t>   Add time-points (test-retest reliability) to assess stability of factor structure</a:t>
            </a:r>
          </a:p>
          <a:p>
            <a:pPr>
              <a:defRPr sz="1000" b="0">
                <a:solidFill>
                  <a:srgbClr val="323232"/>
                </a:solidFill>
              </a:defRPr>
            </a:pPr>
            <a:r>
              <a:t>   Compare occupational groups separately (healthcare vs. education vs. IT)</a:t>
            </a:r>
          </a:p>
          <a:p>
            <a:pPr>
              <a:defRPr sz="1000" b="0">
                <a:solidFill>
                  <a:srgbClr val="323232"/>
                </a:solidFill>
              </a:defRPr>
            </a:pPr>
            <a:r>
              <a:t>   Apply IRT (Item Response Theory) to supplement classical factor analysis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91440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Conclusion</a:t>
            </a:r>
          </a:p>
          <a:p>
            <a:pPr algn="l">
              <a:defRPr sz="1200">
                <a:solidFill>
                  <a:srgbClr val="C9A84C"/>
                </a:solidFill>
              </a:defRPr>
            </a:pPr>
            <a:r>
              <a:t>EFA &amp; CFA Summary | Key Takeaway | Future Directions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19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DCDCDC"/>
                </a:solidFill>
              </a:defRPr>
            </a:pPr>
            <a:r>
              <a:t>Introduction | EFA Mathematics | EFA Results | CFA Summary | Discussion | References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51967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C9A84C"/>
                </a:solidFill>
              </a:defRPr>
            </a:pPr>
            <a:r>
              <a:t>17/24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298448"/>
            <a:ext cx="5806440" cy="3108960"/>
          </a:xfrm>
          <a:prstGeom prst="roundRect">
            <a:avLst/>
          </a:prstGeom>
          <a:solidFill>
            <a:srgbClr val="E6F0FF"/>
          </a:solidFill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353312"/>
            <a:ext cx="5586984" cy="2999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2060"/>
                </a:solidFill>
              </a:defRPr>
            </a:pPr>
            <a:r>
              <a:t>EFA Findings (n = 341)</a:t>
            </a:r>
          </a:p>
          <a:p>
            <a:pPr>
              <a:defRPr sz="500"/>
            </a:pPr>
          </a:p>
          <a:p>
            <a:pPr>
              <a:defRPr sz="1100" b="0">
                <a:solidFill>
                  <a:srgbClr val="323232"/>
                </a:solidFill>
              </a:defRPr>
            </a:pPr>
            <a:r>
              <a:t>  KMO = 0.922 (Marvellous)</a:t>
            </a:r>
          </a:p>
          <a:p>
            <a:pPr>
              <a:defRPr sz="1100" b="0">
                <a:solidFill>
                  <a:srgbClr val="323232"/>
                </a:solidFill>
              </a:defRPr>
            </a:pPr>
            <a:r>
              <a:t>  l1 explains &gt; 70% of variance</a:t>
            </a:r>
          </a:p>
          <a:p>
            <a:pPr>
              <a:defRPr sz="1100" b="0">
                <a:solidFill>
                  <a:srgbClr val="323232"/>
                </a:solidFill>
              </a:defRPr>
            </a:pPr>
            <a:r>
              <a:t>  All loadings L = 0.65 to 0.90</a:t>
            </a:r>
          </a:p>
          <a:p>
            <a:pPr>
              <a:defRPr sz="1100" b="0">
                <a:solidFill>
                  <a:srgbClr val="323232"/>
                </a:solidFill>
              </a:defRPr>
            </a:pPr>
            <a:r>
              <a:t>  4 of 5 retention tests: 1-factor</a:t>
            </a:r>
          </a:p>
          <a:p>
            <a:pPr>
              <a:defRPr sz="1100" b="0">
                <a:solidFill>
                  <a:srgbClr val="323232"/>
                </a:solidFill>
              </a:defRPr>
            </a:pPr>
            <a:r>
              <a:t>  3-factor Promax: items misload</a:t>
            </a:r>
          </a:p>
          <a:p>
            <a:pPr>
              <a:defRPr sz="1100" b="0">
                <a:solidFill>
                  <a:srgbClr val="323232"/>
                </a:solidFill>
              </a:defRPr>
            </a:pPr>
            <a:r>
              <a:t>  Factor r = 0.79-0.83 (not distinct)</a:t>
            </a:r>
          </a:p>
          <a:p>
            <a:pPr>
              <a:defRPr sz="1200" b="1">
                <a:solidFill>
                  <a:srgbClr val="27AE60"/>
                </a:solidFill>
              </a:defRPr>
            </a:pPr>
            <a:r>
              <a:t>  -&gt; Single Work Engagement factor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82512" y="1298448"/>
            <a:ext cx="5532120" cy="3108960"/>
          </a:xfrm>
          <a:prstGeom prst="roundRect">
            <a:avLst/>
          </a:prstGeom>
          <a:solidFill>
            <a:srgbClr val="FFF0F0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353312"/>
            <a:ext cx="5312664" cy="2999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C0392B"/>
                </a:solidFill>
              </a:defRPr>
            </a:pPr>
            <a:r>
              <a:t>CFA Results (n = 342)</a:t>
            </a:r>
          </a:p>
          <a:p>
            <a:pPr>
              <a:defRPr sz="500"/>
            </a:pPr>
          </a:p>
          <a:p>
            <a:pPr>
              <a:defRPr sz="1100" b="0">
                <a:solidFill>
                  <a:srgbClr val="323232"/>
                </a:solidFill>
              </a:defRPr>
            </a:pPr>
            <a:r>
              <a:t>  Model 1 (1F): RMSEA=0.181, CFI=0.895</a:t>
            </a:r>
          </a:p>
          <a:p>
            <a:pPr>
              <a:defRPr sz="1100" b="0">
                <a:solidFill>
                  <a:srgbClr val="323232"/>
                </a:solidFill>
              </a:defRPr>
            </a:pPr>
            <a:r>
              <a:t>  Model 2 (2F): RMSEA=0.192, CFI=0.882</a:t>
            </a:r>
          </a:p>
          <a:p>
            <a:pPr>
              <a:defRPr sz="1100" b="0">
                <a:solidFill>
                  <a:srgbClr val="323232"/>
                </a:solidFill>
              </a:defRPr>
            </a:pPr>
            <a:r>
              <a:t>  Model 3 (3F): RMSEA=0.167, CFI=0.920</a:t>
            </a:r>
          </a:p>
          <a:p>
            <a:pPr>
              <a:defRPr sz="1100" b="0">
                <a:solidFill>
                  <a:srgbClr val="323232"/>
                </a:solidFill>
              </a:defRPr>
            </a:pPr>
            <a:r>
              <a:t>  CFI/TLI all below 0.95 threshold</a:t>
            </a:r>
          </a:p>
          <a:p>
            <a:pPr>
              <a:defRPr sz="1100" b="0">
                <a:solidFill>
                  <a:srgbClr val="323232"/>
                </a:solidFill>
              </a:defRPr>
            </a:pPr>
            <a:r>
              <a:t>  Only SRMR (0.046-0.065) passed</a:t>
            </a:r>
          </a:p>
          <a:p>
            <a:pPr>
              <a:defRPr sz="1200" b="1">
                <a:solidFill>
                  <a:srgbClr val="C0392B"/>
                </a:solidFill>
              </a:defRPr>
            </a:pPr>
            <a:r>
              <a:t>  -&gt; No model confirmed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" y="4526280"/>
            <a:ext cx="11640312" cy="822960"/>
          </a:xfrm>
          <a:prstGeom prst="roundRect">
            <a:avLst/>
          </a:prstGeom>
          <a:solidFill>
            <a:srgbClr val="FFF3C8"/>
          </a:solidFill>
          <a:ln w="1905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4581144"/>
            <a:ext cx="113659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2060"/>
                </a:solidFill>
              </a:defRPr>
            </a:pPr>
            <a:r>
              <a:t>Key Takeaway:</a:t>
            </a:r>
          </a:p>
          <a:p>
            <a:pPr>
              <a:defRPr sz="1100" b="0">
                <a:solidFill>
                  <a:srgbClr val="323232"/>
                </a:solidFill>
              </a:defRPr>
            </a:pPr>
            <a:r>
              <a:t>The optimal factor structure of the UWES-9 remains UNRESOLVED. For all-female samples, total score (1-factor) may be more reliable than 3-subscale scoring. Gender-specific validation and Bifactor modeling are the recommended next steps.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5486400"/>
            <a:ext cx="11640312" cy="868680"/>
          </a:xfrm>
          <a:prstGeom prst="roundRect">
            <a:avLst/>
          </a:prstGeom>
          <a:solidFill>
            <a:srgbClr val="E6FFE6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5541264"/>
            <a:ext cx="11365992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2060"/>
                </a:solidFill>
              </a:defRPr>
            </a:pPr>
            <a:r>
              <a:t>Future Directions:</a:t>
            </a:r>
          </a:p>
          <a:p>
            <a:pPr>
              <a:defRPr sz="1100" b="0">
                <a:solidFill>
                  <a:srgbClr val="323232"/>
                </a:solidFill>
              </a:defRPr>
            </a:pPr>
            <a:r>
              <a:t>  Test UWES-9 in larger all-female samples across cultures  |  Develop gender-specific engagement instruments  |  Apply Bifactor models  |  Test UWES-3  |  Multigroup CFA for invariance testing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91440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All Factor Analysis Methods Applied — Summary Table</a:t>
            </a:r>
          </a:p>
          <a:p>
            <a:pPr algn="l">
              <a:defRPr sz="1200">
                <a:solidFill>
                  <a:srgbClr val="C9A84C"/>
                </a:solidFill>
              </a:defRPr>
            </a:pPr>
            <a:r>
              <a:t>Complete overview of every EFA &amp; CFA technique used in this study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19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DCDCDC"/>
                </a:solidFill>
              </a:defRPr>
            </a:pPr>
            <a:r>
              <a:t>Introduction | EFA Mathematics | EFA Results | CFA Summary | Discussion | References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51967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C9A84C"/>
                </a:solidFill>
              </a:defRPr>
            </a:pPr>
            <a:r>
              <a:t>18/24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20" y="1298448"/>
          <a:ext cx="9811512" cy="5074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3657600"/>
                <a:gridCol w="2743200"/>
                <a:gridCol w="1673352"/>
              </a:tblGrid>
              <a:tr h="362494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Method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Mathematical Purpose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Result (UWES-9)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Phase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</a:tr>
              <a:tr h="362494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KMO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KMO = SUM(r^2) / [SUM(r^2) + SUM(q^2)]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0.922 (Marvellous)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EFA Pre-check</a:t>
                      </a:r>
                    </a:p>
                  </a:txBody>
                  <a:tcPr anchor="ctr">
                    <a:solidFill>
                      <a:srgbClr val="D6EAF8"/>
                    </a:solidFill>
                  </a:tcPr>
                </a:tc>
              </a:tr>
              <a:tr h="362494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Bartlett's Test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chi^2 = -[(n-1)-(2p+5)/6]*ln|R|,  df=p(p-1)/2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p &lt; 0.001, Reject H0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EFA Pre-check</a:t>
                      </a:r>
                    </a:p>
                  </a:txBody>
                  <a:tcPr anchor="ctr">
                    <a:solidFill>
                      <a:srgbClr val="F5F5F5"/>
                    </a:solidFill>
                    <a:solidFill>
                      <a:srgbClr val="D6EAF8"/>
                    </a:solidFill>
                  </a:tcPr>
                </a:tc>
              </a:tr>
              <a:tr h="362494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ML Extraction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Minimize F_ML = ln|Sigma| - ln|R| + tr(R*S^-1)-p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chi^2=332.43, df=27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EFA Core</a:t>
                      </a:r>
                    </a:p>
                  </a:txBody>
                  <a:tcPr anchor="ctr">
                    <a:solidFill>
                      <a:srgbClr val="C8FFDC"/>
                    </a:solidFill>
                  </a:tcPr>
                </a:tc>
              </a:tr>
              <a:tr h="362494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Eigenvalue Decomp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R = V L V',  l_i = variance explained by factor 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l1=6.38 = 70.9%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EFA Math</a:t>
                      </a:r>
                    </a:p>
                  </a:txBody>
                  <a:tcPr anchor="ctr">
                    <a:solidFill>
                      <a:srgbClr val="F5F5F5"/>
                    </a:solidFill>
                    <a:solidFill>
                      <a:srgbClr val="C8FFDC"/>
                    </a:solidFill>
                  </a:tcPr>
                </a:tc>
              </a:tr>
              <a:tr h="362494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Scree Plot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Visual inspection of l_i vs. i; find 'elbow'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Elbow at factor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EFA Retention</a:t>
                      </a:r>
                    </a:p>
                  </a:txBody>
                  <a:tcPr anchor="ctr">
                    <a:solidFill>
                      <a:srgbClr val="C8FFDC"/>
                    </a:solidFill>
                  </a:tcPr>
                </a:tc>
              </a:tr>
              <a:tr h="362494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Velicer MAP (orig)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MAP = SUM(r_ij^partial^2) / p(p-1)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Minimized at m=1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EFA Retention</a:t>
                      </a:r>
                    </a:p>
                  </a:txBody>
                  <a:tcPr anchor="ctr">
                    <a:solidFill>
                      <a:srgbClr val="F5F5F5"/>
                    </a:solidFill>
                    <a:solidFill>
                      <a:srgbClr val="C8FFDC"/>
                    </a:solidFill>
                  </a:tcPr>
                </a:tc>
              </a:tr>
              <a:tr h="362494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Velicer MAP (rev.)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Uses 4th-power partial correlations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Minimized at m=1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EFA Retention</a:t>
                      </a:r>
                    </a:p>
                  </a:txBody>
                  <a:tcPr anchor="ctr">
                    <a:solidFill>
                      <a:srgbClr val="C8FFDC"/>
                    </a:solidFill>
                  </a:tcPr>
                </a:tc>
              </a:tr>
              <a:tr h="362494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Parallel Analysis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Compare l_i vs. 95th%ile from random data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Suggests 4F (over-factor)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EFA Retention</a:t>
                      </a:r>
                    </a:p>
                  </a:txBody>
                  <a:tcPr anchor="ctr">
                    <a:solidFill>
                      <a:srgbClr val="F5F5F5"/>
                    </a:solidFill>
                    <a:solidFill>
                      <a:srgbClr val="C8FFDC"/>
                    </a:solidFill>
                  </a:tcPr>
                </a:tc>
              </a:tr>
              <a:tr h="362494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Promax Rotation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L* = LT, raise to power k=3; allow factor corr.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Items misload; r=0.79-0.83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EFA Rotation</a:t>
                      </a:r>
                    </a:p>
                  </a:txBody>
                  <a:tcPr anchor="ctr">
                    <a:solidFill>
                      <a:srgbClr val="FDEBD0"/>
                    </a:solidFill>
                  </a:tcPr>
                </a:tc>
              </a:tr>
              <a:tr h="362494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CFA 1-Factor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Sigma-hat = LL'+Psi, test vs. R via fit indices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RMSEA=0.181 (poor)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CFA</a:t>
                      </a:r>
                    </a:p>
                  </a:txBody>
                  <a:tcPr anchor="ctr">
                    <a:solidFill>
                      <a:srgbClr val="F5F5F5"/>
                    </a:solidFill>
                    <a:solidFill>
                      <a:srgbClr val="FFC8C8"/>
                    </a:solidFill>
                  </a:tcPr>
                </a:tc>
              </a:tr>
              <a:tr h="362494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CFA 2-Factor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Same ML framework with 2 correlated factors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RMSEA=0.192 (poor)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CFA</a:t>
                      </a:r>
                    </a:p>
                  </a:txBody>
                  <a:tcPr anchor="ctr">
                    <a:solidFill>
                      <a:srgbClr val="FFC8C8"/>
                    </a:solidFill>
                  </a:tcPr>
                </a:tc>
              </a:tr>
              <a:tr h="362494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CFA 3-Factor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Same ML framework with 3 correlated factors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RMSEA=0.167 (poor)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CFA</a:t>
                      </a:r>
                    </a:p>
                  </a:txBody>
                  <a:tcPr anchor="ctr">
                    <a:solidFill>
                      <a:srgbClr val="F5F5F5"/>
                    </a:solidFill>
                    <a:solidFill>
                      <a:srgbClr val="FFC8C8"/>
                    </a:solidFill>
                  </a:tcPr>
                </a:tc>
              </a:tr>
              <a:tr h="362498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Cronbach's Alpha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a = (p/(p-1)) * (1 - SUM(s^2_i)/s^2_total)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a = 0.947 (Excellent)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Reliability</a:t>
                      </a:r>
                    </a:p>
                  </a:txBody>
                  <a:tcPr anchor="ctr">
                    <a:solidFill>
                      <a:srgbClr val="F5DC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91440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References — Primary &amp; Key Supporting Studies</a:t>
            </a:r>
          </a:p>
          <a:p>
            <a:pPr algn="l">
              <a:defRPr sz="1200">
                <a:solidFill>
                  <a:srgbClr val="C9A84C"/>
                </a:solidFill>
              </a:defRPr>
            </a:pPr>
            <a:r>
              <a:t>All sources with full DOI links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19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DCDCDC"/>
                </a:solidFill>
              </a:defRPr>
            </a:pPr>
            <a:r>
              <a:t>Introduction | EFA Mathematics | EFA Results | CFA Summary | Discussion | References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51967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C9A84C"/>
                </a:solidFill>
              </a:defRPr>
            </a:pPr>
            <a:r>
              <a:t>19/24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298448"/>
            <a:ext cx="11640312" cy="640080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353312"/>
            <a:ext cx="1136599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9A84C"/>
                </a:solidFill>
              </a:defRPr>
            </a:pPr>
            <a:r>
              <a:t>PRIMARY STUDY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29968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23232"/>
                </a:solidFill>
              </a:defRPr>
            </a:pPr>
            <a:r>
              <a:t>Willmer, M., Westerberg Jacobson, J. &amp; Lindberg, M. (2019). Exploratory and Confirmatory Factor Analysis of the 9-Item Utrecht Work Engagement Scale in a Multi-Occupational Female Sample: A Cross-Sectional Study.</a:t>
            </a:r>
          </a:p>
          <a:p>
            <a:pPr>
              <a:defRPr sz="1100" b="0">
                <a:solidFill>
                  <a:srgbClr val="0070C0"/>
                </a:solidFill>
              </a:defRPr>
            </a:pPr>
            <a:r>
              <a:t>Frontiers in Psychology, 10, Article 2771.  https://doi.org/10.3389/fpsyg.2019.02771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944368"/>
            <a:ext cx="11640312" cy="502920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2999232"/>
            <a:ext cx="1136599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C9A84C"/>
                </a:solidFill>
              </a:defRPr>
            </a:pPr>
            <a:r>
              <a:t>SUPPORTING REFERENCES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56616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23232"/>
                </a:solidFill>
              </a:defRPr>
            </a:pPr>
            <a:r>
              <a:t>Schaufeli, W.B., Salanova, M., Gonzalez-Roma, V. &amp; Bakker, A.B. (2002). The measurement of engagement and burnout: A two sample confirmatory factor analytic approach. Journal of Happiness Studies, 3(1), 71-92.</a:t>
            </a:r>
          </a:p>
          <a:p>
            <a:pPr>
              <a:defRPr sz="1000" b="0">
                <a:solidFill>
                  <a:srgbClr val="0070C0"/>
                </a:solidFill>
              </a:defRPr>
            </a:pPr>
            <a:r>
              <a:t>https://doi.org/10.1023/A:1015630930326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16052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23232"/>
                </a:solidFill>
              </a:defRPr>
            </a:pPr>
            <a:r>
              <a:t>Hallberg, U.E. &amp; Schaufeli, W.B. (2006). "Same same" but different? Can work engagement be discriminated from job involvement and organizational commitment? European Psychologist, 11(2), 119-127.</a:t>
            </a:r>
          </a:p>
          <a:p>
            <a:pPr>
              <a:defRPr sz="1000" b="0">
                <a:solidFill>
                  <a:srgbClr val="0070C0"/>
                </a:solidFill>
              </a:defRPr>
            </a:pPr>
            <a:r>
              <a:t>https://doi.org/10.1027/1016-9040.11.2.119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75488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23232"/>
                </a:solidFill>
              </a:defRPr>
            </a:pPr>
            <a:r>
              <a:t>Nerstad, C.G.L., Richardsen, A.M. &amp; Martinussen, M. (2010). Factorial validity of the Utrecht Work Engagement Scale (UWES) across occupational groups in Norway. Scandinavian Journal of Psychology, 51(4), 326-333.</a:t>
            </a:r>
          </a:p>
          <a:p>
            <a:pPr>
              <a:defRPr sz="1000" b="0">
                <a:solidFill>
                  <a:srgbClr val="0070C0"/>
                </a:solidFill>
              </a:defRPr>
            </a:pPr>
            <a:r>
              <a:t>https://doi.org/10.1111/j.1467-9450.2009.00770.x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34924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23232"/>
                </a:solidFill>
              </a:defRPr>
            </a:pPr>
            <a:r>
              <a:t>Seppala, P., Mauno, S., Feldt, T. et al. (2009). The construct validity of the Utrecht Work Engagement Scale: Multisample and longitudinal evidence. Journal of Happiness Studies, 10(4), 459-481.</a:t>
            </a:r>
          </a:p>
          <a:p>
            <a:pPr>
              <a:defRPr sz="1000" b="0">
                <a:solidFill>
                  <a:srgbClr val="0070C0"/>
                </a:solidFill>
              </a:defRPr>
            </a:pPr>
            <a:r>
              <a:t>https://doi.org/10.1007/s10902-008-9100-y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94360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23232"/>
                </a:solidFill>
              </a:defRPr>
            </a:pPr>
            <a:r>
              <a:t>Kulikowski, K. (2017). Do we all agree on how to measure work engagement? Factorial validity of UWES-9 and UWES-17. Polish Psychological Bulletin, 48(3), 350-360.</a:t>
            </a:r>
          </a:p>
          <a:p>
            <a:pPr>
              <a:defRPr sz="1000" b="0">
                <a:solidFill>
                  <a:srgbClr val="0070C0"/>
                </a:solidFill>
              </a:defRPr>
            </a:pPr>
            <a:r>
              <a:t>https://doi.org/10.1515/ppb-2017-0038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91440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References — Methodological Sources</a:t>
            </a:r>
          </a:p>
          <a:p>
            <a:pPr algn="l">
              <a:defRPr sz="1200">
                <a:solidFill>
                  <a:srgbClr val="C9A84C"/>
                </a:solidFill>
              </a:defRPr>
            </a:pPr>
            <a:r>
              <a:t>Factor analysis methods, instruments, and comparative studies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19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DCDCDC"/>
                </a:solidFill>
              </a:defRPr>
            </a:pPr>
            <a:r>
              <a:t>Introduction | EFA Mathematics | EFA Results | CFA Summary | Discussion | References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51967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C9A84C"/>
                </a:solidFill>
              </a:defRPr>
            </a:pPr>
            <a:r>
              <a:t>20/24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298448"/>
            <a:ext cx="11640312" cy="502920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353312"/>
            <a:ext cx="1136599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C9A84C"/>
                </a:solidFill>
              </a:defRPr>
            </a:pPr>
            <a:r>
              <a:t>METHODOLOGICAL &amp; COMPARATIVE REFERENCES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2024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23232"/>
                </a:solidFill>
              </a:defRPr>
            </a:pPr>
            <a:r>
              <a:t>Hair, J.F., Black, W.C., Babin, B.J. &amp; Anderson, R.E. (2019). Multivariate Data Analysis (8th Ed.). Cengage Learning.</a:t>
            </a:r>
          </a:p>
          <a:p>
            <a:pPr>
              <a:defRPr sz="1000" b="0">
                <a:solidFill>
                  <a:srgbClr val="0070C0"/>
                </a:solidFill>
              </a:defRPr>
            </a:pPr>
            <a:r>
              <a:t>ISBN: 978-1473756540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46888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23232"/>
                </a:solidFill>
              </a:defRPr>
            </a:pPr>
            <a:r>
              <a:t>Kaiser, H.F. (1974). An index of factorial simplicity. Psychometrika, 39(1), 31-36.</a:t>
            </a:r>
          </a:p>
          <a:p>
            <a:pPr>
              <a:defRPr sz="1000" b="0">
                <a:solidFill>
                  <a:srgbClr val="0070C0"/>
                </a:solidFill>
              </a:defRPr>
            </a:pPr>
            <a:r>
              <a:t>https://doi.org/10.1007/BF02291575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01752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23232"/>
                </a:solidFill>
              </a:defRPr>
            </a:pPr>
            <a:r>
              <a:t>Velicer, W.F. (1976). Determining the number of components from the matrix of partial correlations. Psychometrika, 41(3), 321-327.</a:t>
            </a:r>
          </a:p>
          <a:p>
            <a:pPr>
              <a:defRPr sz="1000" b="0">
                <a:solidFill>
                  <a:srgbClr val="0070C0"/>
                </a:solidFill>
              </a:defRPr>
            </a:pPr>
            <a:r>
              <a:t>https://doi.org/10.1007/BF02293557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56616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23232"/>
                </a:solidFill>
              </a:defRPr>
            </a:pPr>
            <a:r>
              <a:t>Horn, J.L. (1965). A rationale and test for the number of factors in factor analysis. Psychometrika, 30(2), 179-185.</a:t>
            </a:r>
          </a:p>
          <a:p>
            <a:pPr>
              <a:defRPr sz="1000" b="0">
                <a:solidFill>
                  <a:srgbClr val="0070C0"/>
                </a:solidFill>
              </a:defRPr>
            </a:pPr>
            <a:r>
              <a:t>https://doi.org/10.1007/BF02289447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11480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23232"/>
                </a:solidFill>
              </a:defRPr>
            </a:pPr>
            <a:r>
              <a:t>Shirom, A. (2003). Feeling vigorous at work? The construct of vigor and the study of positive affect in organizations. Research in Organizational Stress and Well-Being, 3, 135-164.</a:t>
            </a:r>
          </a:p>
          <a:p>
            <a:pPr>
              <a:defRPr sz="1000" b="0">
                <a:solidFill>
                  <a:srgbClr val="0070C0"/>
                </a:solidFill>
              </a:defRPr>
            </a:pPr>
            <a:r>
              <a:t>https://doi.org/10.1016/S1479-3555(03)03004-X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66344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23232"/>
                </a:solidFill>
              </a:defRPr>
            </a:pPr>
            <a:r>
              <a:t>Wefald, A.J., Reichard, R.J. &amp; Serrano, S.A. (2011). Fitting engagement into a nomological network: The relationship of engagement to leadership and personality. Journal of Leadership &amp; Organizational Studies, 18(4), 522-537.</a:t>
            </a:r>
          </a:p>
          <a:p>
            <a:pPr>
              <a:defRPr sz="1000" b="0">
                <a:solidFill>
                  <a:srgbClr val="0070C0"/>
                </a:solidFill>
              </a:defRPr>
            </a:pPr>
            <a:r>
              <a:t>https://doi.org/10.1177/1548051811404890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21208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23232"/>
                </a:solidFill>
              </a:defRPr>
            </a:pPr>
            <a:r>
              <a:t>Cattell, R.B. (1966). The scree test for the number of factors. Multivariate Behavioral Research, 1(2), 245-276.</a:t>
            </a:r>
          </a:p>
          <a:p>
            <a:pPr>
              <a:defRPr sz="1000" b="0">
                <a:solidFill>
                  <a:srgbClr val="0070C0"/>
                </a:solidFill>
              </a:defRPr>
            </a:pPr>
            <a:r>
              <a:t>https://doi.org/10.1207/s15327906mbr0102_10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76072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23232"/>
                </a:solidFill>
              </a:defRPr>
            </a:pPr>
            <a:r>
              <a:t>Hu, L. &amp; Bentler, P.M. (1999). Cutoff criteria for fit indexes in covariance structure analysis. Structural Equation Modeling, 6(1), 1-55.</a:t>
            </a:r>
          </a:p>
          <a:p>
            <a:pPr>
              <a:defRPr sz="1000" b="0">
                <a:solidFill>
                  <a:srgbClr val="0070C0"/>
                </a:solidFill>
              </a:defRPr>
            </a:pPr>
            <a:r>
              <a:t>https://doi.org/10.1080/10705519909540118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00400"/>
            <a:ext cx="12188952" cy="7315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127455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Thank You</a:t>
            </a:r>
          </a:p>
          <a:p>
            <a:pPr>
              <a:defRPr sz="2200" b="0">
                <a:solidFill>
                  <a:srgbClr val="C9A84C"/>
                </a:solidFill>
              </a:defRPr>
            </a:pPr>
            <a:r>
              <a:t>Questions &amp; Discussion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3749039"/>
            <a:ext cx="8531352" cy="2560320"/>
          </a:xfrm>
          <a:prstGeom prst="roundRect">
            <a:avLst/>
          </a:prstGeom>
          <a:solidFill>
            <a:srgbClr val="002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0" y="3886200"/>
            <a:ext cx="798271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Lana Jalal Gidan</a:t>
            </a:r>
          </a:p>
          <a:p>
            <a:pPr>
              <a:defRPr sz="1300" b="0">
                <a:solidFill>
                  <a:srgbClr val="DCDCDC"/>
                </a:solidFill>
              </a:defRPr>
            </a:pPr>
            <a:r>
              <a:t>SSIE-605: Applied Multivariate Data Analysis</a:t>
            </a:r>
          </a:p>
          <a:p>
            <a:pPr>
              <a:defRPr sz="1200" b="0">
                <a:solidFill>
                  <a:srgbClr val="DCDCDC"/>
                </a:solidFill>
              </a:defRPr>
            </a:pPr>
            <a:r>
              <a:t>Professor Susan Lu  |  Watson College of Engineering  |  Binghamton University</a:t>
            </a:r>
          </a:p>
          <a:p>
            <a:pPr>
              <a:defRPr sz="500"/>
            </a:pPr>
          </a:p>
          <a:p>
            <a:pPr>
              <a:defRPr sz="1100" b="1">
                <a:solidFill>
                  <a:srgbClr val="C9A84C"/>
                </a:solidFill>
              </a:defRPr>
            </a:pPr>
            <a:r>
              <a:t>Primary Study: Willmer et al. (2019) — Frontiers in Psychology</a:t>
            </a:r>
          </a:p>
          <a:p>
            <a:pPr>
              <a:defRPr sz="1100" b="0">
                <a:solidFill>
                  <a:srgbClr val="96C8FF"/>
                </a:solidFill>
              </a:defRPr>
            </a:pPr>
            <a:r>
              <a:t>https://doi.org/10.3389/fpsyg.2019.02771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19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DCDCDC"/>
                </a:solidFill>
              </a:defRPr>
            </a:pPr>
            <a:r>
              <a:t>Introduction | EFA Mathematics | EFA Results | CFA Summary | Discussion | References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51967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C9A84C"/>
                </a:solidFill>
              </a:defRPr>
            </a:pPr>
            <a:r>
              <a:t>24/24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