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62495"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4389120" cy="365760"/>
          </a:xfrm>
          <a:prstGeom prst="rect">
            <a:avLst/>
          </a:prstGeom>
          <a:noFill/>
        </p:spPr>
        <p:txBody>
          <a:bodyPr wrap="square">
            <a:spAutoFit/>
          </a:bodyPr>
          <a:lstStyle/>
          <a:p>
            <a:pPr algn="l"/>
            <a:r>
              <a:rPr sz="1200" b="1" i="0">
                <a:solidFill>
                  <a:srgbClr val="D4AF37"/>
                </a:solidFill>
              </a:rPr>
              <a:t>SSIE 605 · Binghamton University</a:t>
            </a:r>
          </a:p>
        </p:txBody>
      </p:sp>
      <p:sp>
        <p:nvSpPr>
          <p:cNvPr id="6" name="TextBox 5"/>
          <p:cNvSpPr txBox="1"/>
          <p:nvPr/>
        </p:nvSpPr>
        <p:spPr>
          <a:xfrm>
            <a:off x="457200" y="1371600"/>
            <a:ext cx="4206240" cy="2926080"/>
          </a:xfrm>
          <a:prstGeom prst="rect">
            <a:avLst/>
          </a:prstGeom>
          <a:noFill/>
        </p:spPr>
        <p:txBody>
          <a:bodyPr wrap="square">
            <a:spAutoFit/>
          </a:bodyPr>
          <a:lstStyle/>
          <a:p>
            <a:pPr algn="l"/>
            <a:r>
              <a:rPr sz="3200" b="1" i="0">
                <a:solidFill>
                  <a:srgbClr val="FFFFFF"/>
                </a:solidFill>
              </a:rPr>
              <a:t>Using Logistic
Regression to
Determine U.S.
Equity Performance</a:t>
            </a:r>
          </a:p>
        </p:txBody>
      </p:sp>
      <p:sp>
        <p:nvSpPr>
          <p:cNvPr id="7" name="Rectangle 6"/>
          <p:cNvSpPr/>
          <p:nvPr/>
        </p:nvSpPr>
        <p:spPr>
          <a:xfrm>
            <a:off x="457200" y="4389120"/>
            <a:ext cx="109728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572000"/>
            <a:ext cx="4389120" cy="365760"/>
          </a:xfrm>
          <a:prstGeom prst="rect">
            <a:avLst/>
          </a:prstGeom>
          <a:noFill/>
        </p:spPr>
        <p:txBody>
          <a:bodyPr wrap="square">
            <a:spAutoFit/>
          </a:bodyPr>
          <a:lstStyle/>
          <a:p>
            <a:pPr algn="l"/>
            <a:r>
              <a:rPr sz="1300" b="0" i="0">
                <a:solidFill>
                  <a:srgbClr val="8B9CB8"/>
                </a:solidFill>
              </a:rPr>
              <a:t>Lana Gidan  ·  Matthew Golubow  ·  Shahd Tarman</a:t>
            </a:r>
          </a:p>
        </p:txBody>
      </p:sp>
      <p:sp>
        <p:nvSpPr>
          <p:cNvPr id="9" name="TextBox 8"/>
          <p:cNvSpPr txBox="1"/>
          <p:nvPr/>
        </p:nvSpPr>
        <p:spPr>
          <a:xfrm>
            <a:off x="457200" y="5029200"/>
            <a:ext cx="4389120" cy="320040"/>
          </a:xfrm>
          <a:prstGeom prst="rect">
            <a:avLst/>
          </a:prstGeom>
          <a:noFill/>
        </p:spPr>
        <p:txBody>
          <a:bodyPr wrap="square">
            <a:spAutoFit/>
          </a:bodyPr>
          <a:lstStyle/>
          <a:p>
            <a:pPr algn="l"/>
            <a:r>
              <a:rPr sz="1200" b="0" i="0">
                <a:solidFill>
                  <a:srgbClr val="8B9CB8"/>
                </a:solidFill>
              </a:rPr>
              <a:t>Q1 2010 – Q4 2024  |  S&amp;P 500 Constituents</a:t>
            </a:r>
          </a:p>
        </p:txBody>
      </p:sp>
      <p:sp>
        <p:nvSpPr>
          <p:cNvPr id="10" name="TextBox 9"/>
          <p:cNvSpPr txBox="1"/>
          <p:nvPr/>
        </p:nvSpPr>
        <p:spPr>
          <a:xfrm>
            <a:off x="5486400" y="2011680"/>
            <a:ext cx="6217920" cy="2743200"/>
          </a:xfrm>
          <a:prstGeom prst="rect">
            <a:avLst/>
          </a:prstGeom>
          <a:noFill/>
        </p:spPr>
        <p:txBody>
          <a:bodyPr wrap="square">
            <a:spAutoFit/>
          </a:bodyPr>
          <a:lstStyle/>
          <a:p>
            <a:pPr algn="ctr"/>
            <a:r>
              <a:rPr sz="2200" b="1" i="0">
                <a:solidFill>
                  <a:srgbClr val="D4AF37"/>
                </a:solidFill>
              </a:rPr>
              <a:t>PREDICTING
OUTPERFORMANCE
USING QUARTERLY
FINANCIAL RATIOS</a:t>
            </a:r>
          </a:p>
        </p:txBody>
      </p:sp>
      <p:sp>
        <p:nvSpPr>
          <p:cNvPr id="11" name="TextBox 10"/>
          <p:cNvSpPr txBox="1"/>
          <p:nvPr/>
        </p:nvSpPr>
        <p:spPr>
          <a:xfrm>
            <a:off x="5486400" y="4846320"/>
            <a:ext cx="6217920" cy="365760"/>
          </a:xfrm>
          <a:prstGeom prst="rect">
            <a:avLst/>
          </a:prstGeom>
          <a:noFill/>
        </p:spPr>
        <p:txBody>
          <a:bodyPr wrap="square">
            <a:spAutoFit/>
          </a:bodyPr>
          <a:lstStyle/>
          <a:p>
            <a:pPr algn="ctr"/>
            <a:r>
              <a:rPr sz="1200" b="0" i="0">
                <a:solidFill>
                  <a:srgbClr val="8B9CB8"/>
                </a:solidFill>
              </a:rPr>
              <a:t>Logistic Regression  |  VIF Filtering  |  PCA  |  Out-of-Sample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Agenda</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Presentation Structure</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43000"/>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43000"/>
            <a:ext cx="457200" cy="365760"/>
          </a:xfrm>
          <a:prstGeom prst="rect">
            <a:avLst/>
          </a:prstGeom>
          <a:noFill/>
        </p:spPr>
        <p:txBody>
          <a:bodyPr wrap="square">
            <a:spAutoFit/>
          </a:bodyPr>
          <a:lstStyle/>
          <a:p>
            <a:pPr algn="ctr"/>
            <a:r>
              <a:rPr sz="1300" b="1" i="0">
                <a:solidFill>
                  <a:srgbClr val="0A1628"/>
                </a:solidFill>
              </a:rPr>
              <a:t>01</a:t>
            </a:r>
          </a:p>
        </p:txBody>
      </p:sp>
      <p:sp>
        <p:nvSpPr>
          <p:cNvPr id="8" name="TextBox 7"/>
          <p:cNvSpPr txBox="1"/>
          <p:nvPr/>
        </p:nvSpPr>
        <p:spPr>
          <a:xfrm>
            <a:off x="914400" y="1143000"/>
            <a:ext cx="2286000" cy="256032"/>
          </a:xfrm>
          <a:prstGeom prst="rect">
            <a:avLst/>
          </a:prstGeom>
          <a:noFill/>
        </p:spPr>
        <p:txBody>
          <a:bodyPr wrap="square">
            <a:spAutoFit/>
          </a:bodyPr>
          <a:lstStyle/>
          <a:p>
            <a:pPr algn="l"/>
            <a:r>
              <a:rPr sz="1300" b="1" i="0">
                <a:solidFill>
                  <a:srgbClr val="FFFFFF"/>
                </a:solidFill>
              </a:rPr>
              <a:t>Background</a:t>
            </a:r>
          </a:p>
        </p:txBody>
      </p:sp>
      <p:sp>
        <p:nvSpPr>
          <p:cNvPr id="9" name="TextBox 8"/>
          <p:cNvSpPr txBox="1"/>
          <p:nvPr/>
        </p:nvSpPr>
        <p:spPr>
          <a:xfrm>
            <a:off x="914400" y="1371600"/>
            <a:ext cx="2560320" cy="256032"/>
          </a:xfrm>
          <a:prstGeom prst="rect">
            <a:avLst/>
          </a:prstGeom>
          <a:noFill/>
        </p:spPr>
        <p:txBody>
          <a:bodyPr wrap="square">
            <a:spAutoFit/>
          </a:bodyPr>
          <a:lstStyle/>
          <a:p>
            <a:pPr algn="l"/>
            <a:r>
              <a:rPr sz="900" b="0" i="0">
                <a:solidFill>
                  <a:srgbClr val="8B9CB8"/>
                </a:solidFill>
              </a:rPr>
              <a:t>SEC disclosures, S&amp;P 500, research motivation</a:t>
            </a:r>
          </a:p>
        </p:txBody>
      </p:sp>
      <p:sp>
        <p:nvSpPr>
          <p:cNvPr id="10" name="Rectangle 9"/>
          <p:cNvSpPr/>
          <p:nvPr/>
        </p:nvSpPr>
        <p:spPr>
          <a:xfrm>
            <a:off x="365760" y="2020824"/>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020824"/>
            <a:ext cx="457200" cy="365760"/>
          </a:xfrm>
          <a:prstGeom prst="rect">
            <a:avLst/>
          </a:prstGeom>
          <a:noFill/>
        </p:spPr>
        <p:txBody>
          <a:bodyPr wrap="square">
            <a:spAutoFit/>
          </a:bodyPr>
          <a:lstStyle/>
          <a:p>
            <a:pPr algn="ctr"/>
            <a:r>
              <a:rPr sz="1300" b="1" i="0">
                <a:solidFill>
                  <a:srgbClr val="0A1628"/>
                </a:solidFill>
              </a:rPr>
              <a:t>02</a:t>
            </a:r>
          </a:p>
        </p:txBody>
      </p:sp>
      <p:sp>
        <p:nvSpPr>
          <p:cNvPr id="12" name="TextBox 11"/>
          <p:cNvSpPr txBox="1"/>
          <p:nvPr/>
        </p:nvSpPr>
        <p:spPr>
          <a:xfrm>
            <a:off x="914400" y="2020824"/>
            <a:ext cx="2286000" cy="256032"/>
          </a:xfrm>
          <a:prstGeom prst="rect">
            <a:avLst/>
          </a:prstGeom>
          <a:noFill/>
        </p:spPr>
        <p:txBody>
          <a:bodyPr wrap="square">
            <a:spAutoFit/>
          </a:bodyPr>
          <a:lstStyle/>
          <a:p>
            <a:pPr algn="l"/>
            <a:r>
              <a:rPr sz="1300" b="1" i="0">
                <a:solidFill>
                  <a:srgbClr val="FFFFFF"/>
                </a:solidFill>
              </a:rPr>
              <a:t>Problem Statement</a:t>
            </a:r>
          </a:p>
        </p:txBody>
      </p:sp>
      <p:sp>
        <p:nvSpPr>
          <p:cNvPr id="13" name="TextBox 12"/>
          <p:cNvSpPr txBox="1"/>
          <p:nvPr/>
        </p:nvSpPr>
        <p:spPr>
          <a:xfrm>
            <a:off x="914400" y="2249424"/>
            <a:ext cx="2560320" cy="256032"/>
          </a:xfrm>
          <a:prstGeom prst="rect">
            <a:avLst/>
          </a:prstGeom>
          <a:noFill/>
        </p:spPr>
        <p:txBody>
          <a:bodyPr wrap="square">
            <a:spAutoFit/>
          </a:bodyPr>
          <a:lstStyle/>
          <a:p>
            <a:pPr algn="l"/>
            <a:r>
              <a:rPr sz="900" b="0" i="0">
                <a:solidFill>
                  <a:srgbClr val="8B9CB8"/>
                </a:solidFill>
              </a:rPr>
              <a:t>Three core research questions</a:t>
            </a:r>
          </a:p>
        </p:txBody>
      </p:sp>
      <p:sp>
        <p:nvSpPr>
          <p:cNvPr id="14" name="Rectangle 13"/>
          <p:cNvSpPr/>
          <p:nvPr/>
        </p:nvSpPr>
        <p:spPr>
          <a:xfrm>
            <a:off x="365760" y="2898648"/>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898648"/>
            <a:ext cx="457200" cy="365760"/>
          </a:xfrm>
          <a:prstGeom prst="rect">
            <a:avLst/>
          </a:prstGeom>
          <a:noFill/>
        </p:spPr>
        <p:txBody>
          <a:bodyPr wrap="square">
            <a:spAutoFit/>
          </a:bodyPr>
          <a:lstStyle/>
          <a:p>
            <a:pPr algn="ctr"/>
            <a:r>
              <a:rPr sz="1300" b="1" i="0">
                <a:solidFill>
                  <a:srgbClr val="0A1628"/>
                </a:solidFill>
              </a:rPr>
              <a:t>03</a:t>
            </a:r>
          </a:p>
        </p:txBody>
      </p:sp>
      <p:sp>
        <p:nvSpPr>
          <p:cNvPr id="16" name="TextBox 15"/>
          <p:cNvSpPr txBox="1"/>
          <p:nvPr/>
        </p:nvSpPr>
        <p:spPr>
          <a:xfrm>
            <a:off x="914400" y="2898648"/>
            <a:ext cx="2286000" cy="256032"/>
          </a:xfrm>
          <a:prstGeom prst="rect">
            <a:avLst/>
          </a:prstGeom>
          <a:noFill/>
        </p:spPr>
        <p:txBody>
          <a:bodyPr wrap="square">
            <a:spAutoFit/>
          </a:bodyPr>
          <a:lstStyle/>
          <a:p>
            <a:pPr algn="l"/>
            <a:r>
              <a:rPr sz="1300" b="1" i="0">
                <a:solidFill>
                  <a:srgbClr val="FFFFFF"/>
                </a:solidFill>
              </a:rPr>
              <a:t>Data Capture</a:t>
            </a:r>
          </a:p>
        </p:txBody>
      </p:sp>
      <p:sp>
        <p:nvSpPr>
          <p:cNvPr id="17" name="TextBox 16"/>
          <p:cNvSpPr txBox="1"/>
          <p:nvPr/>
        </p:nvSpPr>
        <p:spPr>
          <a:xfrm>
            <a:off x="914400" y="3127248"/>
            <a:ext cx="2560320" cy="256032"/>
          </a:xfrm>
          <a:prstGeom prst="rect">
            <a:avLst/>
          </a:prstGeom>
          <a:noFill/>
        </p:spPr>
        <p:txBody>
          <a:bodyPr wrap="square">
            <a:spAutoFit/>
          </a:bodyPr>
          <a:lstStyle/>
          <a:p>
            <a:pPr algn="l"/>
            <a:r>
              <a:rPr sz="900" b="0" i="0">
                <a:solidFill>
                  <a:srgbClr val="8B9CB8"/>
                </a:solidFill>
              </a:rPr>
              <a:t>WRDS, FRED, EDGAR — sources and variables</a:t>
            </a:r>
          </a:p>
        </p:txBody>
      </p:sp>
      <p:sp>
        <p:nvSpPr>
          <p:cNvPr id="18" name="Rectangle 17"/>
          <p:cNvSpPr/>
          <p:nvPr/>
        </p:nvSpPr>
        <p:spPr>
          <a:xfrm>
            <a:off x="365760" y="3776472"/>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776472"/>
            <a:ext cx="457200" cy="365760"/>
          </a:xfrm>
          <a:prstGeom prst="rect">
            <a:avLst/>
          </a:prstGeom>
          <a:noFill/>
        </p:spPr>
        <p:txBody>
          <a:bodyPr wrap="square">
            <a:spAutoFit/>
          </a:bodyPr>
          <a:lstStyle/>
          <a:p>
            <a:pPr algn="ctr"/>
            <a:r>
              <a:rPr sz="1300" b="1" i="0">
                <a:solidFill>
                  <a:srgbClr val="0A1628"/>
                </a:solidFill>
              </a:rPr>
              <a:t>04</a:t>
            </a:r>
          </a:p>
        </p:txBody>
      </p:sp>
      <p:sp>
        <p:nvSpPr>
          <p:cNvPr id="20" name="TextBox 19"/>
          <p:cNvSpPr txBox="1"/>
          <p:nvPr/>
        </p:nvSpPr>
        <p:spPr>
          <a:xfrm>
            <a:off x="914400" y="3776472"/>
            <a:ext cx="2286000" cy="256032"/>
          </a:xfrm>
          <a:prstGeom prst="rect">
            <a:avLst/>
          </a:prstGeom>
          <a:noFill/>
        </p:spPr>
        <p:txBody>
          <a:bodyPr wrap="square">
            <a:spAutoFit/>
          </a:bodyPr>
          <a:lstStyle/>
          <a:p>
            <a:pPr algn="l"/>
            <a:r>
              <a:rPr sz="1300" b="1" i="0">
                <a:solidFill>
                  <a:srgbClr val="FFFFFF"/>
                </a:solidFill>
              </a:rPr>
              <a:t>Data Computations</a:t>
            </a:r>
          </a:p>
        </p:txBody>
      </p:sp>
      <p:sp>
        <p:nvSpPr>
          <p:cNvPr id="21" name="TextBox 20"/>
          <p:cNvSpPr txBox="1"/>
          <p:nvPr/>
        </p:nvSpPr>
        <p:spPr>
          <a:xfrm>
            <a:off x="914400" y="4005072"/>
            <a:ext cx="2560320" cy="256032"/>
          </a:xfrm>
          <a:prstGeom prst="rect">
            <a:avLst/>
          </a:prstGeom>
          <a:noFill/>
        </p:spPr>
        <p:txBody>
          <a:bodyPr wrap="square">
            <a:spAutoFit/>
          </a:bodyPr>
          <a:lstStyle/>
          <a:p>
            <a:pPr algn="l"/>
            <a:r>
              <a:rPr sz="900" b="0" i="0">
                <a:solidFill>
                  <a:srgbClr val="8B9CB8"/>
                </a:solidFill>
              </a:rPr>
              <a:t>Financial ratios and delta momentum features</a:t>
            </a:r>
          </a:p>
        </p:txBody>
      </p:sp>
      <p:sp>
        <p:nvSpPr>
          <p:cNvPr id="22" name="Rectangle 21"/>
          <p:cNvSpPr/>
          <p:nvPr/>
        </p:nvSpPr>
        <p:spPr>
          <a:xfrm>
            <a:off x="365760" y="4654296"/>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654296"/>
            <a:ext cx="457200" cy="365760"/>
          </a:xfrm>
          <a:prstGeom prst="rect">
            <a:avLst/>
          </a:prstGeom>
          <a:noFill/>
        </p:spPr>
        <p:txBody>
          <a:bodyPr wrap="square">
            <a:spAutoFit/>
          </a:bodyPr>
          <a:lstStyle/>
          <a:p>
            <a:pPr algn="ctr"/>
            <a:r>
              <a:rPr sz="1300" b="1" i="0">
                <a:solidFill>
                  <a:srgbClr val="0A1628"/>
                </a:solidFill>
              </a:rPr>
              <a:t>05</a:t>
            </a:r>
          </a:p>
        </p:txBody>
      </p:sp>
      <p:sp>
        <p:nvSpPr>
          <p:cNvPr id="24" name="TextBox 23"/>
          <p:cNvSpPr txBox="1"/>
          <p:nvPr/>
        </p:nvSpPr>
        <p:spPr>
          <a:xfrm>
            <a:off x="914400" y="4654296"/>
            <a:ext cx="2286000" cy="256032"/>
          </a:xfrm>
          <a:prstGeom prst="rect">
            <a:avLst/>
          </a:prstGeom>
          <a:noFill/>
        </p:spPr>
        <p:txBody>
          <a:bodyPr wrap="square">
            <a:spAutoFit/>
          </a:bodyPr>
          <a:lstStyle/>
          <a:p>
            <a:pPr algn="l"/>
            <a:r>
              <a:rPr sz="1300" b="1" i="0">
                <a:solidFill>
                  <a:srgbClr val="FFFFFF"/>
                </a:solidFill>
              </a:rPr>
              <a:t>Data Cleaning</a:t>
            </a:r>
          </a:p>
        </p:txBody>
      </p:sp>
      <p:sp>
        <p:nvSpPr>
          <p:cNvPr id="25" name="TextBox 24"/>
          <p:cNvSpPr txBox="1"/>
          <p:nvPr/>
        </p:nvSpPr>
        <p:spPr>
          <a:xfrm>
            <a:off x="914400" y="4882896"/>
            <a:ext cx="2560320" cy="256032"/>
          </a:xfrm>
          <a:prstGeom prst="rect">
            <a:avLst/>
          </a:prstGeom>
          <a:noFill/>
        </p:spPr>
        <p:txBody>
          <a:bodyPr wrap="square">
            <a:spAutoFit/>
          </a:bodyPr>
          <a:lstStyle/>
          <a:p>
            <a:pPr algn="l"/>
            <a:r>
              <a:rPr sz="900" b="0" i="0">
                <a:solidFill>
                  <a:srgbClr val="8B9CB8"/>
                </a:solidFill>
              </a:rPr>
              <a:t>Winsorization, standardization, NaN handling</a:t>
            </a:r>
          </a:p>
        </p:txBody>
      </p:sp>
      <p:sp>
        <p:nvSpPr>
          <p:cNvPr id="26" name="Rectangle 25"/>
          <p:cNvSpPr/>
          <p:nvPr/>
        </p:nvSpPr>
        <p:spPr>
          <a:xfrm>
            <a:off x="365760" y="5532120"/>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5532120"/>
            <a:ext cx="457200" cy="365760"/>
          </a:xfrm>
          <a:prstGeom prst="rect">
            <a:avLst/>
          </a:prstGeom>
          <a:noFill/>
        </p:spPr>
        <p:txBody>
          <a:bodyPr wrap="square">
            <a:spAutoFit/>
          </a:bodyPr>
          <a:lstStyle/>
          <a:p>
            <a:pPr algn="ctr"/>
            <a:r>
              <a:rPr sz="1300" b="1" i="0">
                <a:solidFill>
                  <a:srgbClr val="0A1628"/>
                </a:solidFill>
              </a:rPr>
              <a:t>06</a:t>
            </a:r>
          </a:p>
        </p:txBody>
      </p:sp>
      <p:sp>
        <p:nvSpPr>
          <p:cNvPr id="28" name="TextBox 27"/>
          <p:cNvSpPr txBox="1"/>
          <p:nvPr/>
        </p:nvSpPr>
        <p:spPr>
          <a:xfrm>
            <a:off x="914400" y="5532120"/>
            <a:ext cx="2286000" cy="256032"/>
          </a:xfrm>
          <a:prstGeom prst="rect">
            <a:avLst/>
          </a:prstGeom>
          <a:noFill/>
        </p:spPr>
        <p:txBody>
          <a:bodyPr wrap="square">
            <a:spAutoFit/>
          </a:bodyPr>
          <a:lstStyle/>
          <a:p>
            <a:pPr algn="l"/>
            <a:r>
              <a:rPr sz="1300" b="1" i="0">
                <a:solidFill>
                  <a:srgbClr val="FFFFFF"/>
                </a:solidFill>
              </a:rPr>
              <a:t>VIF Analysis</a:t>
            </a:r>
          </a:p>
        </p:txBody>
      </p:sp>
      <p:sp>
        <p:nvSpPr>
          <p:cNvPr id="29" name="TextBox 28"/>
          <p:cNvSpPr txBox="1"/>
          <p:nvPr/>
        </p:nvSpPr>
        <p:spPr>
          <a:xfrm>
            <a:off x="914400" y="5760720"/>
            <a:ext cx="2560320" cy="256032"/>
          </a:xfrm>
          <a:prstGeom prst="rect">
            <a:avLst/>
          </a:prstGeom>
          <a:noFill/>
        </p:spPr>
        <p:txBody>
          <a:bodyPr wrap="square">
            <a:spAutoFit/>
          </a:bodyPr>
          <a:lstStyle/>
          <a:p>
            <a:pPr algn="l"/>
            <a:r>
              <a:rPr sz="900" b="0" i="0">
                <a:solidFill>
                  <a:srgbClr val="8B9CB8"/>
                </a:solidFill>
              </a:rPr>
              <a:t>Multicollinearity removal — 20 of 24 kept</a:t>
            </a:r>
          </a:p>
        </p:txBody>
      </p:sp>
      <p:sp>
        <p:nvSpPr>
          <p:cNvPr id="30" name="Rectangle 29"/>
          <p:cNvSpPr/>
          <p:nvPr/>
        </p:nvSpPr>
        <p:spPr>
          <a:xfrm>
            <a:off x="6217920" y="1143000"/>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1143000"/>
            <a:ext cx="457200" cy="365760"/>
          </a:xfrm>
          <a:prstGeom prst="rect">
            <a:avLst/>
          </a:prstGeom>
          <a:noFill/>
        </p:spPr>
        <p:txBody>
          <a:bodyPr wrap="square">
            <a:spAutoFit/>
          </a:bodyPr>
          <a:lstStyle/>
          <a:p>
            <a:pPr algn="ctr"/>
            <a:r>
              <a:rPr sz="1300" b="1" i="0">
                <a:solidFill>
                  <a:srgbClr val="0A1628"/>
                </a:solidFill>
              </a:rPr>
              <a:t>07</a:t>
            </a:r>
          </a:p>
        </p:txBody>
      </p:sp>
      <p:sp>
        <p:nvSpPr>
          <p:cNvPr id="32" name="TextBox 31"/>
          <p:cNvSpPr txBox="1"/>
          <p:nvPr/>
        </p:nvSpPr>
        <p:spPr>
          <a:xfrm>
            <a:off x="6766560" y="1143000"/>
            <a:ext cx="2286000" cy="256032"/>
          </a:xfrm>
          <a:prstGeom prst="rect">
            <a:avLst/>
          </a:prstGeom>
          <a:noFill/>
        </p:spPr>
        <p:txBody>
          <a:bodyPr wrap="square">
            <a:spAutoFit/>
          </a:bodyPr>
          <a:lstStyle/>
          <a:p>
            <a:pPr algn="l"/>
            <a:r>
              <a:rPr sz="1300" b="1" i="0">
                <a:solidFill>
                  <a:srgbClr val="FFFFFF"/>
                </a:solidFill>
              </a:rPr>
              <a:t>PCA Analysis</a:t>
            </a:r>
          </a:p>
        </p:txBody>
      </p:sp>
      <p:sp>
        <p:nvSpPr>
          <p:cNvPr id="33" name="TextBox 32"/>
          <p:cNvSpPr txBox="1"/>
          <p:nvPr/>
        </p:nvSpPr>
        <p:spPr>
          <a:xfrm>
            <a:off x="6766560" y="1371600"/>
            <a:ext cx="4846320" cy="256032"/>
          </a:xfrm>
          <a:prstGeom prst="rect">
            <a:avLst/>
          </a:prstGeom>
          <a:noFill/>
        </p:spPr>
        <p:txBody>
          <a:bodyPr wrap="square">
            <a:spAutoFit/>
          </a:bodyPr>
          <a:lstStyle/>
          <a:p>
            <a:pPr algn="l"/>
            <a:r>
              <a:rPr sz="900" b="0" i="0">
                <a:solidFill>
                  <a:srgbClr val="8B9CB8"/>
                </a:solidFill>
              </a:rPr>
              <a:t>9 components, 5% individual variance threshold</a:t>
            </a:r>
          </a:p>
        </p:txBody>
      </p:sp>
      <p:sp>
        <p:nvSpPr>
          <p:cNvPr id="34" name="Rectangle 33"/>
          <p:cNvSpPr/>
          <p:nvPr/>
        </p:nvSpPr>
        <p:spPr>
          <a:xfrm>
            <a:off x="6217920" y="2020824"/>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2020824"/>
            <a:ext cx="457200" cy="365760"/>
          </a:xfrm>
          <a:prstGeom prst="rect">
            <a:avLst/>
          </a:prstGeom>
          <a:noFill/>
        </p:spPr>
        <p:txBody>
          <a:bodyPr wrap="square">
            <a:spAutoFit/>
          </a:bodyPr>
          <a:lstStyle/>
          <a:p>
            <a:pPr algn="ctr"/>
            <a:r>
              <a:rPr sz="1300" b="1" i="0">
                <a:solidFill>
                  <a:srgbClr val="0A1628"/>
                </a:solidFill>
              </a:rPr>
              <a:t>08</a:t>
            </a:r>
          </a:p>
        </p:txBody>
      </p:sp>
      <p:sp>
        <p:nvSpPr>
          <p:cNvPr id="36" name="TextBox 35"/>
          <p:cNvSpPr txBox="1"/>
          <p:nvPr/>
        </p:nvSpPr>
        <p:spPr>
          <a:xfrm>
            <a:off x="6766560" y="2020824"/>
            <a:ext cx="2286000" cy="256032"/>
          </a:xfrm>
          <a:prstGeom prst="rect">
            <a:avLst/>
          </a:prstGeom>
          <a:noFill/>
        </p:spPr>
        <p:txBody>
          <a:bodyPr wrap="square">
            <a:spAutoFit/>
          </a:bodyPr>
          <a:lstStyle/>
          <a:p>
            <a:pPr algn="l"/>
            <a:r>
              <a:rPr sz="1300" b="1" i="0">
                <a:solidFill>
                  <a:srgbClr val="FFFFFF"/>
                </a:solidFill>
              </a:rPr>
              <a:t>Logistic Regression</a:t>
            </a:r>
          </a:p>
        </p:txBody>
      </p:sp>
      <p:sp>
        <p:nvSpPr>
          <p:cNvPr id="37" name="TextBox 36"/>
          <p:cNvSpPr txBox="1"/>
          <p:nvPr/>
        </p:nvSpPr>
        <p:spPr>
          <a:xfrm>
            <a:off x="6766560" y="2249424"/>
            <a:ext cx="4846320" cy="256032"/>
          </a:xfrm>
          <a:prstGeom prst="rect">
            <a:avLst/>
          </a:prstGeom>
          <a:noFill/>
        </p:spPr>
        <p:txBody>
          <a:bodyPr wrap="square">
            <a:spAutoFit/>
          </a:bodyPr>
          <a:lstStyle/>
          <a:p>
            <a:pPr algn="l"/>
            <a:r>
              <a:rPr sz="900" b="0" i="0">
                <a:solidFill>
                  <a:srgbClr val="8B9CB8"/>
                </a:solidFill>
              </a:rPr>
              <a:t>Global model results — AUC 0.5381</a:t>
            </a:r>
          </a:p>
        </p:txBody>
      </p:sp>
      <p:sp>
        <p:nvSpPr>
          <p:cNvPr id="38" name="Rectangle 37"/>
          <p:cNvSpPr/>
          <p:nvPr/>
        </p:nvSpPr>
        <p:spPr>
          <a:xfrm>
            <a:off x="6217920" y="2898648"/>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2898648"/>
            <a:ext cx="457200" cy="365760"/>
          </a:xfrm>
          <a:prstGeom prst="rect">
            <a:avLst/>
          </a:prstGeom>
          <a:noFill/>
        </p:spPr>
        <p:txBody>
          <a:bodyPr wrap="square">
            <a:spAutoFit/>
          </a:bodyPr>
          <a:lstStyle/>
          <a:p>
            <a:pPr algn="ctr"/>
            <a:r>
              <a:rPr sz="1300" b="1" i="0">
                <a:solidFill>
                  <a:srgbClr val="0A1628"/>
                </a:solidFill>
              </a:rPr>
              <a:t>09</a:t>
            </a:r>
          </a:p>
        </p:txBody>
      </p:sp>
      <p:sp>
        <p:nvSpPr>
          <p:cNvPr id="40" name="TextBox 39"/>
          <p:cNvSpPr txBox="1"/>
          <p:nvPr/>
        </p:nvSpPr>
        <p:spPr>
          <a:xfrm>
            <a:off x="6766560" y="2898648"/>
            <a:ext cx="2286000" cy="256032"/>
          </a:xfrm>
          <a:prstGeom prst="rect">
            <a:avLst/>
          </a:prstGeom>
          <a:noFill/>
        </p:spPr>
        <p:txBody>
          <a:bodyPr wrap="square">
            <a:spAutoFit/>
          </a:bodyPr>
          <a:lstStyle/>
          <a:p>
            <a:pPr algn="l"/>
            <a:r>
              <a:rPr sz="1300" b="1" i="0">
                <a:solidFill>
                  <a:srgbClr val="FFFFFF"/>
                </a:solidFill>
              </a:rPr>
              <a:t>Segmentation &amp; Results</a:t>
            </a:r>
          </a:p>
        </p:txBody>
      </p:sp>
      <p:sp>
        <p:nvSpPr>
          <p:cNvPr id="41" name="TextBox 40"/>
          <p:cNvSpPr txBox="1"/>
          <p:nvPr/>
        </p:nvSpPr>
        <p:spPr>
          <a:xfrm>
            <a:off x="6766560" y="3127248"/>
            <a:ext cx="4846320" cy="256032"/>
          </a:xfrm>
          <a:prstGeom prst="rect">
            <a:avLst/>
          </a:prstGeom>
          <a:noFill/>
        </p:spPr>
        <p:txBody>
          <a:bodyPr wrap="square">
            <a:spAutoFit/>
          </a:bodyPr>
          <a:lstStyle/>
          <a:p>
            <a:pPr algn="l"/>
            <a:r>
              <a:rPr sz="900" b="0" i="0">
                <a:solidFill>
                  <a:srgbClr val="8B9CB8"/>
                </a:solidFill>
              </a:rPr>
              <a:t>Market Cap and Sector — best: Comm. Services 63.9%</a:t>
            </a:r>
          </a:p>
        </p:txBody>
      </p:sp>
      <p:sp>
        <p:nvSpPr>
          <p:cNvPr id="42" name="Rectangle 41"/>
          <p:cNvSpPr/>
          <p:nvPr/>
        </p:nvSpPr>
        <p:spPr>
          <a:xfrm>
            <a:off x="6217920" y="3776472"/>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0" y="3776472"/>
            <a:ext cx="457200" cy="365760"/>
          </a:xfrm>
          <a:prstGeom prst="rect">
            <a:avLst/>
          </a:prstGeom>
          <a:noFill/>
        </p:spPr>
        <p:txBody>
          <a:bodyPr wrap="square">
            <a:spAutoFit/>
          </a:bodyPr>
          <a:lstStyle/>
          <a:p>
            <a:pPr algn="ctr"/>
            <a:r>
              <a:rPr sz="1300" b="1" i="0">
                <a:solidFill>
                  <a:srgbClr val="0A1628"/>
                </a:solidFill>
              </a:rPr>
              <a:t>10</a:t>
            </a:r>
          </a:p>
        </p:txBody>
      </p:sp>
      <p:sp>
        <p:nvSpPr>
          <p:cNvPr id="44" name="TextBox 43"/>
          <p:cNvSpPr txBox="1"/>
          <p:nvPr/>
        </p:nvSpPr>
        <p:spPr>
          <a:xfrm>
            <a:off x="6766560" y="3776472"/>
            <a:ext cx="2286000" cy="256032"/>
          </a:xfrm>
          <a:prstGeom prst="rect">
            <a:avLst/>
          </a:prstGeom>
          <a:noFill/>
        </p:spPr>
        <p:txBody>
          <a:bodyPr wrap="square">
            <a:spAutoFit/>
          </a:bodyPr>
          <a:lstStyle/>
          <a:p>
            <a:pPr algn="l"/>
            <a:r>
              <a:rPr sz="1300" b="1" i="0">
                <a:solidFill>
                  <a:srgbClr val="FFFFFF"/>
                </a:solidFill>
              </a:rPr>
              <a:t>2025 Out-of-Sample Test</a:t>
            </a:r>
          </a:p>
        </p:txBody>
      </p:sp>
      <p:sp>
        <p:nvSpPr>
          <p:cNvPr id="45" name="TextBox 44"/>
          <p:cNvSpPr txBox="1"/>
          <p:nvPr/>
        </p:nvSpPr>
        <p:spPr>
          <a:xfrm>
            <a:off x="6766560" y="4005072"/>
            <a:ext cx="4846320" cy="256032"/>
          </a:xfrm>
          <a:prstGeom prst="rect">
            <a:avLst/>
          </a:prstGeom>
          <a:noFill/>
        </p:spPr>
        <p:txBody>
          <a:bodyPr wrap="square">
            <a:spAutoFit/>
          </a:bodyPr>
          <a:lstStyle/>
          <a:p>
            <a:pPr algn="l"/>
            <a:r>
              <a:rPr sz="900" b="0" i="0">
                <a:solidFill>
                  <a:srgbClr val="8B9CB8"/>
                </a:solidFill>
              </a:rPr>
              <a:t>Portfolio vs S&amp;P 500</a:t>
            </a:r>
          </a:p>
        </p:txBody>
      </p:sp>
      <p:sp>
        <p:nvSpPr>
          <p:cNvPr id="46" name="Rectangle 45"/>
          <p:cNvSpPr/>
          <p:nvPr/>
        </p:nvSpPr>
        <p:spPr>
          <a:xfrm>
            <a:off x="6217920" y="4654296"/>
            <a:ext cx="45720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0" y="4654296"/>
            <a:ext cx="457200" cy="365760"/>
          </a:xfrm>
          <a:prstGeom prst="rect">
            <a:avLst/>
          </a:prstGeom>
          <a:noFill/>
        </p:spPr>
        <p:txBody>
          <a:bodyPr wrap="square">
            <a:spAutoFit/>
          </a:bodyPr>
          <a:lstStyle/>
          <a:p>
            <a:pPr algn="ctr"/>
            <a:r>
              <a:rPr sz="1300" b="1" i="0">
                <a:solidFill>
                  <a:srgbClr val="0A1628"/>
                </a:solidFill>
              </a:rPr>
              <a:t>11</a:t>
            </a:r>
          </a:p>
        </p:txBody>
      </p:sp>
      <p:sp>
        <p:nvSpPr>
          <p:cNvPr id="48" name="TextBox 47"/>
          <p:cNvSpPr txBox="1"/>
          <p:nvPr/>
        </p:nvSpPr>
        <p:spPr>
          <a:xfrm>
            <a:off x="6766560" y="4654296"/>
            <a:ext cx="2286000" cy="256032"/>
          </a:xfrm>
          <a:prstGeom prst="rect">
            <a:avLst/>
          </a:prstGeom>
          <a:noFill/>
        </p:spPr>
        <p:txBody>
          <a:bodyPr wrap="square">
            <a:spAutoFit/>
          </a:bodyPr>
          <a:lstStyle/>
          <a:p>
            <a:pPr algn="l"/>
            <a:r>
              <a:rPr sz="1300" b="1" i="0">
                <a:solidFill>
                  <a:srgbClr val="FFFFFF"/>
                </a:solidFill>
              </a:rPr>
              <a:t>Conclusion</a:t>
            </a:r>
          </a:p>
        </p:txBody>
      </p:sp>
      <p:sp>
        <p:nvSpPr>
          <p:cNvPr id="49" name="TextBox 48"/>
          <p:cNvSpPr txBox="1"/>
          <p:nvPr/>
        </p:nvSpPr>
        <p:spPr>
          <a:xfrm>
            <a:off x="6766560" y="4882896"/>
            <a:ext cx="4846320" cy="256032"/>
          </a:xfrm>
          <a:prstGeom prst="rect">
            <a:avLst/>
          </a:prstGeom>
          <a:noFill/>
        </p:spPr>
        <p:txBody>
          <a:bodyPr wrap="square">
            <a:spAutoFit/>
          </a:bodyPr>
          <a:lstStyle/>
          <a:p>
            <a:pPr algn="l"/>
            <a:r>
              <a:rPr sz="900" b="0" i="0">
                <a:solidFill>
                  <a:srgbClr val="8B9CB8"/>
                </a:solidFill>
              </a:rPr>
              <a:t>Efficient Market Hypothesis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Background</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01</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247120" cy="822960"/>
          </a:xfrm>
          <a:prstGeom prst="rect">
            <a:avLst/>
          </a:prstGeom>
          <a:noFill/>
        </p:spPr>
        <p:txBody>
          <a:bodyPr wrap="square">
            <a:spAutoFit/>
          </a:bodyPr>
          <a:lstStyle/>
          <a:p>
            <a:pPr algn="l"/>
            <a:r>
              <a:rPr sz="1400" b="0" i="0">
                <a:solidFill>
                  <a:srgbClr val="FFFFFF"/>
                </a:solidFill>
              </a:rPr>
              <a:t>The Securities and Exchange Commission (SEC) requires all publicly traded companies to disclose their financial statements on a quarterly basis. These reports detail revenues, expenses, assets, and debt — information that investment analysts use to evaluate company health.</a:t>
            </a:r>
          </a:p>
        </p:txBody>
      </p:sp>
      <p:sp>
        <p:nvSpPr>
          <p:cNvPr id="7" name="Rectangle 6"/>
          <p:cNvSpPr/>
          <p:nvPr/>
        </p:nvSpPr>
        <p:spPr>
          <a:xfrm>
            <a:off x="365760" y="2148840"/>
            <a:ext cx="365760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148840"/>
            <a:ext cx="36576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286000"/>
            <a:ext cx="3291840" cy="365760"/>
          </a:xfrm>
          <a:prstGeom prst="rect">
            <a:avLst/>
          </a:prstGeom>
          <a:noFill/>
        </p:spPr>
        <p:txBody>
          <a:bodyPr wrap="square">
            <a:spAutoFit/>
          </a:bodyPr>
          <a:lstStyle/>
          <a:p>
            <a:pPr algn="l"/>
            <a:r>
              <a:rPr sz="1400" b="1" i="0">
                <a:solidFill>
                  <a:srgbClr val="D4AF37"/>
                </a:solidFill>
              </a:rPr>
              <a:t>S&amp;P 500</a:t>
            </a:r>
          </a:p>
        </p:txBody>
      </p:sp>
      <p:sp>
        <p:nvSpPr>
          <p:cNvPr id="10" name="TextBox 9"/>
          <p:cNvSpPr txBox="1"/>
          <p:nvPr/>
        </p:nvSpPr>
        <p:spPr>
          <a:xfrm>
            <a:off x="548640" y="2697480"/>
            <a:ext cx="3291840" cy="3383280"/>
          </a:xfrm>
          <a:prstGeom prst="rect">
            <a:avLst/>
          </a:prstGeom>
          <a:noFill/>
        </p:spPr>
        <p:txBody>
          <a:bodyPr wrap="square">
            <a:spAutoFit/>
          </a:bodyPr>
          <a:lstStyle/>
          <a:p>
            <a:pPr algn="l"/>
            <a:r>
              <a:rPr sz="1200" b="0" i="0">
                <a:solidFill>
                  <a:srgbClr val="FFFFFF"/>
                </a:solidFill>
              </a:rPr>
              <a:t>An index of the 500 largest U.S. companies by market cap. Covers ~80% of the total U.S. stock market value. Rebalanced quarterly as constituents change.</a:t>
            </a:r>
          </a:p>
        </p:txBody>
      </p:sp>
      <p:sp>
        <p:nvSpPr>
          <p:cNvPr id="11" name="Rectangle 10"/>
          <p:cNvSpPr/>
          <p:nvPr/>
        </p:nvSpPr>
        <p:spPr>
          <a:xfrm>
            <a:off x="4297680" y="2148840"/>
            <a:ext cx="365760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148840"/>
            <a:ext cx="36576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286000"/>
            <a:ext cx="3291840" cy="365760"/>
          </a:xfrm>
          <a:prstGeom prst="rect">
            <a:avLst/>
          </a:prstGeom>
          <a:noFill/>
        </p:spPr>
        <p:txBody>
          <a:bodyPr wrap="square">
            <a:spAutoFit/>
          </a:bodyPr>
          <a:lstStyle/>
          <a:p>
            <a:pPr algn="l"/>
            <a:r>
              <a:rPr sz="1400" b="1" i="0">
                <a:solidFill>
                  <a:srgbClr val="D4AF37"/>
                </a:solidFill>
              </a:rPr>
              <a:t>Passive Investing Assumption</a:t>
            </a:r>
          </a:p>
        </p:txBody>
      </p:sp>
      <p:sp>
        <p:nvSpPr>
          <p:cNvPr id="14" name="TextBox 13"/>
          <p:cNvSpPr txBox="1"/>
          <p:nvPr/>
        </p:nvSpPr>
        <p:spPr>
          <a:xfrm>
            <a:off x="4480560" y="2697480"/>
            <a:ext cx="3291840" cy="3383280"/>
          </a:xfrm>
          <a:prstGeom prst="rect">
            <a:avLst/>
          </a:prstGeom>
          <a:noFill/>
        </p:spPr>
        <p:txBody>
          <a:bodyPr wrap="square">
            <a:spAutoFit/>
          </a:bodyPr>
          <a:lstStyle/>
          <a:p>
            <a:pPr algn="l"/>
            <a:r>
              <a:rPr sz="1200" b="0" i="0">
                <a:solidFill>
                  <a:srgbClr val="FFFFFF"/>
                </a:solidFill>
              </a:rPr>
              <a:t>It is widely accepted that the average investor cannot consistently beat the S&amp;P 500 return. Index funds charge low fees and require no stock selection skill.</a:t>
            </a:r>
          </a:p>
        </p:txBody>
      </p:sp>
      <p:sp>
        <p:nvSpPr>
          <p:cNvPr id="15" name="Rectangle 14"/>
          <p:cNvSpPr/>
          <p:nvPr/>
        </p:nvSpPr>
        <p:spPr>
          <a:xfrm>
            <a:off x="8229600" y="2148840"/>
            <a:ext cx="365760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148840"/>
            <a:ext cx="36576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286000"/>
            <a:ext cx="3291840" cy="365760"/>
          </a:xfrm>
          <a:prstGeom prst="rect">
            <a:avLst/>
          </a:prstGeom>
          <a:noFill/>
        </p:spPr>
        <p:txBody>
          <a:bodyPr wrap="square">
            <a:spAutoFit/>
          </a:bodyPr>
          <a:lstStyle/>
          <a:p>
            <a:pPr algn="l"/>
            <a:r>
              <a:rPr sz="1400" b="1" i="0">
                <a:solidFill>
                  <a:srgbClr val="D4AF37"/>
                </a:solidFill>
              </a:rPr>
              <a:t>Our Research Question</a:t>
            </a:r>
          </a:p>
        </p:txBody>
      </p:sp>
      <p:sp>
        <p:nvSpPr>
          <p:cNvPr id="18" name="TextBox 17"/>
          <p:cNvSpPr txBox="1"/>
          <p:nvPr/>
        </p:nvSpPr>
        <p:spPr>
          <a:xfrm>
            <a:off x="8412480" y="2697480"/>
            <a:ext cx="3291840" cy="3383280"/>
          </a:xfrm>
          <a:prstGeom prst="rect">
            <a:avLst/>
          </a:prstGeom>
          <a:noFill/>
        </p:spPr>
        <p:txBody>
          <a:bodyPr wrap="square">
            <a:spAutoFit/>
          </a:bodyPr>
          <a:lstStyle/>
          <a:p>
            <a:pPr algn="l"/>
            <a:r>
              <a:rPr sz="1200" b="0" i="0">
                <a:solidFill>
                  <a:srgbClr val="FFFFFF"/>
                </a:solidFill>
              </a:rPr>
              <a:t>Can we use publicly available quarterly financial data to predict which specific S&amp;P 500 companies will outperform the index the following quarter?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Problem Statement</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02</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34440"/>
            <a:ext cx="11430000" cy="1508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54864" cy="1508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777240" cy="1508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737360"/>
            <a:ext cx="777240" cy="457200"/>
          </a:xfrm>
          <a:prstGeom prst="rect">
            <a:avLst/>
          </a:prstGeom>
          <a:noFill/>
        </p:spPr>
        <p:txBody>
          <a:bodyPr wrap="square">
            <a:spAutoFit/>
          </a:bodyPr>
          <a:lstStyle/>
          <a:p>
            <a:pPr algn="ctr"/>
            <a:r>
              <a:rPr sz="1800" b="1" i="0">
                <a:solidFill>
                  <a:srgbClr val="D4AF37"/>
                </a:solidFill>
              </a:rPr>
              <a:t>Q1</a:t>
            </a:r>
          </a:p>
        </p:txBody>
      </p:sp>
      <p:sp>
        <p:nvSpPr>
          <p:cNvPr id="10" name="TextBox 9"/>
          <p:cNvSpPr txBox="1"/>
          <p:nvPr/>
        </p:nvSpPr>
        <p:spPr>
          <a:xfrm>
            <a:off x="1280160" y="1325880"/>
            <a:ext cx="10058400" cy="411480"/>
          </a:xfrm>
          <a:prstGeom prst="rect">
            <a:avLst/>
          </a:prstGeom>
          <a:noFill/>
        </p:spPr>
        <p:txBody>
          <a:bodyPr wrap="square">
            <a:spAutoFit/>
          </a:bodyPr>
          <a:lstStyle/>
          <a:p>
            <a:pPr algn="l"/>
            <a:r>
              <a:rPr sz="1600" b="1" i="0">
                <a:solidFill>
                  <a:srgbClr val="D4AF37"/>
                </a:solidFill>
              </a:rPr>
              <a:t>Predictability</a:t>
            </a:r>
          </a:p>
        </p:txBody>
      </p:sp>
      <p:sp>
        <p:nvSpPr>
          <p:cNvPr id="11" name="TextBox 10"/>
          <p:cNvSpPr txBox="1"/>
          <p:nvPr/>
        </p:nvSpPr>
        <p:spPr>
          <a:xfrm>
            <a:off x="1280160" y="1737360"/>
            <a:ext cx="10058400" cy="914400"/>
          </a:xfrm>
          <a:prstGeom prst="rect">
            <a:avLst/>
          </a:prstGeom>
          <a:noFill/>
        </p:spPr>
        <p:txBody>
          <a:bodyPr wrap="square">
            <a:spAutoFit/>
          </a:bodyPr>
          <a:lstStyle/>
          <a:p>
            <a:pPr algn="l"/>
            <a:r>
              <a:rPr sz="1300" b="0" i="0">
                <a:solidFill>
                  <a:srgbClr val="FFFFFF"/>
                </a:solidFill>
              </a:rPr>
              <a:t>Can we use publicly available S&amp;P 500 financial data to successfully determine if a company will outperform or underperform the cumulative return of the S&amp;P 500?</a:t>
            </a:r>
          </a:p>
        </p:txBody>
      </p:sp>
      <p:sp>
        <p:nvSpPr>
          <p:cNvPr id="12" name="Rectangle 11"/>
          <p:cNvSpPr/>
          <p:nvPr/>
        </p:nvSpPr>
        <p:spPr>
          <a:xfrm>
            <a:off x="365760" y="2926080"/>
            <a:ext cx="11430000" cy="1508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926080"/>
            <a:ext cx="54864" cy="1508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926080"/>
            <a:ext cx="777240" cy="1508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777240" cy="457200"/>
          </a:xfrm>
          <a:prstGeom prst="rect">
            <a:avLst/>
          </a:prstGeom>
          <a:noFill/>
        </p:spPr>
        <p:txBody>
          <a:bodyPr wrap="square">
            <a:spAutoFit/>
          </a:bodyPr>
          <a:lstStyle/>
          <a:p>
            <a:pPr algn="ctr"/>
            <a:r>
              <a:rPr sz="1800" b="1" i="0">
                <a:solidFill>
                  <a:srgbClr val="D4AF37"/>
                </a:solidFill>
              </a:rPr>
              <a:t>Q2</a:t>
            </a:r>
          </a:p>
        </p:txBody>
      </p:sp>
      <p:sp>
        <p:nvSpPr>
          <p:cNvPr id="16" name="TextBox 15"/>
          <p:cNvSpPr txBox="1"/>
          <p:nvPr/>
        </p:nvSpPr>
        <p:spPr>
          <a:xfrm>
            <a:off x="1280160" y="3017520"/>
            <a:ext cx="10058400" cy="411480"/>
          </a:xfrm>
          <a:prstGeom prst="rect">
            <a:avLst/>
          </a:prstGeom>
          <a:noFill/>
        </p:spPr>
        <p:txBody>
          <a:bodyPr wrap="square">
            <a:spAutoFit/>
          </a:bodyPr>
          <a:lstStyle/>
          <a:p>
            <a:pPr algn="l"/>
            <a:r>
              <a:rPr sz="1600" b="1" i="0">
                <a:solidFill>
                  <a:srgbClr val="D4AF37"/>
                </a:solidFill>
              </a:rPr>
              <a:t>Forward-Looking Signal</a:t>
            </a:r>
          </a:p>
        </p:txBody>
      </p:sp>
      <p:sp>
        <p:nvSpPr>
          <p:cNvPr id="17" name="TextBox 16"/>
          <p:cNvSpPr txBox="1"/>
          <p:nvPr/>
        </p:nvSpPr>
        <p:spPr>
          <a:xfrm>
            <a:off x="1280160" y="3429000"/>
            <a:ext cx="10058400" cy="914400"/>
          </a:xfrm>
          <a:prstGeom prst="rect">
            <a:avLst/>
          </a:prstGeom>
          <a:noFill/>
        </p:spPr>
        <p:txBody>
          <a:bodyPr wrap="square">
            <a:spAutoFit/>
          </a:bodyPr>
          <a:lstStyle/>
          <a:p>
            <a:pPr algn="l"/>
            <a:r>
              <a:rPr sz="1300" b="0" i="0">
                <a:solidFill>
                  <a:srgbClr val="FFFFFF"/>
                </a:solidFill>
              </a:rPr>
              <a:t>Can we use the current quarter's financial ratios to reliably predict next quarter's stock performance — before it happens?</a:t>
            </a:r>
          </a:p>
        </p:txBody>
      </p:sp>
      <p:sp>
        <p:nvSpPr>
          <p:cNvPr id="18" name="Rectangle 17"/>
          <p:cNvSpPr/>
          <p:nvPr/>
        </p:nvSpPr>
        <p:spPr>
          <a:xfrm>
            <a:off x="365760" y="4617720"/>
            <a:ext cx="11430000" cy="1508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617720"/>
            <a:ext cx="54864" cy="1508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617720"/>
            <a:ext cx="777240" cy="1508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5120640"/>
            <a:ext cx="777240" cy="457200"/>
          </a:xfrm>
          <a:prstGeom prst="rect">
            <a:avLst/>
          </a:prstGeom>
          <a:noFill/>
        </p:spPr>
        <p:txBody>
          <a:bodyPr wrap="square">
            <a:spAutoFit/>
          </a:bodyPr>
          <a:lstStyle/>
          <a:p>
            <a:pPr algn="ctr"/>
            <a:r>
              <a:rPr sz="1800" b="1" i="0">
                <a:solidFill>
                  <a:srgbClr val="D4AF37"/>
                </a:solidFill>
              </a:rPr>
              <a:t>Q3</a:t>
            </a:r>
          </a:p>
        </p:txBody>
      </p:sp>
      <p:sp>
        <p:nvSpPr>
          <p:cNvPr id="22" name="TextBox 21"/>
          <p:cNvSpPr txBox="1"/>
          <p:nvPr/>
        </p:nvSpPr>
        <p:spPr>
          <a:xfrm>
            <a:off x="1280160" y="4709160"/>
            <a:ext cx="10058400" cy="411480"/>
          </a:xfrm>
          <a:prstGeom prst="rect">
            <a:avLst/>
          </a:prstGeom>
          <a:noFill/>
        </p:spPr>
        <p:txBody>
          <a:bodyPr wrap="square">
            <a:spAutoFit/>
          </a:bodyPr>
          <a:lstStyle/>
          <a:p>
            <a:pPr algn="l"/>
            <a:r>
              <a:rPr sz="1600" b="1" i="0">
                <a:solidFill>
                  <a:srgbClr val="D4AF37"/>
                </a:solidFill>
              </a:rPr>
              <a:t>Portfolio Construction</a:t>
            </a:r>
          </a:p>
        </p:txBody>
      </p:sp>
      <p:sp>
        <p:nvSpPr>
          <p:cNvPr id="23" name="TextBox 22"/>
          <p:cNvSpPr txBox="1"/>
          <p:nvPr/>
        </p:nvSpPr>
        <p:spPr>
          <a:xfrm>
            <a:off x="1280160" y="5120640"/>
            <a:ext cx="10058400" cy="914400"/>
          </a:xfrm>
          <a:prstGeom prst="rect">
            <a:avLst/>
          </a:prstGeom>
          <a:noFill/>
        </p:spPr>
        <p:txBody>
          <a:bodyPr wrap="square">
            <a:spAutoFit/>
          </a:bodyPr>
          <a:lstStyle/>
          <a:p>
            <a:pPr algn="l"/>
            <a:r>
              <a:rPr sz="1300" b="0" i="0">
                <a:solidFill>
                  <a:srgbClr val="FFFFFF"/>
                </a:solidFill>
              </a:rPr>
              <a:t>Can we use model predictions to construct a portfolio whose quarterly returns beat the S&amp;P 500 index, outperforming passive investing?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Data Capture</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03 — Sources</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3657600" cy="51206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3657600"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3291840" cy="548640"/>
          </a:xfrm>
          <a:prstGeom prst="rect">
            <a:avLst/>
          </a:prstGeom>
          <a:noFill/>
        </p:spPr>
        <p:txBody>
          <a:bodyPr wrap="square">
            <a:spAutoFit/>
          </a:bodyPr>
          <a:lstStyle/>
          <a:p>
            <a:pPr algn="l"/>
            <a:r>
              <a:rPr sz="3000" b="1" i="0">
                <a:solidFill>
                  <a:srgbClr val="D4AF37"/>
                </a:solidFill>
              </a:rPr>
              <a:t>WRDS</a:t>
            </a:r>
          </a:p>
        </p:txBody>
      </p:sp>
      <p:sp>
        <p:nvSpPr>
          <p:cNvPr id="9" name="TextBox 8"/>
          <p:cNvSpPr txBox="1"/>
          <p:nvPr/>
        </p:nvSpPr>
        <p:spPr>
          <a:xfrm>
            <a:off x="548640" y="1828800"/>
            <a:ext cx="3291840" cy="365760"/>
          </a:xfrm>
          <a:prstGeom prst="rect">
            <a:avLst/>
          </a:prstGeom>
          <a:noFill/>
        </p:spPr>
        <p:txBody>
          <a:bodyPr wrap="square">
            <a:spAutoFit/>
          </a:bodyPr>
          <a:lstStyle/>
          <a:p>
            <a:pPr algn="l"/>
            <a:r>
              <a:rPr sz="1100" b="1" i="0">
                <a:solidFill>
                  <a:srgbClr val="8B9CB8"/>
                </a:solidFill>
              </a:rPr>
              <a:t>Wharton Research Data Service</a:t>
            </a:r>
          </a:p>
        </p:txBody>
      </p:sp>
      <p:sp>
        <p:nvSpPr>
          <p:cNvPr id="10" name="Rectangle 9"/>
          <p:cNvSpPr/>
          <p:nvPr/>
        </p:nvSpPr>
        <p:spPr>
          <a:xfrm>
            <a:off x="548640" y="2194560"/>
            <a:ext cx="54864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3291840" cy="3657600"/>
          </a:xfrm>
          <a:prstGeom prst="rect">
            <a:avLst/>
          </a:prstGeom>
          <a:noFill/>
        </p:spPr>
        <p:txBody>
          <a:bodyPr wrap="square">
            <a:spAutoFit/>
          </a:bodyPr>
          <a:lstStyle/>
          <a:p>
            <a:pPr algn="l"/>
            <a:r>
              <a:rPr sz="1200" b="0" i="0">
                <a:solidFill>
                  <a:srgbClr val="FFFFFF"/>
                </a:solidFill>
              </a:rPr>
              <a:t>University of Pennsylvania's data repository.
Source of S&amp;P 500 constituent history, quarterly
financials (Compustat), and stock return data (CRSP).
Coverage: Q1 2010 – Q4 2024.</a:t>
            </a:r>
          </a:p>
        </p:txBody>
      </p:sp>
      <p:sp>
        <p:nvSpPr>
          <p:cNvPr id="12" name="Rectangle 11"/>
          <p:cNvSpPr/>
          <p:nvPr/>
        </p:nvSpPr>
        <p:spPr>
          <a:xfrm>
            <a:off x="4297680" y="1188720"/>
            <a:ext cx="3657600" cy="51206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188720"/>
            <a:ext cx="3657600"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325880"/>
            <a:ext cx="3291840" cy="548640"/>
          </a:xfrm>
          <a:prstGeom prst="rect">
            <a:avLst/>
          </a:prstGeom>
          <a:noFill/>
        </p:spPr>
        <p:txBody>
          <a:bodyPr wrap="square">
            <a:spAutoFit/>
          </a:bodyPr>
          <a:lstStyle/>
          <a:p>
            <a:pPr algn="l"/>
            <a:r>
              <a:rPr sz="3000" b="1" i="0">
                <a:solidFill>
                  <a:srgbClr val="D4AF37"/>
                </a:solidFill>
              </a:rPr>
              <a:t>FRED</a:t>
            </a:r>
          </a:p>
        </p:txBody>
      </p:sp>
      <p:sp>
        <p:nvSpPr>
          <p:cNvPr id="15" name="TextBox 14"/>
          <p:cNvSpPr txBox="1"/>
          <p:nvPr/>
        </p:nvSpPr>
        <p:spPr>
          <a:xfrm>
            <a:off x="4480560" y="1828800"/>
            <a:ext cx="3291840" cy="365760"/>
          </a:xfrm>
          <a:prstGeom prst="rect">
            <a:avLst/>
          </a:prstGeom>
          <a:noFill/>
        </p:spPr>
        <p:txBody>
          <a:bodyPr wrap="square">
            <a:spAutoFit/>
          </a:bodyPr>
          <a:lstStyle/>
          <a:p>
            <a:pPr algn="l"/>
            <a:r>
              <a:rPr sz="1100" b="1" i="0">
                <a:solidFill>
                  <a:srgbClr val="8B9CB8"/>
                </a:solidFill>
              </a:rPr>
              <a:t>Federal Reserve Economic Data</a:t>
            </a:r>
          </a:p>
        </p:txBody>
      </p:sp>
      <p:sp>
        <p:nvSpPr>
          <p:cNvPr id="16" name="Rectangle 15"/>
          <p:cNvSpPr/>
          <p:nvPr/>
        </p:nvSpPr>
        <p:spPr>
          <a:xfrm>
            <a:off x="4480560" y="2194560"/>
            <a:ext cx="54864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331720"/>
            <a:ext cx="3291840" cy="3657600"/>
          </a:xfrm>
          <a:prstGeom prst="rect">
            <a:avLst/>
          </a:prstGeom>
          <a:noFill/>
        </p:spPr>
        <p:txBody>
          <a:bodyPr wrap="square">
            <a:spAutoFit/>
          </a:bodyPr>
          <a:lstStyle/>
          <a:p>
            <a:pPr algn="l"/>
            <a:r>
              <a:rPr sz="1200" b="0" i="0">
                <a:solidFill>
                  <a:srgbClr val="FFFFFF"/>
                </a:solidFill>
              </a:rPr>
              <a:t>Federal Reserve Bank of St. Louis data service.
Source of macroeconomic indicators: GDP growth
and CPI inflation — one value per quarter,
matched to each company's feature quarter.</a:t>
            </a:r>
          </a:p>
        </p:txBody>
      </p:sp>
      <p:sp>
        <p:nvSpPr>
          <p:cNvPr id="18" name="Rectangle 17"/>
          <p:cNvSpPr/>
          <p:nvPr/>
        </p:nvSpPr>
        <p:spPr>
          <a:xfrm>
            <a:off x="8229600" y="1188720"/>
            <a:ext cx="3657600" cy="51206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188720"/>
            <a:ext cx="3657600"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325880"/>
            <a:ext cx="3291840" cy="548640"/>
          </a:xfrm>
          <a:prstGeom prst="rect">
            <a:avLst/>
          </a:prstGeom>
          <a:noFill/>
        </p:spPr>
        <p:txBody>
          <a:bodyPr wrap="square">
            <a:spAutoFit/>
          </a:bodyPr>
          <a:lstStyle/>
          <a:p>
            <a:pPr algn="l"/>
            <a:r>
              <a:rPr sz="3000" b="1" i="0">
                <a:solidFill>
                  <a:srgbClr val="D4AF37"/>
                </a:solidFill>
              </a:rPr>
              <a:t>EDGAR</a:t>
            </a:r>
          </a:p>
        </p:txBody>
      </p:sp>
      <p:sp>
        <p:nvSpPr>
          <p:cNvPr id="21" name="TextBox 20"/>
          <p:cNvSpPr txBox="1"/>
          <p:nvPr/>
        </p:nvSpPr>
        <p:spPr>
          <a:xfrm>
            <a:off x="8412480" y="1828800"/>
            <a:ext cx="3291840" cy="365760"/>
          </a:xfrm>
          <a:prstGeom prst="rect">
            <a:avLst/>
          </a:prstGeom>
          <a:noFill/>
        </p:spPr>
        <p:txBody>
          <a:bodyPr wrap="square">
            <a:spAutoFit/>
          </a:bodyPr>
          <a:lstStyle/>
          <a:p>
            <a:pPr algn="l"/>
            <a:r>
              <a:rPr sz="1100" b="1" i="0">
                <a:solidFill>
                  <a:srgbClr val="8B9CB8"/>
                </a:solidFill>
              </a:rPr>
              <a:t>Electronic Data Gathering, Analysis &amp; Retrieval</a:t>
            </a:r>
          </a:p>
        </p:txBody>
      </p:sp>
      <p:sp>
        <p:nvSpPr>
          <p:cNvPr id="22" name="Rectangle 21"/>
          <p:cNvSpPr/>
          <p:nvPr/>
        </p:nvSpPr>
        <p:spPr>
          <a:xfrm>
            <a:off x="8412480" y="2194560"/>
            <a:ext cx="54864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331720"/>
            <a:ext cx="3291840" cy="3657600"/>
          </a:xfrm>
          <a:prstGeom prst="rect">
            <a:avLst/>
          </a:prstGeom>
          <a:noFill/>
        </p:spPr>
        <p:txBody>
          <a:bodyPr wrap="square">
            <a:spAutoFit/>
          </a:bodyPr>
          <a:lstStyle/>
          <a:p>
            <a:pPr algn="l"/>
            <a:r>
              <a:rPr sz="1200" b="0" i="0">
                <a:solidFill>
                  <a:srgbClr val="FFFFFF"/>
                </a:solidFill>
              </a:rPr>
              <a:t>SEC's official repository for company filings.
Used to supplement Compustat with additional
quarterly 10-Q financial statement data.
Accessed via API through Python.</a:t>
            </a:r>
          </a:p>
        </p:txBody>
      </p:sp>
      <p:sp>
        <p:nvSpPr>
          <p:cNvPr id="24" name="TextBox 23"/>
          <p:cNvSpPr txBox="1"/>
          <p:nvPr/>
        </p:nvSpPr>
        <p:spPr>
          <a:xfrm>
            <a:off x="457200" y="6400800"/>
            <a:ext cx="10972800" cy="320040"/>
          </a:xfrm>
          <a:prstGeom prst="rect">
            <a:avLst/>
          </a:prstGeom>
          <a:noFill/>
        </p:spPr>
        <p:txBody>
          <a:bodyPr wrap="square">
            <a:spAutoFit/>
          </a:bodyPr>
          <a:lstStyle/>
          <a:p>
            <a:pPr algn="l"/>
            <a:r>
              <a:rPr sz="1000" b="0" i="1">
                <a:solidFill>
                  <a:srgbClr val="8B9CB8"/>
                </a:solidFill>
              </a:rPr>
              <a:t>All data pulled via API and processed using Python (pandas, statsmodels, scikit-learn)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Data Capture — Raw Variables</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03 — Compustat Quarterly Fields</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43000"/>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79576"/>
            <a:ext cx="1005840" cy="283464"/>
          </a:xfrm>
          <a:prstGeom prst="rect">
            <a:avLst/>
          </a:prstGeom>
          <a:noFill/>
        </p:spPr>
        <p:txBody>
          <a:bodyPr wrap="square">
            <a:spAutoFit/>
          </a:bodyPr>
          <a:lstStyle/>
          <a:p>
            <a:pPr algn="l"/>
            <a:r>
              <a:rPr sz="1000" b="1" i="0">
                <a:solidFill>
                  <a:srgbClr val="D4AF37"/>
                </a:solidFill>
              </a:rPr>
              <a:t>prccq</a:t>
            </a:r>
          </a:p>
        </p:txBody>
      </p:sp>
      <p:sp>
        <p:nvSpPr>
          <p:cNvPr id="8" name="TextBox 7"/>
          <p:cNvSpPr txBox="1"/>
          <p:nvPr/>
        </p:nvSpPr>
        <p:spPr>
          <a:xfrm>
            <a:off x="1417320" y="1179576"/>
            <a:ext cx="1691640" cy="283464"/>
          </a:xfrm>
          <a:prstGeom prst="rect">
            <a:avLst/>
          </a:prstGeom>
          <a:noFill/>
        </p:spPr>
        <p:txBody>
          <a:bodyPr wrap="square">
            <a:spAutoFit/>
          </a:bodyPr>
          <a:lstStyle/>
          <a:p>
            <a:pPr algn="l"/>
            <a:r>
              <a:rPr sz="1000" b="0" i="0">
                <a:solidFill>
                  <a:srgbClr val="FFFFFF"/>
                </a:solidFill>
              </a:rPr>
              <a:t>Price Close (Quarter End)</a:t>
            </a:r>
          </a:p>
        </p:txBody>
      </p:sp>
      <p:sp>
        <p:nvSpPr>
          <p:cNvPr id="9" name="Rectangle 8"/>
          <p:cNvSpPr/>
          <p:nvPr/>
        </p:nvSpPr>
        <p:spPr>
          <a:xfrm>
            <a:off x="3200400" y="1143000"/>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179576"/>
            <a:ext cx="1005840" cy="283464"/>
          </a:xfrm>
          <a:prstGeom prst="rect">
            <a:avLst/>
          </a:prstGeom>
          <a:noFill/>
        </p:spPr>
        <p:txBody>
          <a:bodyPr wrap="square">
            <a:spAutoFit/>
          </a:bodyPr>
          <a:lstStyle/>
          <a:p>
            <a:pPr algn="l"/>
            <a:r>
              <a:rPr sz="1000" b="1" i="0">
                <a:solidFill>
                  <a:srgbClr val="D4AF37"/>
                </a:solidFill>
              </a:rPr>
              <a:t>cshoq</a:t>
            </a:r>
          </a:p>
        </p:txBody>
      </p:sp>
      <p:sp>
        <p:nvSpPr>
          <p:cNvPr id="11" name="TextBox 10"/>
          <p:cNvSpPr txBox="1"/>
          <p:nvPr/>
        </p:nvSpPr>
        <p:spPr>
          <a:xfrm>
            <a:off x="4297680" y="1179576"/>
            <a:ext cx="1691640" cy="283464"/>
          </a:xfrm>
          <a:prstGeom prst="rect">
            <a:avLst/>
          </a:prstGeom>
          <a:noFill/>
        </p:spPr>
        <p:txBody>
          <a:bodyPr wrap="square">
            <a:spAutoFit/>
          </a:bodyPr>
          <a:lstStyle/>
          <a:p>
            <a:pPr algn="l"/>
            <a:r>
              <a:rPr sz="1000" b="0" i="0">
                <a:solidFill>
                  <a:srgbClr val="FFFFFF"/>
                </a:solidFill>
              </a:rPr>
              <a:t>Common Shares Outstanding</a:t>
            </a:r>
          </a:p>
        </p:txBody>
      </p:sp>
      <p:sp>
        <p:nvSpPr>
          <p:cNvPr id="12" name="Rectangle 11"/>
          <p:cNvSpPr/>
          <p:nvPr/>
        </p:nvSpPr>
        <p:spPr>
          <a:xfrm>
            <a:off x="6080760" y="1143000"/>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179576"/>
            <a:ext cx="1005840" cy="283464"/>
          </a:xfrm>
          <a:prstGeom prst="rect">
            <a:avLst/>
          </a:prstGeom>
          <a:noFill/>
        </p:spPr>
        <p:txBody>
          <a:bodyPr wrap="square">
            <a:spAutoFit/>
          </a:bodyPr>
          <a:lstStyle/>
          <a:p>
            <a:pPr algn="l"/>
            <a:r>
              <a:rPr sz="1000" b="1" i="0">
                <a:solidFill>
                  <a:srgbClr val="D4AF37"/>
                </a:solidFill>
              </a:rPr>
              <a:t>mkvaltq</a:t>
            </a:r>
          </a:p>
        </p:txBody>
      </p:sp>
      <p:sp>
        <p:nvSpPr>
          <p:cNvPr id="14" name="TextBox 13"/>
          <p:cNvSpPr txBox="1"/>
          <p:nvPr/>
        </p:nvSpPr>
        <p:spPr>
          <a:xfrm>
            <a:off x="7178040" y="1179576"/>
            <a:ext cx="1691640" cy="283464"/>
          </a:xfrm>
          <a:prstGeom prst="rect">
            <a:avLst/>
          </a:prstGeom>
          <a:noFill/>
        </p:spPr>
        <p:txBody>
          <a:bodyPr wrap="square">
            <a:spAutoFit/>
          </a:bodyPr>
          <a:lstStyle/>
          <a:p>
            <a:pPr algn="l"/>
            <a:r>
              <a:rPr sz="1000" b="0" i="0">
                <a:solidFill>
                  <a:srgbClr val="FFFFFF"/>
                </a:solidFill>
              </a:rPr>
              <a:t>Market Capitalization</a:t>
            </a:r>
          </a:p>
        </p:txBody>
      </p:sp>
      <p:sp>
        <p:nvSpPr>
          <p:cNvPr id="15" name="Rectangle 14"/>
          <p:cNvSpPr/>
          <p:nvPr/>
        </p:nvSpPr>
        <p:spPr>
          <a:xfrm>
            <a:off x="8961120" y="1143000"/>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179576"/>
            <a:ext cx="1005840" cy="283464"/>
          </a:xfrm>
          <a:prstGeom prst="rect">
            <a:avLst/>
          </a:prstGeom>
          <a:noFill/>
        </p:spPr>
        <p:txBody>
          <a:bodyPr wrap="square">
            <a:spAutoFit/>
          </a:bodyPr>
          <a:lstStyle/>
          <a:p>
            <a:pPr algn="l"/>
            <a:r>
              <a:rPr sz="1000" b="1" i="0">
                <a:solidFill>
                  <a:srgbClr val="D4AF37"/>
                </a:solidFill>
              </a:rPr>
              <a:t>revtq</a:t>
            </a:r>
          </a:p>
        </p:txBody>
      </p:sp>
      <p:sp>
        <p:nvSpPr>
          <p:cNvPr id="17" name="TextBox 16"/>
          <p:cNvSpPr txBox="1"/>
          <p:nvPr/>
        </p:nvSpPr>
        <p:spPr>
          <a:xfrm>
            <a:off x="10058400" y="1179576"/>
            <a:ext cx="1691640" cy="283464"/>
          </a:xfrm>
          <a:prstGeom prst="rect">
            <a:avLst/>
          </a:prstGeom>
          <a:noFill/>
        </p:spPr>
        <p:txBody>
          <a:bodyPr wrap="square">
            <a:spAutoFit/>
          </a:bodyPr>
          <a:lstStyle/>
          <a:p>
            <a:pPr algn="l"/>
            <a:r>
              <a:rPr sz="1000" b="0" i="0">
                <a:solidFill>
                  <a:srgbClr val="FFFFFF"/>
                </a:solidFill>
              </a:rPr>
              <a:t>Total Revenue</a:t>
            </a:r>
          </a:p>
        </p:txBody>
      </p:sp>
      <p:sp>
        <p:nvSpPr>
          <p:cNvPr id="18" name="Rectangle 17"/>
          <p:cNvSpPr/>
          <p:nvPr/>
        </p:nvSpPr>
        <p:spPr>
          <a:xfrm>
            <a:off x="320040" y="1426464"/>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1463040"/>
            <a:ext cx="1005840" cy="283464"/>
          </a:xfrm>
          <a:prstGeom prst="rect">
            <a:avLst/>
          </a:prstGeom>
          <a:noFill/>
        </p:spPr>
        <p:txBody>
          <a:bodyPr wrap="square">
            <a:spAutoFit/>
          </a:bodyPr>
          <a:lstStyle/>
          <a:p>
            <a:pPr algn="l"/>
            <a:r>
              <a:rPr sz="1000" b="1" i="0">
                <a:solidFill>
                  <a:srgbClr val="D4AF37"/>
                </a:solidFill>
              </a:rPr>
              <a:t>cogsq</a:t>
            </a:r>
          </a:p>
        </p:txBody>
      </p:sp>
      <p:sp>
        <p:nvSpPr>
          <p:cNvPr id="20" name="TextBox 19"/>
          <p:cNvSpPr txBox="1"/>
          <p:nvPr/>
        </p:nvSpPr>
        <p:spPr>
          <a:xfrm>
            <a:off x="1417320" y="1463040"/>
            <a:ext cx="1691640" cy="283464"/>
          </a:xfrm>
          <a:prstGeom prst="rect">
            <a:avLst/>
          </a:prstGeom>
          <a:noFill/>
        </p:spPr>
        <p:txBody>
          <a:bodyPr wrap="square">
            <a:spAutoFit/>
          </a:bodyPr>
          <a:lstStyle/>
          <a:p>
            <a:pPr algn="l"/>
            <a:r>
              <a:rPr sz="1000" b="0" i="0">
                <a:solidFill>
                  <a:srgbClr val="FFFFFF"/>
                </a:solidFill>
              </a:rPr>
              <a:t>Cost of Goods Sold</a:t>
            </a:r>
          </a:p>
        </p:txBody>
      </p:sp>
      <p:sp>
        <p:nvSpPr>
          <p:cNvPr id="21" name="Rectangle 20"/>
          <p:cNvSpPr/>
          <p:nvPr/>
        </p:nvSpPr>
        <p:spPr>
          <a:xfrm>
            <a:off x="3200400" y="1426464"/>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1463040"/>
            <a:ext cx="1005840" cy="283464"/>
          </a:xfrm>
          <a:prstGeom prst="rect">
            <a:avLst/>
          </a:prstGeom>
          <a:noFill/>
        </p:spPr>
        <p:txBody>
          <a:bodyPr wrap="square">
            <a:spAutoFit/>
          </a:bodyPr>
          <a:lstStyle/>
          <a:p>
            <a:pPr algn="l"/>
            <a:r>
              <a:rPr sz="1000" b="1" i="0">
                <a:solidFill>
                  <a:srgbClr val="D4AF37"/>
                </a:solidFill>
              </a:rPr>
              <a:t>xsgaq</a:t>
            </a:r>
          </a:p>
        </p:txBody>
      </p:sp>
      <p:sp>
        <p:nvSpPr>
          <p:cNvPr id="23" name="TextBox 22"/>
          <p:cNvSpPr txBox="1"/>
          <p:nvPr/>
        </p:nvSpPr>
        <p:spPr>
          <a:xfrm>
            <a:off x="4297680" y="1463040"/>
            <a:ext cx="1691640" cy="283464"/>
          </a:xfrm>
          <a:prstGeom prst="rect">
            <a:avLst/>
          </a:prstGeom>
          <a:noFill/>
        </p:spPr>
        <p:txBody>
          <a:bodyPr wrap="square">
            <a:spAutoFit/>
          </a:bodyPr>
          <a:lstStyle/>
          <a:p>
            <a:pPr algn="l"/>
            <a:r>
              <a:rPr sz="1000" b="0" i="0">
                <a:solidFill>
                  <a:srgbClr val="FFFFFF"/>
                </a:solidFill>
              </a:rPr>
              <a:t>SG&amp;A Expenses</a:t>
            </a:r>
          </a:p>
        </p:txBody>
      </p:sp>
      <p:sp>
        <p:nvSpPr>
          <p:cNvPr id="24" name="Rectangle 23"/>
          <p:cNvSpPr/>
          <p:nvPr/>
        </p:nvSpPr>
        <p:spPr>
          <a:xfrm>
            <a:off x="6080760" y="1426464"/>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1463040"/>
            <a:ext cx="1005840" cy="283464"/>
          </a:xfrm>
          <a:prstGeom prst="rect">
            <a:avLst/>
          </a:prstGeom>
          <a:noFill/>
        </p:spPr>
        <p:txBody>
          <a:bodyPr wrap="square">
            <a:spAutoFit/>
          </a:bodyPr>
          <a:lstStyle/>
          <a:p>
            <a:pPr algn="l"/>
            <a:r>
              <a:rPr sz="1000" b="1" i="0">
                <a:solidFill>
                  <a:srgbClr val="D4AF37"/>
                </a:solidFill>
              </a:rPr>
              <a:t>xrdq</a:t>
            </a:r>
          </a:p>
        </p:txBody>
      </p:sp>
      <p:sp>
        <p:nvSpPr>
          <p:cNvPr id="26" name="TextBox 25"/>
          <p:cNvSpPr txBox="1"/>
          <p:nvPr/>
        </p:nvSpPr>
        <p:spPr>
          <a:xfrm>
            <a:off x="7178040" y="1463040"/>
            <a:ext cx="1691640" cy="283464"/>
          </a:xfrm>
          <a:prstGeom prst="rect">
            <a:avLst/>
          </a:prstGeom>
          <a:noFill/>
        </p:spPr>
        <p:txBody>
          <a:bodyPr wrap="square">
            <a:spAutoFit/>
          </a:bodyPr>
          <a:lstStyle/>
          <a:p>
            <a:pPr algn="l"/>
            <a:r>
              <a:rPr sz="1000" b="0" i="0">
                <a:solidFill>
                  <a:srgbClr val="FFFFFF"/>
                </a:solidFill>
              </a:rPr>
              <a:t>R&amp;D Expenses</a:t>
            </a:r>
          </a:p>
        </p:txBody>
      </p:sp>
      <p:sp>
        <p:nvSpPr>
          <p:cNvPr id="27" name="Rectangle 26"/>
          <p:cNvSpPr/>
          <p:nvPr/>
        </p:nvSpPr>
        <p:spPr>
          <a:xfrm>
            <a:off x="8961120" y="1426464"/>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0" y="1463040"/>
            <a:ext cx="1005840" cy="283464"/>
          </a:xfrm>
          <a:prstGeom prst="rect">
            <a:avLst/>
          </a:prstGeom>
          <a:noFill/>
        </p:spPr>
        <p:txBody>
          <a:bodyPr wrap="square">
            <a:spAutoFit/>
          </a:bodyPr>
          <a:lstStyle/>
          <a:p>
            <a:pPr algn="l"/>
            <a:r>
              <a:rPr sz="1000" b="1" i="0">
                <a:solidFill>
                  <a:srgbClr val="D4AF37"/>
                </a:solidFill>
              </a:rPr>
              <a:t>oiadpq</a:t>
            </a:r>
          </a:p>
        </p:txBody>
      </p:sp>
      <p:sp>
        <p:nvSpPr>
          <p:cNvPr id="29" name="TextBox 28"/>
          <p:cNvSpPr txBox="1"/>
          <p:nvPr/>
        </p:nvSpPr>
        <p:spPr>
          <a:xfrm>
            <a:off x="10058400" y="1463040"/>
            <a:ext cx="1691640" cy="283464"/>
          </a:xfrm>
          <a:prstGeom prst="rect">
            <a:avLst/>
          </a:prstGeom>
          <a:noFill/>
        </p:spPr>
        <p:txBody>
          <a:bodyPr wrap="square">
            <a:spAutoFit/>
          </a:bodyPr>
          <a:lstStyle/>
          <a:p>
            <a:pPr algn="l"/>
            <a:r>
              <a:rPr sz="1000" b="0" i="0">
                <a:solidFill>
                  <a:srgbClr val="FFFFFF"/>
                </a:solidFill>
              </a:rPr>
              <a:t>Operating Income After Depreciation</a:t>
            </a:r>
          </a:p>
        </p:txBody>
      </p:sp>
      <p:sp>
        <p:nvSpPr>
          <p:cNvPr id="30" name="Rectangle 29"/>
          <p:cNvSpPr/>
          <p:nvPr/>
        </p:nvSpPr>
        <p:spPr>
          <a:xfrm>
            <a:off x="320040" y="1709928"/>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1746504"/>
            <a:ext cx="1005840" cy="283464"/>
          </a:xfrm>
          <a:prstGeom prst="rect">
            <a:avLst/>
          </a:prstGeom>
          <a:noFill/>
        </p:spPr>
        <p:txBody>
          <a:bodyPr wrap="square">
            <a:spAutoFit/>
          </a:bodyPr>
          <a:lstStyle/>
          <a:p>
            <a:pPr algn="l"/>
            <a:r>
              <a:rPr sz="1000" b="1" i="0">
                <a:solidFill>
                  <a:srgbClr val="D4AF37"/>
                </a:solidFill>
              </a:rPr>
              <a:t>niq</a:t>
            </a:r>
          </a:p>
        </p:txBody>
      </p:sp>
      <p:sp>
        <p:nvSpPr>
          <p:cNvPr id="32" name="TextBox 31"/>
          <p:cNvSpPr txBox="1"/>
          <p:nvPr/>
        </p:nvSpPr>
        <p:spPr>
          <a:xfrm>
            <a:off x="1417320" y="1746504"/>
            <a:ext cx="1691640" cy="283464"/>
          </a:xfrm>
          <a:prstGeom prst="rect">
            <a:avLst/>
          </a:prstGeom>
          <a:noFill/>
        </p:spPr>
        <p:txBody>
          <a:bodyPr wrap="square">
            <a:spAutoFit/>
          </a:bodyPr>
          <a:lstStyle/>
          <a:p>
            <a:pPr algn="l"/>
            <a:r>
              <a:rPr sz="1000" b="0" i="0">
                <a:solidFill>
                  <a:srgbClr val="FFFFFF"/>
                </a:solidFill>
              </a:rPr>
              <a:t>Net Income</a:t>
            </a:r>
          </a:p>
        </p:txBody>
      </p:sp>
      <p:sp>
        <p:nvSpPr>
          <p:cNvPr id="33" name="Rectangle 32"/>
          <p:cNvSpPr/>
          <p:nvPr/>
        </p:nvSpPr>
        <p:spPr>
          <a:xfrm>
            <a:off x="3200400" y="1709928"/>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0" y="1746504"/>
            <a:ext cx="1005840" cy="283464"/>
          </a:xfrm>
          <a:prstGeom prst="rect">
            <a:avLst/>
          </a:prstGeom>
          <a:noFill/>
        </p:spPr>
        <p:txBody>
          <a:bodyPr wrap="square">
            <a:spAutoFit/>
          </a:bodyPr>
          <a:lstStyle/>
          <a:p>
            <a:pPr algn="l"/>
            <a:r>
              <a:rPr sz="1000" b="1" i="0">
                <a:solidFill>
                  <a:srgbClr val="D4AF37"/>
                </a:solidFill>
              </a:rPr>
              <a:t>ibq</a:t>
            </a:r>
          </a:p>
        </p:txBody>
      </p:sp>
      <p:sp>
        <p:nvSpPr>
          <p:cNvPr id="35" name="TextBox 34"/>
          <p:cNvSpPr txBox="1"/>
          <p:nvPr/>
        </p:nvSpPr>
        <p:spPr>
          <a:xfrm>
            <a:off x="4297680" y="1746504"/>
            <a:ext cx="1691640" cy="283464"/>
          </a:xfrm>
          <a:prstGeom prst="rect">
            <a:avLst/>
          </a:prstGeom>
          <a:noFill/>
        </p:spPr>
        <p:txBody>
          <a:bodyPr wrap="square">
            <a:spAutoFit/>
          </a:bodyPr>
          <a:lstStyle/>
          <a:p>
            <a:pPr algn="l"/>
            <a:r>
              <a:rPr sz="1000" b="0" i="0">
                <a:solidFill>
                  <a:srgbClr val="FFFFFF"/>
                </a:solidFill>
              </a:rPr>
              <a:t>Income Before Extraordinary Items</a:t>
            </a:r>
          </a:p>
        </p:txBody>
      </p:sp>
      <p:sp>
        <p:nvSpPr>
          <p:cNvPr id="36" name="Rectangle 35"/>
          <p:cNvSpPr/>
          <p:nvPr/>
        </p:nvSpPr>
        <p:spPr>
          <a:xfrm>
            <a:off x="6080760" y="1709928"/>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1746504"/>
            <a:ext cx="1005840" cy="283464"/>
          </a:xfrm>
          <a:prstGeom prst="rect">
            <a:avLst/>
          </a:prstGeom>
          <a:noFill/>
        </p:spPr>
        <p:txBody>
          <a:bodyPr wrap="square">
            <a:spAutoFit/>
          </a:bodyPr>
          <a:lstStyle/>
          <a:p>
            <a:pPr algn="l"/>
            <a:r>
              <a:rPr sz="1000" b="1" i="0">
                <a:solidFill>
                  <a:srgbClr val="D4AF37"/>
                </a:solidFill>
              </a:rPr>
              <a:t>piq</a:t>
            </a:r>
          </a:p>
        </p:txBody>
      </p:sp>
      <p:sp>
        <p:nvSpPr>
          <p:cNvPr id="38" name="TextBox 37"/>
          <p:cNvSpPr txBox="1"/>
          <p:nvPr/>
        </p:nvSpPr>
        <p:spPr>
          <a:xfrm>
            <a:off x="7178040" y="1746504"/>
            <a:ext cx="1691640" cy="283464"/>
          </a:xfrm>
          <a:prstGeom prst="rect">
            <a:avLst/>
          </a:prstGeom>
          <a:noFill/>
        </p:spPr>
        <p:txBody>
          <a:bodyPr wrap="square">
            <a:spAutoFit/>
          </a:bodyPr>
          <a:lstStyle/>
          <a:p>
            <a:pPr algn="l"/>
            <a:r>
              <a:rPr sz="1000" b="0" i="0">
                <a:solidFill>
                  <a:srgbClr val="FFFFFF"/>
                </a:solidFill>
              </a:rPr>
              <a:t>Pretax Income</a:t>
            </a:r>
          </a:p>
        </p:txBody>
      </p:sp>
      <p:sp>
        <p:nvSpPr>
          <p:cNvPr id="39" name="Rectangle 38"/>
          <p:cNvSpPr/>
          <p:nvPr/>
        </p:nvSpPr>
        <p:spPr>
          <a:xfrm>
            <a:off x="8961120" y="1709928"/>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0" y="1746504"/>
            <a:ext cx="1005840" cy="283464"/>
          </a:xfrm>
          <a:prstGeom prst="rect">
            <a:avLst/>
          </a:prstGeom>
          <a:noFill/>
        </p:spPr>
        <p:txBody>
          <a:bodyPr wrap="square">
            <a:spAutoFit/>
          </a:bodyPr>
          <a:lstStyle/>
          <a:p>
            <a:pPr algn="l"/>
            <a:r>
              <a:rPr sz="1000" b="1" i="0">
                <a:solidFill>
                  <a:srgbClr val="D4AF37"/>
                </a:solidFill>
              </a:rPr>
              <a:t>atq</a:t>
            </a:r>
          </a:p>
        </p:txBody>
      </p:sp>
      <p:sp>
        <p:nvSpPr>
          <p:cNvPr id="41" name="TextBox 40"/>
          <p:cNvSpPr txBox="1"/>
          <p:nvPr/>
        </p:nvSpPr>
        <p:spPr>
          <a:xfrm>
            <a:off x="10058400" y="1746504"/>
            <a:ext cx="1691640" cy="283464"/>
          </a:xfrm>
          <a:prstGeom prst="rect">
            <a:avLst/>
          </a:prstGeom>
          <a:noFill/>
        </p:spPr>
        <p:txBody>
          <a:bodyPr wrap="square">
            <a:spAutoFit/>
          </a:bodyPr>
          <a:lstStyle/>
          <a:p>
            <a:pPr algn="l"/>
            <a:r>
              <a:rPr sz="1000" b="0" i="0">
                <a:solidFill>
                  <a:srgbClr val="FFFFFF"/>
                </a:solidFill>
              </a:rPr>
              <a:t>Total Assets</a:t>
            </a:r>
          </a:p>
        </p:txBody>
      </p:sp>
      <p:sp>
        <p:nvSpPr>
          <p:cNvPr id="42" name="Rectangle 41"/>
          <p:cNvSpPr/>
          <p:nvPr/>
        </p:nvSpPr>
        <p:spPr>
          <a:xfrm>
            <a:off x="320040" y="1993392"/>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2029968"/>
            <a:ext cx="1005840" cy="283464"/>
          </a:xfrm>
          <a:prstGeom prst="rect">
            <a:avLst/>
          </a:prstGeom>
          <a:noFill/>
        </p:spPr>
        <p:txBody>
          <a:bodyPr wrap="square">
            <a:spAutoFit/>
          </a:bodyPr>
          <a:lstStyle/>
          <a:p>
            <a:pPr algn="l"/>
            <a:r>
              <a:rPr sz="1000" b="1" i="0">
                <a:solidFill>
                  <a:srgbClr val="D4AF37"/>
                </a:solidFill>
              </a:rPr>
              <a:t>ceqq</a:t>
            </a:r>
          </a:p>
        </p:txBody>
      </p:sp>
      <p:sp>
        <p:nvSpPr>
          <p:cNvPr id="44" name="TextBox 43"/>
          <p:cNvSpPr txBox="1"/>
          <p:nvPr/>
        </p:nvSpPr>
        <p:spPr>
          <a:xfrm>
            <a:off x="1417320" y="2029968"/>
            <a:ext cx="1691640" cy="283464"/>
          </a:xfrm>
          <a:prstGeom prst="rect">
            <a:avLst/>
          </a:prstGeom>
          <a:noFill/>
        </p:spPr>
        <p:txBody>
          <a:bodyPr wrap="square">
            <a:spAutoFit/>
          </a:bodyPr>
          <a:lstStyle/>
          <a:p>
            <a:pPr algn="l"/>
            <a:r>
              <a:rPr sz="1000" b="0" i="0">
                <a:solidFill>
                  <a:srgbClr val="FFFFFF"/>
                </a:solidFill>
              </a:rPr>
              <a:t>Common Equity Total</a:t>
            </a:r>
          </a:p>
        </p:txBody>
      </p:sp>
      <p:sp>
        <p:nvSpPr>
          <p:cNvPr id="45" name="Rectangle 44"/>
          <p:cNvSpPr/>
          <p:nvPr/>
        </p:nvSpPr>
        <p:spPr>
          <a:xfrm>
            <a:off x="3200400" y="1993392"/>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1840" y="2029968"/>
            <a:ext cx="1005840" cy="283464"/>
          </a:xfrm>
          <a:prstGeom prst="rect">
            <a:avLst/>
          </a:prstGeom>
          <a:noFill/>
        </p:spPr>
        <p:txBody>
          <a:bodyPr wrap="square">
            <a:spAutoFit/>
          </a:bodyPr>
          <a:lstStyle/>
          <a:p>
            <a:pPr algn="l"/>
            <a:r>
              <a:rPr sz="1000" b="1" i="0">
                <a:solidFill>
                  <a:srgbClr val="D4AF37"/>
                </a:solidFill>
              </a:rPr>
              <a:t>teqq</a:t>
            </a:r>
          </a:p>
        </p:txBody>
      </p:sp>
      <p:sp>
        <p:nvSpPr>
          <p:cNvPr id="47" name="TextBox 46"/>
          <p:cNvSpPr txBox="1"/>
          <p:nvPr/>
        </p:nvSpPr>
        <p:spPr>
          <a:xfrm>
            <a:off x="4297680" y="2029968"/>
            <a:ext cx="1691640" cy="283464"/>
          </a:xfrm>
          <a:prstGeom prst="rect">
            <a:avLst/>
          </a:prstGeom>
          <a:noFill/>
        </p:spPr>
        <p:txBody>
          <a:bodyPr wrap="square">
            <a:spAutoFit/>
          </a:bodyPr>
          <a:lstStyle/>
          <a:p>
            <a:pPr algn="l"/>
            <a:r>
              <a:rPr sz="1000" b="0" i="0">
                <a:solidFill>
                  <a:srgbClr val="FFFFFF"/>
                </a:solidFill>
              </a:rPr>
              <a:t>Total Stockholders' Equity</a:t>
            </a:r>
          </a:p>
        </p:txBody>
      </p:sp>
      <p:sp>
        <p:nvSpPr>
          <p:cNvPr id="48" name="Rectangle 47"/>
          <p:cNvSpPr/>
          <p:nvPr/>
        </p:nvSpPr>
        <p:spPr>
          <a:xfrm>
            <a:off x="6080760" y="1993392"/>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72200" y="2029968"/>
            <a:ext cx="1005840" cy="283464"/>
          </a:xfrm>
          <a:prstGeom prst="rect">
            <a:avLst/>
          </a:prstGeom>
          <a:noFill/>
        </p:spPr>
        <p:txBody>
          <a:bodyPr wrap="square">
            <a:spAutoFit/>
          </a:bodyPr>
          <a:lstStyle/>
          <a:p>
            <a:pPr algn="l"/>
            <a:r>
              <a:rPr sz="1000" b="1" i="0">
                <a:solidFill>
                  <a:srgbClr val="D4AF37"/>
                </a:solidFill>
              </a:rPr>
              <a:t>dlttq</a:t>
            </a:r>
          </a:p>
        </p:txBody>
      </p:sp>
      <p:sp>
        <p:nvSpPr>
          <p:cNvPr id="50" name="TextBox 49"/>
          <p:cNvSpPr txBox="1"/>
          <p:nvPr/>
        </p:nvSpPr>
        <p:spPr>
          <a:xfrm>
            <a:off x="7178040" y="2029968"/>
            <a:ext cx="1691640" cy="283464"/>
          </a:xfrm>
          <a:prstGeom prst="rect">
            <a:avLst/>
          </a:prstGeom>
          <a:noFill/>
        </p:spPr>
        <p:txBody>
          <a:bodyPr wrap="square">
            <a:spAutoFit/>
          </a:bodyPr>
          <a:lstStyle/>
          <a:p>
            <a:pPr algn="l"/>
            <a:r>
              <a:rPr sz="1000" b="0" i="0">
                <a:solidFill>
                  <a:srgbClr val="FFFFFF"/>
                </a:solidFill>
              </a:rPr>
              <a:t>Long-Term Debt</a:t>
            </a:r>
          </a:p>
        </p:txBody>
      </p:sp>
      <p:sp>
        <p:nvSpPr>
          <p:cNvPr id="51" name="Rectangle 50"/>
          <p:cNvSpPr/>
          <p:nvPr/>
        </p:nvSpPr>
        <p:spPr>
          <a:xfrm>
            <a:off x="8961120" y="1993392"/>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0" y="2029968"/>
            <a:ext cx="1005840" cy="283464"/>
          </a:xfrm>
          <a:prstGeom prst="rect">
            <a:avLst/>
          </a:prstGeom>
          <a:noFill/>
        </p:spPr>
        <p:txBody>
          <a:bodyPr wrap="square">
            <a:spAutoFit/>
          </a:bodyPr>
          <a:lstStyle/>
          <a:p>
            <a:pPr algn="l"/>
            <a:r>
              <a:rPr sz="1000" b="1" i="0">
                <a:solidFill>
                  <a:srgbClr val="D4AF37"/>
                </a:solidFill>
              </a:rPr>
              <a:t>dlcq</a:t>
            </a:r>
          </a:p>
        </p:txBody>
      </p:sp>
      <p:sp>
        <p:nvSpPr>
          <p:cNvPr id="53" name="TextBox 52"/>
          <p:cNvSpPr txBox="1"/>
          <p:nvPr/>
        </p:nvSpPr>
        <p:spPr>
          <a:xfrm>
            <a:off x="10058400" y="2029968"/>
            <a:ext cx="1691640" cy="283464"/>
          </a:xfrm>
          <a:prstGeom prst="rect">
            <a:avLst/>
          </a:prstGeom>
          <a:noFill/>
        </p:spPr>
        <p:txBody>
          <a:bodyPr wrap="square">
            <a:spAutoFit/>
          </a:bodyPr>
          <a:lstStyle/>
          <a:p>
            <a:pPr algn="l"/>
            <a:r>
              <a:rPr sz="1000" b="0" i="0">
                <a:solidFill>
                  <a:srgbClr val="FFFFFF"/>
                </a:solidFill>
              </a:rPr>
              <a:t>Debt in Current Liabilities</a:t>
            </a:r>
          </a:p>
        </p:txBody>
      </p:sp>
      <p:sp>
        <p:nvSpPr>
          <p:cNvPr id="54" name="Rectangle 53"/>
          <p:cNvSpPr/>
          <p:nvPr/>
        </p:nvSpPr>
        <p:spPr>
          <a:xfrm>
            <a:off x="320040" y="2276856"/>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2313432"/>
            <a:ext cx="1005840" cy="283464"/>
          </a:xfrm>
          <a:prstGeom prst="rect">
            <a:avLst/>
          </a:prstGeom>
          <a:noFill/>
        </p:spPr>
        <p:txBody>
          <a:bodyPr wrap="square">
            <a:spAutoFit/>
          </a:bodyPr>
          <a:lstStyle/>
          <a:p>
            <a:pPr algn="l"/>
            <a:r>
              <a:rPr sz="1000" b="1" i="0">
                <a:solidFill>
                  <a:srgbClr val="D4AF37"/>
                </a:solidFill>
              </a:rPr>
              <a:t>actq</a:t>
            </a:r>
          </a:p>
        </p:txBody>
      </p:sp>
      <p:sp>
        <p:nvSpPr>
          <p:cNvPr id="56" name="TextBox 55"/>
          <p:cNvSpPr txBox="1"/>
          <p:nvPr/>
        </p:nvSpPr>
        <p:spPr>
          <a:xfrm>
            <a:off x="1417320" y="2313432"/>
            <a:ext cx="1691640" cy="283464"/>
          </a:xfrm>
          <a:prstGeom prst="rect">
            <a:avLst/>
          </a:prstGeom>
          <a:noFill/>
        </p:spPr>
        <p:txBody>
          <a:bodyPr wrap="square">
            <a:spAutoFit/>
          </a:bodyPr>
          <a:lstStyle/>
          <a:p>
            <a:pPr algn="l"/>
            <a:r>
              <a:rPr sz="1000" b="0" i="0">
                <a:solidFill>
                  <a:srgbClr val="FFFFFF"/>
                </a:solidFill>
              </a:rPr>
              <a:t>Current Assets</a:t>
            </a:r>
          </a:p>
        </p:txBody>
      </p:sp>
      <p:sp>
        <p:nvSpPr>
          <p:cNvPr id="57" name="Rectangle 56"/>
          <p:cNvSpPr/>
          <p:nvPr/>
        </p:nvSpPr>
        <p:spPr>
          <a:xfrm>
            <a:off x="3200400" y="2276856"/>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91840" y="2313432"/>
            <a:ext cx="1005840" cy="283464"/>
          </a:xfrm>
          <a:prstGeom prst="rect">
            <a:avLst/>
          </a:prstGeom>
          <a:noFill/>
        </p:spPr>
        <p:txBody>
          <a:bodyPr wrap="square">
            <a:spAutoFit/>
          </a:bodyPr>
          <a:lstStyle/>
          <a:p>
            <a:pPr algn="l"/>
            <a:r>
              <a:rPr sz="1000" b="1" i="0">
                <a:solidFill>
                  <a:srgbClr val="D4AF37"/>
                </a:solidFill>
              </a:rPr>
              <a:t>lctq</a:t>
            </a:r>
          </a:p>
        </p:txBody>
      </p:sp>
      <p:sp>
        <p:nvSpPr>
          <p:cNvPr id="59" name="TextBox 58"/>
          <p:cNvSpPr txBox="1"/>
          <p:nvPr/>
        </p:nvSpPr>
        <p:spPr>
          <a:xfrm>
            <a:off x="4297680" y="2313432"/>
            <a:ext cx="1691640" cy="283464"/>
          </a:xfrm>
          <a:prstGeom prst="rect">
            <a:avLst/>
          </a:prstGeom>
          <a:noFill/>
        </p:spPr>
        <p:txBody>
          <a:bodyPr wrap="square">
            <a:spAutoFit/>
          </a:bodyPr>
          <a:lstStyle/>
          <a:p>
            <a:pPr algn="l"/>
            <a:r>
              <a:rPr sz="1000" b="0" i="0">
                <a:solidFill>
                  <a:srgbClr val="FFFFFF"/>
                </a:solidFill>
              </a:rPr>
              <a:t>Current Liabilities</a:t>
            </a:r>
          </a:p>
        </p:txBody>
      </p:sp>
      <p:sp>
        <p:nvSpPr>
          <p:cNvPr id="60" name="Rectangle 59"/>
          <p:cNvSpPr/>
          <p:nvPr/>
        </p:nvSpPr>
        <p:spPr>
          <a:xfrm>
            <a:off x="6080760" y="2276856"/>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72200" y="2313432"/>
            <a:ext cx="1005840" cy="283464"/>
          </a:xfrm>
          <a:prstGeom prst="rect">
            <a:avLst/>
          </a:prstGeom>
          <a:noFill/>
        </p:spPr>
        <p:txBody>
          <a:bodyPr wrap="square">
            <a:spAutoFit/>
          </a:bodyPr>
          <a:lstStyle/>
          <a:p>
            <a:pPr algn="l"/>
            <a:r>
              <a:rPr sz="1000" b="1" i="0">
                <a:solidFill>
                  <a:srgbClr val="D4AF37"/>
                </a:solidFill>
              </a:rPr>
              <a:t>cheq</a:t>
            </a:r>
          </a:p>
        </p:txBody>
      </p:sp>
      <p:sp>
        <p:nvSpPr>
          <p:cNvPr id="62" name="TextBox 61"/>
          <p:cNvSpPr txBox="1"/>
          <p:nvPr/>
        </p:nvSpPr>
        <p:spPr>
          <a:xfrm>
            <a:off x="7178040" y="2313432"/>
            <a:ext cx="1691640" cy="283464"/>
          </a:xfrm>
          <a:prstGeom prst="rect">
            <a:avLst/>
          </a:prstGeom>
          <a:noFill/>
        </p:spPr>
        <p:txBody>
          <a:bodyPr wrap="square">
            <a:spAutoFit/>
          </a:bodyPr>
          <a:lstStyle/>
          <a:p>
            <a:pPr algn="l"/>
            <a:r>
              <a:rPr sz="1000" b="0" i="0">
                <a:solidFill>
                  <a:srgbClr val="FFFFFF"/>
                </a:solidFill>
              </a:rPr>
              <a:t>Cash &amp; Short-Term Investments</a:t>
            </a:r>
          </a:p>
        </p:txBody>
      </p:sp>
      <p:sp>
        <p:nvSpPr>
          <p:cNvPr id="63" name="Rectangle 62"/>
          <p:cNvSpPr/>
          <p:nvPr/>
        </p:nvSpPr>
        <p:spPr>
          <a:xfrm>
            <a:off x="8961120" y="2276856"/>
            <a:ext cx="2834640" cy="265176"/>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52560" y="2313432"/>
            <a:ext cx="1005840" cy="283464"/>
          </a:xfrm>
          <a:prstGeom prst="rect">
            <a:avLst/>
          </a:prstGeom>
          <a:noFill/>
        </p:spPr>
        <p:txBody>
          <a:bodyPr wrap="square">
            <a:spAutoFit/>
          </a:bodyPr>
          <a:lstStyle/>
          <a:p>
            <a:pPr algn="l"/>
            <a:r>
              <a:rPr sz="1000" b="1" i="0">
                <a:solidFill>
                  <a:srgbClr val="D4AF37"/>
                </a:solidFill>
              </a:rPr>
              <a:t>dpq</a:t>
            </a:r>
          </a:p>
        </p:txBody>
      </p:sp>
      <p:sp>
        <p:nvSpPr>
          <p:cNvPr id="65" name="TextBox 64"/>
          <p:cNvSpPr txBox="1"/>
          <p:nvPr/>
        </p:nvSpPr>
        <p:spPr>
          <a:xfrm>
            <a:off x="10058400" y="2313432"/>
            <a:ext cx="1691640" cy="283464"/>
          </a:xfrm>
          <a:prstGeom prst="rect">
            <a:avLst/>
          </a:prstGeom>
          <a:noFill/>
        </p:spPr>
        <p:txBody>
          <a:bodyPr wrap="square">
            <a:spAutoFit/>
          </a:bodyPr>
          <a:lstStyle/>
          <a:p>
            <a:pPr algn="l"/>
            <a:r>
              <a:rPr sz="1000" b="0" i="0">
                <a:solidFill>
                  <a:srgbClr val="FFFFFF"/>
                </a:solidFill>
              </a:rPr>
              <a:t>Depreciation &amp; Amortization</a:t>
            </a:r>
          </a:p>
        </p:txBody>
      </p:sp>
      <p:sp>
        <p:nvSpPr>
          <p:cNvPr id="66" name="Rectangle 65"/>
          <p:cNvSpPr/>
          <p:nvPr/>
        </p:nvSpPr>
        <p:spPr>
          <a:xfrm>
            <a:off x="320040" y="2560320"/>
            <a:ext cx="2834640" cy="26517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11480" y="2596896"/>
            <a:ext cx="1005840" cy="283464"/>
          </a:xfrm>
          <a:prstGeom prst="rect">
            <a:avLst/>
          </a:prstGeom>
          <a:noFill/>
        </p:spPr>
        <p:txBody>
          <a:bodyPr wrap="square">
            <a:spAutoFit/>
          </a:bodyPr>
          <a:lstStyle/>
          <a:p>
            <a:pPr algn="l"/>
            <a:r>
              <a:rPr sz="1000" b="1" i="0">
                <a:solidFill>
                  <a:srgbClr val="D4AF37"/>
                </a:solidFill>
              </a:rPr>
              <a:t>oibdpq</a:t>
            </a:r>
          </a:p>
        </p:txBody>
      </p:sp>
      <p:sp>
        <p:nvSpPr>
          <p:cNvPr id="68" name="TextBox 67"/>
          <p:cNvSpPr txBox="1"/>
          <p:nvPr/>
        </p:nvSpPr>
        <p:spPr>
          <a:xfrm>
            <a:off x="1417320" y="2596896"/>
            <a:ext cx="1691640" cy="283464"/>
          </a:xfrm>
          <a:prstGeom prst="rect">
            <a:avLst/>
          </a:prstGeom>
          <a:noFill/>
        </p:spPr>
        <p:txBody>
          <a:bodyPr wrap="square">
            <a:spAutoFit/>
          </a:bodyPr>
          <a:lstStyle/>
          <a:p>
            <a:pPr algn="l"/>
            <a:r>
              <a:rPr sz="1000" b="0" i="0">
                <a:solidFill>
                  <a:srgbClr val="FFFFFF"/>
                </a:solidFill>
              </a:rPr>
              <a:t>Operating Income Before Depreciation</a:t>
            </a:r>
          </a:p>
        </p:txBody>
      </p:sp>
      <p:sp>
        <p:nvSpPr>
          <p:cNvPr id="69" name="TextBox 68"/>
          <p:cNvSpPr txBox="1"/>
          <p:nvPr/>
        </p:nvSpPr>
        <p:spPr>
          <a:xfrm>
            <a:off x="365760" y="6446520"/>
            <a:ext cx="11430000" cy="274320"/>
          </a:xfrm>
          <a:prstGeom prst="rect">
            <a:avLst/>
          </a:prstGeom>
          <a:noFill/>
        </p:spPr>
        <p:txBody>
          <a:bodyPr wrap="square">
            <a:spAutoFit/>
          </a:bodyPr>
          <a:lstStyle/>
          <a:p>
            <a:pPr algn="l"/>
            <a:r>
              <a:rPr sz="900" b="0" i="1">
                <a:solidFill>
                  <a:srgbClr val="8B9CB8"/>
                </a:solidFill>
              </a:rPr>
              <a:t>Source: WRDS Compustat Fundamentals Quarterly (fundq table)  |  Joined on gvkey identifier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Data Computations — Financial Ratios</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04 — 14 Base Ratios Derived from Raw Variables</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43000"/>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36576" cy="3383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197864"/>
            <a:ext cx="2194560" cy="256032"/>
          </a:xfrm>
          <a:prstGeom prst="rect">
            <a:avLst/>
          </a:prstGeom>
          <a:noFill/>
        </p:spPr>
        <p:txBody>
          <a:bodyPr wrap="square">
            <a:spAutoFit/>
          </a:bodyPr>
          <a:lstStyle/>
          <a:p>
            <a:pPr algn="l"/>
            <a:r>
              <a:rPr sz="1000" b="1" i="0">
                <a:solidFill>
                  <a:srgbClr val="FFFFFF"/>
                </a:solidFill>
              </a:rPr>
              <a:t>Return on Assets (ROA)</a:t>
            </a:r>
          </a:p>
        </p:txBody>
      </p:sp>
      <p:sp>
        <p:nvSpPr>
          <p:cNvPr id="9" name="TextBox 8"/>
          <p:cNvSpPr txBox="1"/>
          <p:nvPr/>
        </p:nvSpPr>
        <p:spPr>
          <a:xfrm>
            <a:off x="2651760" y="1197864"/>
            <a:ext cx="2560320" cy="256032"/>
          </a:xfrm>
          <a:prstGeom prst="rect">
            <a:avLst/>
          </a:prstGeom>
          <a:noFill/>
        </p:spPr>
        <p:txBody>
          <a:bodyPr wrap="square">
            <a:spAutoFit/>
          </a:bodyPr>
          <a:lstStyle/>
          <a:p>
            <a:pPr algn="l"/>
            <a:r>
              <a:rPr sz="900" b="0" i="1">
                <a:solidFill>
                  <a:srgbClr val="8B9CB8"/>
                </a:solidFill>
              </a:rPr>
              <a:t>Net Income / Total Assets</a:t>
            </a:r>
          </a:p>
        </p:txBody>
      </p:sp>
      <p:sp>
        <p:nvSpPr>
          <p:cNvPr id="10" name="TextBox 9"/>
          <p:cNvSpPr txBox="1"/>
          <p:nvPr/>
        </p:nvSpPr>
        <p:spPr>
          <a:xfrm>
            <a:off x="5303520" y="1197864"/>
            <a:ext cx="731520" cy="256032"/>
          </a:xfrm>
          <a:prstGeom prst="rect">
            <a:avLst/>
          </a:prstGeom>
          <a:noFill/>
        </p:spPr>
        <p:txBody>
          <a:bodyPr wrap="square">
            <a:spAutoFit/>
          </a:bodyPr>
          <a:lstStyle/>
          <a:p>
            <a:pPr algn="l"/>
            <a:r>
              <a:rPr sz="800" b="1" i="0">
                <a:solidFill>
                  <a:srgbClr val="D4AF37"/>
                </a:solidFill>
              </a:rPr>
              <a:t>Profitability</a:t>
            </a:r>
          </a:p>
        </p:txBody>
      </p:sp>
      <p:sp>
        <p:nvSpPr>
          <p:cNvPr id="11" name="Rectangle 10"/>
          <p:cNvSpPr/>
          <p:nvPr/>
        </p:nvSpPr>
        <p:spPr>
          <a:xfrm>
            <a:off x="6263640" y="1143000"/>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143000"/>
            <a:ext cx="36576" cy="3383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197864"/>
            <a:ext cx="2194560" cy="256032"/>
          </a:xfrm>
          <a:prstGeom prst="rect">
            <a:avLst/>
          </a:prstGeom>
          <a:noFill/>
        </p:spPr>
        <p:txBody>
          <a:bodyPr wrap="square">
            <a:spAutoFit/>
          </a:bodyPr>
          <a:lstStyle/>
          <a:p>
            <a:pPr algn="l"/>
            <a:r>
              <a:rPr sz="1000" b="1" i="0">
                <a:solidFill>
                  <a:srgbClr val="FFFFFF"/>
                </a:solidFill>
              </a:rPr>
              <a:t>Return on Equity (ROE)</a:t>
            </a:r>
          </a:p>
        </p:txBody>
      </p:sp>
      <p:sp>
        <p:nvSpPr>
          <p:cNvPr id="14" name="TextBox 13"/>
          <p:cNvSpPr txBox="1"/>
          <p:nvPr/>
        </p:nvSpPr>
        <p:spPr>
          <a:xfrm>
            <a:off x="8595360" y="1197864"/>
            <a:ext cx="2560320" cy="256032"/>
          </a:xfrm>
          <a:prstGeom prst="rect">
            <a:avLst/>
          </a:prstGeom>
          <a:noFill/>
        </p:spPr>
        <p:txBody>
          <a:bodyPr wrap="square">
            <a:spAutoFit/>
          </a:bodyPr>
          <a:lstStyle/>
          <a:p>
            <a:pPr algn="l"/>
            <a:r>
              <a:rPr sz="900" b="0" i="1">
                <a:solidFill>
                  <a:srgbClr val="8B9CB8"/>
                </a:solidFill>
              </a:rPr>
              <a:t>Net Income / Common Equity Total</a:t>
            </a:r>
          </a:p>
        </p:txBody>
      </p:sp>
      <p:sp>
        <p:nvSpPr>
          <p:cNvPr id="15" name="TextBox 14"/>
          <p:cNvSpPr txBox="1"/>
          <p:nvPr/>
        </p:nvSpPr>
        <p:spPr>
          <a:xfrm>
            <a:off x="11247120" y="1197864"/>
            <a:ext cx="731520" cy="256032"/>
          </a:xfrm>
          <a:prstGeom prst="rect">
            <a:avLst/>
          </a:prstGeom>
          <a:noFill/>
        </p:spPr>
        <p:txBody>
          <a:bodyPr wrap="square">
            <a:spAutoFit/>
          </a:bodyPr>
          <a:lstStyle/>
          <a:p>
            <a:pPr algn="l"/>
            <a:r>
              <a:rPr sz="800" b="1" i="0">
                <a:solidFill>
                  <a:srgbClr val="D4AF37"/>
                </a:solidFill>
              </a:rPr>
              <a:t>Profitability</a:t>
            </a:r>
          </a:p>
        </p:txBody>
      </p:sp>
      <p:sp>
        <p:nvSpPr>
          <p:cNvPr id="16" name="Rectangle 15"/>
          <p:cNvSpPr/>
          <p:nvPr/>
        </p:nvSpPr>
        <p:spPr>
          <a:xfrm>
            <a:off x="320040" y="1499616"/>
            <a:ext cx="5760720" cy="33832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1499616"/>
            <a:ext cx="36576" cy="3383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1554480"/>
            <a:ext cx="2194560" cy="256032"/>
          </a:xfrm>
          <a:prstGeom prst="rect">
            <a:avLst/>
          </a:prstGeom>
          <a:noFill/>
        </p:spPr>
        <p:txBody>
          <a:bodyPr wrap="square">
            <a:spAutoFit/>
          </a:bodyPr>
          <a:lstStyle/>
          <a:p>
            <a:pPr algn="l"/>
            <a:r>
              <a:rPr sz="1000" b="1" i="0">
                <a:solidFill>
                  <a:srgbClr val="FFFFFF"/>
                </a:solidFill>
              </a:rPr>
              <a:t>Gross Margin</a:t>
            </a:r>
          </a:p>
        </p:txBody>
      </p:sp>
      <p:sp>
        <p:nvSpPr>
          <p:cNvPr id="19" name="TextBox 18"/>
          <p:cNvSpPr txBox="1"/>
          <p:nvPr/>
        </p:nvSpPr>
        <p:spPr>
          <a:xfrm>
            <a:off x="2651760" y="1554480"/>
            <a:ext cx="2560320" cy="256032"/>
          </a:xfrm>
          <a:prstGeom prst="rect">
            <a:avLst/>
          </a:prstGeom>
          <a:noFill/>
        </p:spPr>
        <p:txBody>
          <a:bodyPr wrap="square">
            <a:spAutoFit/>
          </a:bodyPr>
          <a:lstStyle/>
          <a:p>
            <a:pPr algn="l"/>
            <a:r>
              <a:rPr sz="900" b="0" i="1">
                <a:solidFill>
                  <a:srgbClr val="8B9CB8"/>
                </a:solidFill>
              </a:rPr>
              <a:t>(Revenue - COGS) / Revenue</a:t>
            </a:r>
          </a:p>
        </p:txBody>
      </p:sp>
      <p:sp>
        <p:nvSpPr>
          <p:cNvPr id="20" name="TextBox 19"/>
          <p:cNvSpPr txBox="1"/>
          <p:nvPr/>
        </p:nvSpPr>
        <p:spPr>
          <a:xfrm>
            <a:off x="5303520" y="1554480"/>
            <a:ext cx="731520" cy="256032"/>
          </a:xfrm>
          <a:prstGeom prst="rect">
            <a:avLst/>
          </a:prstGeom>
          <a:noFill/>
        </p:spPr>
        <p:txBody>
          <a:bodyPr wrap="square">
            <a:spAutoFit/>
          </a:bodyPr>
          <a:lstStyle/>
          <a:p>
            <a:pPr algn="l"/>
            <a:r>
              <a:rPr sz="800" b="1" i="0">
                <a:solidFill>
                  <a:srgbClr val="D4AF37"/>
                </a:solidFill>
              </a:rPr>
              <a:t>Profitability</a:t>
            </a:r>
          </a:p>
        </p:txBody>
      </p:sp>
      <p:sp>
        <p:nvSpPr>
          <p:cNvPr id="21" name="Rectangle 20"/>
          <p:cNvSpPr/>
          <p:nvPr/>
        </p:nvSpPr>
        <p:spPr>
          <a:xfrm>
            <a:off x="6263640" y="1499616"/>
            <a:ext cx="5760720" cy="33832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1499616"/>
            <a:ext cx="36576" cy="3383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1554480"/>
            <a:ext cx="2194560" cy="256032"/>
          </a:xfrm>
          <a:prstGeom prst="rect">
            <a:avLst/>
          </a:prstGeom>
          <a:noFill/>
        </p:spPr>
        <p:txBody>
          <a:bodyPr wrap="square">
            <a:spAutoFit/>
          </a:bodyPr>
          <a:lstStyle/>
          <a:p>
            <a:pPr algn="l"/>
            <a:r>
              <a:rPr sz="1000" b="1" i="0">
                <a:solidFill>
                  <a:srgbClr val="FFFFFF"/>
                </a:solidFill>
              </a:rPr>
              <a:t>Operating Margin</a:t>
            </a:r>
          </a:p>
        </p:txBody>
      </p:sp>
      <p:sp>
        <p:nvSpPr>
          <p:cNvPr id="24" name="TextBox 23"/>
          <p:cNvSpPr txBox="1"/>
          <p:nvPr/>
        </p:nvSpPr>
        <p:spPr>
          <a:xfrm>
            <a:off x="8595360" y="1554480"/>
            <a:ext cx="2560320" cy="256032"/>
          </a:xfrm>
          <a:prstGeom prst="rect">
            <a:avLst/>
          </a:prstGeom>
          <a:noFill/>
        </p:spPr>
        <p:txBody>
          <a:bodyPr wrap="square">
            <a:spAutoFit/>
          </a:bodyPr>
          <a:lstStyle/>
          <a:p>
            <a:pPr algn="l"/>
            <a:r>
              <a:rPr sz="900" b="0" i="1">
                <a:solidFill>
                  <a:srgbClr val="8B9CB8"/>
                </a:solidFill>
              </a:rPr>
              <a:t>Op. Income After Depr. / Revenue</a:t>
            </a:r>
          </a:p>
        </p:txBody>
      </p:sp>
      <p:sp>
        <p:nvSpPr>
          <p:cNvPr id="25" name="TextBox 24"/>
          <p:cNvSpPr txBox="1"/>
          <p:nvPr/>
        </p:nvSpPr>
        <p:spPr>
          <a:xfrm>
            <a:off x="11247120" y="1554480"/>
            <a:ext cx="731520" cy="256032"/>
          </a:xfrm>
          <a:prstGeom prst="rect">
            <a:avLst/>
          </a:prstGeom>
          <a:noFill/>
        </p:spPr>
        <p:txBody>
          <a:bodyPr wrap="square">
            <a:spAutoFit/>
          </a:bodyPr>
          <a:lstStyle/>
          <a:p>
            <a:pPr algn="l"/>
            <a:r>
              <a:rPr sz="800" b="1" i="0">
                <a:solidFill>
                  <a:srgbClr val="D4AF37"/>
                </a:solidFill>
              </a:rPr>
              <a:t>Profitability</a:t>
            </a:r>
          </a:p>
        </p:txBody>
      </p:sp>
      <p:sp>
        <p:nvSpPr>
          <p:cNvPr id="26" name="Rectangle 25"/>
          <p:cNvSpPr/>
          <p:nvPr/>
        </p:nvSpPr>
        <p:spPr>
          <a:xfrm>
            <a:off x="320040" y="1856232"/>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1856232"/>
            <a:ext cx="36576" cy="3383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 y="1911096"/>
            <a:ext cx="2194560" cy="256032"/>
          </a:xfrm>
          <a:prstGeom prst="rect">
            <a:avLst/>
          </a:prstGeom>
          <a:noFill/>
        </p:spPr>
        <p:txBody>
          <a:bodyPr wrap="square">
            <a:spAutoFit/>
          </a:bodyPr>
          <a:lstStyle/>
          <a:p>
            <a:pPr algn="l"/>
            <a:r>
              <a:rPr sz="1000" b="1" i="0">
                <a:solidFill>
                  <a:srgbClr val="FFFFFF"/>
                </a:solidFill>
              </a:rPr>
              <a:t>Net Margin</a:t>
            </a:r>
          </a:p>
        </p:txBody>
      </p:sp>
      <p:sp>
        <p:nvSpPr>
          <p:cNvPr id="29" name="TextBox 28"/>
          <p:cNvSpPr txBox="1"/>
          <p:nvPr/>
        </p:nvSpPr>
        <p:spPr>
          <a:xfrm>
            <a:off x="2651760" y="1911096"/>
            <a:ext cx="2560320" cy="256032"/>
          </a:xfrm>
          <a:prstGeom prst="rect">
            <a:avLst/>
          </a:prstGeom>
          <a:noFill/>
        </p:spPr>
        <p:txBody>
          <a:bodyPr wrap="square">
            <a:spAutoFit/>
          </a:bodyPr>
          <a:lstStyle/>
          <a:p>
            <a:pPr algn="l"/>
            <a:r>
              <a:rPr sz="900" b="0" i="1">
                <a:solidFill>
                  <a:srgbClr val="8B9CB8"/>
                </a:solidFill>
              </a:rPr>
              <a:t>Net Income / Revenue</a:t>
            </a:r>
          </a:p>
        </p:txBody>
      </p:sp>
      <p:sp>
        <p:nvSpPr>
          <p:cNvPr id="30" name="TextBox 29"/>
          <p:cNvSpPr txBox="1"/>
          <p:nvPr/>
        </p:nvSpPr>
        <p:spPr>
          <a:xfrm>
            <a:off x="5303520" y="1911096"/>
            <a:ext cx="731520" cy="256032"/>
          </a:xfrm>
          <a:prstGeom prst="rect">
            <a:avLst/>
          </a:prstGeom>
          <a:noFill/>
        </p:spPr>
        <p:txBody>
          <a:bodyPr wrap="square">
            <a:spAutoFit/>
          </a:bodyPr>
          <a:lstStyle/>
          <a:p>
            <a:pPr algn="l"/>
            <a:r>
              <a:rPr sz="800" b="1" i="0">
                <a:solidFill>
                  <a:srgbClr val="D4AF37"/>
                </a:solidFill>
              </a:rPr>
              <a:t>Profitability</a:t>
            </a:r>
          </a:p>
        </p:txBody>
      </p:sp>
      <p:sp>
        <p:nvSpPr>
          <p:cNvPr id="31" name="Rectangle 30"/>
          <p:cNvSpPr/>
          <p:nvPr/>
        </p:nvSpPr>
        <p:spPr>
          <a:xfrm>
            <a:off x="6263640" y="1856232"/>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63640" y="1856232"/>
            <a:ext cx="36576" cy="338328"/>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3368" y="1911096"/>
            <a:ext cx="2194560" cy="256032"/>
          </a:xfrm>
          <a:prstGeom prst="rect">
            <a:avLst/>
          </a:prstGeom>
          <a:noFill/>
        </p:spPr>
        <p:txBody>
          <a:bodyPr wrap="square">
            <a:spAutoFit/>
          </a:bodyPr>
          <a:lstStyle/>
          <a:p>
            <a:pPr algn="l"/>
            <a:r>
              <a:rPr sz="1000" b="1" i="0">
                <a:solidFill>
                  <a:srgbClr val="FFFFFF"/>
                </a:solidFill>
              </a:rPr>
              <a:t>Asset Turnover</a:t>
            </a:r>
          </a:p>
        </p:txBody>
      </p:sp>
      <p:sp>
        <p:nvSpPr>
          <p:cNvPr id="34" name="TextBox 33"/>
          <p:cNvSpPr txBox="1"/>
          <p:nvPr/>
        </p:nvSpPr>
        <p:spPr>
          <a:xfrm>
            <a:off x="8595360" y="1911096"/>
            <a:ext cx="2560320" cy="256032"/>
          </a:xfrm>
          <a:prstGeom prst="rect">
            <a:avLst/>
          </a:prstGeom>
          <a:noFill/>
        </p:spPr>
        <p:txBody>
          <a:bodyPr wrap="square">
            <a:spAutoFit/>
          </a:bodyPr>
          <a:lstStyle/>
          <a:p>
            <a:pPr algn="l"/>
            <a:r>
              <a:rPr sz="900" b="0" i="1">
                <a:solidFill>
                  <a:srgbClr val="8B9CB8"/>
                </a:solidFill>
              </a:rPr>
              <a:t>Revenue / Total Assets</a:t>
            </a:r>
          </a:p>
        </p:txBody>
      </p:sp>
      <p:sp>
        <p:nvSpPr>
          <p:cNvPr id="35" name="TextBox 34"/>
          <p:cNvSpPr txBox="1"/>
          <p:nvPr/>
        </p:nvSpPr>
        <p:spPr>
          <a:xfrm>
            <a:off x="11247120" y="1911096"/>
            <a:ext cx="731520" cy="256032"/>
          </a:xfrm>
          <a:prstGeom prst="rect">
            <a:avLst/>
          </a:prstGeom>
          <a:noFill/>
        </p:spPr>
        <p:txBody>
          <a:bodyPr wrap="square">
            <a:spAutoFit/>
          </a:bodyPr>
          <a:lstStyle/>
          <a:p>
            <a:pPr algn="l"/>
            <a:r>
              <a:rPr sz="800" b="1" i="0">
                <a:solidFill>
                  <a:srgbClr val="4A9EFF"/>
                </a:solidFill>
              </a:rPr>
              <a:t>Efficiency</a:t>
            </a:r>
          </a:p>
        </p:txBody>
      </p:sp>
      <p:sp>
        <p:nvSpPr>
          <p:cNvPr id="36" name="Rectangle 35"/>
          <p:cNvSpPr/>
          <p:nvPr/>
        </p:nvSpPr>
        <p:spPr>
          <a:xfrm>
            <a:off x="320040" y="2212848"/>
            <a:ext cx="5760720" cy="33832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040" y="2212848"/>
            <a:ext cx="36576" cy="33832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9768" y="2267712"/>
            <a:ext cx="2194560" cy="256032"/>
          </a:xfrm>
          <a:prstGeom prst="rect">
            <a:avLst/>
          </a:prstGeom>
          <a:noFill/>
        </p:spPr>
        <p:txBody>
          <a:bodyPr wrap="square">
            <a:spAutoFit/>
          </a:bodyPr>
          <a:lstStyle/>
          <a:p>
            <a:pPr algn="l"/>
            <a:r>
              <a:rPr sz="1000" b="1" i="0">
                <a:solidFill>
                  <a:srgbClr val="FFFFFF"/>
                </a:solidFill>
              </a:rPr>
              <a:t>Current Ratio</a:t>
            </a:r>
          </a:p>
        </p:txBody>
      </p:sp>
      <p:sp>
        <p:nvSpPr>
          <p:cNvPr id="39" name="TextBox 38"/>
          <p:cNvSpPr txBox="1"/>
          <p:nvPr/>
        </p:nvSpPr>
        <p:spPr>
          <a:xfrm>
            <a:off x="2651760" y="2267712"/>
            <a:ext cx="2560320" cy="256032"/>
          </a:xfrm>
          <a:prstGeom prst="rect">
            <a:avLst/>
          </a:prstGeom>
          <a:noFill/>
        </p:spPr>
        <p:txBody>
          <a:bodyPr wrap="square">
            <a:spAutoFit/>
          </a:bodyPr>
          <a:lstStyle/>
          <a:p>
            <a:pPr algn="l"/>
            <a:r>
              <a:rPr sz="900" b="0" i="1">
                <a:solidFill>
                  <a:srgbClr val="8B9CB8"/>
                </a:solidFill>
              </a:rPr>
              <a:t>Current Assets / Current Liabilities</a:t>
            </a:r>
          </a:p>
        </p:txBody>
      </p:sp>
      <p:sp>
        <p:nvSpPr>
          <p:cNvPr id="40" name="TextBox 39"/>
          <p:cNvSpPr txBox="1"/>
          <p:nvPr/>
        </p:nvSpPr>
        <p:spPr>
          <a:xfrm>
            <a:off x="5303520" y="2267712"/>
            <a:ext cx="731520" cy="256032"/>
          </a:xfrm>
          <a:prstGeom prst="rect">
            <a:avLst/>
          </a:prstGeom>
          <a:noFill/>
        </p:spPr>
        <p:txBody>
          <a:bodyPr wrap="square">
            <a:spAutoFit/>
          </a:bodyPr>
          <a:lstStyle/>
          <a:p>
            <a:pPr algn="l"/>
            <a:r>
              <a:rPr sz="800" b="1" i="0">
                <a:solidFill>
                  <a:srgbClr val="2ECC71"/>
                </a:solidFill>
              </a:rPr>
              <a:t>Liquidity</a:t>
            </a:r>
          </a:p>
        </p:txBody>
      </p:sp>
      <p:sp>
        <p:nvSpPr>
          <p:cNvPr id="41" name="Rectangle 40"/>
          <p:cNvSpPr/>
          <p:nvPr/>
        </p:nvSpPr>
        <p:spPr>
          <a:xfrm>
            <a:off x="6263640" y="2212848"/>
            <a:ext cx="5760720" cy="33832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2212848"/>
            <a:ext cx="36576" cy="3383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73368" y="2267712"/>
            <a:ext cx="2194560" cy="256032"/>
          </a:xfrm>
          <a:prstGeom prst="rect">
            <a:avLst/>
          </a:prstGeom>
          <a:noFill/>
        </p:spPr>
        <p:txBody>
          <a:bodyPr wrap="square">
            <a:spAutoFit/>
          </a:bodyPr>
          <a:lstStyle/>
          <a:p>
            <a:pPr algn="l"/>
            <a:r>
              <a:rPr sz="1000" b="1" i="0">
                <a:solidFill>
                  <a:srgbClr val="FFFFFF"/>
                </a:solidFill>
              </a:rPr>
              <a:t>Debt to Equity</a:t>
            </a:r>
          </a:p>
        </p:txBody>
      </p:sp>
      <p:sp>
        <p:nvSpPr>
          <p:cNvPr id="44" name="TextBox 43"/>
          <p:cNvSpPr txBox="1"/>
          <p:nvPr/>
        </p:nvSpPr>
        <p:spPr>
          <a:xfrm>
            <a:off x="8595360" y="2267712"/>
            <a:ext cx="2560320" cy="256032"/>
          </a:xfrm>
          <a:prstGeom prst="rect">
            <a:avLst/>
          </a:prstGeom>
          <a:noFill/>
        </p:spPr>
        <p:txBody>
          <a:bodyPr wrap="square">
            <a:spAutoFit/>
          </a:bodyPr>
          <a:lstStyle/>
          <a:p>
            <a:pPr algn="l"/>
            <a:r>
              <a:rPr sz="900" b="0" i="1">
                <a:solidFill>
                  <a:srgbClr val="8B9CB8"/>
                </a:solidFill>
              </a:rPr>
              <a:t>Long-Term Debt / Common Equity</a:t>
            </a:r>
          </a:p>
        </p:txBody>
      </p:sp>
      <p:sp>
        <p:nvSpPr>
          <p:cNvPr id="45" name="TextBox 44"/>
          <p:cNvSpPr txBox="1"/>
          <p:nvPr/>
        </p:nvSpPr>
        <p:spPr>
          <a:xfrm>
            <a:off x="11247120" y="2267712"/>
            <a:ext cx="731520" cy="256032"/>
          </a:xfrm>
          <a:prstGeom prst="rect">
            <a:avLst/>
          </a:prstGeom>
          <a:noFill/>
        </p:spPr>
        <p:txBody>
          <a:bodyPr wrap="square">
            <a:spAutoFit/>
          </a:bodyPr>
          <a:lstStyle/>
          <a:p>
            <a:pPr algn="l"/>
            <a:r>
              <a:rPr sz="800" b="1" i="0">
                <a:solidFill>
                  <a:srgbClr val="E67E22"/>
                </a:solidFill>
              </a:rPr>
              <a:t>Leverage</a:t>
            </a:r>
          </a:p>
        </p:txBody>
      </p:sp>
      <p:sp>
        <p:nvSpPr>
          <p:cNvPr id="46" name="Rectangle 45"/>
          <p:cNvSpPr/>
          <p:nvPr/>
        </p:nvSpPr>
        <p:spPr>
          <a:xfrm>
            <a:off x="320040" y="2569464"/>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0040" y="2569464"/>
            <a:ext cx="36576" cy="338328"/>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9768" y="2624328"/>
            <a:ext cx="2194560" cy="256032"/>
          </a:xfrm>
          <a:prstGeom prst="rect">
            <a:avLst/>
          </a:prstGeom>
          <a:noFill/>
        </p:spPr>
        <p:txBody>
          <a:bodyPr wrap="square">
            <a:spAutoFit/>
          </a:bodyPr>
          <a:lstStyle/>
          <a:p>
            <a:pPr algn="l"/>
            <a:r>
              <a:rPr sz="1000" b="1" i="0">
                <a:solidFill>
                  <a:srgbClr val="FFFFFF"/>
                </a:solidFill>
              </a:rPr>
              <a:t>Revenue Growth</a:t>
            </a:r>
          </a:p>
        </p:txBody>
      </p:sp>
      <p:sp>
        <p:nvSpPr>
          <p:cNvPr id="49" name="TextBox 48"/>
          <p:cNvSpPr txBox="1"/>
          <p:nvPr/>
        </p:nvSpPr>
        <p:spPr>
          <a:xfrm>
            <a:off x="2651760" y="2624328"/>
            <a:ext cx="2560320" cy="256032"/>
          </a:xfrm>
          <a:prstGeom prst="rect">
            <a:avLst/>
          </a:prstGeom>
          <a:noFill/>
        </p:spPr>
        <p:txBody>
          <a:bodyPr wrap="square">
            <a:spAutoFit/>
          </a:bodyPr>
          <a:lstStyle/>
          <a:p>
            <a:pPr algn="l"/>
            <a:r>
              <a:rPr sz="900" b="0" i="1">
                <a:solidFill>
                  <a:srgbClr val="8B9CB8"/>
                </a:solidFill>
              </a:rPr>
              <a:t>(Rev - Lag Rev) / |Lag Rev|</a:t>
            </a:r>
          </a:p>
        </p:txBody>
      </p:sp>
      <p:sp>
        <p:nvSpPr>
          <p:cNvPr id="50" name="TextBox 49"/>
          <p:cNvSpPr txBox="1"/>
          <p:nvPr/>
        </p:nvSpPr>
        <p:spPr>
          <a:xfrm>
            <a:off x="5303520" y="2624328"/>
            <a:ext cx="731520" cy="256032"/>
          </a:xfrm>
          <a:prstGeom prst="rect">
            <a:avLst/>
          </a:prstGeom>
          <a:noFill/>
        </p:spPr>
        <p:txBody>
          <a:bodyPr wrap="square">
            <a:spAutoFit/>
          </a:bodyPr>
          <a:lstStyle/>
          <a:p>
            <a:pPr algn="l"/>
            <a:r>
              <a:rPr sz="800" b="1" i="0">
                <a:solidFill>
                  <a:srgbClr val="9B59B6"/>
                </a:solidFill>
              </a:rPr>
              <a:t>Growth</a:t>
            </a:r>
          </a:p>
        </p:txBody>
      </p:sp>
      <p:sp>
        <p:nvSpPr>
          <p:cNvPr id="51" name="Rectangle 50"/>
          <p:cNvSpPr/>
          <p:nvPr/>
        </p:nvSpPr>
        <p:spPr>
          <a:xfrm>
            <a:off x="6263640" y="2569464"/>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63640" y="2569464"/>
            <a:ext cx="36576" cy="338328"/>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73368" y="2624328"/>
            <a:ext cx="2194560" cy="256032"/>
          </a:xfrm>
          <a:prstGeom prst="rect">
            <a:avLst/>
          </a:prstGeom>
          <a:noFill/>
        </p:spPr>
        <p:txBody>
          <a:bodyPr wrap="square">
            <a:spAutoFit/>
          </a:bodyPr>
          <a:lstStyle/>
          <a:p>
            <a:pPr algn="l"/>
            <a:r>
              <a:rPr sz="1000" b="1" i="0">
                <a:solidFill>
                  <a:srgbClr val="FFFFFF"/>
                </a:solidFill>
              </a:rPr>
              <a:t>Net Income Growth</a:t>
            </a:r>
          </a:p>
        </p:txBody>
      </p:sp>
      <p:sp>
        <p:nvSpPr>
          <p:cNvPr id="54" name="TextBox 53"/>
          <p:cNvSpPr txBox="1"/>
          <p:nvPr/>
        </p:nvSpPr>
        <p:spPr>
          <a:xfrm>
            <a:off x="8595360" y="2624328"/>
            <a:ext cx="2560320" cy="256032"/>
          </a:xfrm>
          <a:prstGeom prst="rect">
            <a:avLst/>
          </a:prstGeom>
          <a:noFill/>
        </p:spPr>
        <p:txBody>
          <a:bodyPr wrap="square">
            <a:spAutoFit/>
          </a:bodyPr>
          <a:lstStyle/>
          <a:p>
            <a:pPr algn="l"/>
            <a:r>
              <a:rPr sz="900" b="0" i="1">
                <a:solidFill>
                  <a:srgbClr val="8B9CB8"/>
                </a:solidFill>
              </a:rPr>
              <a:t>(NI - Lag NI) / |Lag NI|</a:t>
            </a:r>
          </a:p>
        </p:txBody>
      </p:sp>
      <p:sp>
        <p:nvSpPr>
          <p:cNvPr id="55" name="TextBox 54"/>
          <p:cNvSpPr txBox="1"/>
          <p:nvPr/>
        </p:nvSpPr>
        <p:spPr>
          <a:xfrm>
            <a:off x="11247120" y="2624328"/>
            <a:ext cx="731520" cy="256032"/>
          </a:xfrm>
          <a:prstGeom prst="rect">
            <a:avLst/>
          </a:prstGeom>
          <a:noFill/>
        </p:spPr>
        <p:txBody>
          <a:bodyPr wrap="square">
            <a:spAutoFit/>
          </a:bodyPr>
          <a:lstStyle/>
          <a:p>
            <a:pPr algn="l"/>
            <a:r>
              <a:rPr sz="800" b="1" i="0">
                <a:solidFill>
                  <a:srgbClr val="9B59B6"/>
                </a:solidFill>
              </a:rPr>
              <a:t>Growth</a:t>
            </a:r>
          </a:p>
        </p:txBody>
      </p:sp>
      <p:sp>
        <p:nvSpPr>
          <p:cNvPr id="56" name="Rectangle 55"/>
          <p:cNvSpPr/>
          <p:nvPr/>
        </p:nvSpPr>
        <p:spPr>
          <a:xfrm>
            <a:off x="320040" y="2926080"/>
            <a:ext cx="5760720" cy="33832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20040" y="2926080"/>
            <a:ext cx="36576" cy="338328"/>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9768" y="2980944"/>
            <a:ext cx="2194560" cy="256032"/>
          </a:xfrm>
          <a:prstGeom prst="rect">
            <a:avLst/>
          </a:prstGeom>
          <a:noFill/>
        </p:spPr>
        <p:txBody>
          <a:bodyPr wrap="square">
            <a:spAutoFit/>
          </a:bodyPr>
          <a:lstStyle/>
          <a:p>
            <a:pPr algn="l"/>
            <a:r>
              <a:rPr sz="1000" b="1" i="0">
                <a:solidFill>
                  <a:srgbClr val="FFFFFF"/>
                </a:solidFill>
              </a:rPr>
              <a:t>P/E Ratio</a:t>
            </a:r>
          </a:p>
        </p:txBody>
      </p:sp>
      <p:sp>
        <p:nvSpPr>
          <p:cNvPr id="59" name="TextBox 58"/>
          <p:cNvSpPr txBox="1"/>
          <p:nvPr/>
        </p:nvSpPr>
        <p:spPr>
          <a:xfrm>
            <a:off x="2651760" y="2980944"/>
            <a:ext cx="2560320" cy="256032"/>
          </a:xfrm>
          <a:prstGeom prst="rect">
            <a:avLst/>
          </a:prstGeom>
          <a:noFill/>
        </p:spPr>
        <p:txBody>
          <a:bodyPr wrap="square">
            <a:spAutoFit/>
          </a:bodyPr>
          <a:lstStyle/>
          <a:p>
            <a:pPr algn="l"/>
            <a:r>
              <a:rPr sz="900" b="0" i="1">
                <a:solidFill>
                  <a:srgbClr val="8B9CB8"/>
                </a:solidFill>
              </a:rPr>
              <a:t>Price / (Income Before Extr. / Shares)</a:t>
            </a:r>
          </a:p>
        </p:txBody>
      </p:sp>
      <p:sp>
        <p:nvSpPr>
          <p:cNvPr id="60" name="TextBox 59"/>
          <p:cNvSpPr txBox="1"/>
          <p:nvPr/>
        </p:nvSpPr>
        <p:spPr>
          <a:xfrm>
            <a:off x="5303520" y="2980944"/>
            <a:ext cx="731520" cy="256032"/>
          </a:xfrm>
          <a:prstGeom prst="rect">
            <a:avLst/>
          </a:prstGeom>
          <a:noFill/>
        </p:spPr>
        <p:txBody>
          <a:bodyPr wrap="square">
            <a:spAutoFit/>
          </a:bodyPr>
          <a:lstStyle/>
          <a:p>
            <a:pPr algn="l"/>
            <a:r>
              <a:rPr sz="800" b="1" i="0">
                <a:solidFill>
                  <a:srgbClr val="1ABC9C"/>
                </a:solidFill>
              </a:rPr>
              <a:t>Valuation</a:t>
            </a:r>
          </a:p>
        </p:txBody>
      </p:sp>
      <p:sp>
        <p:nvSpPr>
          <p:cNvPr id="61" name="Rectangle 60"/>
          <p:cNvSpPr/>
          <p:nvPr/>
        </p:nvSpPr>
        <p:spPr>
          <a:xfrm>
            <a:off x="6263640" y="2926080"/>
            <a:ext cx="5760720" cy="33832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63640" y="2926080"/>
            <a:ext cx="36576" cy="338328"/>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73368" y="2980944"/>
            <a:ext cx="2194560" cy="256032"/>
          </a:xfrm>
          <a:prstGeom prst="rect">
            <a:avLst/>
          </a:prstGeom>
          <a:noFill/>
        </p:spPr>
        <p:txBody>
          <a:bodyPr wrap="square">
            <a:spAutoFit/>
          </a:bodyPr>
          <a:lstStyle/>
          <a:p>
            <a:pPr algn="l"/>
            <a:r>
              <a:rPr sz="1000" b="1" i="0">
                <a:solidFill>
                  <a:srgbClr val="FFFFFF"/>
                </a:solidFill>
              </a:rPr>
              <a:t>Book-to-Market</a:t>
            </a:r>
          </a:p>
        </p:txBody>
      </p:sp>
      <p:sp>
        <p:nvSpPr>
          <p:cNvPr id="64" name="TextBox 63"/>
          <p:cNvSpPr txBox="1"/>
          <p:nvPr/>
        </p:nvSpPr>
        <p:spPr>
          <a:xfrm>
            <a:off x="8595360" y="2980944"/>
            <a:ext cx="2560320" cy="256032"/>
          </a:xfrm>
          <a:prstGeom prst="rect">
            <a:avLst/>
          </a:prstGeom>
          <a:noFill/>
        </p:spPr>
        <p:txBody>
          <a:bodyPr wrap="square">
            <a:spAutoFit/>
          </a:bodyPr>
          <a:lstStyle/>
          <a:p>
            <a:pPr algn="l"/>
            <a:r>
              <a:rPr sz="900" b="0" i="1">
                <a:solidFill>
                  <a:srgbClr val="8B9CB8"/>
                </a:solidFill>
              </a:rPr>
              <a:t>Common Equity / Market Cap</a:t>
            </a:r>
          </a:p>
        </p:txBody>
      </p:sp>
      <p:sp>
        <p:nvSpPr>
          <p:cNvPr id="65" name="TextBox 64"/>
          <p:cNvSpPr txBox="1"/>
          <p:nvPr/>
        </p:nvSpPr>
        <p:spPr>
          <a:xfrm>
            <a:off x="11247120" y="2980944"/>
            <a:ext cx="731520" cy="256032"/>
          </a:xfrm>
          <a:prstGeom prst="rect">
            <a:avLst/>
          </a:prstGeom>
          <a:noFill/>
        </p:spPr>
        <p:txBody>
          <a:bodyPr wrap="square">
            <a:spAutoFit/>
          </a:bodyPr>
          <a:lstStyle/>
          <a:p>
            <a:pPr algn="l"/>
            <a:r>
              <a:rPr sz="800" b="1" i="0">
                <a:solidFill>
                  <a:srgbClr val="1ABC9C"/>
                </a:solidFill>
              </a:rPr>
              <a:t>Valuation</a:t>
            </a:r>
          </a:p>
        </p:txBody>
      </p:sp>
      <p:sp>
        <p:nvSpPr>
          <p:cNvPr id="66" name="Rectangle 65"/>
          <p:cNvSpPr/>
          <p:nvPr/>
        </p:nvSpPr>
        <p:spPr>
          <a:xfrm>
            <a:off x="320040" y="3282696"/>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20040" y="3282696"/>
            <a:ext cx="36576" cy="338328"/>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9768" y="3337560"/>
            <a:ext cx="2194560" cy="256032"/>
          </a:xfrm>
          <a:prstGeom prst="rect">
            <a:avLst/>
          </a:prstGeom>
          <a:noFill/>
        </p:spPr>
        <p:txBody>
          <a:bodyPr wrap="square">
            <a:spAutoFit/>
          </a:bodyPr>
          <a:lstStyle/>
          <a:p>
            <a:pPr algn="l"/>
            <a:r>
              <a:rPr sz="1000" b="1" i="0">
                <a:solidFill>
                  <a:srgbClr val="FFFFFF"/>
                </a:solidFill>
              </a:rPr>
              <a:t>GDP Growth</a:t>
            </a:r>
          </a:p>
        </p:txBody>
      </p:sp>
      <p:sp>
        <p:nvSpPr>
          <p:cNvPr id="69" name="TextBox 68"/>
          <p:cNvSpPr txBox="1"/>
          <p:nvPr/>
        </p:nvSpPr>
        <p:spPr>
          <a:xfrm>
            <a:off x="2651760" y="3337560"/>
            <a:ext cx="2560320" cy="256032"/>
          </a:xfrm>
          <a:prstGeom prst="rect">
            <a:avLst/>
          </a:prstGeom>
          <a:noFill/>
        </p:spPr>
        <p:txBody>
          <a:bodyPr wrap="square">
            <a:spAutoFit/>
          </a:bodyPr>
          <a:lstStyle/>
          <a:p>
            <a:pPr algn="l"/>
            <a:r>
              <a:rPr sz="900" b="0" i="1">
                <a:solidFill>
                  <a:srgbClr val="8B9CB8"/>
                </a:solidFill>
              </a:rPr>
              <a:t>Quarter-over-quarter GDP change (FRED)</a:t>
            </a:r>
          </a:p>
        </p:txBody>
      </p:sp>
      <p:sp>
        <p:nvSpPr>
          <p:cNvPr id="70" name="TextBox 69"/>
          <p:cNvSpPr txBox="1"/>
          <p:nvPr/>
        </p:nvSpPr>
        <p:spPr>
          <a:xfrm>
            <a:off x="5303520" y="3337560"/>
            <a:ext cx="731520" cy="256032"/>
          </a:xfrm>
          <a:prstGeom prst="rect">
            <a:avLst/>
          </a:prstGeom>
          <a:noFill/>
        </p:spPr>
        <p:txBody>
          <a:bodyPr wrap="square">
            <a:spAutoFit/>
          </a:bodyPr>
          <a:lstStyle/>
          <a:p>
            <a:pPr algn="l"/>
            <a:r>
              <a:rPr sz="800" b="1" i="0">
                <a:solidFill>
                  <a:srgbClr val="8B9CB8"/>
                </a:solidFill>
              </a:rPr>
              <a:t>Macro</a:t>
            </a:r>
          </a:p>
        </p:txBody>
      </p:sp>
      <p:sp>
        <p:nvSpPr>
          <p:cNvPr id="71" name="Rectangle 70"/>
          <p:cNvSpPr/>
          <p:nvPr/>
        </p:nvSpPr>
        <p:spPr>
          <a:xfrm>
            <a:off x="6263640" y="3282696"/>
            <a:ext cx="5760720" cy="338328"/>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263640" y="3282696"/>
            <a:ext cx="36576" cy="338328"/>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73368" y="3337560"/>
            <a:ext cx="2194560" cy="256032"/>
          </a:xfrm>
          <a:prstGeom prst="rect">
            <a:avLst/>
          </a:prstGeom>
          <a:noFill/>
        </p:spPr>
        <p:txBody>
          <a:bodyPr wrap="square">
            <a:spAutoFit/>
          </a:bodyPr>
          <a:lstStyle/>
          <a:p>
            <a:pPr algn="l"/>
            <a:r>
              <a:rPr sz="1000" b="1" i="0">
                <a:solidFill>
                  <a:srgbClr val="FFFFFF"/>
                </a:solidFill>
              </a:rPr>
              <a:t>Inflation</a:t>
            </a:r>
          </a:p>
        </p:txBody>
      </p:sp>
      <p:sp>
        <p:nvSpPr>
          <p:cNvPr id="74" name="TextBox 73"/>
          <p:cNvSpPr txBox="1"/>
          <p:nvPr/>
        </p:nvSpPr>
        <p:spPr>
          <a:xfrm>
            <a:off x="8595360" y="3337560"/>
            <a:ext cx="2560320" cy="256032"/>
          </a:xfrm>
          <a:prstGeom prst="rect">
            <a:avLst/>
          </a:prstGeom>
          <a:noFill/>
        </p:spPr>
        <p:txBody>
          <a:bodyPr wrap="square">
            <a:spAutoFit/>
          </a:bodyPr>
          <a:lstStyle/>
          <a:p>
            <a:pPr algn="l"/>
            <a:r>
              <a:rPr sz="900" b="0" i="1">
                <a:solidFill>
                  <a:srgbClr val="8B9CB8"/>
                </a:solidFill>
              </a:rPr>
              <a:t>Quarter-over-quarter CPI change (FRED)</a:t>
            </a:r>
          </a:p>
        </p:txBody>
      </p:sp>
      <p:sp>
        <p:nvSpPr>
          <p:cNvPr id="75" name="TextBox 74"/>
          <p:cNvSpPr txBox="1"/>
          <p:nvPr/>
        </p:nvSpPr>
        <p:spPr>
          <a:xfrm>
            <a:off x="11247120" y="3337560"/>
            <a:ext cx="731520" cy="256032"/>
          </a:xfrm>
          <a:prstGeom prst="rect">
            <a:avLst/>
          </a:prstGeom>
          <a:noFill/>
        </p:spPr>
        <p:txBody>
          <a:bodyPr wrap="square">
            <a:spAutoFit/>
          </a:bodyPr>
          <a:lstStyle/>
          <a:p>
            <a:pPr algn="l"/>
            <a:r>
              <a:rPr sz="800" b="1" i="0">
                <a:solidFill>
                  <a:srgbClr val="8B9CB8"/>
                </a:solidFill>
              </a:rPr>
              <a:t>Macro</a:t>
            </a:r>
          </a:p>
        </p:txBody>
      </p:sp>
      <p:sp>
        <p:nvSpPr>
          <p:cNvPr id="76" name="TextBox 75"/>
          <p:cNvSpPr txBox="1"/>
          <p:nvPr/>
        </p:nvSpPr>
        <p:spPr>
          <a:xfrm>
            <a:off x="365760" y="6446520"/>
            <a:ext cx="11430000" cy="274320"/>
          </a:xfrm>
          <a:prstGeom prst="rect">
            <a:avLst/>
          </a:prstGeom>
          <a:noFill/>
        </p:spPr>
        <p:txBody>
          <a:bodyPr wrap="square">
            <a:spAutoFit/>
          </a:bodyPr>
          <a:lstStyle/>
          <a:p>
            <a:pPr algn="l"/>
            <a:r>
              <a:rPr sz="900" b="0" i="1">
                <a:solidFill>
                  <a:srgbClr val="8B9CB8"/>
                </a:solidFill>
              </a:rPr>
              <a:t>Lag values computed via groupby gvkey shift(1)  |  GDP and Inflation matched by feature quarter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Delta Features — Quarter-over-Quarter Momentum</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04 — 10 Additional Features</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731520"/>
          </a:xfrm>
          <a:prstGeom prst="rect">
            <a:avLst/>
          </a:prstGeom>
          <a:noFill/>
        </p:spPr>
        <p:txBody>
          <a:bodyPr wrap="square">
            <a:spAutoFit/>
          </a:bodyPr>
          <a:lstStyle/>
          <a:p>
            <a:pPr algn="l"/>
            <a:r>
              <a:rPr sz="1300" b="0" i="0">
                <a:solidFill>
                  <a:srgbClr val="FFFFFF"/>
                </a:solidFill>
              </a:rPr>
              <a:t>Delta features capture the direction of change in each ratio — whether a company's financials are improving or deteriorating. A company with rising ROA tells a fundamentally different story than one with a declining ROA, even if their current values are identical.</a:t>
            </a:r>
          </a:p>
        </p:txBody>
      </p:sp>
      <p:sp>
        <p:nvSpPr>
          <p:cNvPr id="7" name="Rectangle 6"/>
          <p:cNvSpPr/>
          <p:nvPr/>
        </p:nvSpPr>
        <p:spPr>
          <a:xfrm>
            <a:off x="365760" y="1920240"/>
            <a:ext cx="539496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20240"/>
            <a:ext cx="539496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93392"/>
            <a:ext cx="5029200" cy="365760"/>
          </a:xfrm>
          <a:prstGeom prst="rect">
            <a:avLst/>
          </a:prstGeom>
          <a:noFill/>
        </p:spPr>
        <p:txBody>
          <a:bodyPr wrap="square">
            <a:spAutoFit/>
          </a:bodyPr>
          <a:lstStyle/>
          <a:p>
            <a:pPr algn="l"/>
            <a:r>
              <a:rPr sz="1400" b="1" i="0">
                <a:solidFill>
                  <a:srgbClr val="D4AF37"/>
                </a:solidFill>
              </a:rPr>
              <a:t>Formula</a:t>
            </a:r>
          </a:p>
        </p:txBody>
      </p:sp>
      <p:sp>
        <p:nvSpPr>
          <p:cNvPr id="10" name="TextBox 9"/>
          <p:cNvSpPr txBox="1"/>
          <p:nvPr/>
        </p:nvSpPr>
        <p:spPr>
          <a:xfrm>
            <a:off x="548640" y="2423160"/>
            <a:ext cx="5029200" cy="3657600"/>
          </a:xfrm>
          <a:prstGeom prst="rect">
            <a:avLst/>
          </a:prstGeom>
          <a:noFill/>
        </p:spPr>
        <p:txBody>
          <a:bodyPr wrap="square">
            <a:spAutoFit/>
          </a:bodyPr>
          <a:lstStyle/>
          <a:p>
            <a:pPr algn="l"/>
            <a:r>
              <a:rPr sz="1300" b="0" i="0">
                <a:solidFill>
                  <a:srgbClr val="FFFFFF"/>
                </a:solidFill>
              </a:rPr>
              <a:t>Delta_Ratio(Q) = Ratio(Q) - Ratio(Q-1)
Computed via groupby(gvkey).diff()
Example:
  ROA (Q3 2024) = 5.0%
  ROA (Q4 2024) = 8.0%
  Delta_ROA     = +3.0%  (Improving)
Positive delta = improving fundamentals
Negative delta = deteriorating fundamentals</a:t>
            </a:r>
          </a:p>
        </p:txBody>
      </p:sp>
      <p:sp>
        <p:nvSpPr>
          <p:cNvPr id="11" name="TextBox 10"/>
          <p:cNvSpPr txBox="1"/>
          <p:nvPr/>
        </p:nvSpPr>
        <p:spPr>
          <a:xfrm>
            <a:off x="6035040" y="1993392"/>
            <a:ext cx="5486400" cy="365760"/>
          </a:xfrm>
          <a:prstGeom prst="rect">
            <a:avLst/>
          </a:prstGeom>
          <a:noFill/>
        </p:spPr>
        <p:txBody>
          <a:bodyPr wrap="square">
            <a:spAutoFit/>
          </a:bodyPr>
          <a:lstStyle/>
          <a:p>
            <a:pPr algn="l"/>
            <a:r>
              <a:rPr sz="1400" b="1" i="0">
                <a:solidFill>
                  <a:srgbClr val="D4AF37"/>
                </a:solidFill>
              </a:rPr>
              <a:t>10 Delta Features Added</a:t>
            </a:r>
          </a:p>
        </p:txBody>
      </p:sp>
      <p:sp>
        <p:nvSpPr>
          <p:cNvPr id="12" name="Rectangle 11"/>
          <p:cNvSpPr/>
          <p:nvPr/>
        </p:nvSpPr>
        <p:spPr>
          <a:xfrm>
            <a:off x="6035040" y="242316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242316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2496312"/>
            <a:ext cx="2377440" cy="228600"/>
          </a:xfrm>
          <a:prstGeom prst="rect">
            <a:avLst/>
          </a:prstGeom>
          <a:noFill/>
        </p:spPr>
        <p:txBody>
          <a:bodyPr wrap="square">
            <a:spAutoFit/>
          </a:bodyPr>
          <a:lstStyle/>
          <a:p>
            <a:pPr algn="l"/>
            <a:r>
              <a:rPr sz="1100" b="0" i="0">
                <a:solidFill>
                  <a:srgbClr val="FFFFFF"/>
                </a:solidFill>
              </a:rPr>
              <a:t>Delta ROA</a:t>
            </a:r>
          </a:p>
        </p:txBody>
      </p:sp>
      <p:sp>
        <p:nvSpPr>
          <p:cNvPr id="15" name="Rectangle 14"/>
          <p:cNvSpPr/>
          <p:nvPr/>
        </p:nvSpPr>
        <p:spPr>
          <a:xfrm>
            <a:off x="8778240" y="242316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78240" y="242316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87968" y="2496312"/>
            <a:ext cx="2377440" cy="228600"/>
          </a:xfrm>
          <a:prstGeom prst="rect">
            <a:avLst/>
          </a:prstGeom>
          <a:noFill/>
        </p:spPr>
        <p:txBody>
          <a:bodyPr wrap="square">
            <a:spAutoFit/>
          </a:bodyPr>
          <a:lstStyle/>
          <a:p>
            <a:pPr algn="l"/>
            <a:r>
              <a:rPr sz="1100" b="0" i="0">
                <a:solidFill>
                  <a:srgbClr val="FFFFFF"/>
                </a:solidFill>
              </a:rPr>
              <a:t>Delta ROE</a:t>
            </a:r>
          </a:p>
        </p:txBody>
      </p:sp>
      <p:sp>
        <p:nvSpPr>
          <p:cNvPr id="18" name="Rectangle 17"/>
          <p:cNvSpPr/>
          <p:nvPr/>
        </p:nvSpPr>
        <p:spPr>
          <a:xfrm>
            <a:off x="6035040" y="283464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283464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907792"/>
            <a:ext cx="2377440" cy="228600"/>
          </a:xfrm>
          <a:prstGeom prst="rect">
            <a:avLst/>
          </a:prstGeom>
          <a:noFill/>
        </p:spPr>
        <p:txBody>
          <a:bodyPr wrap="square">
            <a:spAutoFit/>
          </a:bodyPr>
          <a:lstStyle/>
          <a:p>
            <a:pPr algn="l"/>
            <a:r>
              <a:rPr sz="1100" b="0" i="0">
                <a:solidFill>
                  <a:srgbClr val="FFFFFF"/>
                </a:solidFill>
              </a:rPr>
              <a:t>Delta Gross Margin</a:t>
            </a:r>
          </a:p>
        </p:txBody>
      </p:sp>
      <p:sp>
        <p:nvSpPr>
          <p:cNvPr id="21" name="Rectangle 20"/>
          <p:cNvSpPr/>
          <p:nvPr/>
        </p:nvSpPr>
        <p:spPr>
          <a:xfrm>
            <a:off x="8778240" y="283464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78240" y="283464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87968" y="2907792"/>
            <a:ext cx="2377440" cy="228600"/>
          </a:xfrm>
          <a:prstGeom prst="rect">
            <a:avLst/>
          </a:prstGeom>
          <a:noFill/>
        </p:spPr>
        <p:txBody>
          <a:bodyPr wrap="square">
            <a:spAutoFit/>
          </a:bodyPr>
          <a:lstStyle/>
          <a:p>
            <a:pPr algn="l"/>
            <a:r>
              <a:rPr sz="1100" b="0" i="0">
                <a:solidFill>
                  <a:srgbClr val="FFFFFF"/>
                </a:solidFill>
              </a:rPr>
              <a:t>Delta Op Margin</a:t>
            </a:r>
          </a:p>
        </p:txBody>
      </p:sp>
      <p:sp>
        <p:nvSpPr>
          <p:cNvPr id="24" name="Rectangle 23"/>
          <p:cNvSpPr/>
          <p:nvPr/>
        </p:nvSpPr>
        <p:spPr>
          <a:xfrm>
            <a:off x="6035040" y="324612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35040" y="324612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44768" y="3319272"/>
            <a:ext cx="2377440" cy="228600"/>
          </a:xfrm>
          <a:prstGeom prst="rect">
            <a:avLst/>
          </a:prstGeom>
          <a:noFill/>
        </p:spPr>
        <p:txBody>
          <a:bodyPr wrap="square">
            <a:spAutoFit/>
          </a:bodyPr>
          <a:lstStyle/>
          <a:p>
            <a:pPr algn="l"/>
            <a:r>
              <a:rPr sz="1100" b="0" i="0">
                <a:solidFill>
                  <a:srgbClr val="FFFFFF"/>
                </a:solidFill>
              </a:rPr>
              <a:t>Delta Net Margin</a:t>
            </a:r>
          </a:p>
        </p:txBody>
      </p:sp>
      <p:sp>
        <p:nvSpPr>
          <p:cNvPr id="27" name="Rectangle 26"/>
          <p:cNvSpPr/>
          <p:nvPr/>
        </p:nvSpPr>
        <p:spPr>
          <a:xfrm>
            <a:off x="8778240" y="324612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78240" y="324612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87968" y="3319272"/>
            <a:ext cx="2377440" cy="228600"/>
          </a:xfrm>
          <a:prstGeom prst="rect">
            <a:avLst/>
          </a:prstGeom>
          <a:noFill/>
        </p:spPr>
        <p:txBody>
          <a:bodyPr wrap="square">
            <a:spAutoFit/>
          </a:bodyPr>
          <a:lstStyle/>
          <a:p>
            <a:pPr algn="l"/>
            <a:r>
              <a:rPr sz="1100" b="0" i="0">
                <a:solidFill>
                  <a:srgbClr val="FFFFFF"/>
                </a:solidFill>
              </a:rPr>
              <a:t>Delta Asset Turnover</a:t>
            </a:r>
          </a:p>
        </p:txBody>
      </p:sp>
      <p:sp>
        <p:nvSpPr>
          <p:cNvPr id="30" name="Rectangle 29"/>
          <p:cNvSpPr/>
          <p:nvPr/>
        </p:nvSpPr>
        <p:spPr>
          <a:xfrm>
            <a:off x="6035040" y="365760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365760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44768" y="3730752"/>
            <a:ext cx="2377440" cy="228600"/>
          </a:xfrm>
          <a:prstGeom prst="rect">
            <a:avLst/>
          </a:prstGeom>
          <a:noFill/>
        </p:spPr>
        <p:txBody>
          <a:bodyPr wrap="square">
            <a:spAutoFit/>
          </a:bodyPr>
          <a:lstStyle/>
          <a:p>
            <a:pPr algn="l"/>
            <a:r>
              <a:rPr sz="1100" b="0" i="0">
                <a:solidFill>
                  <a:srgbClr val="FFFFFF"/>
                </a:solidFill>
              </a:rPr>
              <a:t>Delta Current Ratio</a:t>
            </a:r>
          </a:p>
        </p:txBody>
      </p:sp>
      <p:sp>
        <p:nvSpPr>
          <p:cNvPr id="33" name="Rectangle 32"/>
          <p:cNvSpPr/>
          <p:nvPr/>
        </p:nvSpPr>
        <p:spPr>
          <a:xfrm>
            <a:off x="8778240" y="365760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778240" y="365760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87968" y="3730752"/>
            <a:ext cx="2377440" cy="228600"/>
          </a:xfrm>
          <a:prstGeom prst="rect">
            <a:avLst/>
          </a:prstGeom>
          <a:noFill/>
        </p:spPr>
        <p:txBody>
          <a:bodyPr wrap="square">
            <a:spAutoFit/>
          </a:bodyPr>
          <a:lstStyle/>
          <a:p>
            <a:pPr algn="l"/>
            <a:r>
              <a:rPr sz="1100" b="0" i="0">
                <a:solidFill>
                  <a:srgbClr val="FFFFFF"/>
                </a:solidFill>
              </a:rPr>
              <a:t>Delta Debt/Equity</a:t>
            </a:r>
          </a:p>
        </p:txBody>
      </p:sp>
      <p:sp>
        <p:nvSpPr>
          <p:cNvPr id="36" name="Rectangle 35"/>
          <p:cNvSpPr/>
          <p:nvPr/>
        </p:nvSpPr>
        <p:spPr>
          <a:xfrm>
            <a:off x="6035040" y="406908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35040" y="406908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4142232"/>
            <a:ext cx="2377440" cy="228600"/>
          </a:xfrm>
          <a:prstGeom prst="rect">
            <a:avLst/>
          </a:prstGeom>
          <a:noFill/>
        </p:spPr>
        <p:txBody>
          <a:bodyPr wrap="square">
            <a:spAutoFit/>
          </a:bodyPr>
          <a:lstStyle/>
          <a:p>
            <a:pPr algn="l"/>
            <a:r>
              <a:rPr sz="1100" b="0" i="0">
                <a:solidFill>
                  <a:srgbClr val="FFFFFF"/>
                </a:solidFill>
              </a:rPr>
              <a:t>Delta P/E Ratio</a:t>
            </a:r>
          </a:p>
        </p:txBody>
      </p:sp>
      <p:sp>
        <p:nvSpPr>
          <p:cNvPr id="39" name="Rectangle 38"/>
          <p:cNvSpPr/>
          <p:nvPr/>
        </p:nvSpPr>
        <p:spPr>
          <a:xfrm>
            <a:off x="8778240" y="4069080"/>
            <a:ext cx="256032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778240" y="4069080"/>
            <a:ext cx="36576"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87968" y="4142232"/>
            <a:ext cx="2377440" cy="228600"/>
          </a:xfrm>
          <a:prstGeom prst="rect">
            <a:avLst/>
          </a:prstGeom>
          <a:noFill/>
        </p:spPr>
        <p:txBody>
          <a:bodyPr wrap="square">
            <a:spAutoFit/>
          </a:bodyPr>
          <a:lstStyle/>
          <a:p>
            <a:pPr algn="l"/>
            <a:r>
              <a:rPr sz="1100" b="0" i="0">
                <a:solidFill>
                  <a:srgbClr val="FFFFFF"/>
                </a:solidFill>
              </a:rPr>
              <a:t>Delta Book-to-Market</a:t>
            </a:r>
          </a:p>
        </p:txBody>
      </p:sp>
      <p:sp>
        <p:nvSpPr>
          <p:cNvPr id="42" name="TextBox 41"/>
          <p:cNvSpPr txBox="1"/>
          <p:nvPr/>
        </p:nvSpPr>
        <p:spPr>
          <a:xfrm>
            <a:off x="457200" y="6446520"/>
            <a:ext cx="11247120" cy="274320"/>
          </a:xfrm>
          <a:prstGeom prst="rect">
            <a:avLst/>
          </a:prstGeom>
          <a:noFill/>
        </p:spPr>
        <p:txBody>
          <a:bodyPr wrap="square">
            <a:spAutoFit/>
          </a:bodyPr>
          <a:lstStyle/>
          <a:p>
            <a:pPr algn="l"/>
            <a:r>
              <a:rPr sz="1000" b="1" i="0">
                <a:solidFill>
                  <a:srgbClr val="D4AF37"/>
                </a:solidFill>
              </a:rPr>
              <a:t>Total features entering VIF analysis: 24   (14 base ratios + 10 delta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Outperformer Definition &amp; Forward-Looking Label</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04</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43000"/>
            <a:ext cx="11430000" cy="18288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43000"/>
            <a:ext cx="114300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34440"/>
            <a:ext cx="10972800" cy="365760"/>
          </a:xfrm>
          <a:prstGeom prst="rect">
            <a:avLst/>
          </a:prstGeom>
          <a:noFill/>
        </p:spPr>
        <p:txBody>
          <a:bodyPr wrap="square">
            <a:spAutoFit/>
          </a:bodyPr>
          <a:lstStyle/>
          <a:p>
            <a:pPr algn="l"/>
            <a:r>
              <a:rPr sz="1600" b="1" i="0">
                <a:solidFill>
                  <a:srgbClr val="D4AF37"/>
                </a:solidFill>
              </a:rPr>
              <a:t>Label Construction — Forward-Looking by One Quarter</a:t>
            </a:r>
          </a:p>
        </p:txBody>
      </p:sp>
      <p:sp>
        <p:nvSpPr>
          <p:cNvPr id="9" name="TextBox 8"/>
          <p:cNvSpPr txBox="1"/>
          <p:nvPr/>
        </p:nvSpPr>
        <p:spPr>
          <a:xfrm>
            <a:off x="548640" y="1645920"/>
            <a:ext cx="10972800" cy="1097280"/>
          </a:xfrm>
          <a:prstGeom prst="rect">
            <a:avLst/>
          </a:prstGeom>
          <a:noFill/>
        </p:spPr>
        <p:txBody>
          <a:bodyPr wrap="square">
            <a:spAutoFit/>
          </a:bodyPr>
          <a:lstStyle/>
          <a:p>
            <a:pPr algn="l"/>
            <a:r>
              <a:rPr sz="1400" b="0" i="0">
                <a:solidFill>
                  <a:srgbClr val="FFFFFF"/>
                </a:solidFill>
              </a:rPr>
              <a:t>Stock Return (Q+1) &gt; S&amp;P 500 Return (Q+1)   --&gt;   Label = 1  (Outperformer)
Stock Return (Q+1) &lt;= S&amp;P 500 Return (Q+1)  --&gt;   Label = 0  (Underperformer)</a:t>
            </a:r>
          </a:p>
        </p:txBody>
      </p:sp>
      <p:sp>
        <p:nvSpPr>
          <p:cNvPr id="10" name="TextBox 9"/>
          <p:cNvSpPr txBox="1"/>
          <p:nvPr/>
        </p:nvSpPr>
        <p:spPr>
          <a:xfrm>
            <a:off x="548640" y="2606040"/>
            <a:ext cx="10972800" cy="320040"/>
          </a:xfrm>
          <a:prstGeom prst="rect">
            <a:avLst/>
          </a:prstGeom>
          <a:noFill/>
        </p:spPr>
        <p:txBody>
          <a:bodyPr wrap="square">
            <a:spAutoFit/>
          </a:bodyPr>
          <a:lstStyle/>
          <a:p>
            <a:pPr algn="l"/>
            <a:r>
              <a:rPr sz="1300" b="1" i="0">
                <a:solidFill>
                  <a:srgbClr val="4A9EFF"/>
                </a:solidFill>
              </a:rPr>
              <a:t>Features used: Q[t] financial ratios          Prediction target: Q[t+1] outperformance</a:t>
            </a:r>
          </a:p>
        </p:txBody>
      </p:sp>
      <p:sp>
        <p:nvSpPr>
          <p:cNvPr id="11" name="Rectangle 10"/>
          <p:cNvSpPr/>
          <p:nvPr/>
        </p:nvSpPr>
        <p:spPr>
          <a:xfrm>
            <a:off x="365760" y="3108960"/>
            <a:ext cx="4114800" cy="31089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3749039" cy="365760"/>
          </a:xfrm>
          <a:prstGeom prst="rect">
            <a:avLst/>
          </a:prstGeom>
          <a:noFill/>
        </p:spPr>
        <p:txBody>
          <a:bodyPr wrap="square">
            <a:spAutoFit/>
          </a:bodyPr>
          <a:lstStyle/>
          <a:p>
            <a:pPr algn="l"/>
            <a:r>
              <a:rPr sz="1400" b="1" i="0">
                <a:solidFill>
                  <a:srgbClr val="D4AF37"/>
                </a:solidFill>
              </a:rPr>
              <a:t>Feature Quarter: Q4 2024</a:t>
            </a:r>
          </a:p>
        </p:txBody>
      </p:sp>
      <p:sp>
        <p:nvSpPr>
          <p:cNvPr id="13" name="TextBox 12"/>
          <p:cNvSpPr txBox="1"/>
          <p:nvPr/>
        </p:nvSpPr>
        <p:spPr>
          <a:xfrm>
            <a:off x="548640" y="3657600"/>
            <a:ext cx="3749039" cy="2286000"/>
          </a:xfrm>
          <a:prstGeom prst="rect">
            <a:avLst/>
          </a:prstGeom>
          <a:noFill/>
        </p:spPr>
        <p:txBody>
          <a:bodyPr wrap="square">
            <a:spAutoFit/>
          </a:bodyPr>
          <a:lstStyle/>
          <a:p>
            <a:pPr algn="l"/>
            <a:r>
              <a:rPr sz="1200" b="0" i="0">
                <a:solidFill>
                  <a:srgbClr val="FFFFFF"/>
                </a:solidFill>
              </a:rPr>
              <a:t>Financial ratios extracted from 10-Q filings.
Includes 14 base ratios + 10 delta features.
Available before Q1 2025 begins.</a:t>
            </a:r>
          </a:p>
        </p:txBody>
      </p:sp>
      <p:sp>
        <p:nvSpPr>
          <p:cNvPr id="14" name="TextBox 13"/>
          <p:cNvSpPr txBox="1"/>
          <p:nvPr/>
        </p:nvSpPr>
        <p:spPr>
          <a:xfrm>
            <a:off x="4526280" y="4389120"/>
            <a:ext cx="822960" cy="457200"/>
          </a:xfrm>
          <a:prstGeom prst="rect">
            <a:avLst/>
          </a:prstGeom>
          <a:noFill/>
        </p:spPr>
        <p:txBody>
          <a:bodyPr wrap="square">
            <a:spAutoFit/>
          </a:bodyPr>
          <a:lstStyle/>
          <a:p>
            <a:pPr algn="ctr"/>
            <a:r>
              <a:rPr sz="2800" b="1" i="0">
                <a:solidFill>
                  <a:srgbClr val="D4AF37"/>
                </a:solidFill>
              </a:rPr>
              <a:t>  -&gt;  </a:t>
            </a:r>
          </a:p>
        </p:txBody>
      </p:sp>
      <p:sp>
        <p:nvSpPr>
          <p:cNvPr id="15" name="Rectangle 14"/>
          <p:cNvSpPr/>
          <p:nvPr/>
        </p:nvSpPr>
        <p:spPr>
          <a:xfrm>
            <a:off x="5394960" y="3108960"/>
            <a:ext cx="4114800" cy="31089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3246120"/>
            <a:ext cx="3749039" cy="365760"/>
          </a:xfrm>
          <a:prstGeom prst="rect">
            <a:avLst/>
          </a:prstGeom>
          <a:noFill/>
        </p:spPr>
        <p:txBody>
          <a:bodyPr wrap="square">
            <a:spAutoFit/>
          </a:bodyPr>
          <a:lstStyle/>
          <a:p>
            <a:pPr algn="l"/>
            <a:r>
              <a:rPr sz="1400" b="1" i="0">
                <a:solidFill>
                  <a:srgbClr val="4A9EFF"/>
                </a:solidFill>
              </a:rPr>
              <a:t>Label Quarter: Q1 2025</a:t>
            </a:r>
          </a:p>
        </p:txBody>
      </p:sp>
      <p:sp>
        <p:nvSpPr>
          <p:cNvPr id="17" name="TextBox 16"/>
          <p:cNvSpPr txBox="1"/>
          <p:nvPr/>
        </p:nvSpPr>
        <p:spPr>
          <a:xfrm>
            <a:off x="5577840" y="3657600"/>
            <a:ext cx="3749039" cy="2286000"/>
          </a:xfrm>
          <a:prstGeom prst="rect">
            <a:avLst/>
          </a:prstGeom>
          <a:noFill/>
        </p:spPr>
        <p:txBody>
          <a:bodyPr wrap="square">
            <a:spAutoFit/>
          </a:bodyPr>
          <a:lstStyle/>
          <a:p>
            <a:pPr algn="l"/>
            <a:r>
              <a:rPr sz="1200" b="0" i="0">
                <a:solidFill>
                  <a:srgbClr val="FFFFFF"/>
                </a:solidFill>
              </a:rPr>
              <a:t>Was the stock's Q1 2025 return
greater than SPY Q1 2025 return?
Yes -&gt; Label = 1 (Outperformer)
No  -&gt; Label = 0 (Underperformer)
Computed via CRSP quarterly returns.</a:t>
            </a:r>
          </a:p>
        </p:txBody>
      </p:sp>
      <p:sp>
        <p:nvSpPr>
          <p:cNvPr id="18" name="TextBox 17"/>
          <p:cNvSpPr txBox="1"/>
          <p:nvPr/>
        </p:nvSpPr>
        <p:spPr>
          <a:xfrm>
            <a:off x="365760" y="6446520"/>
            <a:ext cx="11430000" cy="274320"/>
          </a:xfrm>
          <a:prstGeom prst="rect">
            <a:avLst/>
          </a:prstGeom>
          <a:noFill/>
        </p:spPr>
        <p:txBody>
          <a:bodyPr wrap="square">
            <a:spAutoFit/>
          </a:bodyPr>
          <a:lstStyle/>
          <a:p>
            <a:pPr algn="l"/>
            <a:r>
              <a:rPr sz="900" b="0" i="1">
                <a:solidFill>
                  <a:srgbClr val="8B9CB8"/>
                </a:solidFill>
              </a:rPr>
              <a:t>outperformer_next = groupby(gvkey)[outperformer_quarterly].shift(-1)  |  Training data: 16,589 complete rows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Data Cleaning</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05 — Winsorization, Standardization, NaN Removal</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43000"/>
            <a:ext cx="3749039" cy="521208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3749039"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1371600" cy="320040"/>
          </a:xfrm>
          <a:prstGeom prst="rect">
            <a:avLst/>
          </a:prstGeom>
          <a:noFill/>
        </p:spPr>
        <p:txBody>
          <a:bodyPr wrap="square">
            <a:spAutoFit/>
          </a:bodyPr>
          <a:lstStyle/>
          <a:p>
            <a:pPr algn="l"/>
            <a:r>
              <a:rPr sz="1100" b="1" i="0">
                <a:solidFill>
                  <a:srgbClr val="D4AF37"/>
                </a:solidFill>
              </a:rPr>
              <a:t>Step 1</a:t>
            </a:r>
          </a:p>
        </p:txBody>
      </p:sp>
      <p:sp>
        <p:nvSpPr>
          <p:cNvPr id="9" name="TextBox 8"/>
          <p:cNvSpPr txBox="1"/>
          <p:nvPr/>
        </p:nvSpPr>
        <p:spPr>
          <a:xfrm>
            <a:off x="457200" y="1554480"/>
            <a:ext cx="3474720" cy="365760"/>
          </a:xfrm>
          <a:prstGeom prst="rect">
            <a:avLst/>
          </a:prstGeom>
          <a:noFill/>
        </p:spPr>
        <p:txBody>
          <a:bodyPr wrap="square">
            <a:spAutoFit/>
          </a:bodyPr>
          <a:lstStyle/>
          <a:p>
            <a:pPr algn="l"/>
            <a:r>
              <a:rPr sz="1500" b="1" i="0">
                <a:solidFill>
                  <a:srgbClr val="FFFFFF"/>
                </a:solidFill>
              </a:rPr>
              <a:t>Winsorization</a:t>
            </a:r>
          </a:p>
        </p:txBody>
      </p:sp>
      <p:sp>
        <p:nvSpPr>
          <p:cNvPr id="10" name="Rectangle 9"/>
          <p:cNvSpPr/>
          <p:nvPr/>
        </p:nvSpPr>
        <p:spPr>
          <a:xfrm>
            <a:off x="457200" y="1965960"/>
            <a:ext cx="64008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57400"/>
            <a:ext cx="3474720" cy="4114800"/>
          </a:xfrm>
          <a:prstGeom prst="rect">
            <a:avLst/>
          </a:prstGeom>
          <a:noFill/>
        </p:spPr>
        <p:txBody>
          <a:bodyPr wrap="square">
            <a:spAutoFit/>
          </a:bodyPr>
          <a:lstStyle/>
          <a:p>
            <a:pPr algn="l"/>
            <a:r>
              <a:rPr sz="1100" b="0" i="0">
                <a:solidFill>
                  <a:srgbClr val="FFFFFF"/>
                </a:solidFill>
              </a:rPr>
              <a:t>Extreme outlier values are capped at the 1st and 99th percentile of each ratio.
Example: If ROA for one company is -300%, it is capped at the 1st percentile value (e.g. -15%). The row is kept — only the extreme value is replaced.
Applied per ratio using training data bounds. Test data uses the same bounds fitted on training to prevent data leakage.</a:t>
            </a:r>
          </a:p>
        </p:txBody>
      </p:sp>
      <p:sp>
        <p:nvSpPr>
          <p:cNvPr id="12" name="Rectangle 11"/>
          <p:cNvSpPr/>
          <p:nvPr/>
        </p:nvSpPr>
        <p:spPr>
          <a:xfrm>
            <a:off x="4251960" y="1143000"/>
            <a:ext cx="3749039" cy="521208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1143000"/>
            <a:ext cx="3749039" cy="64008"/>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234440"/>
            <a:ext cx="1371600" cy="320040"/>
          </a:xfrm>
          <a:prstGeom prst="rect">
            <a:avLst/>
          </a:prstGeom>
          <a:noFill/>
        </p:spPr>
        <p:txBody>
          <a:bodyPr wrap="square">
            <a:spAutoFit/>
          </a:bodyPr>
          <a:lstStyle/>
          <a:p>
            <a:pPr algn="l"/>
            <a:r>
              <a:rPr sz="1100" b="1" i="0">
                <a:solidFill>
                  <a:srgbClr val="4A9EFF"/>
                </a:solidFill>
              </a:rPr>
              <a:t>Step 2</a:t>
            </a:r>
          </a:p>
        </p:txBody>
      </p:sp>
      <p:sp>
        <p:nvSpPr>
          <p:cNvPr id="15" name="TextBox 14"/>
          <p:cNvSpPr txBox="1"/>
          <p:nvPr/>
        </p:nvSpPr>
        <p:spPr>
          <a:xfrm>
            <a:off x="4389120" y="1554480"/>
            <a:ext cx="3474720" cy="365760"/>
          </a:xfrm>
          <a:prstGeom prst="rect">
            <a:avLst/>
          </a:prstGeom>
          <a:noFill/>
        </p:spPr>
        <p:txBody>
          <a:bodyPr wrap="square">
            <a:spAutoFit/>
          </a:bodyPr>
          <a:lstStyle/>
          <a:p>
            <a:pPr algn="l"/>
            <a:r>
              <a:rPr sz="1500" b="1" i="0">
                <a:solidFill>
                  <a:srgbClr val="FFFFFF"/>
                </a:solidFill>
              </a:rPr>
              <a:t>Standardization (Z-Score)</a:t>
            </a:r>
          </a:p>
        </p:txBody>
      </p:sp>
      <p:sp>
        <p:nvSpPr>
          <p:cNvPr id="16" name="Rectangle 15"/>
          <p:cNvSpPr/>
          <p:nvPr/>
        </p:nvSpPr>
        <p:spPr>
          <a:xfrm>
            <a:off x="4389120" y="1965960"/>
            <a:ext cx="640080" cy="2743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057400"/>
            <a:ext cx="3474720" cy="4114800"/>
          </a:xfrm>
          <a:prstGeom prst="rect">
            <a:avLst/>
          </a:prstGeom>
          <a:noFill/>
        </p:spPr>
        <p:txBody>
          <a:bodyPr wrap="square">
            <a:spAutoFit/>
          </a:bodyPr>
          <a:lstStyle/>
          <a:p>
            <a:pPr algn="l"/>
            <a:r>
              <a:rPr sz="1100" b="0" i="0">
                <a:solidFill>
                  <a:srgbClr val="FFFFFF"/>
                </a:solidFill>
              </a:rPr>
              <a:t>Each ratio is scaled to mean = 0, standard deviation = 1.
Without standardization, ratios with larger numeric ranges (e.g. P/E Ratio at 50x) would dominate over smaller ratios (e.g. ROA at 0.05).
Ensures all 24 features are on the same scale before VIF and PCA.</a:t>
            </a:r>
          </a:p>
        </p:txBody>
      </p:sp>
      <p:sp>
        <p:nvSpPr>
          <p:cNvPr id="18" name="Rectangle 17"/>
          <p:cNvSpPr/>
          <p:nvPr/>
        </p:nvSpPr>
        <p:spPr>
          <a:xfrm>
            <a:off x="8183880" y="1143000"/>
            <a:ext cx="3749039" cy="521208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80" y="1143000"/>
            <a:ext cx="3749039"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234440"/>
            <a:ext cx="1371600" cy="320040"/>
          </a:xfrm>
          <a:prstGeom prst="rect">
            <a:avLst/>
          </a:prstGeom>
          <a:noFill/>
        </p:spPr>
        <p:txBody>
          <a:bodyPr wrap="square">
            <a:spAutoFit/>
          </a:bodyPr>
          <a:lstStyle/>
          <a:p>
            <a:pPr algn="l"/>
            <a:r>
              <a:rPr sz="1100" b="1" i="0">
                <a:solidFill>
                  <a:srgbClr val="2ECC71"/>
                </a:solidFill>
              </a:rPr>
              <a:t>Step 3</a:t>
            </a:r>
          </a:p>
        </p:txBody>
      </p:sp>
      <p:sp>
        <p:nvSpPr>
          <p:cNvPr id="21" name="TextBox 20"/>
          <p:cNvSpPr txBox="1"/>
          <p:nvPr/>
        </p:nvSpPr>
        <p:spPr>
          <a:xfrm>
            <a:off x="8321040" y="1554480"/>
            <a:ext cx="3474720" cy="365760"/>
          </a:xfrm>
          <a:prstGeom prst="rect">
            <a:avLst/>
          </a:prstGeom>
          <a:noFill/>
        </p:spPr>
        <p:txBody>
          <a:bodyPr wrap="square">
            <a:spAutoFit/>
          </a:bodyPr>
          <a:lstStyle/>
          <a:p>
            <a:pPr algn="l"/>
            <a:r>
              <a:rPr sz="1500" b="1" i="0">
                <a:solidFill>
                  <a:srgbClr val="FFFFFF"/>
                </a:solidFill>
              </a:rPr>
              <a:t>NaN Removal</a:t>
            </a:r>
          </a:p>
        </p:txBody>
      </p:sp>
      <p:sp>
        <p:nvSpPr>
          <p:cNvPr id="22" name="Rectangle 21"/>
          <p:cNvSpPr/>
          <p:nvPr/>
        </p:nvSpPr>
        <p:spPr>
          <a:xfrm>
            <a:off x="8321040" y="1965960"/>
            <a:ext cx="640080" cy="2743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2057400"/>
            <a:ext cx="3474720" cy="4114800"/>
          </a:xfrm>
          <a:prstGeom prst="rect">
            <a:avLst/>
          </a:prstGeom>
          <a:noFill/>
        </p:spPr>
        <p:txBody>
          <a:bodyPr wrap="square">
            <a:spAutoFit/>
          </a:bodyPr>
          <a:lstStyle/>
          <a:p>
            <a:pPr algn="l"/>
            <a:r>
              <a:rPr sz="1100" b="0" i="0">
                <a:solidFill>
                  <a:srgbClr val="FFFFFF"/>
                </a:solidFill>
              </a:rPr>
              <a:t>Rows with any missing values after ratio computation are dropped.
Common causes: companies with zero revenue (division by zero), first-quarter entries with no prior quarter for lag/delta computation.
Training dataset reduced from 21,285 rows to 16,589 complete rows.</a:t>
            </a:r>
          </a:p>
        </p:txBody>
      </p:sp>
      <p:sp>
        <p:nvSpPr>
          <p:cNvPr id="24" name="Rectangle 23"/>
          <p:cNvSpPr/>
          <p:nvPr/>
        </p:nvSpPr>
        <p:spPr>
          <a:xfrm>
            <a:off x="320040" y="6309360"/>
            <a:ext cx="274320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19088"/>
            <a:ext cx="2560320" cy="274320"/>
          </a:xfrm>
          <a:prstGeom prst="rect">
            <a:avLst/>
          </a:prstGeom>
          <a:noFill/>
        </p:spPr>
        <p:txBody>
          <a:bodyPr wrap="square">
            <a:spAutoFit/>
          </a:bodyPr>
          <a:lstStyle/>
          <a:p>
            <a:pPr algn="l"/>
            <a:r>
              <a:rPr sz="1100" b="0" i="0">
                <a:solidFill>
                  <a:srgbClr val="8B9CB8"/>
                </a:solidFill>
              </a:rPr>
              <a:t>Rows Before Cleaning</a:t>
            </a:r>
          </a:p>
        </p:txBody>
      </p:sp>
      <p:sp>
        <p:nvSpPr>
          <p:cNvPr id="27" name="TextBox 26"/>
          <p:cNvSpPr txBox="1"/>
          <p:nvPr/>
        </p:nvSpPr>
        <p:spPr>
          <a:xfrm>
            <a:off x="457200" y="6656832"/>
            <a:ext cx="2560320" cy="502920"/>
          </a:xfrm>
          <a:prstGeom prst="rect">
            <a:avLst/>
          </a:prstGeom>
          <a:noFill/>
        </p:spPr>
        <p:txBody>
          <a:bodyPr wrap="square">
            <a:spAutoFit/>
          </a:bodyPr>
          <a:lstStyle/>
          <a:p>
            <a:pPr algn="l"/>
            <a:r>
              <a:rPr sz="2800" b="1" i="0">
                <a:solidFill>
                  <a:srgbClr val="D4AF37"/>
                </a:solidFill>
              </a:rPr>
              <a:t>21,285</a:t>
            </a:r>
          </a:p>
        </p:txBody>
      </p:sp>
      <p:sp>
        <p:nvSpPr>
          <p:cNvPr id="28" name="TextBox 27"/>
          <p:cNvSpPr txBox="1"/>
          <p:nvPr/>
        </p:nvSpPr>
        <p:spPr>
          <a:xfrm>
            <a:off x="457200" y="6428232"/>
            <a:ext cx="2560320" cy="274320"/>
          </a:xfrm>
          <a:prstGeom prst="rect">
            <a:avLst/>
          </a:prstGeom>
          <a:noFill/>
        </p:spPr>
        <p:txBody>
          <a:bodyPr wrap="square">
            <a:spAutoFit/>
          </a:bodyPr>
          <a:lstStyle/>
          <a:p>
            <a:pPr algn="l"/>
            <a:r>
              <a:rPr sz="1000" b="0" i="0">
                <a:solidFill>
                  <a:srgbClr val="8B9CB8"/>
                </a:solidFill>
              </a:rPr>
              <a:t>training observations</a:t>
            </a:r>
          </a:p>
        </p:txBody>
      </p:sp>
      <p:sp>
        <p:nvSpPr>
          <p:cNvPr id="29" name="TextBox 28"/>
          <p:cNvSpPr txBox="1"/>
          <p:nvPr/>
        </p:nvSpPr>
        <p:spPr>
          <a:xfrm>
            <a:off x="3154680" y="6382512"/>
            <a:ext cx="457200" cy="320040"/>
          </a:xfrm>
          <a:prstGeom prst="rect">
            <a:avLst/>
          </a:prstGeom>
          <a:noFill/>
        </p:spPr>
        <p:txBody>
          <a:bodyPr wrap="square">
            <a:spAutoFit/>
          </a:bodyPr>
          <a:lstStyle/>
          <a:p>
            <a:pPr algn="ctr"/>
            <a:r>
              <a:rPr sz="1800" b="1" i="0">
                <a:solidFill>
                  <a:srgbClr val="D4AF37"/>
                </a:solidFill>
              </a:rPr>
              <a:t>-&gt;</a:t>
            </a:r>
          </a:p>
        </p:txBody>
      </p:sp>
      <p:sp>
        <p:nvSpPr>
          <p:cNvPr id="30" name="Rectangle 29"/>
          <p:cNvSpPr/>
          <p:nvPr/>
        </p:nvSpPr>
        <p:spPr>
          <a:xfrm>
            <a:off x="3657600" y="6309360"/>
            <a:ext cx="274320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6419088"/>
            <a:ext cx="2560320" cy="274320"/>
          </a:xfrm>
          <a:prstGeom prst="rect">
            <a:avLst/>
          </a:prstGeom>
          <a:noFill/>
        </p:spPr>
        <p:txBody>
          <a:bodyPr wrap="square">
            <a:spAutoFit/>
          </a:bodyPr>
          <a:lstStyle/>
          <a:p>
            <a:pPr algn="l"/>
            <a:r>
              <a:rPr sz="1100" b="0" i="0">
                <a:solidFill>
                  <a:srgbClr val="8B9CB8"/>
                </a:solidFill>
              </a:rPr>
              <a:t>Rows After Cleaning</a:t>
            </a:r>
          </a:p>
        </p:txBody>
      </p:sp>
      <p:sp>
        <p:nvSpPr>
          <p:cNvPr id="33" name="TextBox 32"/>
          <p:cNvSpPr txBox="1"/>
          <p:nvPr/>
        </p:nvSpPr>
        <p:spPr>
          <a:xfrm>
            <a:off x="3794760" y="6656832"/>
            <a:ext cx="2560320" cy="502920"/>
          </a:xfrm>
          <a:prstGeom prst="rect">
            <a:avLst/>
          </a:prstGeom>
          <a:noFill/>
        </p:spPr>
        <p:txBody>
          <a:bodyPr wrap="square">
            <a:spAutoFit/>
          </a:bodyPr>
          <a:lstStyle/>
          <a:p>
            <a:pPr algn="l"/>
            <a:r>
              <a:rPr sz="2800" b="1" i="0">
                <a:solidFill>
                  <a:srgbClr val="2ECC71"/>
                </a:solidFill>
              </a:rPr>
              <a:t>16,589</a:t>
            </a:r>
          </a:p>
        </p:txBody>
      </p:sp>
      <p:sp>
        <p:nvSpPr>
          <p:cNvPr id="34" name="TextBox 33"/>
          <p:cNvSpPr txBox="1"/>
          <p:nvPr/>
        </p:nvSpPr>
        <p:spPr>
          <a:xfrm>
            <a:off x="3794760" y="6428232"/>
            <a:ext cx="2560320" cy="274320"/>
          </a:xfrm>
          <a:prstGeom prst="rect">
            <a:avLst/>
          </a:prstGeom>
          <a:noFill/>
        </p:spPr>
        <p:txBody>
          <a:bodyPr wrap="square">
            <a:spAutoFit/>
          </a:bodyPr>
          <a:lstStyle/>
          <a:p>
            <a:pPr algn="l"/>
            <a:r>
              <a:rPr sz="1000" b="0" i="0">
                <a:solidFill>
                  <a:srgbClr val="8B9CB8"/>
                </a:solidFill>
              </a:rPr>
              <a:t>complete observations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VIF Analysis — Multicollinearity Removal</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06 — Variance Inflation Factor</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685800"/>
          </a:xfrm>
          <a:prstGeom prst="rect">
            <a:avLst/>
          </a:prstGeom>
          <a:noFill/>
        </p:spPr>
        <p:txBody>
          <a:bodyPr wrap="square">
            <a:spAutoFit/>
          </a:bodyPr>
          <a:lstStyle/>
          <a:p>
            <a:pPr algn="l"/>
            <a:r>
              <a:rPr sz="1200" b="0" i="0">
                <a:solidFill>
                  <a:srgbClr val="FFFFFF"/>
                </a:solidFill>
              </a:rPr>
              <a:t>Many financial ratios are correlated — for example, Net Margin and ROA both measure profitability and move together. When correlated features are included together, logistic regression becomes unstable and coefficients are unreliable. VIF quantifies this collinearity for each predictor.</a:t>
            </a:r>
          </a:p>
        </p:txBody>
      </p:sp>
      <p:sp>
        <p:nvSpPr>
          <p:cNvPr id="7" name="Rectangle 6"/>
          <p:cNvSpPr/>
          <p:nvPr/>
        </p:nvSpPr>
        <p:spPr>
          <a:xfrm>
            <a:off x="365760" y="1874519"/>
            <a:ext cx="502920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74519"/>
            <a:ext cx="50292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4663440" cy="365760"/>
          </a:xfrm>
          <a:prstGeom prst="rect">
            <a:avLst/>
          </a:prstGeom>
          <a:noFill/>
        </p:spPr>
        <p:txBody>
          <a:bodyPr wrap="square">
            <a:spAutoFit/>
          </a:bodyPr>
          <a:lstStyle/>
          <a:p>
            <a:pPr algn="l"/>
            <a:r>
              <a:rPr sz="1400" b="1" i="0">
                <a:solidFill>
                  <a:srgbClr val="D4AF37"/>
                </a:solidFill>
              </a:rPr>
              <a:t>VIF Procedure</a:t>
            </a:r>
          </a:p>
        </p:txBody>
      </p:sp>
      <p:sp>
        <p:nvSpPr>
          <p:cNvPr id="10" name="TextBox 9"/>
          <p:cNvSpPr txBox="1"/>
          <p:nvPr/>
        </p:nvSpPr>
        <p:spPr>
          <a:xfrm>
            <a:off x="548640" y="2423160"/>
            <a:ext cx="4663440" cy="365760"/>
          </a:xfrm>
          <a:prstGeom prst="rect">
            <a:avLst/>
          </a:prstGeom>
          <a:noFill/>
        </p:spPr>
        <p:txBody>
          <a:bodyPr wrap="square">
            <a:spAutoFit/>
          </a:bodyPr>
          <a:lstStyle/>
          <a:p>
            <a:pPr algn="l"/>
            <a:r>
              <a:rPr sz="1200" b="0" i="0">
                <a:solidFill>
                  <a:srgbClr val="FFFFFF"/>
                </a:solidFill>
              </a:rPr>
              <a:t>1. Compute VIF for all 24 features simultaneously</a:t>
            </a:r>
          </a:p>
        </p:txBody>
      </p:sp>
      <p:sp>
        <p:nvSpPr>
          <p:cNvPr id="11" name="TextBox 10"/>
          <p:cNvSpPr txBox="1"/>
          <p:nvPr/>
        </p:nvSpPr>
        <p:spPr>
          <a:xfrm>
            <a:off x="548640" y="2880360"/>
            <a:ext cx="4663440" cy="365760"/>
          </a:xfrm>
          <a:prstGeom prst="rect">
            <a:avLst/>
          </a:prstGeom>
          <a:noFill/>
        </p:spPr>
        <p:txBody>
          <a:bodyPr wrap="square">
            <a:spAutoFit/>
          </a:bodyPr>
          <a:lstStyle/>
          <a:p>
            <a:pPr algn="l"/>
            <a:r>
              <a:rPr sz="1200" b="0" i="0">
                <a:solidFill>
                  <a:srgbClr val="FFFFFF"/>
                </a:solidFill>
              </a:rPr>
              <a:t>2. Identify the feature with the highest VIF</a:t>
            </a:r>
          </a:p>
        </p:txBody>
      </p:sp>
      <p:sp>
        <p:nvSpPr>
          <p:cNvPr id="12" name="TextBox 11"/>
          <p:cNvSpPr txBox="1"/>
          <p:nvPr/>
        </p:nvSpPr>
        <p:spPr>
          <a:xfrm>
            <a:off x="548640" y="3337560"/>
            <a:ext cx="4663440" cy="365760"/>
          </a:xfrm>
          <a:prstGeom prst="rect">
            <a:avLst/>
          </a:prstGeom>
          <a:noFill/>
        </p:spPr>
        <p:txBody>
          <a:bodyPr wrap="square">
            <a:spAutoFit/>
          </a:bodyPr>
          <a:lstStyle/>
          <a:p>
            <a:pPr algn="l"/>
            <a:r>
              <a:rPr sz="1200" b="0" i="0">
                <a:solidFill>
                  <a:srgbClr val="FFFFFF"/>
                </a:solidFill>
              </a:rPr>
              <a:t>3. If that VIF &gt; 2.5, remove the feature</a:t>
            </a:r>
          </a:p>
        </p:txBody>
      </p:sp>
      <p:sp>
        <p:nvSpPr>
          <p:cNvPr id="13" name="TextBox 12"/>
          <p:cNvSpPr txBox="1"/>
          <p:nvPr/>
        </p:nvSpPr>
        <p:spPr>
          <a:xfrm>
            <a:off x="548640" y="3794760"/>
            <a:ext cx="4663440" cy="365760"/>
          </a:xfrm>
          <a:prstGeom prst="rect">
            <a:avLst/>
          </a:prstGeom>
          <a:noFill/>
        </p:spPr>
        <p:txBody>
          <a:bodyPr wrap="square">
            <a:spAutoFit/>
          </a:bodyPr>
          <a:lstStyle/>
          <a:p>
            <a:pPr algn="l"/>
            <a:r>
              <a:rPr sz="1200" b="0" i="0">
                <a:solidFill>
                  <a:srgbClr val="FFFFFF"/>
                </a:solidFill>
              </a:rPr>
              <a:t>4. Repeat until all remaining features have VIF &lt;= 2.5</a:t>
            </a:r>
          </a:p>
        </p:txBody>
      </p:sp>
      <p:sp>
        <p:nvSpPr>
          <p:cNvPr id="14" name="TextBox 13"/>
          <p:cNvSpPr txBox="1"/>
          <p:nvPr/>
        </p:nvSpPr>
        <p:spPr>
          <a:xfrm>
            <a:off x="548640" y="4251960"/>
            <a:ext cx="4663440" cy="365760"/>
          </a:xfrm>
          <a:prstGeom prst="rect">
            <a:avLst/>
          </a:prstGeom>
          <a:noFill/>
        </p:spPr>
        <p:txBody>
          <a:bodyPr wrap="square">
            <a:spAutoFit/>
          </a:bodyPr>
          <a:lstStyle/>
          <a:p>
            <a:pPr algn="l"/>
            <a:r>
              <a:rPr sz="1200" b="0" i="0">
                <a:solidFill>
                  <a:srgbClr val="FFFFFF"/>
                </a:solidFill>
              </a:rPr>
              <a:t>5. Use threshold of 2.5 (stricter than standard 5.0)</a:t>
            </a:r>
          </a:p>
        </p:txBody>
      </p:sp>
      <p:sp>
        <p:nvSpPr>
          <p:cNvPr id="15" name="TextBox 14"/>
          <p:cNvSpPr txBox="1"/>
          <p:nvPr/>
        </p:nvSpPr>
        <p:spPr>
          <a:xfrm>
            <a:off x="548640" y="4709160"/>
            <a:ext cx="4663440" cy="365760"/>
          </a:xfrm>
          <a:prstGeom prst="rect">
            <a:avLst/>
          </a:prstGeom>
          <a:noFill/>
        </p:spPr>
        <p:txBody>
          <a:bodyPr wrap="square">
            <a:spAutoFit/>
          </a:bodyPr>
          <a:lstStyle/>
          <a:p>
            <a:pPr algn="l"/>
            <a:r>
              <a:rPr sz="1200" b="0" i="0">
                <a:solidFill>
                  <a:srgbClr val="8B9CB8"/>
                </a:solidFill>
              </a:rPr>
              <a:t>   — following Ananthakumar &amp; Sarkar (2017)</a:t>
            </a:r>
          </a:p>
        </p:txBody>
      </p:sp>
      <p:sp>
        <p:nvSpPr>
          <p:cNvPr id="16" name="Rectangle 15"/>
          <p:cNvSpPr/>
          <p:nvPr/>
        </p:nvSpPr>
        <p:spPr>
          <a:xfrm>
            <a:off x="5669280" y="1874519"/>
            <a:ext cx="603504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0" y="1874519"/>
            <a:ext cx="603504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0" y="1965960"/>
            <a:ext cx="5669280" cy="365760"/>
          </a:xfrm>
          <a:prstGeom prst="rect">
            <a:avLst/>
          </a:prstGeom>
          <a:noFill/>
        </p:spPr>
        <p:txBody>
          <a:bodyPr wrap="square">
            <a:spAutoFit/>
          </a:bodyPr>
          <a:lstStyle/>
          <a:p>
            <a:pPr algn="l"/>
            <a:r>
              <a:rPr sz="1400" b="1" i="0">
                <a:solidFill>
                  <a:srgbClr val="D4AF37"/>
                </a:solidFill>
              </a:rPr>
              <a:t>20 Features Retained (of 24)</a:t>
            </a:r>
          </a:p>
        </p:txBody>
      </p:sp>
      <p:sp>
        <p:nvSpPr>
          <p:cNvPr id="19" name="Rectangle 18"/>
          <p:cNvSpPr/>
          <p:nvPr/>
        </p:nvSpPr>
        <p:spPr>
          <a:xfrm>
            <a:off x="5852160" y="2395728"/>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0" y="2395728"/>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61888" y="2459736"/>
            <a:ext cx="2468880" cy="228600"/>
          </a:xfrm>
          <a:prstGeom prst="rect">
            <a:avLst/>
          </a:prstGeom>
          <a:noFill/>
        </p:spPr>
        <p:txBody>
          <a:bodyPr wrap="square">
            <a:spAutoFit/>
          </a:bodyPr>
          <a:lstStyle/>
          <a:p>
            <a:pPr algn="l"/>
            <a:r>
              <a:rPr sz="900" b="0" i="0">
                <a:solidFill>
                  <a:srgbClr val="FFFFFF"/>
                </a:solidFill>
              </a:rPr>
              <a:t>roe</a:t>
            </a:r>
          </a:p>
        </p:txBody>
      </p:sp>
      <p:sp>
        <p:nvSpPr>
          <p:cNvPr id="22" name="Rectangle 21"/>
          <p:cNvSpPr/>
          <p:nvPr/>
        </p:nvSpPr>
        <p:spPr>
          <a:xfrm>
            <a:off x="8686800" y="2395728"/>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0" y="2395728"/>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96528" y="2459736"/>
            <a:ext cx="2468880" cy="228600"/>
          </a:xfrm>
          <a:prstGeom prst="rect">
            <a:avLst/>
          </a:prstGeom>
          <a:noFill/>
        </p:spPr>
        <p:txBody>
          <a:bodyPr wrap="square">
            <a:spAutoFit/>
          </a:bodyPr>
          <a:lstStyle/>
          <a:p>
            <a:pPr algn="l"/>
            <a:r>
              <a:rPr sz="900" b="0" i="0">
                <a:solidFill>
                  <a:srgbClr val="FFFFFF"/>
                </a:solidFill>
              </a:rPr>
              <a:t>gross_margin</a:t>
            </a:r>
          </a:p>
        </p:txBody>
      </p:sp>
      <p:sp>
        <p:nvSpPr>
          <p:cNvPr id="25" name="Rectangle 24"/>
          <p:cNvSpPr/>
          <p:nvPr/>
        </p:nvSpPr>
        <p:spPr>
          <a:xfrm>
            <a:off x="5852160" y="2752344"/>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752344"/>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61888" y="2816352"/>
            <a:ext cx="2468880" cy="228600"/>
          </a:xfrm>
          <a:prstGeom prst="rect">
            <a:avLst/>
          </a:prstGeom>
          <a:noFill/>
        </p:spPr>
        <p:txBody>
          <a:bodyPr wrap="square">
            <a:spAutoFit/>
          </a:bodyPr>
          <a:lstStyle/>
          <a:p>
            <a:pPr algn="l"/>
            <a:r>
              <a:rPr sz="900" b="0" i="0">
                <a:solidFill>
                  <a:srgbClr val="FFFFFF"/>
                </a:solidFill>
              </a:rPr>
              <a:t>op_margin</a:t>
            </a:r>
          </a:p>
        </p:txBody>
      </p:sp>
      <p:sp>
        <p:nvSpPr>
          <p:cNvPr id="28" name="Rectangle 27"/>
          <p:cNvSpPr/>
          <p:nvPr/>
        </p:nvSpPr>
        <p:spPr>
          <a:xfrm>
            <a:off x="8686800" y="2752344"/>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0" y="2752344"/>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96528" y="2816352"/>
            <a:ext cx="2468880" cy="228600"/>
          </a:xfrm>
          <a:prstGeom prst="rect">
            <a:avLst/>
          </a:prstGeom>
          <a:noFill/>
        </p:spPr>
        <p:txBody>
          <a:bodyPr wrap="square">
            <a:spAutoFit/>
          </a:bodyPr>
          <a:lstStyle/>
          <a:p>
            <a:pPr algn="l"/>
            <a:r>
              <a:rPr sz="900" b="0" i="0">
                <a:solidFill>
                  <a:srgbClr val="FFFFFF"/>
                </a:solidFill>
              </a:rPr>
              <a:t>asset_turnover</a:t>
            </a:r>
          </a:p>
        </p:txBody>
      </p:sp>
      <p:sp>
        <p:nvSpPr>
          <p:cNvPr id="31" name="Rectangle 30"/>
          <p:cNvSpPr/>
          <p:nvPr/>
        </p:nvSpPr>
        <p:spPr>
          <a:xfrm>
            <a:off x="5852160" y="3108960"/>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52160" y="3108960"/>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61888" y="3172968"/>
            <a:ext cx="2468880" cy="228600"/>
          </a:xfrm>
          <a:prstGeom prst="rect">
            <a:avLst/>
          </a:prstGeom>
          <a:noFill/>
        </p:spPr>
        <p:txBody>
          <a:bodyPr wrap="square">
            <a:spAutoFit/>
          </a:bodyPr>
          <a:lstStyle/>
          <a:p>
            <a:pPr algn="l"/>
            <a:r>
              <a:rPr sz="900" b="0" i="0">
                <a:solidFill>
                  <a:srgbClr val="FFFFFF"/>
                </a:solidFill>
              </a:rPr>
              <a:t>current_ratio</a:t>
            </a:r>
          </a:p>
        </p:txBody>
      </p:sp>
      <p:sp>
        <p:nvSpPr>
          <p:cNvPr id="34" name="Rectangle 33"/>
          <p:cNvSpPr/>
          <p:nvPr/>
        </p:nvSpPr>
        <p:spPr>
          <a:xfrm>
            <a:off x="8686800" y="3108960"/>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86800" y="3108960"/>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96528" y="3172968"/>
            <a:ext cx="2468880" cy="228600"/>
          </a:xfrm>
          <a:prstGeom prst="rect">
            <a:avLst/>
          </a:prstGeom>
          <a:noFill/>
        </p:spPr>
        <p:txBody>
          <a:bodyPr wrap="square">
            <a:spAutoFit/>
          </a:bodyPr>
          <a:lstStyle/>
          <a:p>
            <a:pPr algn="l"/>
            <a:r>
              <a:rPr sz="900" b="0" i="0">
                <a:solidFill>
                  <a:srgbClr val="FFFFFF"/>
                </a:solidFill>
              </a:rPr>
              <a:t>debt_to_equity</a:t>
            </a:r>
          </a:p>
        </p:txBody>
      </p:sp>
      <p:sp>
        <p:nvSpPr>
          <p:cNvPr id="37" name="Rectangle 36"/>
          <p:cNvSpPr/>
          <p:nvPr/>
        </p:nvSpPr>
        <p:spPr>
          <a:xfrm>
            <a:off x="5852160" y="3465576"/>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52160" y="3465576"/>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61888" y="3529584"/>
            <a:ext cx="2468880" cy="228600"/>
          </a:xfrm>
          <a:prstGeom prst="rect">
            <a:avLst/>
          </a:prstGeom>
          <a:noFill/>
        </p:spPr>
        <p:txBody>
          <a:bodyPr wrap="square">
            <a:spAutoFit/>
          </a:bodyPr>
          <a:lstStyle/>
          <a:p>
            <a:pPr algn="l"/>
            <a:r>
              <a:rPr sz="900" b="0" i="0">
                <a:solidFill>
                  <a:srgbClr val="FFFFFF"/>
                </a:solidFill>
              </a:rPr>
              <a:t>rev_growth</a:t>
            </a:r>
          </a:p>
        </p:txBody>
      </p:sp>
      <p:sp>
        <p:nvSpPr>
          <p:cNvPr id="40" name="Rectangle 39"/>
          <p:cNvSpPr/>
          <p:nvPr/>
        </p:nvSpPr>
        <p:spPr>
          <a:xfrm>
            <a:off x="8686800" y="3465576"/>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0" y="3465576"/>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96528" y="3529584"/>
            <a:ext cx="2468880" cy="228600"/>
          </a:xfrm>
          <a:prstGeom prst="rect">
            <a:avLst/>
          </a:prstGeom>
          <a:noFill/>
        </p:spPr>
        <p:txBody>
          <a:bodyPr wrap="square">
            <a:spAutoFit/>
          </a:bodyPr>
          <a:lstStyle/>
          <a:p>
            <a:pPr algn="l"/>
            <a:r>
              <a:rPr sz="900" b="0" i="0">
                <a:solidFill>
                  <a:srgbClr val="FFFFFF"/>
                </a:solidFill>
              </a:rPr>
              <a:t>ni_growth</a:t>
            </a:r>
          </a:p>
        </p:txBody>
      </p:sp>
      <p:sp>
        <p:nvSpPr>
          <p:cNvPr id="43" name="Rectangle 42"/>
          <p:cNvSpPr/>
          <p:nvPr/>
        </p:nvSpPr>
        <p:spPr>
          <a:xfrm>
            <a:off x="5852160" y="3822192"/>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52160" y="3822192"/>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61888" y="3886200"/>
            <a:ext cx="2468880" cy="228600"/>
          </a:xfrm>
          <a:prstGeom prst="rect">
            <a:avLst/>
          </a:prstGeom>
          <a:noFill/>
        </p:spPr>
        <p:txBody>
          <a:bodyPr wrap="square">
            <a:spAutoFit/>
          </a:bodyPr>
          <a:lstStyle/>
          <a:p>
            <a:pPr algn="l"/>
            <a:r>
              <a:rPr sz="900" b="0" i="0">
                <a:solidFill>
                  <a:srgbClr val="FFFFFF"/>
                </a:solidFill>
              </a:rPr>
              <a:t>pe_ratio</a:t>
            </a:r>
          </a:p>
        </p:txBody>
      </p:sp>
      <p:sp>
        <p:nvSpPr>
          <p:cNvPr id="46" name="Rectangle 45"/>
          <p:cNvSpPr/>
          <p:nvPr/>
        </p:nvSpPr>
        <p:spPr>
          <a:xfrm>
            <a:off x="8686800" y="3822192"/>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86800" y="3822192"/>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96528" y="3886200"/>
            <a:ext cx="2468880" cy="228600"/>
          </a:xfrm>
          <a:prstGeom prst="rect">
            <a:avLst/>
          </a:prstGeom>
          <a:noFill/>
        </p:spPr>
        <p:txBody>
          <a:bodyPr wrap="square">
            <a:spAutoFit/>
          </a:bodyPr>
          <a:lstStyle/>
          <a:p>
            <a:pPr algn="l"/>
            <a:r>
              <a:rPr sz="900" b="0" i="0">
                <a:solidFill>
                  <a:srgbClr val="FFFFFF"/>
                </a:solidFill>
              </a:rPr>
              <a:t>book_to_market</a:t>
            </a:r>
          </a:p>
        </p:txBody>
      </p:sp>
      <p:sp>
        <p:nvSpPr>
          <p:cNvPr id="49" name="Rectangle 48"/>
          <p:cNvSpPr/>
          <p:nvPr/>
        </p:nvSpPr>
        <p:spPr>
          <a:xfrm>
            <a:off x="5852160" y="4178808"/>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52160" y="4178808"/>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61888" y="4242816"/>
            <a:ext cx="2468880" cy="228600"/>
          </a:xfrm>
          <a:prstGeom prst="rect">
            <a:avLst/>
          </a:prstGeom>
          <a:noFill/>
        </p:spPr>
        <p:txBody>
          <a:bodyPr wrap="square">
            <a:spAutoFit/>
          </a:bodyPr>
          <a:lstStyle/>
          <a:p>
            <a:pPr algn="l"/>
            <a:r>
              <a:rPr sz="900" b="0" i="0">
                <a:solidFill>
                  <a:srgbClr val="FFFFFF"/>
                </a:solidFill>
              </a:rPr>
              <a:t>gdp_growth</a:t>
            </a:r>
          </a:p>
        </p:txBody>
      </p:sp>
      <p:sp>
        <p:nvSpPr>
          <p:cNvPr id="52" name="Rectangle 51"/>
          <p:cNvSpPr/>
          <p:nvPr/>
        </p:nvSpPr>
        <p:spPr>
          <a:xfrm>
            <a:off x="8686800" y="4178808"/>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86800" y="4178808"/>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96528" y="4242816"/>
            <a:ext cx="2468880" cy="228600"/>
          </a:xfrm>
          <a:prstGeom prst="rect">
            <a:avLst/>
          </a:prstGeom>
          <a:noFill/>
        </p:spPr>
        <p:txBody>
          <a:bodyPr wrap="square">
            <a:spAutoFit/>
          </a:bodyPr>
          <a:lstStyle/>
          <a:p>
            <a:pPr algn="l"/>
            <a:r>
              <a:rPr sz="900" b="0" i="0">
                <a:solidFill>
                  <a:srgbClr val="FFFFFF"/>
                </a:solidFill>
              </a:rPr>
              <a:t>inflation</a:t>
            </a:r>
          </a:p>
        </p:txBody>
      </p:sp>
      <p:sp>
        <p:nvSpPr>
          <p:cNvPr id="55" name="Rectangle 54"/>
          <p:cNvSpPr/>
          <p:nvPr/>
        </p:nvSpPr>
        <p:spPr>
          <a:xfrm>
            <a:off x="5852160" y="4535424"/>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852160" y="4535424"/>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61888" y="4599432"/>
            <a:ext cx="2468880" cy="228600"/>
          </a:xfrm>
          <a:prstGeom prst="rect">
            <a:avLst/>
          </a:prstGeom>
          <a:noFill/>
        </p:spPr>
        <p:txBody>
          <a:bodyPr wrap="square">
            <a:spAutoFit/>
          </a:bodyPr>
          <a:lstStyle/>
          <a:p>
            <a:pPr algn="l"/>
            <a:r>
              <a:rPr sz="900" b="0" i="0">
                <a:solidFill>
                  <a:srgbClr val="FFFFFF"/>
                </a:solidFill>
              </a:rPr>
              <a:t>delta_roe</a:t>
            </a:r>
          </a:p>
        </p:txBody>
      </p:sp>
      <p:sp>
        <p:nvSpPr>
          <p:cNvPr id="58" name="Rectangle 57"/>
          <p:cNvSpPr/>
          <p:nvPr/>
        </p:nvSpPr>
        <p:spPr>
          <a:xfrm>
            <a:off x="8686800" y="4535424"/>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686800" y="4535424"/>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96528" y="4599432"/>
            <a:ext cx="2468880" cy="228600"/>
          </a:xfrm>
          <a:prstGeom prst="rect">
            <a:avLst/>
          </a:prstGeom>
          <a:noFill/>
        </p:spPr>
        <p:txBody>
          <a:bodyPr wrap="square">
            <a:spAutoFit/>
          </a:bodyPr>
          <a:lstStyle/>
          <a:p>
            <a:pPr algn="l"/>
            <a:r>
              <a:rPr sz="900" b="0" i="0">
                <a:solidFill>
                  <a:srgbClr val="FFFFFF"/>
                </a:solidFill>
              </a:rPr>
              <a:t>delta_gross_margin</a:t>
            </a:r>
          </a:p>
        </p:txBody>
      </p:sp>
      <p:sp>
        <p:nvSpPr>
          <p:cNvPr id="61" name="Rectangle 60"/>
          <p:cNvSpPr/>
          <p:nvPr/>
        </p:nvSpPr>
        <p:spPr>
          <a:xfrm>
            <a:off x="5852160" y="4892040"/>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52160" y="4892040"/>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61888" y="4956048"/>
            <a:ext cx="2468880" cy="228600"/>
          </a:xfrm>
          <a:prstGeom prst="rect">
            <a:avLst/>
          </a:prstGeom>
          <a:noFill/>
        </p:spPr>
        <p:txBody>
          <a:bodyPr wrap="square">
            <a:spAutoFit/>
          </a:bodyPr>
          <a:lstStyle/>
          <a:p>
            <a:pPr algn="l"/>
            <a:r>
              <a:rPr sz="900" b="0" i="0">
                <a:solidFill>
                  <a:srgbClr val="FFFFFF"/>
                </a:solidFill>
              </a:rPr>
              <a:t>delta_net_margin</a:t>
            </a:r>
          </a:p>
        </p:txBody>
      </p:sp>
      <p:sp>
        <p:nvSpPr>
          <p:cNvPr id="64" name="Rectangle 63"/>
          <p:cNvSpPr/>
          <p:nvPr/>
        </p:nvSpPr>
        <p:spPr>
          <a:xfrm>
            <a:off x="8686800" y="4892040"/>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686800" y="4892040"/>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96528" y="4956048"/>
            <a:ext cx="2468880" cy="228600"/>
          </a:xfrm>
          <a:prstGeom prst="rect">
            <a:avLst/>
          </a:prstGeom>
          <a:noFill/>
        </p:spPr>
        <p:txBody>
          <a:bodyPr wrap="square">
            <a:spAutoFit/>
          </a:bodyPr>
          <a:lstStyle/>
          <a:p>
            <a:pPr algn="l"/>
            <a:r>
              <a:rPr sz="900" b="0" i="0">
                <a:solidFill>
                  <a:srgbClr val="FFFFFF"/>
                </a:solidFill>
              </a:rPr>
              <a:t>delta_asset_turnover</a:t>
            </a:r>
          </a:p>
        </p:txBody>
      </p:sp>
      <p:sp>
        <p:nvSpPr>
          <p:cNvPr id="67" name="Rectangle 66"/>
          <p:cNvSpPr/>
          <p:nvPr/>
        </p:nvSpPr>
        <p:spPr>
          <a:xfrm>
            <a:off x="5852160" y="5248656"/>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852160" y="5248656"/>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61888" y="5312664"/>
            <a:ext cx="2468880" cy="228600"/>
          </a:xfrm>
          <a:prstGeom prst="rect">
            <a:avLst/>
          </a:prstGeom>
          <a:noFill/>
        </p:spPr>
        <p:txBody>
          <a:bodyPr wrap="square">
            <a:spAutoFit/>
          </a:bodyPr>
          <a:lstStyle/>
          <a:p>
            <a:pPr algn="l"/>
            <a:r>
              <a:rPr sz="900" b="0" i="0">
                <a:solidFill>
                  <a:srgbClr val="FFFFFF"/>
                </a:solidFill>
              </a:rPr>
              <a:t>delta_current_ratio</a:t>
            </a:r>
          </a:p>
        </p:txBody>
      </p:sp>
      <p:sp>
        <p:nvSpPr>
          <p:cNvPr id="70" name="Rectangle 69"/>
          <p:cNvSpPr/>
          <p:nvPr/>
        </p:nvSpPr>
        <p:spPr>
          <a:xfrm>
            <a:off x="8686800" y="5248656"/>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686800" y="5248656"/>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96528" y="5312664"/>
            <a:ext cx="2468880" cy="228600"/>
          </a:xfrm>
          <a:prstGeom prst="rect">
            <a:avLst/>
          </a:prstGeom>
          <a:noFill/>
        </p:spPr>
        <p:txBody>
          <a:bodyPr wrap="square">
            <a:spAutoFit/>
          </a:bodyPr>
          <a:lstStyle/>
          <a:p>
            <a:pPr algn="l"/>
            <a:r>
              <a:rPr sz="900" b="0" i="0">
                <a:solidFill>
                  <a:srgbClr val="FFFFFF"/>
                </a:solidFill>
              </a:rPr>
              <a:t>delta_debt_to_equity</a:t>
            </a:r>
          </a:p>
        </p:txBody>
      </p:sp>
      <p:sp>
        <p:nvSpPr>
          <p:cNvPr id="73" name="Rectangle 72"/>
          <p:cNvSpPr/>
          <p:nvPr/>
        </p:nvSpPr>
        <p:spPr>
          <a:xfrm>
            <a:off x="5852160" y="5605272"/>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852160" y="5605272"/>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61888" y="5669280"/>
            <a:ext cx="2468880" cy="228600"/>
          </a:xfrm>
          <a:prstGeom prst="rect">
            <a:avLst/>
          </a:prstGeom>
          <a:noFill/>
        </p:spPr>
        <p:txBody>
          <a:bodyPr wrap="square">
            <a:spAutoFit/>
          </a:bodyPr>
          <a:lstStyle/>
          <a:p>
            <a:pPr algn="l"/>
            <a:r>
              <a:rPr sz="900" b="0" i="0">
                <a:solidFill>
                  <a:srgbClr val="FFFFFF"/>
                </a:solidFill>
              </a:rPr>
              <a:t>delta_pe_ratio</a:t>
            </a:r>
          </a:p>
        </p:txBody>
      </p:sp>
      <p:sp>
        <p:nvSpPr>
          <p:cNvPr id="76" name="Rectangle 75"/>
          <p:cNvSpPr/>
          <p:nvPr/>
        </p:nvSpPr>
        <p:spPr>
          <a:xfrm>
            <a:off x="8686800" y="5605272"/>
            <a:ext cx="2651760" cy="310896"/>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686800" y="5605272"/>
            <a:ext cx="36576" cy="3108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796528" y="5669280"/>
            <a:ext cx="2468880" cy="228600"/>
          </a:xfrm>
          <a:prstGeom prst="rect">
            <a:avLst/>
          </a:prstGeom>
          <a:noFill/>
        </p:spPr>
        <p:txBody>
          <a:bodyPr wrap="square">
            <a:spAutoFit/>
          </a:bodyPr>
          <a:lstStyle/>
          <a:p>
            <a:pPr algn="l"/>
            <a:r>
              <a:rPr sz="900" b="0" i="0">
                <a:solidFill>
                  <a:srgbClr val="FFFFFF"/>
                </a:solidFill>
              </a:rPr>
              <a:t>delta_book_to_market</a:t>
            </a:r>
          </a:p>
        </p:txBody>
      </p:sp>
      <p:sp>
        <p:nvSpPr>
          <p:cNvPr id="79" name="Rectangle 78"/>
          <p:cNvSpPr/>
          <p:nvPr/>
        </p:nvSpPr>
        <p:spPr>
          <a:xfrm>
            <a:off x="365760" y="6309360"/>
            <a:ext cx="256032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6576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02920" y="6419088"/>
            <a:ext cx="2377440" cy="274320"/>
          </a:xfrm>
          <a:prstGeom prst="rect">
            <a:avLst/>
          </a:prstGeom>
          <a:noFill/>
        </p:spPr>
        <p:txBody>
          <a:bodyPr wrap="square">
            <a:spAutoFit/>
          </a:bodyPr>
          <a:lstStyle/>
          <a:p>
            <a:pPr algn="l"/>
            <a:r>
              <a:rPr sz="1100" b="0" i="0">
                <a:solidFill>
                  <a:srgbClr val="8B9CB8"/>
                </a:solidFill>
              </a:rPr>
              <a:t>Features Retained</a:t>
            </a:r>
          </a:p>
        </p:txBody>
      </p:sp>
      <p:sp>
        <p:nvSpPr>
          <p:cNvPr id="82" name="TextBox 81"/>
          <p:cNvSpPr txBox="1"/>
          <p:nvPr/>
        </p:nvSpPr>
        <p:spPr>
          <a:xfrm>
            <a:off x="502920" y="6656832"/>
            <a:ext cx="2377440" cy="502920"/>
          </a:xfrm>
          <a:prstGeom prst="rect">
            <a:avLst/>
          </a:prstGeom>
          <a:noFill/>
        </p:spPr>
        <p:txBody>
          <a:bodyPr wrap="square">
            <a:spAutoFit/>
          </a:bodyPr>
          <a:lstStyle/>
          <a:p>
            <a:pPr algn="l"/>
            <a:r>
              <a:rPr sz="2800" b="1" i="0">
                <a:solidFill>
                  <a:srgbClr val="2ECC71"/>
                </a:solidFill>
              </a:rPr>
              <a:t>20/24</a:t>
            </a:r>
          </a:p>
        </p:txBody>
      </p:sp>
      <p:sp>
        <p:nvSpPr>
          <p:cNvPr id="83" name="TextBox 82"/>
          <p:cNvSpPr txBox="1"/>
          <p:nvPr/>
        </p:nvSpPr>
        <p:spPr>
          <a:xfrm>
            <a:off x="502920" y="6428232"/>
            <a:ext cx="2377440" cy="274320"/>
          </a:xfrm>
          <a:prstGeom prst="rect">
            <a:avLst/>
          </a:prstGeom>
          <a:noFill/>
        </p:spPr>
        <p:txBody>
          <a:bodyPr wrap="square">
            <a:spAutoFit/>
          </a:bodyPr>
          <a:lstStyle/>
          <a:p>
            <a:pPr algn="l"/>
            <a:r>
              <a:rPr sz="1000" b="0" i="0">
                <a:solidFill>
                  <a:srgbClr val="8B9CB8"/>
                </a:solidFill>
              </a:rPr>
              <a:t>VIF &lt;= 2.5</a:t>
            </a:r>
          </a:p>
        </p:txBody>
      </p:sp>
      <p:sp>
        <p:nvSpPr>
          <p:cNvPr id="84" name="Rectangle 83"/>
          <p:cNvSpPr/>
          <p:nvPr/>
        </p:nvSpPr>
        <p:spPr>
          <a:xfrm>
            <a:off x="3108960" y="6309360"/>
            <a:ext cx="256032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10896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246120" y="6419088"/>
            <a:ext cx="2377440" cy="274320"/>
          </a:xfrm>
          <a:prstGeom prst="rect">
            <a:avLst/>
          </a:prstGeom>
          <a:noFill/>
        </p:spPr>
        <p:txBody>
          <a:bodyPr wrap="square">
            <a:spAutoFit/>
          </a:bodyPr>
          <a:lstStyle/>
          <a:p>
            <a:pPr algn="l"/>
            <a:r>
              <a:rPr sz="1100" b="0" i="0">
                <a:solidFill>
                  <a:srgbClr val="8B9CB8"/>
                </a:solidFill>
              </a:rPr>
              <a:t>Features Removed</a:t>
            </a:r>
          </a:p>
        </p:txBody>
      </p:sp>
      <p:sp>
        <p:nvSpPr>
          <p:cNvPr id="87" name="TextBox 86"/>
          <p:cNvSpPr txBox="1"/>
          <p:nvPr/>
        </p:nvSpPr>
        <p:spPr>
          <a:xfrm>
            <a:off x="3246120" y="6656832"/>
            <a:ext cx="2377440" cy="502920"/>
          </a:xfrm>
          <a:prstGeom prst="rect">
            <a:avLst/>
          </a:prstGeom>
          <a:noFill/>
        </p:spPr>
        <p:txBody>
          <a:bodyPr wrap="square">
            <a:spAutoFit/>
          </a:bodyPr>
          <a:lstStyle/>
          <a:p>
            <a:pPr algn="l"/>
            <a:r>
              <a:rPr sz="2800" b="1" i="0">
                <a:solidFill>
                  <a:srgbClr val="E74C3C"/>
                </a:solidFill>
              </a:rPr>
              <a:t>4</a:t>
            </a:r>
          </a:p>
        </p:txBody>
      </p:sp>
      <p:sp>
        <p:nvSpPr>
          <p:cNvPr id="88" name="TextBox 87"/>
          <p:cNvSpPr txBox="1"/>
          <p:nvPr/>
        </p:nvSpPr>
        <p:spPr>
          <a:xfrm>
            <a:off x="3246120" y="6428232"/>
            <a:ext cx="2377440" cy="274320"/>
          </a:xfrm>
          <a:prstGeom prst="rect">
            <a:avLst/>
          </a:prstGeom>
          <a:noFill/>
        </p:spPr>
        <p:txBody>
          <a:bodyPr wrap="square">
            <a:spAutoFit/>
          </a:bodyPr>
          <a:lstStyle/>
          <a:p>
            <a:pPr algn="l"/>
            <a:r>
              <a:rPr sz="1000" b="0" i="0">
                <a:solidFill>
                  <a:srgbClr val="8B9CB8"/>
                </a:solidFill>
              </a:rPr>
              <a:t>VIF &gt; 2.5 (collinear)</a:t>
            </a:r>
          </a:p>
        </p:txBody>
      </p:sp>
      <p:sp>
        <p:nvSpPr>
          <p:cNvPr id="89" name="Rectangle 88"/>
          <p:cNvSpPr/>
          <p:nvPr/>
        </p:nvSpPr>
        <p:spPr>
          <a:xfrm>
            <a:off x="5852160" y="6309360"/>
            <a:ext cx="320040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85216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89320" y="6419088"/>
            <a:ext cx="3017520" cy="274320"/>
          </a:xfrm>
          <a:prstGeom prst="rect">
            <a:avLst/>
          </a:prstGeom>
          <a:noFill/>
        </p:spPr>
        <p:txBody>
          <a:bodyPr wrap="square">
            <a:spAutoFit/>
          </a:bodyPr>
          <a:lstStyle/>
          <a:p>
            <a:pPr algn="l"/>
            <a:r>
              <a:rPr sz="1100" b="0" i="0">
                <a:solidFill>
                  <a:srgbClr val="8B9CB8"/>
                </a:solidFill>
              </a:rPr>
              <a:t>VIF Threshold</a:t>
            </a:r>
          </a:p>
        </p:txBody>
      </p:sp>
      <p:sp>
        <p:nvSpPr>
          <p:cNvPr id="92" name="TextBox 91"/>
          <p:cNvSpPr txBox="1"/>
          <p:nvPr/>
        </p:nvSpPr>
        <p:spPr>
          <a:xfrm>
            <a:off x="5989320" y="6656832"/>
            <a:ext cx="3017520" cy="502920"/>
          </a:xfrm>
          <a:prstGeom prst="rect">
            <a:avLst/>
          </a:prstGeom>
          <a:noFill/>
        </p:spPr>
        <p:txBody>
          <a:bodyPr wrap="square">
            <a:spAutoFit/>
          </a:bodyPr>
          <a:lstStyle/>
          <a:p>
            <a:pPr algn="l"/>
            <a:r>
              <a:rPr sz="2800" b="1" i="0">
                <a:solidFill>
                  <a:srgbClr val="D4AF37"/>
                </a:solidFill>
              </a:rPr>
              <a:t>2.5</a:t>
            </a:r>
          </a:p>
        </p:txBody>
      </p:sp>
      <p:sp>
        <p:nvSpPr>
          <p:cNvPr id="93" name="TextBox 92"/>
          <p:cNvSpPr txBox="1"/>
          <p:nvPr/>
        </p:nvSpPr>
        <p:spPr>
          <a:xfrm>
            <a:off x="5989320" y="6428232"/>
            <a:ext cx="3017520" cy="274320"/>
          </a:xfrm>
          <a:prstGeom prst="rect">
            <a:avLst/>
          </a:prstGeom>
          <a:noFill/>
        </p:spPr>
        <p:txBody>
          <a:bodyPr wrap="square">
            <a:spAutoFit/>
          </a:bodyPr>
          <a:lstStyle/>
          <a:p>
            <a:pPr algn="l"/>
            <a:r>
              <a:rPr sz="1000" b="0" i="0">
                <a:solidFill>
                  <a:srgbClr val="8B9CB8"/>
                </a:solidFill>
              </a:rPr>
              <a:t>Ananthakumar &amp; Sarkar benchmark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PCA Analysis — Dimensionality Reduction</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07 — Principal Component Analysis</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685800"/>
          </a:xfrm>
          <a:prstGeom prst="rect">
            <a:avLst/>
          </a:prstGeom>
          <a:noFill/>
        </p:spPr>
        <p:txBody>
          <a:bodyPr wrap="square">
            <a:spAutoFit/>
          </a:bodyPr>
          <a:lstStyle/>
          <a:p>
            <a:pPr algn="l"/>
            <a:r>
              <a:rPr sz="1200" b="0" i="0">
                <a:solidFill>
                  <a:srgbClr val="FFFFFF"/>
                </a:solidFill>
              </a:rPr>
              <a:t>Even after VIF filtering, 20 correlated features remain. PCA compresses them into uncorrelated principal components, each capturing a distinct pattern in the data — eliminating any residual multicollinearity and reducing noise.</a:t>
            </a:r>
          </a:p>
        </p:txBody>
      </p:sp>
      <p:sp>
        <p:nvSpPr>
          <p:cNvPr id="7" name="Rectangle 6"/>
          <p:cNvSpPr/>
          <p:nvPr/>
        </p:nvSpPr>
        <p:spPr>
          <a:xfrm>
            <a:off x="365760" y="1874519"/>
            <a:ext cx="384048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74519"/>
            <a:ext cx="384048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3474720" cy="365760"/>
          </a:xfrm>
          <a:prstGeom prst="rect">
            <a:avLst/>
          </a:prstGeom>
          <a:noFill/>
        </p:spPr>
        <p:txBody>
          <a:bodyPr wrap="square">
            <a:spAutoFit/>
          </a:bodyPr>
          <a:lstStyle/>
          <a:p>
            <a:pPr algn="l"/>
            <a:r>
              <a:rPr sz="1400" b="1" i="0">
                <a:solidFill>
                  <a:srgbClr val="D4AF37"/>
                </a:solidFill>
              </a:rPr>
              <a:t>Component Selection Rule</a:t>
            </a:r>
          </a:p>
        </p:txBody>
      </p:sp>
      <p:sp>
        <p:nvSpPr>
          <p:cNvPr id="10" name="TextBox 9"/>
          <p:cNvSpPr txBox="1"/>
          <p:nvPr/>
        </p:nvSpPr>
        <p:spPr>
          <a:xfrm>
            <a:off x="548640" y="2423160"/>
            <a:ext cx="3474720" cy="3657600"/>
          </a:xfrm>
          <a:prstGeom prst="rect">
            <a:avLst/>
          </a:prstGeom>
          <a:noFill/>
        </p:spPr>
        <p:txBody>
          <a:bodyPr wrap="square">
            <a:spAutoFit/>
          </a:bodyPr>
          <a:lstStyle/>
          <a:p>
            <a:pPr algn="l"/>
            <a:r>
              <a:rPr sz="1200" b="0" i="0">
                <a:solidFill>
                  <a:srgbClr val="FFFFFF"/>
                </a:solidFill>
              </a:rPr>
              <a:t>Threshold: &gt;= 5% individual
variance explained
Applied on recommendation from
faculty advisor.
Rule: n_comp = max(1, count of
components where explained
variance ratio &gt;= 0.05)
Result: 9 principal components
retained for the global model.
The number of components varies
by sector and sub-configuration.</a:t>
            </a:r>
          </a:p>
        </p:txBody>
      </p:sp>
      <p:sp>
        <p:nvSpPr>
          <p:cNvPr id="11" name="Rectangle 10"/>
          <p:cNvSpPr/>
          <p:nvPr/>
        </p:nvSpPr>
        <p:spPr>
          <a:xfrm>
            <a:off x="4434840" y="1874519"/>
            <a:ext cx="731520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874519"/>
            <a:ext cx="73152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965960"/>
            <a:ext cx="6949440" cy="365760"/>
          </a:xfrm>
          <a:prstGeom prst="rect">
            <a:avLst/>
          </a:prstGeom>
          <a:noFill/>
        </p:spPr>
        <p:txBody>
          <a:bodyPr wrap="square">
            <a:spAutoFit/>
          </a:bodyPr>
          <a:lstStyle/>
          <a:p>
            <a:pPr algn="l"/>
            <a:r>
              <a:rPr sz="1400" b="1" i="0">
                <a:solidFill>
                  <a:srgbClr val="D4AF37"/>
                </a:solidFill>
              </a:rPr>
              <a:t>What Each Component Represents</a:t>
            </a:r>
          </a:p>
        </p:txBody>
      </p:sp>
      <p:sp>
        <p:nvSpPr>
          <p:cNvPr id="14" name="Rectangle 13"/>
          <p:cNvSpPr/>
          <p:nvPr/>
        </p:nvSpPr>
        <p:spPr>
          <a:xfrm>
            <a:off x="4617720" y="2395728"/>
            <a:ext cx="6949440" cy="365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17720" y="2395728"/>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450592"/>
            <a:ext cx="502920" cy="256032"/>
          </a:xfrm>
          <a:prstGeom prst="rect">
            <a:avLst/>
          </a:prstGeom>
          <a:noFill/>
        </p:spPr>
        <p:txBody>
          <a:bodyPr wrap="square">
            <a:spAutoFit/>
          </a:bodyPr>
          <a:lstStyle/>
          <a:p>
            <a:pPr algn="ctr"/>
            <a:r>
              <a:rPr sz="1000" b="1" i="0">
                <a:solidFill>
                  <a:srgbClr val="0A1628"/>
                </a:solidFill>
              </a:rPr>
              <a:t>PC1</a:t>
            </a:r>
          </a:p>
        </p:txBody>
      </p:sp>
      <p:sp>
        <p:nvSpPr>
          <p:cNvPr id="17" name="TextBox 16"/>
          <p:cNvSpPr txBox="1"/>
          <p:nvPr/>
        </p:nvSpPr>
        <p:spPr>
          <a:xfrm>
            <a:off x="5166360" y="2450592"/>
            <a:ext cx="2286000" cy="256032"/>
          </a:xfrm>
          <a:prstGeom prst="rect">
            <a:avLst/>
          </a:prstGeom>
          <a:noFill/>
        </p:spPr>
        <p:txBody>
          <a:bodyPr wrap="square">
            <a:spAutoFit/>
          </a:bodyPr>
          <a:lstStyle/>
          <a:p>
            <a:pPr algn="l"/>
            <a:r>
              <a:rPr sz="1000" b="1" i="0">
                <a:solidFill>
                  <a:srgbClr val="FFFFFF"/>
                </a:solidFill>
              </a:rPr>
              <a:t>Profitability cluster</a:t>
            </a:r>
          </a:p>
        </p:txBody>
      </p:sp>
      <p:sp>
        <p:nvSpPr>
          <p:cNvPr id="18" name="TextBox 17"/>
          <p:cNvSpPr txBox="1"/>
          <p:nvPr/>
        </p:nvSpPr>
        <p:spPr>
          <a:xfrm>
            <a:off x="7498079" y="2450592"/>
            <a:ext cx="3931920" cy="256032"/>
          </a:xfrm>
          <a:prstGeom prst="rect">
            <a:avLst/>
          </a:prstGeom>
          <a:noFill/>
        </p:spPr>
        <p:txBody>
          <a:bodyPr wrap="square">
            <a:spAutoFit/>
          </a:bodyPr>
          <a:lstStyle/>
          <a:p>
            <a:pPr algn="l"/>
            <a:r>
              <a:rPr sz="900" b="0" i="0">
                <a:solidFill>
                  <a:srgbClr val="8B9CB8"/>
                </a:solidFill>
              </a:rPr>
              <a:t>ROA, gross margin, op margin loadings</a:t>
            </a:r>
          </a:p>
        </p:txBody>
      </p:sp>
      <p:sp>
        <p:nvSpPr>
          <p:cNvPr id="19" name="Rectangle 18"/>
          <p:cNvSpPr/>
          <p:nvPr/>
        </p:nvSpPr>
        <p:spPr>
          <a:xfrm>
            <a:off x="4617720" y="2816352"/>
            <a:ext cx="6949440" cy="365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17720" y="2816352"/>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2871216"/>
            <a:ext cx="502920" cy="256032"/>
          </a:xfrm>
          <a:prstGeom prst="rect">
            <a:avLst/>
          </a:prstGeom>
          <a:noFill/>
        </p:spPr>
        <p:txBody>
          <a:bodyPr wrap="square">
            <a:spAutoFit/>
          </a:bodyPr>
          <a:lstStyle/>
          <a:p>
            <a:pPr algn="ctr"/>
            <a:r>
              <a:rPr sz="1000" b="1" i="0">
                <a:solidFill>
                  <a:srgbClr val="0A1628"/>
                </a:solidFill>
              </a:rPr>
              <a:t>PC2</a:t>
            </a:r>
          </a:p>
        </p:txBody>
      </p:sp>
      <p:sp>
        <p:nvSpPr>
          <p:cNvPr id="22" name="TextBox 21"/>
          <p:cNvSpPr txBox="1"/>
          <p:nvPr/>
        </p:nvSpPr>
        <p:spPr>
          <a:xfrm>
            <a:off x="5166360" y="2871216"/>
            <a:ext cx="2286000" cy="256032"/>
          </a:xfrm>
          <a:prstGeom prst="rect">
            <a:avLst/>
          </a:prstGeom>
          <a:noFill/>
        </p:spPr>
        <p:txBody>
          <a:bodyPr wrap="square">
            <a:spAutoFit/>
          </a:bodyPr>
          <a:lstStyle/>
          <a:p>
            <a:pPr algn="l"/>
            <a:r>
              <a:rPr sz="1000" b="1" i="0">
                <a:solidFill>
                  <a:srgbClr val="FFFFFF"/>
                </a:solidFill>
              </a:rPr>
              <a:t>Leverage &amp; liquidity</a:t>
            </a:r>
          </a:p>
        </p:txBody>
      </p:sp>
      <p:sp>
        <p:nvSpPr>
          <p:cNvPr id="23" name="TextBox 22"/>
          <p:cNvSpPr txBox="1"/>
          <p:nvPr/>
        </p:nvSpPr>
        <p:spPr>
          <a:xfrm>
            <a:off x="7498079" y="2871216"/>
            <a:ext cx="3931920" cy="256032"/>
          </a:xfrm>
          <a:prstGeom prst="rect">
            <a:avLst/>
          </a:prstGeom>
          <a:noFill/>
        </p:spPr>
        <p:txBody>
          <a:bodyPr wrap="square">
            <a:spAutoFit/>
          </a:bodyPr>
          <a:lstStyle/>
          <a:p>
            <a:pPr algn="l"/>
            <a:r>
              <a:rPr sz="900" b="0" i="0">
                <a:solidFill>
                  <a:srgbClr val="8B9CB8"/>
                </a:solidFill>
              </a:rPr>
              <a:t>Debt/equity, current ratio loadings</a:t>
            </a:r>
          </a:p>
        </p:txBody>
      </p:sp>
      <p:sp>
        <p:nvSpPr>
          <p:cNvPr id="24" name="Rectangle 23"/>
          <p:cNvSpPr/>
          <p:nvPr/>
        </p:nvSpPr>
        <p:spPr>
          <a:xfrm>
            <a:off x="4617720" y="3236976"/>
            <a:ext cx="6949440" cy="365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17720" y="3236976"/>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291840"/>
            <a:ext cx="502920" cy="256032"/>
          </a:xfrm>
          <a:prstGeom prst="rect">
            <a:avLst/>
          </a:prstGeom>
          <a:noFill/>
        </p:spPr>
        <p:txBody>
          <a:bodyPr wrap="square">
            <a:spAutoFit/>
          </a:bodyPr>
          <a:lstStyle/>
          <a:p>
            <a:pPr algn="ctr"/>
            <a:r>
              <a:rPr sz="1000" b="1" i="0">
                <a:solidFill>
                  <a:srgbClr val="0A1628"/>
                </a:solidFill>
              </a:rPr>
              <a:t>PC3</a:t>
            </a:r>
          </a:p>
        </p:txBody>
      </p:sp>
      <p:sp>
        <p:nvSpPr>
          <p:cNvPr id="27" name="TextBox 26"/>
          <p:cNvSpPr txBox="1"/>
          <p:nvPr/>
        </p:nvSpPr>
        <p:spPr>
          <a:xfrm>
            <a:off x="5166360" y="3291840"/>
            <a:ext cx="2286000" cy="256032"/>
          </a:xfrm>
          <a:prstGeom prst="rect">
            <a:avLst/>
          </a:prstGeom>
          <a:noFill/>
        </p:spPr>
        <p:txBody>
          <a:bodyPr wrap="square">
            <a:spAutoFit/>
          </a:bodyPr>
          <a:lstStyle/>
          <a:p>
            <a:pPr algn="l"/>
            <a:r>
              <a:rPr sz="1000" b="1" i="0">
                <a:solidFill>
                  <a:srgbClr val="FFFFFF"/>
                </a:solidFill>
              </a:rPr>
              <a:t>Revenue momentum</a:t>
            </a:r>
          </a:p>
        </p:txBody>
      </p:sp>
      <p:sp>
        <p:nvSpPr>
          <p:cNvPr id="28" name="TextBox 27"/>
          <p:cNvSpPr txBox="1"/>
          <p:nvPr/>
        </p:nvSpPr>
        <p:spPr>
          <a:xfrm>
            <a:off x="7498079" y="3291840"/>
            <a:ext cx="3931920" cy="256032"/>
          </a:xfrm>
          <a:prstGeom prst="rect">
            <a:avLst/>
          </a:prstGeom>
          <a:noFill/>
        </p:spPr>
        <p:txBody>
          <a:bodyPr wrap="square">
            <a:spAutoFit/>
          </a:bodyPr>
          <a:lstStyle/>
          <a:p>
            <a:pPr algn="l"/>
            <a:r>
              <a:rPr sz="900" b="0" i="0">
                <a:solidFill>
                  <a:srgbClr val="8B9CB8"/>
                </a:solidFill>
              </a:rPr>
              <a:t>Rev growth, delta revenue loadings</a:t>
            </a:r>
          </a:p>
        </p:txBody>
      </p:sp>
      <p:sp>
        <p:nvSpPr>
          <p:cNvPr id="29" name="Rectangle 28"/>
          <p:cNvSpPr/>
          <p:nvPr/>
        </p:nvSpPr>
        <p:spPr>
          <a:xfrm>
            <a:off x="4617720" y="3657600"/>
            <a:ext cx="6949440" cy="365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17720" y="3657600"/>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3712464"/>
            <a:ext cx="502920" cy="256032"/>
          </a:xfrm>
          <a:prstGeom prst="rect">
            <a:avLst/>
          </a:prstGeom>
          <a:noFill/>
        </p:spPr>
        <p:txBody>
          <a:bodyPr wrap="square">
            <a:spAutoFit/>
          </a:bodyPr>
          <a:lstStyle/>
          <a:p>
            <a:pPr algn="ctr"/>
            <a:r>
              <a:rPr sz="1000" b="1" i="0">
                <a:solidFill>
                  <a:srgbClr val="0A1628"/>
                </a:solidFill>
              </a:rPr>
              <a:t>PC4</a:t>
            </a:r>
          </a:p>
        </p:txBody>
      </p:sp>
      <p:sp>
        <p:nvSpPr>
          <p:cNvPr id="32" name="TextBox 31"/>
          <p:cNvSpPr txBox="1"/>
          <p:nvPr/>
        </p:nvSpPr>
        <p:spPr>
          <a:xfrm>
            <a:off x="5166360" y="3712464"/>
            <a:ext cx="2286000" cy="256032"/>
          </a:xfrm>
          <a:prstGeom prst="rect">
            <a:avLst/>
          </a:prstGeom>
          <a:noFill/>
        </p:spPr>
        <p:txBody>
          <a:bodyPr wrap="square">
            <a:spAutoFit/>
          </a:bodyPr>
          <a:lstStyle/>
          <a:p>
            <a:pPr algn="l"/>
            <a:r>
              <a:rPr sz="1000" b="1" i="0">
                <a:solidFill>
                  <a:srgbClr val="FFFFFF"/>
                </a:solidFill>
              </a:rPr>
              <a:t>Valuation signal</a:t>
            </a:r>
          </a:p>
        </p:txBody>
      </p:sp>
      <p:sp>
        <p:nvSpPr>
          <p:cNvPr id="33" name="TextBox 32"/>
          <p:cNvSpPr txBox="1"/>
          <p:nvPr/>
        </p:nvSpPr>
        <p:spPr>
          <a:xfrm>
            <a:off x="7498079" y="3712464"/>
            <a:ext cx="3931920" cy="256032"/>
          </a:xfrm>
          <a:prstGeom prst="rect">
            <a:avLst/>
          </a:prstGeom>
          <a:noFill/>
        </p:spPr>
        <p:txBody>
          <a:bodyPr wrap="square">
            <a:spAutoFit/>
          </a:bodyPr>
          <a:lstStyle/>
          <a:p>
            <a:pPr algn="l"/>
            <a:r>
              <a:rPr sz="900" b="0" i="0">
                <a:solidFill>
                  <a:srgbClr val="8B9CB8"/>
                </a:solidFill>
              </a:rPr>
              <a:t>P/E ratio, book-to-market loadings</a:t>
            </a:r>
          </a:p>
        </p:txBody>
      </p:sp>
      <p:sp>
        <p:nvSpPr>
          <p:cNvPr id="34" name="Rectangle 33"/>
          <p:cNvSpPr/>
          <p:nvPr/>
        </p:nvSpPr>
        <p:spPr>
          <a:xfrm>
            <a:off x="4617720" y="4078224"/>
            <a:ext cx="6949440" cy="365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78224"/>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17720" y="4133088"/>
            <a:ext cx="502920" cy="256032"/>
          </a:xfrm>
          <a:prstGeom prst="rect">
            <a:avLst/>
          </a:prstGeom>
          <a:noFill/>
        </p:spPr>
        <p:txBody>
          <a:bodyPr wrap="square">
            <a:spAutoFit/>
          </a:bodyPr>
          <a:lstStyle/>
          <a:p>
            <a:pPr algn="ctr"/>
            <a:r>
              <a:rPr sz="1000" b="1" i="0">
                <a:solidFill>
                  <a:srgbClr val="0A1628"/>
                </a:solidFill>
              </a:rPr>
              <a:t>PC5</a:t>
            </a:r>
          </a:p>
        </p:txBody>
      </p:sp>
      <p:sp>
        <p:nvSpPr>
          <p:cNvPr id="37" name="TextBox 36"/>
          <p:cNvSpPr txBox="1"/>
          <p:nvPr/>
        </p:nvSpPr>
        <p:spPr>
          <a:xfrm>
            <a:off x="5166360" y="4133088"/>
            <a:ext cx="2286000" cy="256032"/>
          </a:xfrm>
          <a:prstGeom prst="rect">
            <a:avLst/>
          </a:prstGeom>
          <a:noFill/>
        </p:spPr>
        <p:txBody>
          <a:bodyPr wrap="square">
            <a:spAutoFit/>
          </a:bodyPr>
          <a:lstStyle/>
          <a:p>
            <a:pPr algn="l"/>
            <a:r>
              <a:rPr sz="1000" b="1" i="0">
                <a:solidFill>
                  <a:srgbClr val="FFFFFF"/>
                </a:solidFill>
              </a:rPr>
              <a:t>NI &amp; margin delta</a:t>
            </a:r>
          </a:p>
        </p:txBody>
      </p:sp>
      <p:sp>
        <p:nvSpPr>
          <p:cNvPr id="38" name="TextBox 37"/>
          <p:cNvSpPr txBox="1"/>
          <p:nvPr/>
        </p:nvSpPr>
        <p:spPr>
          <a:xfrm>
            <a:off x="7498079" y="4133088"/>
            <a:ext cx="3931920" cy="256032"/>
          </a:xfrm>
          <a:prstGeom prst="rect">
            <a:avLst/>
          </a:prstGeom>
          <a:noFill/>
        </p:spPr>
        <p:txBody>
          <a:bodyPr wrap="square">
            <a:spAutoFit/>
          </a:bodyPr>
          <a:lstStyle/>
          <a:p>
            <a:pPr algn="l"/>
            <a:r>
              <a:rPr sz="900" b="0" i="0">
                <a:solidFill>
                  <a:srgbClr val="8B9CB8"/>
                </a:solidFill>
              </a:rPr>
              <a:t>Delta net margin, delta ROE loadings</a:t>
            </a:r>
          </a:p>
        </p:txBody>
      </p:sp>
      <p:sp>
        <p:nvSpPr>
          <p:cNvPr id="39" name="Rectangle 38"/>
          <p:cNvSpPr/>
          <p:nvPr/>
        </p:nvSpPr>
        <p:spPr>
          <a:xfrm>
            <a:off x="4617720" y="4498848"/>
            <a:ext cx="6949440" cy="365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17720" y="4498848"/>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17720" y="4553712"/>
            <a:ext cx="502920" cy="256032"/>
          </a:xfrm>
          <a:prstGeom prst="rect">
            <a:avLst/>
          </a:prstGeom>
          <a:noFill/>
        </p:spPr>
        <p:txBody>
          <a:bodyPr wrap="square">
            <a:spAutoFit/>
          </a:bodyPr>
          <a:lstStyle/>
          <a:p>
            <a:pPr algn="ctr"/>
            <a:r>
              <a:rPr sz="1000" b="1" i="0">
                <a:solidFill>
                  <a:srgbClr val="0A1628"/>
                </a:solidFill>
              </a:rPr>
              <a:t>PC6</a:t>
            </a:r>
          </a:p>
        </p:txBody>
      </p:sp>
      <p:sp>
        <p:nvSpPr>
          <p:cNvPr id="42" name="TextBox 41"/>
          <p:cNvSpPr txBox="1"/>
          <p:nvPr/>
        </p:nvSpPr>
        <p:spPr>
          <a:xfrm>
            <a:off x="5166360" y="4553712"/>
            <a:ext cx="2286000" cy="256032"/>
          </a:xfrm>
          <a:prstGeom prst="rect">
            <a:avLst/>
          </a:prstGeom>
          <a:noFill/>
        </p:spPr>
        <p:txBody>
          <a:bodyPr wrap="square">
            <a:spAutoFit/>
          </a:bodyPr>
          <a:lstStyle/>
          <a:p>
            <a:pPr algn="l"/>
            <a:r>
              <a:rPr sz="1000" b="1" i="0">
                <a:solidFill>
                  <a:srgbClr val="FFFFFF"/>
                </a:solidFill>
              </a:rPr>
              <a:t>Asset efficiency</a:t>
            </a:r>
          </a:p>
        </p:txBody>
      </p:sp>
      <p:sp>
        <p:nvSpPr>
          <p:cNvPr id="43" name="TextBox 42"/>
          <p:cNvSpPr txBox="1"/>
          <p:nvPr/>
        </p:nvSpPr>
        <p:spPr>
          <a:xfrm>
            <a:off x="7498079" y="4553712"/>
            <a:ext cx="3931920" cy="256032"/>
          </a:xfrm>
          <a:prstGeom prst="rect">
            <a:avLst/>
          </a:prstGeom>
          <a:noFill/>
        </p:spPr>
        <p:txBody>
          <a:bodyPr wrap="square">
            <a:spAutoFit/>
          </a:bodyPr>
          <a:lstStyle/>
          <a:p>
            <a:pPr algn="l"/>
            <a:r>
              <a:rPr sz="900" b="0" i="0">
                <a:solidFill>
                  <a:srgbClr val="8B9CB8"/>
                </a:solidFill>
              </a:rPr>
              <a:t>Asset turnover, delta turnover loadings</a:t>
            </a:r>
          </a:p>
        </p:txBody>
      </p:sp>
      <p:sp>
        <p:nvSpPr>
          <p:cNvPr id="44" name="Rectangle 43"/>
          <p:cNvSpPr/>
          <p:nvPr/>
        </p:nvSpPr>
        <p:spPr>
          <a:xfrm>
            <a:off x="4617720" y="4919472"/>
            <a:ext cx="6949440" cy="365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17720" y="4919472"/>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4974336"/>
            <a:ext cx="502920" cy="256032"/>
          </a:xfrm>
          <a:prstGeom prst="rect">
            <a:avLst/>
          </a:prstGeom>
          <a:noFill/>
        </p:spPr>
        <p:txBody>
          <a:bodyPr wrap="square">
            <a:spAutoFit/>
          </a:bodyPr>
          <a:lstStyle/>
          <a:p>
            <a:pPr algn="ctr"/>
            <a:r>
              <a:rPr sz="1000" b="1" i="0">
                <a:solidFill>
                  <a:srgbClr val="0A1628"/>
                </a:solidFill>
              </a:rPr>
              <a:t>PC7</a:t>
            </a:r>
          </a:p>
        </p:txBody>
      </p:sp>
      <p:sp>
        <p:nvSpPr>
          <p:cNvPr id="47" name="TextBox 46"/>
          <p:cNvSpPr txBox="1"/>
          <p:nvPr/>
        </p:nvSpPr>
        <p:spPr>
          <a:xfrm>
            <a:off x="5166360" y="4974336"/>
            <a:ext cx="2286000" cy="256032"/>
          </a:xfrm>
          <a:prstGeom prst="rect">
            <a:avLst/>
          </a:prstGeom>
          <a:noFill/>
        </p:spPr>
        <p:txBody>
          <a:bodyPr wrap="square">
            <a:spAutoFit/>
          </a:bodyPr>
          <a:lstStyle/>
          <a:p>
            <a:pPr algn="l"/>
            <a:r>
              <a:rPr sz="1000" b="1" i="0">
                <a:solidFill>
                  <a:srgbClr val="FFFFFF"/>
                </a:solidFill>
              </a:rPr>
              <a:t>Macro environment</a:t>
            </a:r>
          </a:p>
        </p:txBody>
      </p:sp>
      <p:sp>
        <p:nvSpPr>
          <p:cNvPr id="48" name="TextBox 47"/>
          <p:cNvSpPr txBox="1"/>
          <p:nvPr/>
        </p:nvSpPr>
        <p:spPr>
          <a:xfrm>
            <a:off x="7498079" y="4974336"/>
            <a:ext cx="3931920" cy="256032"/>
          </a:xfrm>
          <a:prstGeom prst="rect">
            <a:avLst/>
          </a:prstGeom>
          <a:noFill/>
        </p:spPr>
        <p:txBody>
          <a:bodyPr wrap="square">
            <a:spAutoFit/>
          </a:bodyPr>
          <a:lstStyle/>
          <a:p>
            <a:pPr algn="l"/>
            <a:r>
              <a:rPr sz="900" b="0" i="0">
                <a:solidFill>
                  <a:srgbClr val="8B9CB8"/>
                </a:solidFill>
              </a:rPr>
              <a:t>GDP growth, inflation loadings</a:t>
            </a:r>
          </a:p>
        </p:txBody>
      </p:sp>
      <p:sp>
        <p:nvSpPr>
          <p:cNvPr id="49" name="Rectangle 48"/>
          <p:cNvSpPr/>
          <p:nvPr/>
        </p:nvSpPr>
        <p:spPr>
          <a:xfrm>
            <a:off x="4617720" y="5340096"/>
            <a:ext cx="6949440" cy="3657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617720" y="5340096"/>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17720" y="5394960"/>
            <a:ext cx="502920" cy="256032"/>
          </a:xfrm>
          <a:prstGeom prst="rect">
            <a:avLst/>
          </a:prstGeom>
          <a:noFill/>
        </p:spPr>
        <p:txBody>
          <a:bodyPr wrap="square">
            <a:spAutoFit/>
          </a:bodyPr>
          <a:lstStyle/>
          <a:p>
            <a:pPr algn="ctr"/>
            <a:r>
              <a:rPr sz="1000" b="1" i="0">
                <a:solidFill>
                  <a:srgbClr val="0A1628"/>
                </a:solidFill>
              </a:rPr>
              <a:t>PC8</a:t>
            </a:r>
          </a:p>
        </p:txBody>
      </p:sp>
      <p:sp>
        <p:nvSpPr>
          <p:cNvPr id="52" name="TextBox 51"/>
          <p:cNvSpPr txBox="1"/>
          <p:nvPr/>
        </p:nvSpPr>
        <p:spPr>
          <a:xfrm>
            <a:off x="5166360" y="5394960"/>
            <a:ext cx="2286000" cy="256032"/>
          </a:xfrm>
          <a:prstGeom prst="rect">
            <a:avLst/>
          </a:prstGeom>
          <a:noFill/>
        </p:spPr>
        <p:txBody>
          <a:bodyPr wrap="square">
            <a:spAutoFit/>
          </a:bodyPr>
          <a:lstStyle/>
          <a:p>
            <a:pPr algn="l"/>
            <a:r>
              <a:rPr sz="1000" b="1" i="0">
                <a:solidFill>
                  <a:srgbClr val="FFFFFF"/>
                </a:solidFill>
              </a:rPr>
              <a:t>Equity momentum</a:t>
            </a:r>
          </a:p>
        </p:txBody>
      </p:sp>
      <p:sp>
        <p:nvSpPr>
          <p:cNvPr id="53" name="TextBox 52"/>
          <p:cNvSpPr txBox="1"/>
          <p:nvPr/>
        </p:nvSpPr>
        <p:spPr>
          <a:xfrm>
            <a:off x="7498079" y="5394960"/>
            <a:ext cx="3931920" cy="256032"/>
          </a:xfrm>
          <a:prstGeom prst="rect">
            <a:avLst/>
          </a:prstGeom>
          <a:noFill/>
        </p:spPr>
        <p:txBody>
          <a:bodyPr wrap="square">
            <a:spAutoFit/>
          </a:bodyPr>
          <a:lstStyle/>
          <a:p>
            <a:pPr algn="l"/>
            <a:r>
              <a:rPr sz="900" b="0" i="0">
                <a:solidFill>
                  <a:srgbClr val="8B9CB8"/>
                </a:solidFill>
              </a:rPr>
              <a:t>Delta ROE, delta book-to-market loadings</a:t>
            </a:r>
          </a:p>
        </p:txBody>
      </p:sp>
      <p:sp>
        <p:nvSpPr>
          <p:cNvPr id="54" name="Rectangle 53"/>
          <p:cNvSpPr/>
          <p:nvPr/>
        </p:nvSpPr>
        <p:spPr>
          <a:xfrm>
            <a:off x="4617720" y="5760720"/>
            <a:ext cx="6949440" cy="365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17720" y="5760720"/>
            <a:ext cx="502920" cy="365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17720" y="5815584"/>
            <a:ext cx="502920" cy="256032"/>
          </a:xfrm>
          <a:prstGeom prst="rect">
            <a:avLst/>
          </a:prstGeom>
          <a:noFill/>
        </p:spPr>
        <p:txBody>
          <a:bodyPr wrap="square">
            <a:spAutoFit/>
          </a:bodyPr>
          <a:lstStyle/>
          <a:p>
            <a:pPr algn="ctr"/>
            <a:r>
              <a:rPr sz="1000" b="1" i="0">
                <a:solidFill>
                  <a:srgbClr val="0A1628"/>
                </a:solidFill>
              </a:rPr>
              <a:t>PC9</a:t>
            </a:r>
          </a:p>
        </p:txBody>
      </p:sp>
      <p:sp>
        <p:nvSpPr>
          <p:cNvPr id="57" name="TextBox 56"/>
          <p:cNvSpPr txBox="1"/>
          <p:nvPr/>
        </p:nvSpPr>
        <p:spPr>
          <a:xfrm>
            <a:off x="5166360" y="5815584"/>
            <a:ext cx="2286000" cy="256032"/>
          </a:xfrm>
          <a:prstGeom prst="rect">
            <a:avLst/>
          </a:prstGeom>
          <a:noFill/>
        </p:spPr>
        <p:txBody>
          <a:bodyPr wrap="square">
            <a:spAutoFit/>
          </a:bodyPr>
          <a:lstStyle/>
          <a:p>
            <a:pPr algn="l"/>
            <a:r>
              <a:rPr sz="1000" b="1" i="0">
                <a:solidFill>
                  <a:srgbClr val="FFFFFF"/>
                </a:solidFill>
              </a:rPr>
              <a:t>Mixed signal</a:t>
            </a:r>
          </a:p>
        </p:txBody>
      </p:sp>
      <p:sp>
        <p:nvSpPr>
          <p:cNvPr id="58" name="TextBox 57"/>
          <p:cNvSpPr txBox="1"/>
          <p:nvPr/>
        </p:nvSpPr>
        <p:spPr>
          <a:xfrm>
            <a:off x="7498079" y="5815584"/>
            <a:ext cx="3931920" cy="256032"/>
          </a:xfrm>
          <a:prstGeom prst="rect">
            <a:avLst/>
          </a:prstGeom>
          <a:noFill/>
        </p:spPr>
        <p:txBody>
          <a:bodyPr wrap="square">
            <a:spAutoFit/>
          </a:bodyPr>
          <a:lstStyle/>
          <a:p>
            <a:pPr algn="l"/>
            <a:r>
              <a:rPr sz="900" b="0" i="0">
                <a:solidFill>
                  <a:srgbClr val="8B9CB8"/>
                </a:solidFill>
              </a:rPr>
              <a:t>Residual variance loadings</a:t>
            </a:r>
          </a:p>
        </p:txBody>
      </p:sp>
      <p:sp>
        <p:nvSpPr>
          <p:cNvPr id="59" name="Rectangle 58"/>
          <p:cNvSpPr/>
          <p:nvPr/>
        </p:nvSpPr>
        <p:spPr>
          <a:xfrm>
            <a:off x="365760" y="6309360"/>
            <a:ext cx="274320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6419088"/>
            <a:ext cx="2560320" cy="274320"/>
          </a:xfrm>
          <a:prstGeom prst="rect">
            <a:avLst/>
          </a:prstGeom>
          <a:noFill/>
        </p:spPr>
        <p:txBody>
          <a:bodyPr wrap="square">
            <a:spAutoFit/>
          </a:bodyPr>
          <a:lstStyle/>
          <a:p>
            <a:pPr algn="l"/>
            <a:r>
              <a:rPr sz="1100" b="0" i="0">
                <a:solidFill>
                  <a:srgbClr val="8B9CB8"/>
                </a:solidFill>
              </a:rPr>
              <a:t>PCA Components Kept</a:t>
            </a:r>
          </a:p>
        </p:txBody>
      </p:sp>
      <p:sp>
        <p:nvSpPr>
          <p:cNvPr id="62" name="TextBox 61"/>
          <p:cNvSpPr txBox="1"/>
          <p:nvPr/>
        </p:nvSpPr>
        <p:spPr>
          <a:xfrm>
            <a:off x="502920" y="6656832"/>
            <a:ext cx="2560320" cy="502920"/>
          </a:xfrm>
          <a:prstGeom prst="rect">
            <a:avLst/>
          </a:prstGeom>
          <a:noFill/>
        </p:spPr>
        <p:txBody>
          <a:bodyPr wrap="square">
            <a:spAutoFit/>
          </a:bodyPr>
          <a:lstStyle/>
          <a:p>
            <a:pPr algn="l"/>
            <a:r>
              <a:rPr sz="2800" b="1" i="0">
                <a:solidFill>
                  <a:srgbClr val="D4AF37"/>
                </a:solidFill>
              </a:rPr>
              <a:t>9</a:t>
            </a:r>
          </a:p>
        </p:txBody>
      </p:sp>
      <p:sp>
        <p:nvSpPr>
          <p:cNvPr id="63" name="TextBox 62"/>
          <p:cNvSpPr txBox="1"/>
          <p:nvPr/>
        </p:nvSpPr>
        <p:spPr>
          <a:xfrm>
            <a:off x="502920" y="6428232"/>
            <a:ext cx="2560320" cy="274320"/>
          </a:xfrm>
          <a:prstGeom prst="rect">
            <a:avLst/>
          </a:prstGeom>
          <a:noFill/>
        </p:spPr>
        <p:txBody>
          <a:bodyPr wrap="square">
            <a:spAutoFit/>
          </a:bodyPr>
          <a:lstStyle/>
          <a:p>
            <a:pPr algn="l"/>
            <a:r>
              <a:rPr sz="1000" b="0" i="0">
                <a:solidFill>
                  <a:srgbClr val="8B9CB8"/>
                </a:solidFill>
              </a:rPr>
              <a:t>Global model (&gt;=5% each)</a:t>
            </a:r>
          </a:p>
        </p:txBody>
      </p:sp>
      <p:sp>
        <p:nvSpPr>
          <p:cNvPr id="64" name="Rectangle 63"/>
          <p:cNvSpPr/>
          <p:nvPr/>
        </p:nvSpPr>
        <p:spPr>
          <a:xfrm>
            <a:off x="3291840" y="6309360"/>
            <a:ext cx="256032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29184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429000" y="6419088"/>
            <a:ext cx="2377440" cy="274320"/>
          </a:xfrm>
          <a:prstGeom prst="rect">
            <a:avLst/>
          </a:prstGeom>
          <a:noFill/>
        </p:spPr>
        <p:txBody>
          <a:bodyPr wrap="square">
            <a:spAutoFit/>
          </a:bodyPr>
          <a:lstStyle/>
          <a:p>
            <a:pPr algn="l"/>
            <a:r>
              <a:rPr sz="1100" b="0" i="0">
                <a:solidFill>
                  <a:srgbClr val="8B9CB8"/>
                </a:solidFill>
              </a:rPr>
              <a:t>Variance Rule</a:t>
            </a:r>
          </a:p>
        </p:txBody>
      </p:sp>
      <p:sp>
        <p:nvSpPr>
          <p:cNvPr id="67" name="TextBox 66"/>
          <p:cNvSpPr txBox="1"/>
          <p:nvPr/>
        </p:nvSpPr>
        <p:spPr>
          <a:xfrm>
            <a:off x="3429000" y="6656832"/>
            <a:ext cx="2377440" cy="502920"/>
          </a:xfrm>
          <a:prstGeom prst="rect">
            <a:avLst/>
          </a:prstGeom>
          <a:noFill/>
        </p:spPr>
        <p:txBody>
          <a:bodyPr wrap="square">
            <a:spAutoFit/>
          </a:bodyPr>
          <a:lstStyle/>
          <a:p>
            <a:pPr algn="l"/>
            <a:r>
              <a:rPr sz="2800" b="1" i="0">
                <a:solidFill>
                  <a:srgbClr val="D4AF37"/>
                </a:solidFill>
              </a:rPr>
              <a:t>&gt;=5%</a:t>
            </a:r>
          </a:p>
        </p:txBody>
      </p:sp>
      <p:sp>
        <p:nvSpPr>
          <p:cNvPr id="68" name="TextBox 67"/>
          <p:cNvSpPr txBox="1"/>
          <p:nvPr/>
        </p:nvSpPr>
        <p:spPr>
          <a:xfrm>
            <a:off x="3429000" y="6428232"/>
            <a:ext cx="2377440" cy="274320"/>
          </a:xfrm>
          <a:prstGeom prst="rect">
            <a:avLst/>
          </a:prstGeom>
          <a:noFill/>
        </p:spPr>
        <p:txBody>
          <a:bodyPr wrap="square">
            <a:spAutoFit/>
          </a:bodyPr>
          <a:lstStyle/>
          <a:p>
            <a:pPr algn="l"/>
            <a:r>
              <a:rPr sz="1000" b="0" i="0">
                <a:solidFill>
                  <a:srgbClr val="8B9CB8"/>
                </a:solidFill>
              </a:rPr>
              <a:t>Per-component threshold</a:t>
            </a:r>
          </a:p>
        </p:txBody>
      </p:sp>
      <p:sp>
        <p:nvSpPr>
          <p:cNvPr id="69" name="Rectangle 68"/>
          <p:cNvSpPr/>
          <p:nvPr/>
        </p:nvSpPr>
        <p:spPr>
          <a:xfrm>
            <a:off x="6035040" y="6309360"/>
            <a:ext cx="320040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35040" y="6309360"/>
            <a:ext cx="45720" cy="43891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72200" y="6419088"/>
            <a:ext cx="3017520" cy="274320"/>
          </a:xfrm>
          <a:prstGeom prst="rect">
            <a:avLst/>
          </a:prstGeom>
          <a:noFill/>
        </p:spPr>
        <p:txBody>
          <a:bodyPr wrap="square">
            <a:spAutoFit/>
          </a:bodyPr>
          <a:lstStyle/>
          <a:p>
            <a:pPr algn="l"/>
            <a:r>
              <a:rPr sz="1100" b="0" i="0">
                <a:solidFill>
                  <a:srgbClr val="8B9CB8"/>
                </a:solidFill>
              </a:rPr>
              <a:t>Sig. Components (Global)</a:t>
            </a:r>
          </a:p>
        </p:txBody>
      </p:sp>
      <p:sp>
        <p:nvSpPr>
          <p:cNvPr id="72" name="TextBox 71"/>
          <p:cNvSpPr txBox="1"/>
          <p:nvPr/>
        </p:nvSpPr>
        <p:spPr>
          <a:xfrm>
            <a:off x="6172200" y="6656832"/>
            <a:ext cx="3017520" cy="502920"/>
          </a:xfrm>
          <a:prstGeom prst="rect">
            <a:avLst/>
          </a:prstGeom>
          <a:noFill/>
        </p:spPr>
        <p:txBody>
          <a:bodyPr wrap="square">
            <a:spAutoFit/>
          </a:bodyPr>
          <a:lstStyle/>
          <a:p>
            <a:pPr algn="l"/>
            <a:r>
              <a:rPr sz="2800" b="1" i="0">
                <a:solidFill>
                  <a:srgbClr val="D4AF37"/>
                </a:solidFill>
              </a:rPr>
              <a:t>4/9</a:t>
            </a:r>
          </a:p>
        </p:txBody>
      </p:sp>
      <p:sp>
        <p:nvSpPr>
          <p:cNvPr id="73" name="TextBox 72"/>
          <p:cNvSpPr txBox="1"/>
          <p:nvPr/>
        </p:nvSpPr>
        <p:spPr>
          <a:xfrm>
            <a:off x="6172200" y="6428232"/>
            <a:ext cx="3017520" cy="274320"/>
          </a:xfrm>
          <a:prstGeom prst="rect">
            <a:avLst/>
          </a:prstGeom>
          <a:noFill/>
        </p:spPr>
        <p:txBody>
          <a:bodyPr wrap="square">
            <a:spAutoFit/>
          </a:bodyPr>
          <a:lstStyle/>
          <a:p>
            <a:pPr algn="l"/>
            <a:r>
              <a:rPr sz="1000" b="0" i="0">
                <a:solidFill>
                  <a:srgbClr val="8B9CB8"/>
                </a:solidFill>
              </a:rPr>
              <a:t>PC1, PC3, PC6, PC7 (p&lt;0.05)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Logistic Regression — Model Setup</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08 — Global Pooled Model</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685800"/>
          </a:xfrm>
          <a:prstGeom prst="rect">
            <a:avLst/>
          </a:prstGeom>
          <a:noFill/>
        </p:spPr>
        <p:txBody>
          <a:bodyPr wrap="square">
            <a:spAutoFit/>
          </a:bodyPr>
          <a:lstStyle/>
          <a:p>
            <a:pPr algn="l"/>
            <a:r>
              <a:rPr sz="1200" b="0" i="0">
                <a:solidFill>
                  <a:srgbClr val="FFFFFF"/>
                </a:solidFill>
              </a:rPr>
              <a:t>With PCA components as inputs, logistic regression models the probability that a stock will outperform the S&amp;P 500 in the following quarter. The model is trained on all S&amp;P 500 companies from Q1 2010 to Q4 2024.</a:t>
            </a:r>
          </a:p>
        </p:txBody>
      </p:sp>
      <p:sp>
        <p:nvSpPr>
          <p:cNvPr id="7" name="Rectangle 6"/>
          <p:cNvSpPr/>
          <p:nvPr/>
        </p:nvSpPr>
        <p:spPr>
          <a:xfrm>
            <a:off x="365760" y="1920240"/>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20240"/>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975104"/>
            <a:ext cx="2103120" cy="256032"/>
          </a:xfrm>
          <a:prstGeom prst="rect">
            <a:avLst/>
          </a:prstGeom>
          <a:noFill/>
        </p:spPr>
        <p:txBody>
          <a:bodyPr wrap="square">
            <a:spAutoFit/>
          </a:bodyPr>
          <a:lstStyle/>
          <a:p>
            <a:pPr algn="l"/>
            <a:r>
              <a:rPr sz="1000" b="0" i="0">
                <a:solidFill>
                  <a:srgbClr val="8B9CB8"/>
                </a:solidFill>
              </a:rPr>
              <a:t>Training Period</a:t>
            </a:r>
          </a:p>
        </p:txBody>
      </p:sp>
      <p:sp>
        <p:nvSpPr>
          <p:cNvPr id="10" name="TextBox 9"/>
          <p:cNvSpPr txBox="1"/>
          <p:nvPr/>
        </p:nvSpPr>
        <p:spPr>
          <a:xfrm>
            <a:off x="530352" y="2212848"/>
            <a:ext cx="3200400" cy="320040"/>
          </a:xfrm>
          <a:prstGeom prst="rect">
            <a:avLst/>
          </a:prstGeom>
          <a:noFill/>
        </p:spPr>
        <p:txBody>
          <a:bodyPr wrap="square">
            <a:spAutoFit/>
          </a:bodyPr>
          <a:lstStyle/>
          <a:p>
            <a:pPr algn="l"/>
            <a:r>
              <a:rPr sz="1400" b="1" i="0">
                <a:solidFill>
                  <a:srgbClr val="FFFFFF"/>
                </a:solidFill>
              </a:rPr>
              <a:t>Q1 2010 – Q4 2024</a:t>
            </a:r>
          </a:p>
        </p:txBody>
      </p:sp>
      <p:sp>
        <p:nvSpPr>
          <p:cNvPr id="11" name="TextBox 10"/>
          <p:cNvSpPr txBox="1"/>
          <p:nvPr/>
        </p:nvSpPr>
        <p:spPr>
          <a:xfrm>
            <a:off x="3840480" y="2240280"/>
            <a:ext cx="2103120" cy="274320"/>
          </a:xfrm>
          <a:prstGeom prst="rect">
            <a:avLst/>
          </a:prstGeom>
          <a:noFill/>
        </p:spPr>
        <p:txBody>
          <a:bodyPr wrap="square">
            <a:spAutoFit/>
          </a:bodyPr>
          <a:lstStyle/>
          <a:p>
            <a:pPr algn="l"/>
            <a:r>
              <a:rPr sz="900" b="0" i="1">
                <a:solidFill>
                  <a:srgbClr val="8B9CB8"/>
                </a:solidFill>
              </a:rPr>
              <a:t>15 years of quarterly data</a:t>
            </a:r>
          </a:p>
        </p:txBody>
      </p:sp>
      <p:sp>
        <p:nvSpPr>
          <p:cNvPr id="12" name="Rectangle 11"/>
          <p:cNvSpPr/>
          <p:nvPr/>
        </p:nvSpPr>
        <p:spPr>
          <a:xfrm>
            <a:off x="6263640" y="1920240"/>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920240"/>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975104"/>
            <a:ext cx="2103120" cy="256032"/>
          </a:xfrm>
          <a:prstGeom prst="rect">
            <a:avLst/>
          </a:prstGeom>
          <a:noFill/>
        </p:spPr>
        <p:txBody>
          <a:bodyPr wrap="square">
            <a:spAutoFit/>
          </a:bodyPr>
          <a:lstStyle/>
          <a:p>
            <a:pPr algn="l"/>
            <a:r>
              <a:rPr sz="1000" b="0" i="0">
                <a:solidFill>
                  <a:srgbClr val="8B9CB8"/>
                </a:solidFill>
              </a:rPr>
              <a:t>Training Rows</a:t>
            </a:r>
          </a:p>
        </p:txBody>
      </p:sp>
      <p:sp>
        <p:nvSpPr>
          <p:cNvPr id="15" name="TextBox 14"/>
          <p:cNvSpPr txBox="1"/>
          <p:nvPr/>
        </p:nvSpPr>
        <p:spPr>
          <a:xfrm>
            <a:off x="6428232" y="2212848"/>
            <a:ext cx="3200400" cy="320040"/>
          </a:xfrm>
          <a:prstGeom prst="rect">
            <a:avLst/>
          </a:prstGeom>
          <a:noFill/>
        </p:spPr>
        <p:txBody>
          <a:bodyPr wrap="square">
            <a:spAutoFit/>
          </a:bodyPr>
          <a:lstStyle/>
          <a:p>
            <a:pPr algn="l"/>
            <a:r>
              <a:rPr sz="1400" b="1" i="0">
                <a:solidFill>
                  <a:srgbClr val="FFFFFF"/>
                </a:solidFill>
              </a:rPr>
              <a:t>16,589</a:t>
            </a:r>
          </a:p>
        </p:txBody>
      </p:sp>
      <p:sp>
        <p:nvSpPr>
          <p:cNvPr id="16" name="TextBox 15"/>
          <p:cNvSpPr txBox="1"/>
          <p:nvPr/>
        </p:nvSpPr>
        <p:spPr>
          <a:xfrm>
            <a:off x="9738360" y="2240280"/>
            <a:ext cx="2103120" cy="274320"/>
          </a:xfrm>
          <a:prstGeom prst="rect">
            <a:avLst/>
          </a:prstGeom>
          <a:noFill/>
        </p:spPr>
        <p:txBody>
          <a:bodyPr wrap="square">
            <a:spAutoFit/>
          </a:bodyPr>
          <a:lstStyle/>
          <a:p>
            <a:pPr algn="l"/>
            <a:r>
              <a:rPr sz="900" b="0" i="1">
                <a:solidFill>
                  <a:srgbClr val="8B9CB8"/>
                </a:solidFill>
              </a:rPr>
              <a:t>complete observations after cleaning</a:t>
            </a:r>
          </a:p>
        </p:txBody>
      </p:sp>
      <p:sp>
        <p:nvSpPr>
          <p:cNvPr id="17" name="Rectangle 16"/>
          <p:cNvSpPr/>
          <p:nvPr/>
        </p:nvSpPr>
        <p:spPr>
          <a:xfrm>
            <a:off x="365760" y="2724912"/>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724912"/>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779776"/>
            <a:ext cx="2103120" cy="256032"/>
          </a:xfrm>
          <a:prstGeom prst="rect">
            <a:avLst/>
          </a:prstGeom>
          <a:noFill/>
        </p:spPr>
        <p:txBody>
          <a:bodyPr wrap="square">
            <a:spAutoFit/>
          </a:bodyPr>
          <a:lstStyle/>
          <a:p>
            <a:pPr algn="l"/>
            <a:r>
              <a:rPr sz="1000" b="0" i="0">
                <a:solidFill>
                  <a:srgbClr val="8B9CB8"/>
                </a:solidFill>
              </a:rPr>
              <a:t>Companies</a:t>
            </a:r>
          </a:p>
        </p:txBody>
      </p:sp>
      <p:sp>
        <p:nvSpPr>
          <p:cNvPr id="20" name="TextBox 19"/>
          <p:cNvSpPr txBox="1"/>
          <p:nvPr/>
        </p:nvSpPr>
        <p:spPr>
          <a:xfrm>
            <a:off x="530352" y="3017520"/>
            <a:ext cx="3200400" cy="320040"/>
          </a:xfrm>
          <a:prstGeom prst="rect">
            <a:avLst/>
          </a:prstGeom>
          <a:noFill/>
        </p:spPr>
        <p:txBody>
          <a:bodyPr wrap="square">
            <a:spAutoFit/>
          </a:bodyPr>
          <a:lstStyle/>
          <a:p>
            <a:pPr algn="l"/>
            <a:r>
              <a:rPr sz="1400" b="1" i="0">
                <a:solidFill>
                  <a:srgbClr val="FFFFFF"/>
                </a:solidFill>
              </a:rPr>
              <a:t>~500</a:t>
            </a:r>
          </a:p>
        </p:txBody>
      </p:sp>
      <p:sp>
        <p:nvSpPr>
          <p:cNvPr id="21" name="TextBox 20"/>
          <p:cNvSpPr txBox="1"/>
          <p:nvPr/>
        </p:nvSpPr>
        <p:spPr>
          <a:xfrm>
            <a:off x="3840480" y="3044952"/>
            <a:ext cx="2103120" cy="274320"/>
          </a:xfrm>
          <a:prstGeom prst="rect">
            <a:avLst/>
          </a:prstGeom>
          <a:noFill/>
        </p:spPr>
        <p:txBody>
          <a:bodyPr wrap="square">
            <a:spAutoFit/>
          </a:bodyPr>
          <a:lstStyle/>
          <a:p>
            <a:pPr algn="l"/>
            <a:r>
              <a:rPr sz="900" b="0" i="1">
                <a:solidFill>
                  <a:srgbClr val="8B9CB8"/>
                </a:solidFill>
              </a:rPr>
              <a:t>S&amp;P 500 constituents (time-varying)</a:t>
            </a:r>
          </a:p>
        </p:txBody>
      </p:sp>
      <p:sp>
        <p:nvSpPr>
          <p:cNvPr id="22" name="Rectangle 21"/>
          <p:cNvSpPr/>
          <p:nvPr/>
        </p:nvSpPr>
        <p:spPr>
          <a:xfrm>
            <a:off x="6263640" y="2724912"/>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2724912"/>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2779776"/>
            <a:ext cx="2103120" cy="256032"/>
          </a:xfrm>
          <a:prstGeom prst="rect">
            <a:avLst/>
          </a:prstGeom>
          <a:noFill/>
        </p:spPr>
        <p:txBody>
          <a:bodyPr wrap="square">
            <a:spAutoFit/>
          </a:bodyPr>
          <a:lstStyle/>
          <a:p>
            <a:pPr algn="l"/>
            <a:r>
              <a:rPr sz="1000" b="0" i="0">
                <a:solidFill>
                  <a:srgbClr val="8B9CB8"/>
                </a:solidFill>
              </a:rPr>
              <a:t>Target Variable</a:t>
            </a:r>
          </a:p>
        </p:txBody>
      </p:sp>
      <p:sp>
        <p:nvSpPr>
          <p:cNvPr id="25" name="TextBox 24"/>
          <p:cNvSpPr txBox="1"/>
          <p:nvPr/>
        </p:nvSpPr>
        <p:spPr>
          <a:xfrm>
            <a:off x="6428232" y="3017520"/>
            <a:ext cx="3200400" cy="320040"/>
          </a:xfrm>
          <a:prstGeom prst="rect">
            <a:avLst/>
          </a:prstGeom>
          <a:noFill/>
        </p:spPr>
        <p:txBody>
          <a:bodyPr wrap="square">
            <a:spAutoFit/>
          </a:bodyPr>
          <a:lstStyle/>
          <a:p>
            <a:pPr algn="l"/>
            <a:r>
              <a:rPr sz="1400" b="1" i="0">
                <a:solidFill>
                  <a:srgbClr val="FFFFFF"/>
                </a:solidFill>
              </a:rPr>
              <a:t>outperformer_next</a:t>
            </a:r>
          </a:p>
        </p:txBody>
      </p:sp>
      <p:sp>
        <p:nvSpPr>
          <p:cNvPr id="26" name="TextBox 25"/>
          <p:cNvSpPr txBox="1"/>
          <p:nvPr/>
        </p:nvSpPr>
        <p:spPr>
          <a:xfrm>
            <a:off x="9738360" y="3044952"/>
            <a:ext cx="2103120" cy="274320"/>
          </a:xfrm>
          <a:prstGeom prst="rect">
            <a:avLst/>
          </a:prstGeom>
          <a:noFill/>
        </p:spPr>
        <p:txBody>
          <a:bodyPr wrap="square">
            <a:spAutoFit/>
          </a:bodyPr>
          <a:lstStyle/>
          <a:p>
            <a:pPr algn="l"/>
            <a:r>
              <a:rPr sz="900" b="0" i="1">
                <a:solidFill>
                  <a:srgbClr val="8B9CB8"/>
                </a:solidFill>
              </a:rPr>
              <a:t>1 = beats SPY next quarter, 0 = does not</a:t>
            </a:r>
          </a:p>
        </p:txBody>
      </p:sp>
      <p:sp>
        <p:nvSpPr>
          <p:cNvPr id="27" name="Rectangle 26"/>
          <p:cNvSpPr/>
          <p:nvPr/>
        </p:nvSpPr>
        <p:spPr>
          <a:xfrm>
            <a:off x="365760" y="3529584"/>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529584"/>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584448"/>
            <a:ext cx="2103120" cy="256032"/>
          </a:xfrm>
          <a:prstGeom prst="rect">
            <a:avLst/>
          </a:prstGeom>
          <a:noFill/>
        </p:spPr>
        <p:txBody>
          <a:bodyPr wrap="square">
            <a:spAutoFit/>
          </a:bodyPr>
          <a:lstStyle/>
          <a:p>
            <a:pPr algn="l"/>
            <a:r>
              <a:rPr sz="1000" b="0" i="0">
                <a:solidFill>
                  <a:srgbClr val="8B9CB8"/>
                </a:solidFill>
              </a:rPr>
              <a:t>Input Features</a:t>
            </a:r>
          </a:p>
        </p:txBody>
      </p:sp>
      <p:sp>
        <p:nvSpPr>
          <p:cNvPr id="30" name="TextBox 29"/>
          <p:cNvSpPr txBox="1"/>
          <p:nvPr/>
        </p:nvSpPr>
        <p:spPr>
          <a:xfrm>
            <a:off x="530352" y="3822192"/>
            <a:ext cx="3200400" cy="320040"/>
          </a:xfrm>
          <a:prstGeom prst="rect">
            <a:avLst/>
          </a:prstGeom>
          <a:noFill/>
        </p:spPr>
        <p:txBody>
          <a:bodyPr wrap="square">
            <a:spAutoFit/>
          </a:bodyPr>
          <a:lstStyle/>
          <a:p>
            <a:pPr algn="l"/>
            <a:r>
              <a:rPr sz="1400" b="1" i="0">
                <a:solidFill>
                  <a:srgbClr val="FFFFFF"/>
                </a:solidFill>
              </a:rPr>
              <a:t>9 PCA Components</a:t>
            </a:r>
          </a:p>
        </p:txBody>
      </p:sp>
      <p:sp>
        <p:nvSpPr>
          <p:cNvPr id="31" name="TextBox 30"/>
          <p:cNvSpPr txBox="1"/>
          <p:nvPr/>
        </p:nvSpPr>
        <p:spPr>
          <a:xfrm>
            <a:off x="3840480" y="3849624"/>
            <a:ext cx="2103120" cy="274320"/>
          </a:xfrm>
          <a:prstGeom prst="rect">
            <a:avLst/>
          </a:prstGeom>
          <a:noFill/>
        </p:spPr>
        <p:txBody>
          <a:bodyPr wrap="square">
            <a:spAutoFit/>
          </a:bodyPr>
          <a:lstStyle/>
          <a:p>
            <a:pPr algn="l"/>
            <a:r>
              <a:rPr sz="900" b="0" i="1">
                <a:solidFill>
                  <a:srgbClr val="8B9CB8"/>
                </a:solidFill>
              </a:rPr>
              <a:t>derived from 20 VIF-filtered ratios</a:t>
            </a:r>
          </a:p>
        </p:txBody>
      </p:sp>
      <p:sp>
        <p:nvSpPr>
          <p:cNvPr id="32" name="Rectangle 31"/>
          <p:cNvSpPr/>
          <p:nvPr/>
        </p:nvSpPr>
        <p:spPr>
          <a:xfrm>
            <a:off x="6263640" y="3529584"/>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0" y="3529584"/>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3584448"/>
            <a:ext cx="2103120" cy="256032"/>
          </a:xfrm>
          <a:prstGeom prst="rect">
            <a:avLst/>
          </a:prstGeom>
          <a:noFill/>
        </p:spPr>
        <p:txBody>
          <a:bodyPr wrap="square">
            <a:spAutoFit/>
          </a:bodyPr>
          <a:lstStyle/>
          <a:p>
            <a:pPr algn="l"/>
            <a:r>
              <a:rPr sz="1000" b="0" i="0">
                <a:solidFill>
                  <a:srgbClr val="8B9CB8"/>
                </a:solidFill>
              </a:rPr>
              <a:t>Model</a:t>
            </a:r>
          </a:p>
        </p:txBody>
      </p:sp>
      <p:sp>
        <p:nvSpPr>
          <p:cNvPr id="35" name="TextBox 34"/>
          <p:cNvSpPr txBox="1"/>
          <p:nvPr/>
        </p:nvSpPr>
        <p:spPr>
          <a:xfrm>
            <a:off x="6428232" y="3822192"/>
            <a:ext cx="3200400" cy="320040"/>
          </a:xfrm>
          <a:prstGeom prst="rect">
            <a:avLst/>
          </a:prstGeom>
          <a:noFill/>
        </p:spPr>
        <p:txBody>
          <a:bodyPr wrap="square">
            <a:spAutoFit/>
          </a:bodyPr>
          <a:lstStyle/>
          <a:p>
            <a:pPr algn="l"/>
            <a:r>
              <a:rPr sz="1400" b="1" i="0">
                <a:solidFill>
                  <a:srgbClr val="FFFFFF"/>
                </a:solidFill>
              </a:rPr>
              <a:t>Logistic Regression</a:t>
            </a:r>
          </a:p>
        </p:txBody>
      </p:sp>
      <p:sp>
        <p:nvSpPr>
          <p:cNvPr id="36" name="TextBox 35"/>
          <p:cNvSpPr txBox="1"/>
          <p:nvPr/>
        </p:nvSpPr>
        <p:spPr>
          <a:xfrm>
            <a:off x="9738360" y="3849624"/>
            <a:ext cx="2103120" cy="274320"/>
          </a:xfrm>
          <a:prstGeom prst="rect">
            <a:avLst/>
          </a:prstGeom>
          <a:noFill/>
        </p:spPr>
        <p:txBody>
          <a:bodyPr wrap="square">
            <a:spAutoFit/>
          </a:bodyPr>
          <a:lstStyle/>
          <a:p>
            <a:pPr algn="l"/>
            <a:r>
              <a:rPr sz="900" b="0" i="1">
                <a:solidFill>
                  <a:srgbClr val="8B9CB8"/>
                </a:solidFill>
              </a:rPr>
              <a:t>statsmodels Logit, max_iter=200</a:t>
            </a:r>
          </a:p>
        </p:txBody>
      </p:sp>
      <p:sp>
        <p:nvSpPr>
          <p:cNvPr id="37" name="Rectangle 36"/>
          <p:cNvSpPr/>
          <p:nvPr/>
        </p:nvSpPr>
        <p:spPr>
          <a:xfrm>
            <a:off x="365760" y="4334256"/>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4334256"/>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4389120"/>
            <a:ext cx="2103120" cy="256032"/>
          </a:xfrm>
          <a:prstGeom prst="rect">
            <a:avLst/>
          </a:prstGeom>
          <a:noFill/>
        </p:spPr>
        <p:txBody>
          <a:bodyPr wrap="square">
            <a:spAutoFit/>
          </a:bodyPr>
          <a:lstStyle/>
          <a:p>
            <a:pPr algn="l"/>
            <a:r>
              <a:rPr sz="1000" b="0" i="0">
                <a:solidFill>
                  <a:srgbClr val="8B9CB8"/>
                </a:solidFill>
              </a:rPr>
              <a:t>Cutoff Optimization</a:t>
            </a:r>
          </a:p>
        </p:txBody>
      </p:sp>
      <p:sp>
        <p:nvSpPr>
          <p:cNvPr id="40" name="TextBox 39"/>
          <p:cNvSpPr txBox="1"/>
          <p:nvPr/>
        </p:nvSpPr>
        <p:spPr>
          <a:xfrm>
            <a:off x="530352" y="4626864"/>
            <a:ext cx="3200400" cy="320040"/>
          </a:xfrm>
          <a:prstGeom prst="rect">
            <a:avLst/>
          </a:prstGeom>
          <a:noFill/>
        </p:spPr>
        <p:txBody>
          <a:bodyPr wrap="square">
            <a:spAutoFit/>
          </a:bodyPr>
          <a:lstStyle/>
          <a:p>
            <a:pPr algn="l"/>
            <a:r>
              <a:rPr sz="1400" b="1" i="0">
                <a:solidFill>
                  <a:srgbClr val="FFFFFF"/>
                </a:solidFill>
              </a:rPr>
              <a:t>Train-set threshold</a:t>
            </a:r>
          </a:p>
        </p:txBody>
      </p:sp>
      <p:sp>
        <p:nvSpPr>
          <p:cNvPr id="41" name="TextBox 40"/>
          <p:cNvSpPr txBox="1"/>
          <p:nvPr/>
        </p:nvSpPr>
        <p:spPr>
          <a:xfrm>
            <a:off x="3840480" y="4654296"/>
            <a:ext cx="2103120" cy="274320"/>
          </a:xfrm>
          <a:prstGeom prst="rect">
            <a:avLst/>
          </a:prstGeom>
          <a:noFill/>
        </p:spPr>
        <p:txBody>
          <a:bodyPr wrap="square">
            <a:spAutoFit/>
          </a:bodyPr>
          <a:lstStyle/>
          <a:p>
            <a:pPr algn="l"/>
            <a:r>
              <a:rPr sz="900" b="0" i="1">
                <a:solidFill>
                  <a:srgbClr val="8B9CB8"/>
                </a:solidFill>
              </a:rPr>
              <a:t>optimized over 0.30–0.75 range</a:t>
            </a:r>
          </a:p>
        </p:txBody>
      </p:sp>
      <p:sp>
        <p:nvSpPr>
          <p:cNvPr id="42" name="Rectangle 41"/>
          <p:cNvSpPr/>
          <p:nvPr/>
        </p:nvSpPr>
        <p:spPr>
          <a:xfrm>
            <a:off x="6263640" y="4334256"/>
            <a:ext cx="5669280" cy="731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63640" y="4334256"/>
            <a:ext cx="54864" cy="7315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28232" y="4389120"/>
            <a:ext cx="2103120" cy="256032"/>
          </a:xfrm>
          <a:prstGeom prst="rect">
            <a:avLst/>
          </a:prstGeom>
          <a:noFill/>
        </p:spPr>
        <p:txBody>
          <a:bodyPr wrap="square">
            <a:spAutoFit/>
          </a:bodyPr>
          <a:lstStyle/>
          <a:p>
            <a:pPr algn="l"/>
            <a:r>
              <a:rPr sz="1000" b="0" i="0">
                <a:solidFill>
                  <a:srgbClr val="8B9CB8"/>
                </a:solidFill>
              </a:rPr>
              <a:t>Class Weights</a:t>
            </a:r>
          </a:p>
        </p:txBody>
      </p:sp>
      <p:sp>
        <p:nvSpPr>
          <p:cNvPr id="45" name="TextBox 44"/>
          <p:cNvSpPr txBox="1"/>
          <p:nvPr/>
        </p:nvSpPr>
        <p:spPr>
          <a:xfrm>
            <a:off x="6428232" y="4626864"/>
            <a:ext cx="3200400" cy="320040"/>
          </a:xfrm>
          <a:prstGeom prst="rect">
            <a:avLst/>
          </a:prstGeom>
          <a:noFill/>
        </p:spPr>
        <p:txBody>
          <a:bodyPr wrap="square">
            <a:spAutoFit/>
          </a:bodyPr>
          <a:lstStyle/>
          <a:p>
            <a:pPr algn="l"/>
            <a:r>
              <a:rPr sz="1400" b="1" i="0">
                <a:solidFill>
                  <a:srgbClr val="FFFFFF"/>
                </a:solidFill>
              </a:rPr>
              <a:t>Balanced</a:t>
            </a:r>
          </a:p>
        </p:txBody>
      </p:sp>
      <p:sp>
        <p:nvSpPr>
          <p:cNvPr id="46" name="TextBox 45"/>
          <p:cNvSpPr txBox="1"/>
          <p:nvPr/>
        </p:nvSpPr>
        <p:spPr>
          <a:xfrm>
            <a:off x="9738360" y="4654296"/>
            <a:ext cx="2103120" cy="274320"/>
          </a:xfrm>
          <a:prstGeom prst="rect">
            <a:avLst/>
          </a:prstGeom>
          <a:noFill/>
        </p:spPr>
        <p:txBody>
          <a:bodyPr wrap="square">
            <a:spAutoFit/>
          </a:bodyPr>
          <a:lstStyle/>
          <a:p>
            <a:pPr algn="l"/>
            <a:r>
              <a:rPr sz="900" b="0" i="1">
                <a:solidFill>
                  <a:srgbClr val="8B9CB8"/>
                </a:solidFill>
              </a:rPr>
              <a:t>accounts for outperformer imbalance</a:t>
            </a:r>
          </a:p>
        </p:txBody>
      </p:sp>
      <p:sp>
        <p:nvSpPr>
          <p:cNvPr id="47" name="TextBox 46"/>
          <p:cNvSpPr txBox="1"/>
          <p:nvPr/>
        </p:nvSpPr>
        <p:spPr>
          <a:xfrm>
            <a:off x="365760" y="6446520"/>
            <a:ext cx="11430000" cy="274320"/>
          </a:xfrm>
          <a:prstGeom prst="rect">
            <a:avLst/>
          </a:prstGeom>
          <a:noFill/>
        </p:spPr>
        <p:txBody>
          <a:bodyPr wrap="square">
            <a:spAutoFit/>
          </a:bodyPr>
          <a:lstStyle/>
          <a:p>
            <a:pPr algn="l"/>
            <a:r>
              <a:rPr sz="1000" b="1" i="0">
                <a:solidFill>
                  <a:srgbClr val="D4AF37"/>
                </a:solidFill>
              </a:rPr>
              <a:t>Benchmark: Ananthakumar &amp; Sarkar (2017) — 71.2% accuracy using logistic regression on S&amp;P 500 constituents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Global Model Results</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08 — All S&amp;P 500 Companies, No Segmentation</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43000"/>
            <a:ext cx="256032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430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52728"/>
            <a:ext cx="2377440" cy="274320"/>
          </a:xfrm>
          <a:prstGeom prst="rect">
            <a:avLst/>
          </a:prstGeom>
          <a:noFill/>
        </p:spPr>
        <p:txBody>
          <a:bodyPr wrap="square">
            <a:spAutoFit/>
          </a:bodyPr>
          <a:lstStyle/>
          <a:p>
            <a:pPr algn="l"/>
            <a:r>
              <a:rPr sz="1100" b="0" i="0">
                <a:solidFill>
                  <a:srgbClr val="8B9CB8"/>
                </a:solidFill>
              </a:rPr>
              <a:t>Test Accuracy</a:t>
            </a:r>
          </a:p>
        </p:txBody>
      </p:sp>
      <p:sp>
        <p:nvSpPr>
          <p:cNvPr id="9" name="TextBox 8"/>
          <p:cNvSpPr txBox="1"/>
          <p:nvPr/>
        </p:nvSpPr>
        <p:spPr>
          <a:xfrm>
            <a:off x="502920" y="1490472"/>
            <a:ext cx="2377440" cy="502920"/>
          </a:xfrm>
          <a:prstGeom prst="rect">
            <a:avLst/>
          </a:prstGeom>
          <a:noFill/>
        </p:spPr>
        <p:txBody>
          <a:bodyPr wrap="square">
            <a:spAutoFit/>
          </a:bodyPr>
          <a:lstStyle/>
          <a:p>
            <a:pPr algn="l"/>
            <a:r>
              <a:rPr sz="2800" b="1" i="0">
                <a:solidFill>
                  <a:srgbClr val="D4AF37"/>
                </a:solidFill>
              </a:rPr>
              <a:t>53.2%</a:t>
            </a:r>
          </a:p>
        </p:txBody>
      </p:sp>
      <p:sp>
        <p:nvSpPr>
          <p:cNvPr id="10" name="TextBox 9"/>
          <p:cNvSpPr txBox="1"/>
          <p:nvPr/>
        </p:nvSpPr>
        <p:spPr>
          <a:xfrm>
            <a:off x="502920" y="2011680"/>
            <a:ext cx="2377440" cy="274320"/>
          </a:xfrm>
          <a:prstGeom prst="rect">
            <a:avLst/>
          </a:prstGeom>
          <a:noFill/>
        </p:spPr>
        <p:txBody>
          <a:bodyPr wrap="square">
            <a:spAutoFit/>
          </a:bodyPr>
          <a:lstStyle/>
          <a:p>
            <a:pPr algn="l"/>
            <a:r>
              <a:rPr sz="1000" b="0" i="0">
                <a:solidFill>
                  <a:srgbClr val="8B9CB8"/>
                </a:solidFill>
              </a:rPr>
              <a:t>Global pooled model</a:t>
            </a:r>
          </a:p>
        </p:txBody>
      </p:sp>
      <p:sp>
        <p:nvSpPr>
          <p:cNvPr id="11" name="Rectangle 10"/>
          <p:cNvSpPr/>
          <p:nvPr/>
        </p:nvSpPr>
        <p:spPr>
          <a:xfrm>
            <a:off x="3108960" y="1143000"/>
            <a:ext cx="256032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08960" y="11430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46120" y="1252728"/>
            <a:ext cx="2377440" cy="274320"/>
          </a:xfrm>
          <a:prstGeom prst="rect">
            <a:avLst/>
          </a:prstGeom>
          <a:noFill/>
        </p:spPr>
        <p:txBody>
          <a:bodyPr wrap="square">
            <a:spAutoFit/>
          </a:bodyPr>
          <a:lstStyle/>
          <a:p>
            <a:pPr algn="l"/>
            <a:r>
              <a:rPr sz="1100" b="0" i="0">
                <a:solidFill>
                  <a:srgbClr val="8B9CB8"/>
                </a:solidFill>
              </a:rPr>
              <a:t>LR AUC</a:t>
            </a:r>
          </a:p>
        </p:txBody>
      </p:sp>
      <p:sp>
        <p:nvSpPr>
          <p:cNvPr id="14" name="TextBox 13"/>
          <p:cNvSpPr txBox="1"/>
          <p:nvPr/>
        </p:nvSpPr>
        <p:spPr>
          <a:xfrm>
            <a:off x="3246120" y="1490472"/>
            <a:ext cx="2377440" cy="502920"/>
          </a:xfrm>
          <a:prstGeom prst="rect">
            <a:avLst/>
          </a:prstGeom>
          <a:noFill/>
        </p:spPr>
        <p:txBody>
          <a:bodyPr wrap="square">
            <a:spAutoFit/>
          </a:bodyPr>
          <a:lstStyle/>
          <a:p>
            <a:pPr algn="l"/>
            <a:r>
              <a:rPr sz="2800" b="1" i="0">
                <a:solidFill>
                  <a:srgbClr val="D4AF37"/>
                </a:solidFill>
              </a:rPr>
              <a:t>0.5381</a:t>
            </a:r>
          </a:p>
        </p:txBody>
      </p:sp>
      <p:sp>
        <p:nvSpPr>
          <p:cNvPr id="15" name="TextBox 14"/>
          <p:cNvSpPr txBox="1"/>
          <p:nvPr/>
        </p:nvSpPr>
        <p:spPr>
          <a:xfrm>
            <a:off x="3246120" y="2011680"/>
            <a:ext cx="2377440" cy="274320"/>
          </a:xfrm>
          <a:prstGeom prst="rect">
            <a:avLst/>
          </a:prstGeom>
          <a:noFill/>
        </p:spPr>
        <p:txBody>
          <a:bodyPr wrap="square">
            <a:spAutoFit/>
          </a:bodyPr>
          <a:lstStyle/>
          <a:p>
            <a:pPr algn="l"/>
            <a:r>
              <a:rPr sz="1000" b="0" i="0">
                <a:solidFill>
                  <a:srgbClr val="8B9CB8"/>
                </a:solidFill>
              </a:rPr>
              <a:t>Logistic Regression</a:t>
            </a:r>
          </a:p>
        </p:txBody>
      </p:sp>
      <p:sp>
        <p:nvSpPr>
          <p:cNvPr id="16" name="Rectangle 15"/>
          <p:cNvSpPr/>
          <p:nvPr/>
        </p:nvSpPr>
        <p:spPr>
          <a:xfrm>
            <a:off x="5852160" y="1143000"/>
            <a:ext cx="256032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11430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1252728"/>
            <a:ext cx="2377440" cy="274320"/>
          </a:xfrm>
          <a:prstGeom prst="rect">
            <a:avLst/>
          </a:prstGeom>
          <a:noFill/>
        </p:spPr>
        <p:txBody>
          <a:bodyPr wrap="square">
            <a:spAutoFit/>
          </a:bodyPr>
          <a:lstStyle/>
          <a:p>
            <a:pPr algn="l"/>
            <a:r>
              <a:rPr sz="1100" b="0" i="0">
                <a:solidFill>
                  <a:srgbClr val="8B9CB8"/>
                </a:solidFill>
              </a:rPr>
              <a:t>GB AUC (benchmark)</a:t>
            </a:r>
          </a:p>
        </p:txBody>
      </p:sp>
      <p:sp>
        <p:nvSpPr>
          <p:cNvPr id="19" name="TextBox 18"/>
          <p:cNvSpPr txBox="1"/>
          <p:nvPr/>
        </p:nvSpPr>
        <p:spPr>
          <a:xfrm>
            <a:off x="5989320" y="1490472"/>
            <a:ext cx="2377440" cy="502920"/>
          </a:xfrm>
          <a:prstGeom prst="rect">
            <a:avLst/>
          </a:prstGeom>
          <a:noFill/>
        </p:spPr>
        <p:txBody>
          <a:bodyPr wrap="square">
            <a:spAutoFit/>
          </a:bodyPr>
          <a:lstStyle/>
          <a:p>
            <a:pPr algn="l"/>
            <a:r>
              <a:rPr sz="2800" b="1" i="0">
                <a:solidFill>
                  <a:srgbClr val="4A9EFF"/>
                </a:solidFill>
              </a:rPr>
              <a:t>0.6589</a:t>
            </a:r>
          </a:p>
        </p:txBody>
      </p:sp>
      <p:sp>
        <p:nvSpPr>
          <p:cNvPr id="20" name="TextBox 19"/>
          <p:cNvSpPr txBox="1"/>
          <p:nvPr/>
        </p:nvSpPr>
        <p:spPr>
          <a:xfrm>
            <a:off x="5989320" y="2011680"/>
            <a:ext cx="2377440" cy="274320"/>
          </a:xfrm>
          <a:prstGeom prst="rect">
            <a:avLst/>
          </a:prstGeom>
          <a:noFill/>
        </p:spPr>
        <p:txBody>
          <a:bodyPr wrap="square">
            <a:spAutoFit/>
          </a:bodyPr>
          <a:lstStyle/>
          <a:p>
            <a:pPr algn="l"/>
            <a:r>
              <a:rPr sz="1000" b="0" i="0">
                <a:solidFill>
                  <a:srgbClr val="8B9CB8"/>
                </a:solidFill>
              </a:rPr>
              <a:t>Gradient Boosting</a:t>
            </a:r>
          </a:p>
        </p:txBody>
      </p:sp>
      <p:sp>
        <p:nvSpPr>
          <p:cNvPr id="21" name="Rectangle 20"/>
          <p:cNvSpPr/>
          <p:nvPr/>
        </p:nvSpPr>
        <p:spPr>
          <a:xfrm>
            <a:off x="8595360" y="1143000"/>
            <a:ext cx="320040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95360" y="11430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20" y="1252728"/>
            <a:ext cx="3017520" cy="274320"/>
          </a:xfrm>
          <a:prstGeom prst="rect">
            <a:avLst/>
          </a:prstGeom>
          <a:noFill/>
        </p:spPr>
        <p:txBody>
          <a:bodyPr wrap="square">
            <a:spAutoFit/>
          </a:bodyPr>
          <a:lstStyle/>
          <a:p>
            <a:pPr algn="l"/>
            <a:r>
              <a:rPr sz="1100" b="0" i="0">
                <a:solidFill>
                  <a:srgbClr val="8B9CB8"/>
                </a:solidFill>
              </a:rPr>
              <a:t>Sig. PCA Comps</a:t>
            </a:r>
          </a:p>
        </p:txBody>
      </p:sp>
      <p:sp>
        <p:nvSpPr>
          <p:cNvPr id="24" name="TextBox 23"/>
          <p:cNvSpPr txBox="1"/>
          <p:nvPr/>
        </p:nvSpPr>
        <p:spPr>
          <a:xfrm>
            <a:off x="8732520" y="1490472"/>
            <a:ext cx="3017520" cy="502920"/>
          </a:xfrm>
          <a:prstGeom prst="rect">
            <a:avLst/>
          </a:prstGeom>
          <a:noFill/>
        </p:spPr>
        <p:txBody>
          <a:bodyPr wrap="square">
            <a:spAutoFit/>
          </a:bodyPr>
          <a:lstStyle/>
          <a:p>
            <a:pPr algn="l"/>
            <a:r>
              <a:rPr sz="2800" b="1" i="0">
                <a:solidFill>
                  <a:srgbClr val="2ECC71"/>
                </a:solidFill>
              </a:rPr>
              <a:t>4 / 9</a:t>
            </a:r>
          </a:p>
        </p:txBody>
      </p:sp>
      <p:sp>
        <p:nvSpPr>
          <p:cNvPr id="25" name="TextBox 24"/>
          <p:cNvSpPr txBox="1"/>
          <p:nvPr/>
        </p:nvSpPr>
        <p:spPr>
          <a:xfrm>
            <a:off x="8732520" y="2011680"/>
            <a:ext cx="3017520" cy="274320"/>
          </a:xfrm>
          <a:prstGeom prst="rect">
            <a:avLst/>
          </a:prstGeom>
          <a:noFill/>
        </p:spPr>
        <p:txBody>
          <a:bodyPr wrap="square">
            <a:spAutoFit/>
          </a:bodyPr>
          <a:lstStyle/>
          <a:p>
            <a:pPr algn="l"/>
            <a:r>
              <a:rPr sz="1000" b="0" i="0">
                <a:solidFill>
                  <a:srgbClr val="8B9CB8"/>
                </a:solidFill>
              </a:rPr>
              <a:t>p &lt; 0.05</a:t>
            </a:r>
          </a:p>
        </p:txBody>
      </p:sp>
      <p:sp>
        <p:nvSpPr>
          <p:cNvPr id="26" name="Rectangle 25"/>
          <p:cNvSpPr/>
          <p:nvPr/>
        </p:nvSpPr>
        <p:spPr>
          <a:xfrm>
            <a:off x="365760" y="2514600"/>
            <a:ext cx="5486400" cy="3749039"/>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2514600"/>
            <a:ext cx="54864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2606040"/>
            <a:ext cx="5120640" cy="365760"/>
          </a:xfrm>
          <a:prstGeom prst="rect">
            <a:avLst/>
          </a:prstGeom>
          <a:noFill/>
        </p:spPr>
        <p:txBody>
          <a:bodyPr wrap="square">
            <a:spAutoFit/>
          </a:bodyPr>
          <a:lstStyle/>
          <a:p>
            <a:pPr algn="l"/>
            <a:r>
              <a:rPr sz="1300" b="1" i="0">
                <a:solidFill>
                  <a:srgbClr val="D4AF37"/>
                </a:solidFill>
              </a:rPr>
              <a:t>Confusion Matrix (Threshold = 0.50)</a:t>
            </a:r>
          </a:p>
        </p:txBody>
      </p:sp>
      <p:sp>
        <p:nvSpPr>
          <p:cNvPr id="29" name="TextBox 28"/>
          <p:cNvSpPr txBox="1"/>
          <p:nvPr/>
        </p:nvSpPr>
        <p:spPr>
          <a:xfrm>
            <a:off x="548640" y="3063240"/>
            <a:ext cx="5120640" cy="3108960"/>
          </a:xfrm>
          <a:prstGeom prst="rect">
            <a:avLst/>
          </a:prstGeom>
          <a:noFill/>
        </p:spPr>
        <p:txBody>
          <a:bodyPr wrap="square">
            <a:spAutoFit/>
          </a:bodyPr>
          <a:lstStyle/>
          <a:p>
            <a:pPr algn="l"/>
            <a:r>
              <a:rPr sz="1100" b="0" i="0">
                <a:solidFill>
                  <a:srgbClr val="FFFFFF"/>
                </a:solidFill>
              </a:rPr>
              <a:t>The model correctly identifies
outperformers (TP) and underperformers
(TN), but also generates false signals.
Sensitivity (Recall):
  Of true outperformers, how many
  did we correctly predict?
Specificity:
  Of true underperformers, how many
  did we correctly predict?
Precision:
  Of all stocks we bet on, how many
  actually outperformed?</a:t>
            </a:r>
          </a:p>
        </p:txBody>
      </p:sp>
      <p:sp>
        <p:nvSpPr>
          <p:cNvPr id="30" name="Rectangle 29"/>
          <p:cNvSpPr/>
          <p:nvPr/>
        </p:nvSpPr>
        <p:spPr>
          <a:xfrm>
            <a:off x="6035040" y="2514600"/>
            <a:ext cx="5669280" cy="3749039"/>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514600"/>
            <a:ext cx="566928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2606040"/>
            <a:ext cx="5303520" cy="365760"/>
          </a:xfrm>
          <a:prstGeom prst="rect">
            <a:avLst/>
          </a:prstGeom>
          <a:noFill/>
        </p:spPr>
        <p:txBody>
          <a:bodyPr wrap="square">
            <a:spAutoFit/>
          </a:bodyPr>
          <a:lstStyle/>
          <a:p>
            <a:pPr algn="l"/>
            <a:r>
              <a:rPr sz="1300" b="1" i="0">
                <a:solidFill>
                  <a:srgbClr val="D4AF37"/>
                </a:solidFill>
              </a:rPr>
              <a:t>Key Interpretation</a:t>
            </a:r>
          </a:p>
        </p:txBody>
      </p:sp>
      <p:sp>
        <p:nvSpPr>
          <p:cNvPr id="33" name="Rectangle 32"/>
          <p:cNvSpPr/>
          <p:nvPr/>
        </p:nvSpPr>
        <p:spPr>
          <a:xfrm>
            <a:off x="6217920" y="3063240"/>
            <a:ext cx="5303520" cy="6858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3063240"/>
            <a:ext cx="45720" cy="685800"/>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3108960"/>
            <a:ext cx="1828800" cy="256032"/>
          </a:xfrm>
          <a:prstGeom prst="rect">
            <a:avLst/>
          </a:prstGeom>
          <a:noFill/>
        </p:spPr>
        <p:txBody>
          <a:bodyPr wrap="square">
            <a:spAutoFit/>
          </a:bodyPr>
          <a:lstStyle/>
          <a:p>
            <a:pPr algn="l"/>
            <a:r>
              <a:rPr sz="1100" b="1" i="0">
                <a:solidFill>
                  <a:srgbClr val="8B9CB8"/>
                </a:solidFill>
              </a:rPr>
              <a:t>AUC 0.5381</a:t>
            </a:r>
          </a:p>
        </p:txBody>
      </p:sp>
      <p:sp>
        <p:nvSpPr>
          <p:cNvPr id="36" name="TextBox 35"/>
          <p:cNvSpPr txBox="1"/>
          <p:nvPr/>
        </p:nvSpPr>
        <p:spPr>
          <a:xfrm>
            <a:off x="6355080" y="3383280"/>
            <a:ext cx="5120640" cy="320040"/>
          </a:xfrm>
          <a:prstGeom prst="rect">
            <a:avLst/>
          </a:prstGeom>
          <a:noFill/>
        </p:spPr>
        <p:txBody>
          <a:bodyPr wrap="square">
            <a:spAutoFit/>
          </a:bodyPr>
          <a:lstStyle/>
          <a:p>
            <a:pPr algn="l"/>
            <a:r>
              <a:rPr sz="1000" b="0" i="0">
                <a:solidFill>
                  <a:srgbClr val="FFFFFF"/>
                </a:solidFill>
              </a:rPr>
              <a:t>Near-random discrimination. The model
finds weak but real signal globally.</a:t>
            </a:r>
          </a:p>
        </p:txBody>
      </p:sp>
      <p:sp>
        <p:nvSpPr>
          <p:cNvPr id="37" name="Rectangle 36"/>
          <p:cNvSpPr/>
          <p:nvPr/>
        </p:nvSpPr>
        <p:spPr>
          <a:xfrm>
            <a:off x="6217920" y="3840480"/>
            <a:ext cx="5303520" cy="6858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17920" y="3840480"/>
            <a:ext cx="4572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3886200"/>
            <a:ext cx="1828800" cy="256032"/>
          </a:xfrm>
          <a:prstGeom prst="rect">
            <a:avLst/>
          </a:prstGeom>
          <a:noFill/>
        </p:spPr>
        <p:txBody>
          <a:bodyPr wrap="square">
            <a:spAutoFit/>
          </a:bodyPr>
          <a:lstStyle/>
          <a:p>
            <a:pPr algn="l"/>
            <a:r>
              <a:rPr sz="1100" b="1" i="0">
                <a:solidFill>
                  <a:srgbClr val="FFFFFF"/>
                </a:solidFill>
              </a:rPr>
              <a:t>53.2% Accuracy</a:t>
            </a:r>
          </a:p>
        </p:txBody>
      </p:sp>
      <p:sp>
        <p:nvSpPr>
          <p:cNvPr id="40" name="TextBox 39"/>
          <p:cNvSpPr txBox="1"/>
          <p:nvPr/>
        </p:nvSpPr>
        <p:spPr>
          <a:xfrm>
            <a:off x="6355080" y="4160520"/>
            <a:ext cx="5120640" cy="320040"/>
          </a:xfrm>
          <a:prstGeom prst="rect">
            <a:avLst/>
          </a:prstGeom>
          <a:noFill/>
        </p:spPr>
        <p:txBody>
          <a:bodyPr wrap="square">
            <a:spAutoFit/>
          </a:bodyPr>
          <a:lstStyle/>
          <a:p>
            <a:pPr algn="l"/>
            <a:r>
              <a:rPr sz="1000" b="0" i="0">
                <a:solidFill>
                  <a:srgbClr val="FFFFFF"/>
                </a:solidFill>
              </a:rPr>
              <a:t>Marginally above 50% baseline.
Markets are competitive to predict.</a:t>
            </a:r>
          </a:p>
        </p:txBody>
      </p:sp>
      <p:sp>
        <p:nvSpPr>
          <p:cNvPr id="41" name="Rectangle 40"/>
          <p:cNvSpPr/>
          <p:nvPr/>
        </p:nvSpPr>
        <p:spPr>
          <a:xfrm>
            <a:off x="6217920" y="4617720"/>
            <a:ext cx="5303520" cy="6858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4617720"/>
            <a:ext cx="45720" cy="6858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4663440"/>
            <a:ext cx="1828800" cy="256032"/>
          </a:xfrm>
          <a:prstGeom prst="rect">
            <a:avLst/>
          </a:prstGeom>
          <a:noFill/>
        </p:spPr>
        <p:txBody>
          <a:bodyPr wrap="square">
            <a:spAutoFit/>
          </a:bodyPr>
          <a:lstStyle/>
          <a:p>
            <a:pPr algn="l"/>
            <a:r>
              <a:rPr sz="1100" b="1" i="0">
                <a:solidFill>
                  <a:srgbClr val="2ECC71"/>
                </a:solidFill>
              </a:rPr>
              <a:t>LR Significant</a:t>
            </a:r>
          </a:p>
        </p:txBody>
      </p:sp>
      <p:sp>
        <p:nvSpPr>
          <p:cNvPr id="44" name="TextBox 43"/>
          <p:cNvSpPr txBox="1"/>
          <p:nvPr/>
        </p:nvSpPr>
        <p:spPr>
          <a:xfrm>
            <a:off x="6355080" y="4937760"/>
            <a:ext cx="5120640" cy="320040"/>
          </a:xfrm>
          <a:prstGeom prst="rect">
            <a:avLst/>
          </a:prstGeom>
          <a:noFill/>
        </p:spPr>
        <p:txBody>
          <a:bodyPr wrap="square">
            <a:spAutoFit/>
          </a:bodyPr>
          <a:lstStyle/>
          <a:p>
            <a:pPr algn="l"/>
            <a:r>
              <a:rPr sz="1000" b="0" i="0">
                <a:solidFill>
                  <a:srgbClr val="FFFFFF"/>
                </a:solidFill>
              </a:rPr>
              <a:t>p-value &lt; 0.05 — the model is
statistically not random.</a:t>
            </a:r>
          </a:p>
        </p:txBody>
      </p:sp>
      <p:sp>
        <p:nvSpPr>
          <p:cNvPr id="45" name="Rectangle 44"/>
          <p:cNvSpPr/>
          <p:nvPr/>
        </p:nvSpPr>
        <p:spPr>
          <a:xfrm>
            <a:off x="6217920" y="5394960"/>
            <a:ext cx="5303520" cy="6858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17920" y="5394960"/>
            <a:ext cx="45720" cy="685800"/>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5440680"/>
            <a:ext cx="1828800" cy="256032"/>
          </a:xfrm>
          <a:prstGeom prst="rect">
            <a:avLst/>
          </a:prstGeom>
          <a:noFill/>
        </p:spPr>
        <p:txBody>
          <a:bodyPr wrap="square">
            <a:spAutoFit/>
          </a:bodyPr>
          <a:lstStyle/>
          <a:p>
            <a:pPr algn="l"/>
            <a:r>
              <a:rPr sz="1100" b="1" i="0">
                <a:solidFill>
                  <a:srgbClr val="4A9EFF"/>
                </a:solidFill>
              </a:rPr>
              <a:t>GB AUC 0.6589</a:t>
            </a:r>
          </a:p>
        </p:txBody>
      </p:sp>
      <p:sp>
        <p:nvSpPr>
          <p:cNvPr id="48" name="TextBox 47"/>
          <p:cNvSpPr txBox="1"/>
          <p:nvPr/>
        </p:nvSpPr>
        <p:spPr>
          <a:xfrm>
            <a:off x="6355080" y="5715000"/>
            <a:ext cx="5120640" cy="320040"/>
          </a:xfrm>
          <a:prstGeom prst="rect">
            <a:avLst/>
          </a:prstGeom>
          <a:noFill/>
        </p:spPr>
        <p:txBody>
          <a:bodyPr wrap="square">
            <a:spAutoFit/>
          </a:bodyPr>
          <a:lstStyle/>
          <a:p>
            <a:pPr algn="l"/>
            <a:r>
              <a:rPr sz="1000" b="0" i="0">
                <a:solidFill>
                  <a:srgbClr val="FFFFFF"/>
                </a:solidFill>
              </a:rPr>
              <a:t>Non-linear relationships exist in the
data that LR cannot fully capture.</a:t>
            </a:r>
          </a:p>
        </p:txBody>
      </p:sp>
      <p:sp>
        <p:nvSpPr>
          <p:cNvPr id="49" name="TextBox 48"/>
          <p:cNvSpPr txBox="1"/>
          <p:nvPr/>
        </p:nvSpPr>
        <p:spPr>
          <a:xfrm>
            <a:off x="365760" y="6446520"/>
            <a:ext cx="11430000" cy="274320"/>
          </a:xfrm>
          <a:prstGeom prst="rect">
            <a:avLst/>
          </a:prstGeom>
          <a:noFill/>
        </p:spPr>
        <p:txBody>
          <a:bodyPr wrap="square">
            <a:spAutoFit/>
          </a:bodyPr>
          <a:lstStyle/>
          <a:p>
            <a:pPr algn="l"/>
            <a:r>
              <a:rPr sz="900" b="0" i="1">
                <a:solidFill>
                  <a:srgbClr val="8B9CB8"/>
                </a:solidFill>
              </a:rPr>
              <a:t>LR model is statistically significant  |  McFadden R2 = 0.0073  |  VIF kept: 20/24  |  PCA components: 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Gradient Boosting — Non-Linear Benchmark</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08 — LR vs GB Comparison</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685800"/>
          </a:xfrm>
          <a:prstGeom prst="rect">
            <a:avLst/>
          </a:prstGeom>
          <a:noFill/>
        </p:spPr>
        <p:txBody>
          <a:bodyPr wrap="square">
            <a:spAutoFit/>
          </a:bodyPr>
          <a:lstStyle/>
          <a:p>
            <a:pPr algn="l"/>
            <a:r>
              <a:rPr sz="1200" b="0" i="0">
                <a:solidFill>
                  <a:srgbClr val="FFFFFF"/>
                </a:solidFill>
              </a:rPr>
              <a:t>To test whether the logistic regression model's limitations are due to the linearity assumption, we ran Gradient Boosting (GB) as a diagnostic benchmark. GB captures non-linear patterns and interaction effects that logistic regression cannot model.</a:t>
            </a:r>
          </a:p>
        </p:txBody>
      </p:sp>
      <p:sp>
        <p:nvSpPr>
          <p:cNvPr id="7" name="Rectangle 6"/>
          <p:cNvSpPr/>
          <p:nvPr/>
        </p:nvSpPr>
        <p:spPr>
          <a:xfrm>
            <a:off x="365760" y="1874519"/>
            <a:ext cx="539496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74519"/>
            <a:ext cx="539496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5029200" cy="365760"/>
          </a:xfrm>
          <a:prstGeom prst="rect">
            <a:avLst/>
          </a:prstGeom>
          <a:noFill/>
        </p:spPr>
        <p:txBody>
          <a:bodyPr wrap="square">
            <a:spAutoFit/>
          </a:bodyPr>
          <a:lstStyle/>
          <a:p>
            <a:pPr algn="l"/>
            <a:r>
              <a:rPr sz="1400" b="1" i="0">
                <a:solidFill>
                  <a:srgbClr val="D4AF37"/>
                </a:solidFill>
              </a:rPr>
              <a:t>Model Comparison — Global</a:t>
            </a:r>
          </a:p>
        </p:txBody>
      </p:sp>
      <p:sp>
        <p:nvSpPr>
          <p:cNvPr id="10" name="Rectangle 9"/>
          <p:cNvSpPr/>
          <p:nvPr/>
        </p:nvSpPr>
        <p:spPr>
          <a:xfrm>
            <a:off x="594360" y="2423160"/>
            <a:ext cx="1554480"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50592"/>
            <a:ext cx="1508760" cy="292608"/>
          </a:xfrm>
          <a:prstGeom prst="rect">
            <a:avLst/>
          </a:prstGeom>
          <a:noFill/>
        </p:spPr>
        <p:txBody>
          <a:bodyPr wrap="square">
            <a:spAutoFit/>
          </a:bodyPr>
          <a:lstStyle/>
          <a:p>
            <a:pPr algn="l"/>
            <a:r>
              <a:rPr sz="1000" b="1" i="0">
                <a:solidFill>
                  <a:srgbClr val="0A1628"/>
                </a:solidFill>
              </a:rPr>
              <a:t>Model</a:t>
            </a:r>
          </a:p>
        </p:txBody>
      </p:sp>
      <p:sp>
        <p:nvSpPr>
          <p:cNvPr id="12" name="Rectangle 11"/>
          <p:cNvSpPr/>
          <p:nvPr/>
        </p:nvSpPr>
        <p:spPr>
          <a:xfrm>
            <a:off x="2194560" y="2423160"/>
            <a:ext cx="822960"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40280" y="2450592"/>
            <a:ext cx="777240" cy="292608"/>
          </a:xfrm>
          <a:prstGeom prst="rect">
            <a:avLst/>
          </a:prstGeom>
          <a:noFill/>
        </p:spPr>
        <p:txBody>
          <a:bodyPr wrap="square">
            <a:spAutoFit/>
          </a:bodyPr>
          <a:lstStyle/>
          <a:p>
            <a:pPr algn="l"/>
            <a:r>
              <a:rPr sz="1000" b="1" i="0">
                <a:solidFill>
                  <a:srgbClr val="0A1628"/>
                </a:solidFill>
              </a:rPr>
              <a:t>Train AUC</a:t>
            </a:r>
          </a:p>
        </p:txBody>
      </p:sp>
      <p:sp>
        <p:nvSpPr>
          <p:cNvPr id="14" name="Rectangle 13"/>
          <p:cNvSpPr/>
          <p:nvPr/>
        </p:nvSpPr>
        <p:spPr>
          <a:xfrm>
            <a:off x="3063240" y="2423160"/>
            <a:ext cx="822960"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2450592"/>
            <a:ext cx="777240" cy="292608"/>
          </a:xfrm>
          <a:prstGeom prst="rect">
            <a:avLst/>
          </a:prstGeom>
          <a:noFill/>
        </p:spPr>
        <p:txBody>
          <a:bodyPr wrap="square">
            <a:spAutoFit/>
          </a:bodyPr>
          <a:lstStyle/>
          <a:p>
            <a:pPr algn="l"/>
            <a:r>
              <a:rPr sz="1000" b="1" i="0">
                <a:solidFill>
                  <a:srgbClr val="0A1628"/>
                </a:solidFill>
              </a:rPr>
              <a:t>Test AUC</a:t>
            </a:r>
          </a:p>
        </p:txBody>
      </p:sp>
      <p:sp>
        <p:nvSpPr>
          <p:cNvPr id="16" name="Rectangle 15"/>
          <p:cNvSpPr/>
          <p:nvPr/>
        </p:nvSpPr>
        <p:spPr>
          <a:xfrm>
            <a:off x="3931920" y="2423160"/>
            <a:ext cx="1920240" cy="34747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77640" y="2450592"/>
            <a:ext cx="1874520" cy="292608"/>
          </a:xfrm>
          <a:prstGeom prst="rect">
            <a:avLst/>
          </a:prstGeom>
          <a:noFill/>
        </p:spPr>
        <p:txBody>
          <a:bodyPr wrap="square">
            <a:spAutoFit/>
          </a:bodyPr>
          <a:lstStyle/>
          <a:p>
            <a:pPr algn="l"/>
            <a:r>
              <a:rPr sz="1000" b="1" i="0">
                <a:solidFill>
                  <a:srgbClr val="0A1628"/>
                </a:solidFill>
              </a:rPr>
              <a:t>Role</a:t>
            </a:r>
          </a:p>
        </p:txBody>
      </p:sp>
      <p:sp>
        <p:nvSpPr>
          <p:cNvPr id="18" name="Rectangle 17"/>
          <p:cNvSpPr/>
          <p:nvPr/>
        </p:nvSpPr>
        <p:spPr>
          <a:xfrm>
            <a:off x="594360" y="2834640"/>
            <a:ext cx="1554480" cy="62179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017520"/>
            <a:ext cx="1463040" cy="256032"/>
          </a:xfrm>
          <a:prstGeom prst="rect">
            <a:avLst/>
          </a:prstGeom>
          <a:noFill/>
        </p:spPr>
        <p:txBody>
          <a:bodyPr wrap="square">
            <a:spAutoFit/>
          </a:bodyPr>
          <a:lstStyle/>
          <a:p>
            <a:pPr algn="l"/>
            <a:r>
              <a:rPr sz="900" b="1" i="0">
                <a:solidFill>
                  <a:srgbClr val="FFFFFF"/>
                </a:solidFill>
              </a:rPr>
              <a:t>Logistic Regression</a:t>
            </a:r>
          </a:p>
        </p:txBody>
      </p:sp>
      <p:sp>
        <p:nvSpPr>
          <p:cNvPr id="20" name="Rectangle 19"/>
          <p:cNvSpPr/>
          <p:nvPr/>
        </p:nvSpPr>
        <p:spPr>
          <a:xfrm>
            <a:off x="2194560" y="2834640"/>
            <a:ext cx="822960" cy="62179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0" y="3017520"/>
            <a:ext cx="822960" cy="256032"/>
          </a:xfrm>
          <a:prstGeom prst="rect">
            <a:avLst/>
          </a:prstGeom>
          <a:noFill/>
        </p:spPr>
        <p:txBody>
          <a:bodyPr wrap="square">
            <a:spAutoFit/>
          </a:bodyPr>
          <a:lstStyle/>
          <a:p>
            <a:pPr algn="ctr"/>
            <a:r>
              <a:rPr sz="1100" b="1" i="0">
                <a:solidFill>
                  <a:srgbClr val="FFFFFF"/>
                </a:solidFill>
              </a:rPr>
              <a:t>0.5381</a:t>
            </a:r>
          </a:p>
        </p:txBody>
      </p:sp>
      <p:sp>
        <p:nvSpPr>
          <p:cNvPr id="22" name="Rectangle 21"/>
          <p:cNvSpPr/>
          <p:nvPr/>
        </p:nvSpPr>
        <p:spPr>
          <a:xfrm>
            <a:off x="3063240" y="2834640"/>
            <a:ext cx="822960" cy="62179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63240" y="3017520"/>
            <a:ext cx="822960" cy="256032"/>
          </a:xfrm>
          <a:prstGeom prst="rect">
            <a:avLst/>
          </a:prstGeom>
          <a:noFill/>
        </p:spPr>
        <p:txBody>
          <a:bodyPr wrap="square">
            <a:spAutoFit/>
          </a:bodyPr>
          <a:lstStyle/>
          <a:p>
            <a:pPr algn="ctr"/>
            <a:r>
              <a:rPr sz="1100" b="1" i="0">
                <a:solidFill>
                  <a:srgbClr val="D4AF37"/>
                </a:solidFill>
              </a:rPr>
              <a:t>0.5381</a:t>
            </a:r>
          </a:p>
        </p:txBody>
      </p:sp>
      <p:sp>
        <p:nvSpPr>
          <p:cNvPr id="24" name="Rectangle 23"/>
          <p:cNvSpPr/>
          <p:nvPr/>
        </p:nvSpPr>
        <p:spPr>
          <a:xfrm>
            <a:off x="3931920" y="2834640"/>
            <a:ext cx="1920240" cy="62179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77639" y="2907792"/>
            <a:ext cx="1828800" cy="530352"/>
          </a:xfrm>
          <a:prstGeom prst="rect">
            <a:avLst/>
          </a:prstGeom>
          <a:noFill/>
        </p:spPr>
        <p:txBody>
          <a:bodyPr wrap="square">
            <a:spAutoFit/>
          </a:bodyPr>
          <a:lstStyle/>
          <a:p>
            <a:pPr algn="l"/>
            <a:r>
              <a:rPr sz="900" b="0" i="0">
                <a:solidFill>
                  <a:srgbClr val="FFFFFF"/>
                </a:solidFill>
              </a:rPr>
              <a:t>Linear, interpretable
(coefficients, p-values, odds ratios)</a:t>
            </a:r>
          </a:p>
        </p:txBody>
      </p:sp>
      <p:sp>
        <p:nvSpPr>
          <p:cNvPr id="26" name="Rectangle 25"/>
          <p:cNvSpPr/>
          <p:nvPr/>
        </p:nvSpPr>
        <p:spPr>
          <a:xfrm>
            <a:off x="594360" y="3520440"/>
            <a:ext cx="1554480" cy="62179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03320"/>
            <a:ext cx="1463040" cy="256032"/>
          </a:xfrm>
          <a:prstGeom prst="rect">
            <a:avLst/>
          </a:prstGeom>
          <a:noFill/>
        </p:spPr>
        <p:txBody>
          <a:bodyPr wrap="square">
            <a:spAutoFit/>
          </a:bodyPr>
          <a:lstStyle/>
          <a:p>
            <a:pPr algn="l"/>
            <a:r>
              <a:rPr sz="900" b="1" i="0">
                <a:solidFill>
                  <a:srgbClr val="4A9EFF"/>
                </a:solidFill>
              </a:rPr>
              <a:t>Gradient Boosting</a:t>
            </a:r>
          </a:p>
        </p:txBody>
      </p:sp>
      <p:sp>
        <p:nvSpPr>
          <p:cNvPr id="28" name="Rectangle 27"/>
          <p:cNvSpPr/>
          <p:nvPr/>
        </p:nvSpPr>
        <p:spPr>
          <a:xfrm>
            <a:off x="2194560" y="3520440"/>
            <a:ext cx="822960" cy="62179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0" y="3703320"/>
            <a:ext cx="822960" cy="256032"/>
          </a:xfrm>
          <a:prstGeom prst="rect">
            <a:avLst/>
          </a:prstGeom>
          <a:noFill/>
        </p:spPr>
        <p:txBody>
          <a:bodyPr wrap="square">
            <a:spAutoFit/>
          </a:bodyPr>
          <a:lstStyle/>
          <a:p>
            <a:pPr algn="ctr"/>
            <a:r>
              <a:rPr sz="1100" b="1" i="0">
                <a:solidFill>
                  <a:srgbClr val="FFFFFF"/>
                </a:solidFill>
              </a:rPr>
              <a:t>0.6589</a:t>
            </a:r>
          </a:p>
        </p:txBody>
      </p:sp>
      <p:sp>
        <p:nvSpPr>
          <p:cNvPr id="30" name="Rectangle 29"/>
          <p:cNvSpPr/>
          <p:nvPr/>
        </p:nvSpPr>
        <p:spPr>
          <a:xfrm>
            <a:off x="3063240" y="3520440"/>
            <a:ext cx="822960" cy="62179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63240" y="3703320"/>
            <a:ext cx="822960" cy="256032"/>
          </a:xfrm>
          <a:prstGeom prst="rect">
            <a:avLst/>
          </a:prstGeom>
          <a:noFill/>
        </p:spPr>
        <p:txBody>
          <a:bodyPr wrap="square">
            <a:spAutoFit/>
          </a:bodyPr>
          <a:lstStyle/>
          <a:p>
            <a:pPr algn="ctr"/>
            <a:r>
              <a:rPr sz="1100" b="1" i="0">
                <a:solidFill>
                  <a:srgbClr val="4A9EFF"/>
                </a:solidFill>
              </a:rPr>
              <a:t>0.6589</a:t>
            </a:r>
          </a:p>
        </p:txBody>
      </p:sp>
      <p:sp>
        <p:nvSpPr>
          <p:cNvPr id="32" name="Rectangle 31"/>
          <p:cNvSpPr/>
          <p:nvPr/>
        </p:nvSpPr>
        <p:spPr>
          <a:xfrm>
            <a:off x="3931920" y="3520440"/>
            <a:ext cx="1920240" cy="62179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77639" y="3593592"/>
            <a:ext cx="1828800" cy="530352"/>
          </a:xfrm>
          <a:prstGeom prst="rect">
            <a:avLst/>
          </a:prstGeom>
          <a:noFill/>
        </p:spPr>
        <p:txBody>
          <a:bodyPr wrap="square">
            <a:spAutoFit/>
          </a:bodyPr>
          <a:lstStyle/>
          <a:p>
            <a:pPr algn="l"/>
            <a:r>
              <a:rPr sz="900" b="0" i="0">
                <a:solidFill>
                  <a:srgbClr val="FFFFFF"/>
                </a:solidFill>
              </a:rPr>
              <a:t>Non-linear benchmark only
(n=200 trees, depth=3)</a:t>
            </a:r>
          </a:p>
        </p:txBody>
      </p:sp>
      <p:sp>
        <p:nvSpPr>
          <p:cNvPr id="34" name="TextBox 33"/>
          <p:cNvSpPr txBox="1"/>
          <p:nvPr/>
        </p:nvSpPr>
        <p:spPr>
          <a:xfrm>
            <a:off x="548640" y="4251960"/>
            <a:ext cx="5029200" cy="320040"/>
          </a:xfrm>
          <a:prstGeom prst="rect">
            <a:avLst/>
          </a:prstGeom>
          <a:noFill/>
        </p:spPr>
        <p:txBody>
          <a:bodyPr wrap="square">
            <a:spAutoFit/>
          </a:bodyPr>
          <a:lstStyle/>
          <a:p>
            <a:pPr algn="l"/>
            <a:r>
              <a:rPr sz="1200" b="1" i="0">
                <a:solidFill>
                  <a:srgbClr val="4A9EFF"/>
                </a:solidFill>
              </a:rPr>
              <a:t>AUC Improvement (GB vs LR): +12.1 percentage points</a:t>
            </a:r>
          </a:p>
        </p:txBody>
      </p:sp>
      <p:sp>
        <p:nvSpPr>
          <p:cNvPr id="35" name="Rectangle 34"/>
          <p:cNvSpPr/>
          <p:nvPr/>
        </p:nvSpPr>
        <p:spPr>
          <a:xfrm>
            <a:off x="6035040" y="1874519"/>
            <a:ext cx="5669280" cy="43891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35040" y="1874519"/>
            <a:ext cx="566928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1965960"/>
            <a:ext cx="5303520" cy="365760"/>
          </a:xfrm>
          <a:prstGeom prst="rect">
            <a:avLst/>
          </a:prstGeom>
          <a:noFill/>
        </p:spPr>
        <p:txBody>
          <a:bodyPr wrap="square">
            <a:spAutoFit/>
          </a:bodyPr>
          <a:lstStyle/>
          <a:p>
            <a:pPr algn="l"/>
            <a:r>
              <a:rPr sz="1400" b="1" i="0">
                <a:solidFill>
                  <a:srgbClr val="D4AF37"/>
                </a:solidFill>
              </a:rPr>
              <a:t>What This Means</a:t>
            </a:r>
          </a:p>
        </p:txBody>
      </p:sp>
      <p:sp>
        <p:nvSpPr>
          <p:cNvPr id="38" name="TextBox 37"/>
          <p:cNvSpPr txBox="1"/>
          <p:nvPr/>
        </p:nvSpPr>
        <p:spPr>
          <a:xfrm>
            <a:off x="6217920" y="2423160"/>
            <a:ext cx="5303520" cy="3657600"/>
          </a:xfrm>
          <a:prstGeom prst="rect">
            <a:avLst/>
          </a:prstGeom>
          <a:noFill/>
        </p:spPr>
        <p:txBody>
          <a:bodyPr wrap="square">
            <a:spAutoFit/>
          </a:bodyPr>
          <a:lstStyle/>
          <a:p>
            <a:pPr algn="l"/>
            <a:r>
              <a:rPr sz="1200" b="0" i="0">
                <a:solidFill>
                  <a:srgbClr val="FFFFFF"/>
                </a:solidFill>
              </a:rPr>
              <a:t>The gap between LR (0.54) and GB (0.66) AUC confirms that non-linear relationships exist in the data.
Logistic regression finds real signal — it is statistically significant — but misses patterns that require interaction effects between ratios.
GB is used only as a diagnostic tool. Logistic regression remains the primary model because it provides interpretable coefficients, odds ratios, and p-values needed for academic analysis and the paper's findings.
This gap is documented as a limitation and motivates future work with non-linear 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57200"/>
          </a:xfrm>
          <a:prstGeom prst="rect">
            <a:avLst/>
          </a:prstGeom>
          <a:noFill/>
        </p:spPr>
        <p:txBody>
          <a:bodyPr wrap="square">
            <a:spAutoFit/>
          </a:bodyPr>
          <a:lstStyle/>
          <a:p>
            <a:pPr algn="ctr"/>
            <a:r>
              <a:rPr sz="1600" b="1" i="0">
                <a:solidFill>
                  <a:srgbClr val="D4AF37"/>
                </a:solidFill>
              </a:rPr>
              <a:t>Section 09</a:t>
            </a:r>
          </a:p>
        </p:txBody>
      </p:sp>
      <p:sp>
        <p:nvSpPr>
          <p:cNvPr id="5" name="TextBox 4"/>
          <p:cNvSpPr txBox="1"/>
          <p:nvPr/>
        </p:nvSpPr>
        <p:spPr>
          <a:xfrm>
            <a:off x="914400" y="2423160"/>
            <a:ext cx="10058400" cy="822960"/>
          </a:xfrm>
          <a:prstGeom prst="rect">
            <a:avLst/>
          </a:prstGeom>
          <a:noFill/>
        </p:spPr>
        <p:txBody>
          <a:bodyPr wrap="square">
            <a:spAutoFit/>
          </a:bodyPr>
          <a:lstStyle/>
          <a:p>
            <a:pPr algn="ctr"/>
            <a:r>
              <a:rPr sz="4400" b="1" i="0">
                <a:solidFill>
                  <a:srgbClr val="FFFFFF"/>
                </a:solidFill>
              </a:rPr>
              <a:t>Segmentation &amp; Results</a:t>
            </a:r>
          </a:p>
        </p:txBody>
      </p:sp>
      <p:sp>
        <p:nvSpPr>
          <p:cNvPr id="6" name="TextBox 5"/>
          <p:cNvSpPr txBox="1"/>
          <p:nvPr/>
        </p:nvSpPr>
        <p:spPr>
          <a:xfrm>
            <a:off x="914400" y="3200400"/>
            <a:ext cx="10058400" cy="457200"/>
          </a:xfrm>
          <a:prstGeom prst="rect">
            <a:avLst/>
          </a:prstGeom>
          <a:noFill/>
        </p:spPr>
        <p:txBody>
          <a:bodyPr wrap="square">
            <a:spAutoFit/>
          </a:bodyPr>
          <a:lstStyle/>
          <a:p>
            <a:pPr algn="ctr"/>
            <a:r>
              <a:rPr sz="1800" b="0" i="0">
                <a:solidFill>
                  <a:srgbClr val="8B9CB8"/>
                </a:solidFill>
              </a:rPr>
              <a:t>Market Cap  |  Sector GICS  |  Clustering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Segmentation — Market Capitalization</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09 — Configuration 1</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502920"/>
          </a:xfrm>
          <a:prstGeom prst="rect">
            <a:avLst/>
          </a:prstGeom>
          <a:noFill/>
        </p:spPr>
        <p:txBody>
          <a:bodyPr wrap="square">
            <a:spAutoFit/>
          </a:bodyPr>
          <a:lstStyle/>
          <a:p>
            <a:pPr algn="l"/>
            <a:r>
              <a:rPr sz="1200" b="0" i="0">
                <a:solidFill>
                  <a:srgbClr val="FFFFFF"/>
                </a:solidFill>
              </a:rPr>
              <a:t>Companies were segmented by market capitalization (market value of equity). A separate logistic regression model was trained and evaluated for each size tier.</a:t>
            </a:r>
          </a:p>
        </p:txBody>
      </p:sp>
      <p:sp>
        <p:nvSpPr>
          <p:cNvPr id="7" name="Rectangle 6"/>
          <p:cNvSpPr/>
          <p:nvPr/>
        </p:nvSpPr>
        <p:spPr>
          <a:xfrm>
            <a:off x="365760" y="1737360"/>
            <a:ext cx="3749039" cy="45720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737360"/>
            <a:ext cx="3749039"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74519"/>
            <a:ext cx="3383280" cy="411480"/>
          </a:xfrm>
          <a:prstGeom prst="rect">
            <a:avLst/>
          </a:prstGeom>
          <a:noFill/>
        </p:spPr>
        <p:txBody>
          <a:bodyPr wrap="square">
            <a:spAutoFit/>
          </a:bodyPr>
          <a:lstStyle/>
          <a:p>
            <a:pPr algn="l"/>
            <a:r>
              <a:rPr sz="2000" b="1" i="0">
                <a:solidFill>
                  <a:srgbClr val="4A9EFF"/>
                </a:solidFill>
              </a:rPr>
              <a:t>Large Cap</a:t>
            </a:r>
          </a:p>
        </p:txBody>
      </p:sp>
      <p:sp>
        <p:nvSpPr>
          <p:cNvPr id="10" name="TextBox 9"/>
          <p:cNvSpPr txBox="1"/>
          <p:nvPr/>
        </p:nvSpPr>
        <p:spPr>
          <a:xfrm>
            <a:off x="548640" y="2286000"/>
            <a:ext cx="3383280" cy="320040"/>
          </a:xfrm>
          <a:prstGeom prst="rect">
            <a:avLst/>
          </a:prstGeom>
          <a:noFill/>
        </p:spPr>
        <p:txBody>
          <a:bodyPr wrap="square">
            <a:spAutoFit/>
          </a:bodyPr>
          <a:lstStyle/>
          <a:p>
            <a:pPr algn="l"/>
            <a:r>
              <a:rPr sz="1100" b="0" i="0">
                <a:solidFill>
                  <a:srgbClr val="8B9CB8"/>
                </a:solidFill>
              </a:rPr>
              <a:t>&gt; $10 Billion</a:t>
            </a:r>
          </a:p>
        </p:txBody>
      </p:sp>
      <p:sp>
        <p:nvSpPr>
          <p:cNvPr id="11" name="Rectangle 10"/>
          <p:cNvSpPr/>
          <p:nvPr/>
        </p:nvSpPr>
        <p:spPr>
          <a:xfrm>
            <a:off x="548640" y="2651760"/>
            <a:ext cx="73152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43200"/>
            <a:ext cx="1645920" cy="274320"/>
          </a:xfrm>
          <a:prstGeom prst="rect">
            <a:avLst/>
          </a:prstGeom>
          <a:noFill/>
        </p:spPr>
        <p:txBody>
          <a:bodyPr wrap="square">
            <a:spAutoFit/>
          </a:bodyPr>
          <a:lstStyle/>
          <a:p>
            <a:pPr algn="l"/>
            <a:r>
              <a:rPr sz="1000" b="0" i="0">
                <a:solidFill>
                  <a:srgbClr val="8B9CB8"/>
                </a:solidFill>
              </a:rPr>
              <a:t>Accuracy</a:t>
            </a:r>
          </a:p>
        </p:txBody>
      </p:sp>
      <p:sp>
        <p:nvSpPr>
          <p:cNvPr id="13" name="TextBox 12"/>
          <p:cNvSpPr txBox="1"/>
          <p:nvPr/>
        </p:nvSpPr>
        <p:spPr>
          <a:xfrm>
            <a:off x="548640" y="3017520"/>
            <a:ext cx="3383280" cy="548640"/>
          </a:xfrm>
          <a:prstGeom prst="rect">
            <a:avLst/>
          </a:prstGeom>
          <a:noFill/>
        </p:spPr>
        <p:txBody>
          <a:bodyPr wrap="square">
            <a:spAutoFit/>
          </a:bodyPr>
          <a:lstStyle/>
          <a:p>
            <a:pPr algn="l"/>
            <a:r>
              <a:rPr sz="3600" b="1" i="0">
                <a:solidFill>
                  <a:srgbClr val="FFFFFF"/>
                </a:solidFill>
              </a:rPr>
              <a:t>54.2%</a:t>
            </a:r>
          </a:p>
        </p:txBody>
      </p:sp>
      <p:sp>
        <p:nvSpPr>
          <p:cNvPr id="14" name="TextBox 13"/>
          <p:cNvSpPr txBox="1"/>
          <p:nvPr/>
        </p:nvSpPr>
        <p:spPr>
          <a:xfrm>
            <a:off x="548640" y="3611880"/>
            <a:ext cx="3383280" cy="320040"/>
          </a:xfrm>
          <a:prstGeom prst="rect">
            <a:avLst/>
          </a:prstGeom>
          <a:noFill/>
        </p:spPr>
        <p:txBody>
          <a:bodyPr wrap="square">
            <a:spAutoFit/>
          </a:bodyPr>
          <a:lstStyle/>
          <a:p>
            <a:pPr algn="l"/>
            <a:r>
              <a:rPr sz="1200" b="0" i="0">
                <a:solidFill>
                  <a:srgbClr val="D4AF37"/>
                </a:solidFill>
              </a:rPr>
              <a:t>AUC: 0.558</a:t>
            </a:r>
          </a:p>
        </p:txBody>
      </p:sp>
      <p:sp>
        <p:nvSpPr>
          <p:cNvPr id="15" name="TextBox 14"/>
          <p:cNvSpPr txBox="1"/>
          <p:nvPr/>
        </p:nvSpPr>
        <p:spPr>
          <a:xfrm>
            <a:off x="548640" y="4023360"/>
            <a:ext cx="3383280" cy="1828800"/>
          </a:xfrm>
          <a:prstGeom prst="rect">
            <a:avLst/>
          </a:prstGeom>
          <a:noFill/>
        </p:spPr>
        <p:txBody>
          <a:bodyPr wrap="square">
            <a:spAutoFit/>
          </a:bodyPr>
          <a:lstStyle/>
          <a:p>
            <a:pPr algn="l"/>
            <a:r>
              <a:rPr sz="1100" b="0" i="0">
                <a:solidFill>
                  <a:srgbClr val="FFFFFF"/>
                </a:solidFill>
              </a:rPr>
              <a:t>Well-followed by analysts.
Most institutional coverage.
Efficient pricing — harder to predict.</a:t>
            </a:r>
          </a:p>
        </p:txBody>
      </p:sp>
      <p:sp>
        <p:nvSpPr>
          <p:cNvPr id="16" name="Rectangle 15"/>
          <p:cNvSpPr/>
          <p:nvPr/>
        </p:nvSpPr>
        <p:spPr>
          <a:xfrm>
            <a:off x="4297680" y="1737360"/>
            <a:ext cx="3749039" cy="45720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737360"/>
            <a:ext cx="3749039"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874519"/>
            <a:ext cx="3383280" cy="411480"/>
          </a:xfrm>
          <a:prstGeom prst="rect">
            <a:avLst/>
          </a:prstGeom>
          <a:noFill/>
        </p:spPr>
        <p:txBody>
          <a:bodyPr wrap="square">
            <a:spAutoFit/>
          </a:bodyPr>
          <a:lstStyle/>
          <a:p>
            <a:pPr algn="l"/>
            <a:r>
              <a:rPr sz="2000" b="1" i="0">
                <a:solidFill>
                  <a:srgbClr val="4A9EFF"/>
                </a:solidFill>
              </a:rPr>
              <a:t>Mid Cap</a:t>
            </a:r>
          </a:p>
        </p:txBody>
      </p:sp>
      <p:sp>
        <p:nvSpPr>
          <p:cNvPr id="19" name="TextBox 18"/>
          <p:cNvSpPr txBox="1"/>
          <p:nvPr/>
        </p:nvSpPr>
        <p:spPr>
          <a:xfrm>
            <a:off x="4480560" y="2286000"/>
            <a:ext cx="3383280" cy="320040"/>
          </a:xfrm>
          <a:prstGeom prst="rect">
            <a:avLst/>
          </a:prstGeom>
          <a:noFill/>
        </p:spPr>
        <p:txBody>
          <a:bodyPr wrap="square">
            <a:spAutoFit/>
          </a:bodyPr>
          <a:lstStyle/>
          <a:p>
            <a:pPr algn="l"/>
            <a:r>
              <a:rPr sz="1100" b="0" i="0">
                <a:solidFill>
                  <a:srgbClr val="8B9CB8"/>
                </a:solidFill>
              </a:rPr>
              <a:t>$2B – $10B</a:t>
            </a:r>
          </a:p>
        </p:txBody>
      </p:sp>
      <p:sp>
        <p:nvSpPr>
          <p:cNvPr id="20" name="Rectangle 19"/>
          <p:cNvSpPr/>
          <p:nvPr/>
        </p:nvSpPr>
        <p:spPr>
          <a:xfrm>
            <a:off x="4480560" y="2651760"/>
            <a:ext cx="73152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2743200"/>
            <a:ext cx="1645920" cy="274320"/>
          </a:xfrm>
          <a:prstGeom prst="rect">
            <a:avLst/>
          </a:prstGeom>
          <a:noFill/>
        </p:spPr>
        <p:txBody>
          <a:bodyPr wrap="square">
            <a:spAutoFit/>
          </a:bodyPr>
          <a:lstStyle/>
          <a:p>
            <a:pPr algn="l"/>
            <a:r>
              <a:rPr sz="1000" b="0" i="0">
                <a:solidFill>
                  <a:srgbClr val="8B9CB8"/>
                </a:solidFill>
              </a:rPr>
              <a:t>Accuracy</a:t>
            </a:r>
          </a:p>
        </p:txBody>
      </p:sp>
      <p:sp>
        <p:nvSpPr>
          <p:cNvPr id="22" name="TextBox 21"/>
          <p:cNvSpPr txBox="1"/>
          <p:nvPr/>
        </p:nvSpPr>
        <p:spPr>
          <a:xfrm>
            <a:off x="4480560" y="3017520"/>
            <a:ext cx="3383280" cy="548640"/>
          </a:xfrm>
          <a:prstGeom prst="rect">
            <a:avLst/>
          </a:prstGeom>
          <a:noFill/>
        </p:spPr>
        <p:txBody>
          <a:bodyPr wrap="square">
            <a:spAutoFit/>
          </a:bodyPr>
          <a:lstStyle/>
          <a:p>
            <a:pPr algn="l"/>
            <a:r>
              <a:rPr sz="3600" b="1" i="0">
                <a:solidFill>
                  <a:srgbClr val="FFFFFF"/>
                </a:solidFill>
              </a:rPr>
              <a:t>52.8%</a:t>
            </a:r>
          </a:p>
        </p:txBody>
      </p:sp>
      <p:sp>
        <p:nvSpPr>
          <p:cNvPr id="23" name="TextBox 22"/>
          <p:cNvSpPr txBox="1"/>
          <p:nvPr/>
        </p:nvSpPr>
        <p:spPr>
          <a:xfrm>
            <a:off x="4480560" y="3611880"/>
            <a:ext cx="3383280" cy="320040"/>
          </a:xfrm>
          <a:prstGeom prst="rect">
            <a:avLst/>
          </a:prstGeom>
          <a:noFill/>
        </p:spPr>
        <p:txBody>
          <a:bodyPr wrap="square">
            <a:spAutoFit/>
          </a:bodyPr>
          <a:lstStyle/>
          <a:p>
            <a:pPr algn="l"/>
            <a:r>
              <a:rPr sz="1200" b="0" i="0">
                <a:solidFill>
                  <a:srgbClr val="D4AF37"/>
                </a:solidFill>
              </a:rPr>
              <a:t>AUC: 0.542</a:t>
            </a:r>
          </a:p>
        </p:txBody>
      </p:sp>
      <p:sp>
        <p:nvSpPr>
          <p:cNvPr id="24" name="TextBox 23"/>
          <p:cNvSpPr txBox="1"/>
          <p:nvPr/>
        </p:nvSpPr>
        <p:spPr>
          <a:xfrm>
            <a:off x="4480560" y="4023360"/>
            <a:ext cx="3383280" cy="1828800"/>
          </a:xfrm>
          <a:prstGeom prst="rect">
            <a:avLst/>
          </a:prstGeom>
          <a:noFill/>
        </p:spPr>
        <p:txBody>
          <a:bodyPr wrap="square">
            <a:spAutoFit/>
          </a:bodyPr>
          <a:lstStyle/>
          <a:p>
            <a:pPr algn="l"/>
            <a:r>
              <a:rPr sz="1100" b="0" i="0">
                <a:solidFill>
                  <a:srgbClr val="FFFFFF"/>
                </a:solidFill>
              </a:rPr>
              <a:t>Some analyst coverage.
More earnings variability.
Slightly less efficient pricing.</a:t>
            </a:r>
          </a:p>
        </p:txBody>
      </p:sp>
      <p:sp>
        <p:nvSpPr>
          <p:cNvPr id="25" name="Rectangle 24"/>
          <p:cNvSpPr/>
          <p:nvPr/>
        </p:nvSpPr>
        <p:spPr>
          <a:xfrm>
            <a:off x="8229600" y="1737360"/>
            <a:ext cx="3749039" cy="45720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1737360"/>
            <a:ext cx="3749039"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1874519"/>
            <a:ext cx="3383280" cy="411480"/>
          </a:xfrm>
          <a:prstGeom prst="rect">
            <a:avLst/>
          </a:prstGeom>
          <a:noFill/>
        </p:spPr>
        <p:txBody>
          <a:bodyPr wrap="square">
            <a:spAutoFit/>
          </a:bodyPr>
          <a:lstStyle/>
          <a:p>
            <a:pPr algn="l"/>
            <a:r>
              <a:rPr sz="2000" b="1" i="0">
                <a:solidFill>
                  <a:srgbClr val="4A9EFF"/>
                </a:solidFill>
              </a:rPr>
              <a:t>Small Cap</a:t>
            </a:r>
          </a:p>
        </p:txBody>
      </p:sp>
      <p:sp>
        <p:nvSpPr>
          <p:cNvPr id="28" name="TextBox 27"/>
          <p:cNvSpPr txBox="1"/>
          <p:nvPr/>
        </p:nvSpPr>
        <p:spPr>
          <a:xfrm>
            <a:off x="8412480" y="2286000"/>
            <a:ext cx="3383280" cy="320040"/>
          </a:xfrm>
          <a:prstGeom prst="rect">
            <a:avLst/>
          </a:prstGeom>
          <a:noFill/>
        </p:spPr>
        <p:txBody>
          <a:bodyPr wrap="square">
            <a:spAutoFit/>
          </a:bodyPr>
          <a:lstStyle/>
          <a:p>
            <a:pPr algn="l"/>
            <a:r>
              <a:rPr sz="1100" b="0" i="0">
                <a:solidFill>
                  <a:srgbClr val="8B9CB8"/>
                </a:solidFill>
              </a:rPr>
              <a:t>&lt; $2 Billion</a:t>
            </a:r>
          </a:p>
        </p:txBody>
      </p:sp>
      <p:sp>
        <p:nvSpPr>
          <p:cNvPr id="29" name="Rectangle 28"/>
          <p:cNvSpPr/>
          <p:nvPr/>
        </p:nvSpPr>
        <p:spPr>
          <a:xfrm>
            <a:off x="8412480" y="2651760"/>
            <a:ext cx="73152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743200"/>
            <a:ext cx="1645920" cy="274320"/>
          </a:xfrm>
          <a:prstGeom prst="rect">
            <a:avLst/>
          </a:prstGeom>
          <a:noFill/>
        </p:spPr>
        <p:txBody>
          <a:bodyPr wrap="square">
            <a:spAutoFit/>
          </a:bodyPr>
          <a:lstStyle/>
          <a:p>
            <a:pPr algn="l"/>
            <a:r>
              <a:rPr sz="1000" b="0" i="0">
                <a:solidFill>
                  <a:srgbClr val="8B9CB8"/>
                </a:solidFill>
              </a:rPr>
              <a:t>Accuracy</a:t>
            </a:r>
          </a:p>
        </p:txBody>
      </p:sp>
      <p:sp>
        <p:nvSpPr>
          <p:cNvPr id="31" name="TextBox 30"/>
          <p:cNvSpPr txBox="1"/>
          <p:nvPr/>
        </p:nvSpPr>
        <p:spPr>
          <a:xfrm>
            <a:off x="8412480" y="3017520"/>
            <a:ext cx="3383280" cy="548640"/>
          </a:xfrm>
          <a:prstGeom prst="rect">
            <a:avLst/>
          </a:prstGeom>
          <a:noFill/>
        </p:spPr>
        <p:txBody>
          <a:bodyPr wrap="square">
            <a:spAutoFit/>
          </a:bodyPr>
          <a:lstStyle/>
          <a:p>
            <a:pPr algn="l"/>
            <a:r>
              <a:rPr sz="3600" b="1" i="0">
                <a:solidFill>
                  <a:srgbClr val="FFFFFF"/>
                </a:solidFill>
              </a:rPr>
              <a:t>54.5%</a:t>
            </a:r>
          </a:p>
        </p:txBody>
      </p:sp>
      <p:sp>
        <p:nvSpPr>
          <p:cNvPr id="32" name="TextBox 31"/>
          <p:cNvSpPr txBox="1"/>
          <p:nvPr/>
        </p:nvSpPr>
        <p:spPr>
          <a:xfrm>
            <a:off x="8412480" y="3611880"/>
            <a:ext cx="3383280" cy="320040"/>
          </a:xfrm>
          <a:prstGeom prst="rect">
            <a:avLst/>
          </a:prstGeom>
          <a:noFill/>
        </p:spPr>
        <p:txBody>
          <a:bodyPr wrap="square">
            <a:spAutoFit/>
          </a:bodyPr>
          <a:lstStyle/>
          <a:p>
            <a:pPr algn="l"/>
            <a:r>
              <a:rPr sz="1200" b="0" i="0">
                <a:solidFill>
                  <a:srgbClr val="D4AF37"/>
                </a:solidFill>
              </a:rPr>
              <a:t>AUC: 0.535</a:t>
            </a:r>
          </a:p>
        </p:txBody>
      </p:sp>
      <p:sp>
        <p:nvSpPr>
          <p:cNvPr id="33" name="TextBox 32"/>
          <p:cNvSpPr txBox="1"/>
          <p:nvPr/>
        </p:nvSpPr>
        <p:spPr>
          <a:xfrm>
            <a:off x="8412480" y="4023360"/>
            <a:ext cx="3383280" cy="1828800"/>
          </a:xfrm>
          <a:prstGeom prst="rect">
            <a:avLst/>
          </a:prstGeom>
          <a:noFill/>
        </p:spPr>
        <p:txBody>
          <a:bodyPr wrap="square">
            <a:spAutoFit/>
          </a:bodyPr>
          <a:lstStyle/>
          <a:p>
            <a:pPr algn="l"/>
            <a:r>
              <a:rPr sz="1100" b="0" i="0">
                <a:solidFill>
                  <a:srgbClr val="FFFFFF"/>
                </a:solidFill>
              </a:rPr>
              <a:t>Limited analyst coverage.
Higher fundamental variability.
Lowest but still near-random accuracy.</a:t>
            </a:r>
          </a:p>
        </p:txBody>
      </p:sp>
      <p:sp>
        <p:nvSpPr>
          <p:cNvPr id="34" name="Rectangle 33"/>
          <p:cNvSpPr/>
          <p:nvPr/>
        </p:nvSpPr>
        <p:spPr>
          <a:xfrm>
            <a:off x="365760" y="6400800"/>
            <a:ext cx="11430000" cy="34747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446520"/>
            <a:ext cx="11064240" cy="292608"/>
          </a:xfrm>
          <a:prstGeom prst="rect">
            <a:avLst/>
          </a:prstGeom>
          <a:noFill/>
        </p:spPr>
        <p:txBody>
          <a:bodyPr wrap="square">
            <a:spAutoFit/>
          </a:bodyPr>
          <a:lstStyle/>
          <a:p>
            <a:pPr algn="l"/>
            <a:r>
              <a:rPr sz="1100" b="0" i="0">
                <a:solidFill>
                  <a:srgbClr val="8B9CB8"/>
                </a:solidFill>
              </a:rPr>
              <a:t>Conclusion: Breaking up by market cap provides only marginal improvement over the global 53.2% baseline. Size alone is not a strong segmentation criterion for this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Segmentation — GICS Sector</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09 — Configuration 2 — Best Performing Segmentation</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548640"/>
          </a:xfrm>
          <a:prstGeom prst="rect">
            <a:avLst/>
          </a:prstGeom>
          <a:noFill/>
        </p:spPr>
        <p:txBody>
          <a:bodyPr wrap="square">
            <a:spAutoFit/>
          </a:bodyPr>
          <a:lstStyle/>
          <a:p>
            <a:pPr algn="l"/>
            <a:r>
              <a:rPr sz="1200" b="0" i="0">
                <a:solidFill>
                  <a:srgbClr val="FFFFFF"/>
                </a:solidFill>
              </a:rPr>
              <a:t>Separate logistic regression models trained for each GICS sector. Financial ratios carry different meanings across sectors — comparing a utility company to a tech startup on the same metrics is not meaningful. Sector-specific models find stronger patterns.</a:t>
            </a:r>
          </a:p>
        </p:txBody>
      </p:sp>
      <p:sp>
        <p:nvSpPr>
          <p:cNvPr id="7" name="Rectangle 6"/>
          <p:cNvSpPr/>
          <p:nvPr/>
        </p:nvSpPr>
        <p:spPr>
          <a:xfrm>
            <a:off x="365760" y="1783080"/>
            <a:ext cx="11430000" cy="374904"/>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783080"/>
            <a:ext cx="36576" cy="37490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865376"/>
            <a:ext cx="3474720" cy="246888"/>
          </a:xfrm>
          <a:prstGeom prst="rect">
            <a:avLst/>
          </a:prstGeom>
          <a:noFill/>
        </p:spPr>
        <p:txBody>
          <a:bodyPr wrap="square">
            <a:spAutoFit/>
          </a:bodyPr>
          <a:lstStyle/>
          <a:p>
            <a:pPr algn="l"/>
            <a:r>
              <a:rPr sz="1100" b="1" i="0">
                <a:solidFill>
                  <a:srgbClr val="2ECC71"/>
                </a:solidFill>
              </a:rPr>
              <a:t>Communication Services</a:t>
            </a:r>
          </a:p>
        </p:txBody>
      </p:sp>
      <p:sp>
        <p:nvSpPr>
          <p:cNvPr id="10" name="TextBox 9"/>
          <p:cNvSpPr txBox="1"/>
          <p:nvPr/>
        </p:nvSpPr>
        <p:spPr>
          <a:xfrm>
            <a:off x="4114800" y="1865376"/>
            <a:ext cx="1188720" cy="246888"/>
          </a:xfrm>
          <a:prstGeom prst="rect">
            <a:avLst/>
          </a:prstGeom>
          <a:noFill/>
        </p:spPr>
        <p:txBody>
          <a:bodyPr wrap="square">
            <a:spAutoFit/>
          </a:bodyPr>
          <a:lstStyle/>
          <a:p>
            <a:pPr algn="ctr"/>
            <a:r>
              <a:rPr sz="1100" b="0" i="0">
                <a:solidFill>
                  <a:srgbClr val="8B9CB8"/>
                </a:solidFill>
              </a:rPr>
              <a:t>428</a:t>
            </a:r>
          </a:p>
        </p:txBody>
      </p:sp>
      <p:sp>
        <p:nvSpPr>
          <p:cNvPr id="11" name="TextBox 10"/>
          <p:cNvSpPr txBox="1"/>
          <p:nvPr/>
        </p:nvSpPr>
        <p:spPr>
          <a:xfrm>
            <a:off x="5486400" y="1865376"/>
            <a:ext cx="1371600" cy="246888"/>
          </a:xfrm>
          <a:prstGeom prst="rect">
            <a:avLst/>
          </a:prstGeom>
          <a:noFill/>
        </p:spPr>
        <p:txBody>
          <a:bodyPr wrap="square">
            <a:spAutoFit/>
          </a:bodyPr>
          <a:lstStyle/>
          <a:p>
            <a:pPr algn="ctr"/>
            <a:r>
              <a:rPr sz="1200" b="1" i="0">
                <a:solidFill>
                  <a:srgbClr val="2ECC71"/>
                </a:solidFill>
              </a:rPr>
              <a:t>59.5%</a:t>
            </a:r>
          </a:p>
        </p:txBody>
      </p:sp>
      <p:sp>
        <p:nvSpPr>
          <p:cNvPr id="12" name="TextBox 11"/>
          <p:cNvSpPr txBox="1"/>
          <p:nvPr/>
        </p:nvSpPr>
        <p:spPr>
          <a:xfrm>
            <a:off x="7132320" y="1865376"/>
            <a:ext cx="1371600" cy="246888"/>
          </a:xfrm>
          <a:prstGeom prst="rect">
            <a:avLst/>
          </a:prstGeom>
          <a:noFill/>
        </p:spPr>
        <p:txBody>
          <a:bodyPr wrap="square">
            <a:spAutoFit/>
          </a:bodyPr>
          <a:lstStyle/>
          <a:p>
            <a:pPr algn="ctr"/>
            <a:r>
              <a:rPr sz="1100" b="0" i="0">
                <a:solidFill>
                  <a:srgbClr val="D4AF37"/>
                </a:solidFill>
              </a:rPr>
              <a:t>0.6059</a:t>
            </a:r>
          </a:p>
        </p:txBody>
      </p:sp>
      <p:sp>
        <p:nvSpPr>
          <p:cNvPr id="13" name="Rectangle 12"/>
          <p:cNvSpPr/>
          <p:nvPr/>
        </p:nvSpPr>
        <p:spPr>
          <a:xfrm>
            <a:off x="365760" y="2176272"/>
            <a:ext cx="11430000" cy="37490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176272"/>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258568"/>
            <a:ext cx="3474720" cy="246888"/>
          </a:xfrm>
          <a:prstGeom prst="rect">
            <a:avLst/>
          </a:prstGeom>
          <a:noFill/>
        </p:spPr>
        <p:txBody>
          <a:bodyPr wrap="square">
            <a:spAutoFit/>
          </a:bodyPr>
          <a:lstStyle/>
          <a:p>
            <a:pPr algn="l"/>
            <a:r>
              <a:rPr sz="1100" b="0" i="0">
                <a:solidFill>
                  <a:srgbClr val="FFFFFF"/>
                </a:solidFill>
              </a:rPr>
              <a:t>Consumer Discretionary</a:t>
            </a:r>
          </a:p>
        </p:txBody>
      </p:sp>
      <p:sp>
        <p:nvSpPr>
          <p:cNvPr id="16" name="TextBox 15"/>
          <p:cNvSpPr txBox="1"/>
          <p:nvPr/>
        </p:nvSpPr>
        <p:spPr>
          <a:xfrm>
            <a:off x="4114800" y="2258568"/>
            <a:ext cx="1188720" cy="246888"/>
          </a:xfrm>
          <a:prstGeom prst="rect">
            <a:avLst/>
          </a:prstGeom>
          <a:noFill/>
        </p:spPr>
        <p:txBody>
          <a:bodyPr wrap="square">
            <a:spAutoFit/>
          </a:bodyPr>
          <a:lstStyle/>
          <a:p>
            <a:pPr algn="ctr"/>
            <a:r>
              <a:rPr sz="1100" b="0" i="0">
                <a:solidFill>
                  <a:srgbClr val="8B9CB8"/>
                </a:solidFill>
              </a:rPr>
              <a:t>2668</a:t>
            </a:r>
          </a:p>
        </p:txBody>
      </p:sp>
      <p:sp>
        <p:nvSpPr>
          <p:cNvPr id="17" name="TextBox 16"/>
          <p:cNvSpPr txBox="1"/>
          <p:nvPr/>
        </p:nvSpPr>
        <p:spPr>
          <a:xfrm>
            <a:off x="5486400" y="2258568"/>
            <a:ext cx="1371600" cy="246888"/>
          </a:xfrm>
          <a:prstGeom prst="rect">
            <a:avLst/>
          </a:prstGeom>
          <a:noFill/>
        </p:spPr>
        <p:txBody>
          <a:bodyPr wrap="square">
            <a:spAutoFit/>
          </a:bodyPr>
          <a:lstStyle/>
          <a:p>
            <a:pPr algn="ctr"/>
            <a:r>
              <a:rPr sz="1200" b="0" i="0">
                <a:solidFill>
                  <a:srgbClr val="FFFFFF"/>
                </a:solidFill>
              </a:rPr>
              <a:t>54.1%</a:t>
            </a:r>
          </a:p>
        </p:txBody>
      </p:sp>
      <p:sp>
        <p:nvSpPr>
          <p:cNvPr id="18" name="TextBox 17"/>
          <p:cNvSpPr txBox="1"/>
          <p:nvPr/>
        </p:nvSpPr>
        <p:spPr>
          <a:xfrm>
            <a:off x="7132320" y="2258568"/>
            <a:ext cx="1371600" cy="246888"/>
          </a:xfrm>
          <a:prstGeom prst="rect">
            <a:avLst/>
          </a:prstGeom>
          <a:noFill/>
        </p:spPr>
        <p:txBody>
          <a:bodyPr wrap="square">
            <a:spAutoFit/>
          </a:bodyPr>
          <a:lstStyle/>
          <a:p>
            <a:pPr algn="ctr"/>
            <a:r>
              <a:rPr sz="1100" b="0" i="0">
                <a:solidFill>
                  <a:srgbClr val="8B9CB8"/>
                </a:solidFill>
              </a:rPr>
              <a:t>0.5305</a:t>
            </a:r>
          </a:p>
        </p:txBody>
      </p:sp>
      <p:sp>
        <p:nvSpPr>
          <p:cNvPr id="19" name="Rectangle 18"/>
          <p:cNvSpPr/>
          <p:nvPr/>
        </p:nvSpPr>
        <p:spPr>
          <a:xfrm>
            <a:off x="365760" y="2569464"/>
            <a:ext cx="11430000" cy="374904"/>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569464"/>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651760"/>
            <a:ext cx="3474720" cy="246888"/>
          </a:xfrm>
          <a:prstGeom prst="rect">
            <a:avLst/>
          </a:prstGeom>
          <a:noFill/>
        </p:spPr>
        <p:txBody>
          <a:bodyPr wrap="square">
            <a:spAutoFit/>
          </a:bodyPr>
          <a:lstStyle/>
          <a:p>
            <a:pPr algn="l"/>
            <a:r>
              <a:rPr sz="1100" b="0" i="0">
                <a:solidFill>
                  <a:srgbClr val="FFFFFF"/>
                </a:solidFill>
              </a:rPr>
              <a:t>Consumer Staples</a:t>
            </a:r>
          </a:p>
        </p:txBody>
      </p:sp>
      <p:sp>
        <p:nvSpPr>
          <p:cNvPr id="22" name="TextBox 21"/>
          <p:cNvSpPr txBox="1"/>
          <p:nvPr/>
        </p:nvSpPr>
        <p:spPr>
          <a:xfrm>
            <a:off x="4114800" y="2651760"/>
            <a:ext cx="1188720" cy="246888"/>
          </a:xfrm>
          <a:prstGeom prst="rect">
            <a:avLst/>
          </a:prstGeom>
          <a:noFill/>
        </p:spPr>
        <p:txBody>
          <a:bodyPr wrap="square">
            <a:spAutoFit/>
          </a:bodyPr>
          <a:lstStyle/>
          <a:p>
            <a:pPr algn="ctr"/>
            <a:r>
              <a:rPr sz="1100" b="0" i="0">
                <a:solidFill>
                  <a:srgbClr val="8B9CB8"/>
                </a:solidFill>
              </a:rPr>
              <a:t>1030</a:t>
            </a:r>
          </a:p>
        </p:txBody>
      </p:sp>
      <p:sp>
        <p:nvSpPr>
          <p:cNvPr id="23" name="TextBox 22"/>
          <p:cNvSpPr txBox="1"/>
          <p:nvPr/>
        </p:nvSpPr>
        <p:spPr>
          <a:xfrm>
            <a:off x="5486400" y="2651760"/>
            <a:ext cx="1371600" cy="246888"/>
          </a:xfrm>
          <a:prstGeom prst="rect">
            <a:avLst/>
          </a:prstGeom>
          <a:noFill/>
        </p:spPr>
        <p:txBody>
          <a:bodyPr wrap="square">
            <a:spAutoFit/>
          </a:bodyPr>
          <a:lstStyle/>
          <a:p>
            <a:pPr algn="ctr"/>
            <a:r>
              <a:rPr sz="1200" b="0" i="0">
                <a:solidFill>
                  <a:srgbClr val="FFFFFF"/>
                </a:solidFill>
              </a:rPr>
              <a:t>55.7%</a:t>
            </a:r>
          </a:p>
        </p:txBody>
      </p:sp>
      <p:sp>
        <p:nvSpPr>
          <p:cNvPr id="24" name="TextBox 23"/>
          <p:cNvSpPr txBox="1"/>
          <p:nvPr/>
        </p:nvSpPr>
        <p:spPr>
          <a:xfrm>
            <a:off x="7132320" y="2651760"/>
            <a:ext cx="1371600" cy="246888"/>
          </a:xfrm>
          <a:prstGeom prst="rect">
            <a:avLst/>
          </a:prstGeom>
          <a:noFill/>
        </p:spPr>
        <p:txBody>
          <a:bodyPr wrap="square">
            <a:spAutoFit/>
          </a:bodyPr>
          <a:lstStyle/>
          <a:p>
            <a:pPr algn="ctr"/>
            <a:r>
              <a:rPr sz="1100" b="0" i="0">
                <a:solidFill>
                  <a:srgbClr val="8B9CB8"/>
                </a:solidFill>
              </a:rPr>
              <a:t>0.5510</a:t>
            </a:r>
          </a:p>
        </p:txBody>
      </p:sp>
      <p:sp>
        <p:nvSpPr>
          <p:cNvPr id="25" name="Rectangle 24"/>
          <p:cNvSpPr/>
          <p:nvPr/>
        </p:nvSpPr>
        <p:spPr>
          <a:xfrm>
            <a:off x="365760" y="2962656"/>
            <a:ext cx="11430000" cy="37490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2962656"/>
            <a:ext cx="36576" cy="37490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044952"/>
            <a:ext cx="3474720" cy="246888"/>
          </a:xfrm>
          <a:prstGeom prst="rect">
            <a:avLst/>
          </a:prstGeom>
          <a:noFill/>
        </p:spPr>
        <p:txBody>
          <a:bodyPr wrap="square">
            <a:spAutoFit/>
          </a:bodyPr>
          <a:lstStyle/>
          <a:p>
            <a:pPr algn="l"/>
            <a:r>
              <a:rPr sz="1100" b="1" i="0">
                <a:solidFill>
                  <a:srgbClr val="2ECC71"/>
                </a:solidFill>
              </a:rPr>
              <a:t>Energy</a:t>
            </a:r>
          </a:p>
        </p:txBody>
      </p:sp>
      <p:sp>
        <p:nvSpPr>
          <p:cNvPr id="28" name="TextBox 27"/>
          <p:cNvSpPr txBox="1"/>
          <p:nvPr/>
        </p:nvSpPr>
        <p:spPr>
          <a:xfrm>
            <a:off x="4114800" y="3044952"/>
            <a:ext cx="1188720" cy="246888"/>
          </a:xfrm>
          <a:prstGeom prst="rect">
            <a:avLst/>
          </a:prstGeom>
          <a:noFill/>
        </p:spPr>
        <p:txBody>
          <a:bodyPr wrap="square">
            <a:spAutoFit/>
          </a:bodyPr>
          <a:lstStyle/>
          <a:p>
            <a:pPr algn="ctr"/>
            <a:r>
              <a:rPr sz="1100" b="0" i="0">
                <a:solidFill>
                  <a:srgbClr val="8B9CB8"/>
                </a:solidFill>
              </a:rPr>
              <a:t>261</a:t>
            </a:r>
          </a:p>
        </p:txBody>
      </p:sp>
      <p:sp>
        <p:nvSpPr>
          <p:cNvPr id="29" name="TextBox 28"/>
          <p:cNvSpPr txBox="1"/>
          <p:nvPr/>
        </p:nvSpPr>
        <p:spPr>
          <a:xfrm>
            <a:off x="5486400" y="3044952"/>
            <a:ext cx="1371600" cy="246888"/>
          </a:xfrm>
          <a:prstGeom prst="rect">
            <a:avLst/>
          </a:prstGeom>
          <a:noFill/>
        </p:spPr>
        <p:txBody>
          <a:bodyPr wrap="square">
            <a:spAutoFit/>
          </a:bodyPr>
          <a:lstStyle/>
          <a:p>
            <a:pPr algn="ctr"/>
            <a:r>
              <a:rPr sz="1200" b="1" i="0">
                <a:solidFill>
                  <a:srgbClr val="2ECC71"/>
                </a:solidFill>
              </a:rPr>
              <a:t>61.7%</a:t>
            </a:r>
          </a:p>
        </p:txBody>
      </p:sp>
      <p:sp>
        <p:nvSpPr>
          <p:cNvPr id="30" name="TextBox 29"/>
          <p:cNvSpPr txBox="1"/>
          <p:nvPr/>
        </p:nvSpPr>
        <p:spPr>
          <a:xfrm>
            <a:off x="7132320" y="3044952"/>
            <a:ext cx="1371600" cy="246888"/>
          </a:xfrm>
          <a:prstGeom prst="rect">
            <a:avLst/>
          </a:prstGeom>
          <a:noFill/>
        </p:spPr>
        <p:txBody>
          <a:bodyPr wrap="square">
            <a:spAutoFit/>
          </a:bodyPr>
          <a:lstStyle/>
          <a:p>
            <a:pPr algn="ctr"/>
            <a:r>
              <a:rPr sz="1100" b="0" i="0">
                <a:solidFill>
                  <a:srgbClr val="D4AF37"/>
                </a:solidFill>
              </a:rPr>
              <a:t>0.6036</a:t>
            </a:r>
          </a:p>
        </p:txBody>
      </p:sp>
      <p:sp>
        <p:nvSpPr>
          <p:cNvPr id="31" name="Rectangle 30"/>
          <p:cNvSpPr/>
          <p:nvPr/>
        </p:nvSpPr>
        <p:spPr>
          <a:xfrm>
            <a:off x="365760" y="3355848"/>
            <a:ext cx="11430000" cy="374904"/>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355848"/>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438144"/>
            <a:ext cx="3474720" cy="246888"/>
          </a:xfrm>
          <a:prstGeom prst="rect">
            <a:avLst/>
          </a:prstGeom>
          <a:noFill/>
        </p:spPr>
        <p:txBody>
          <a:bodyPr wrap="square">
            <a:spAutoFit/>
          </a:bodyPr>
          <a:lstStyle/>
          <a:p>
            <a:pPr algn="l"/>
            <a:r>
              <a:rPr sz="1100" b="0" i="0">
                <a:solidFill>
                  <a:srgbClr val="FFFFFF"/>
                </a:solidFill>
              </a:rPr>
              <a:t>Financials</a:t>
            </a:r>
          </a:p>
        </p:txBody>
      </p:sp>
      <p:sp>
        <p:nvSpPr>
          <p:cNvPr id="34" name="TextBox 33"/>
          <p:cNvSpPr txBox="1"/>
          <p:nvPr/>
        </p:nvSpPr>
        <p:spPr>
          <a:xfrm>
            <a:off x="4114800" y="3438144"/>
            <a:ext cx="1188720" cy="246888"/>
          </a:xfrm>
          <a:prstGeom prst="rect">
            <a:avLst/>
          </a:prstGeom>
          <a:noFill/>
        </p:spPr>
        <p:txBody>
          <a:bodyPr wrap="square">
            <a:spAutoFit/>
          </a:bodyPr>
          <a:lstStyle/>
          <a:p>
            <a:pPr algn="ctr"/>
            <a:r>
              <a:rPr sz="1100" b="0" i="0">
                <a:solidFill>
                  <a:srgbClr val="8B9CB8"/>
                </a:solidFill>
              </a:rPr>
              <a:t>4108</a:t>
            </a:r>
          </a:p>
        </p:txBody>
      </p:sp>
      <p:sp>
        <p:nvSpPr>
          <p:cNvPr id="35" name="TextBox 34"/>
          <p:cNvSpPr txBox="1"/>
          <p:nvPr/>
        </p:nvSpPr>
        <p:spPr>
          <a:xfrm>
            <a:off x="5486400" y="3438144"/>
            <a:ext cx="1371600" cy="246888"/>
          </a:xfrm>
          <a:prstGeom prst="rect">
            <a:avLst/>
          </a:prstGeom>
          <a:noFill/>
        </p:spPr>
        <p:txBody>
          <a:bodyPr wrap="square">
            <a:spAutoFit/>
          </a:bodyPr>
          <a:lstStyle/>
          <a:p>
            <a:pPr algn="ctr"/>
            <a:r>
              <a:rPr sz="1200" b="0" i="0">
                <a:solidFill>
                  <a:srgbClr val="FFFFFF"/>
                </a:solidFill>
              </a:rPr>
              <a:t>55.0%</a:t>
            </a:r>
          </a:p>
        </p:txBody>
      </p:sp>
      <p:sp>
        <p:nvSpPr>
          <p:cNvPr id="36" name="TextBox 35"/>
          <p:cNvSpPr txBox="1"/>
          <p:nvPr/>
        </p:nvSpPr>
        <p:spPr>
          <a:xfrm>
            <a:off x="7132320" y="3438144"/>
            <a:ext cx="1371600" cy="246888"/>
          </a:xfrm>
          <a:prstGeom prst="rect">
            <a:avLst/>
          </a:prstGeom>
          <a:noFill/>
        </p:spPr>
        <p:txBody>
          <a:bodyPr wrap="square">
            <a:spAutoFit/>
          </a:bodyPr>
          <a:lstStyle/>
          <a:p>
            <a:pPr algn="ctr"/>
            <a:r>
              <a:rPr sz="1100" b="0" i="0">
                <a:solidFill>
                  <a:srgbClr val="8B9CB8"/>
                </a:solidFill>
              </a:rPr>
              <a:t>0.5350</a:t>
            </a:r>
          </a:p>
        </p:txBody>
      </p:sp>
      <p:sp>
        <p:nvSpPr>
          <p:cNvPr id="37" name="Rectangle 36"/>
          <p:cNvSpPr/>
          <p:nvPr/>
        </p:nvSpPr>
        <p:spPr>
          <a:xfrm>
            <a:off x="365760" y="3749040"/>
            <a:ext cx="11430000" cy="37490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3749040"/>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3831336"/>
            <a:ext cx="3474720" cy="246888"/>
          </a:xfrm>
          <a:prstGeom prst="rect">
            <a:avLst/>
          </a:prstGeom>
          <a:noFill/>
        </p:spPr>
        <p:txBody>
          <a:bodyPr wrap="square">
            <a:spAutoFit/>
          </a:bodyPr>
          <a:lstStyle/>
          <a:p>
            <a:pPr algn="l"/>
            <a:r>
              <a:rPr sz="1100" b="0" i="0">
                <a:solidFill>
                  <a:srgbClr val="FFFFFF"/>
                </a:solidFill>
              </a:rPr>
              <a:t>Health Care</a:t>
            </a:r>
          </a:p>
        </p:txBody>
      </p:sp>
      <p:sp>
        <p:nvSpPr>
          <p:cNvPr id="40" name="TextBox 39"/>
          <p:cNvSpPr txBox="1"/>
          <p:nvPr/>
        </p:nvSpPr>
        <p:spPr>
          <a:xfrm>
            <a:off x="4114800" y="3831336"/>
            <a:ext cx="1188720" cy="246888"/>
          </a:xfrm>
          <a:prstGeom prst="rect">
            <a:avLst/>
          </a:prstGeom>
          <a:noFill/>
        </p:spPr>
        <p:txBody>
          <a:bodyPr wrap="square">
            <a:spAutoFit/>
          </a:bodyPr>
          <a:lstStyle/>
          <a:p>
            <a:pPr algn="ctr"/>
            <a:r>
              <a:rPr sz="1100" b="0" i="0">
                <a:solidFill>
                  <a:srgbClr val="8B9CB8"/>
                </a:solidFill>
              </a:rPr>
              <a:t>1126</a:t>
            </a:r>
          </a:p>
        </p:txBody>
      </p:sp>
      <p:sp>
        <p:nvSpPr>
          <p:cNvPr id="41" name="TextBox 40"/>
          <p:cNvSpPr txBox="1"/>
          <p:nvPr/>
        </p:nvSpPr>
        <p:spPr>
          <a:xfrm>
            <a:off x="5486400" y="3831336"/>
            <a:ext cx="1371600" cy="246888"/>
          </a:xfrm>
          <a:prstGeom prst="rect">
            <a:avLst/>
          </a:prstGeom>
          <a:noFill/>
        </p:spPr>
        <p:txBody>
          <a:bodyPr wrap="square">
            <a:spAutoFit/>
          </a:bodyPr>
          <a:lstStyle/>
          <a:p>
            <a:pPr algn="ctr"/>
            <a:r>
              <a:rPr sz="1200" b="0" i="0">
                <a:solidFill>
                  <a:srgbClr val="FFFFFF"/>
                </a:solidFill>
              </a:rPr>
              <a:t>54.3%</a:t>
            </a:r>
          </a:p>
        </p:txBody>
      </p:sp>
      <p:sp>
        <p:nvSpPr>
          <p:cNvPr id="42" name="TextBox 41"/>
          <p:cNvSpPr txBox="1"/>
          <p:nvPr/>
        </p:nvSpPr>
        <p:spPr>
          <a:xfrm>
            <a:off x="7132320" y="3831336"/>
            <a:ext cx="1371600" cy="246888"/>
          </a:xfrm>
          <a:prstGeom prst="rect">
            <a:avLst/>
          </a:prstGeom>
          <a:noFill/>
        </p:spPr>
        <p:txBody>
          <a:bodyPr wrap="square">
            <a:spAutoFit/>
          </a:bodyPr>
          <a:lstStyle/>
          <a:p>
            <a:pPr algn="ctr"/>
            <a:r>
              <a:rPr sz="1100" b="0" i="0">
                <a:solidFill>
                  <a:srgbClr val="8B9CB8"/>
                </a:solidFill>
              </a:rPr>
              <a:t>0.5578</a:t>
            </a:r>
          </a:p>
        </p:txBody>
      </p:sp>
      <p:sp>
        <p:nvSpPr>
          <p:cNvPr id="43" name="Rectangle 42"/>
          <p:cNvSpPr/>
          <p:nvPr/>
        </p:nvSpPr>
        <p:spPr>
          <a:xfrm>
            <a:off x="365760" y="4142232"/>
            <a:ext cx="11430000" cy="374904"/>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5760" y="4142232"/>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4224528"/>
            <a:ext cx="3474720" cy="246888"/>
          </a:xfrm>
          <a:prstGeom prst="rect">
            <a:avLst/>
          </a:prstGeom>
          <a:noFill/>
        </p:spPr>
        <p:txBody>
          <a:bodyPr wrap="square">
            <a:spAutoFit/>
          </a:bodyPr>
          <a:lstStyle/>
          <a:p>
            <a:pPr algn="l"/>
            <a:r>
              <a:rPr sz="1100" b="0" i="0">
                <a:solidFill>
                  <a:srgbClr val="FFFFFF"/>
                </a:solidFill>
              </a:rPr>
              <a:t>Industrials</a:t>
            </a:r>
          </a:p>
        </p:txBody>
      </p:sp>
      <p:sp>
        <p:nvSpPr>
          <p:cNvPr id="46" name="TextBox 45"/>
          <p:cNvSpPr txBox="1"/>
          <p:nvPr/>
        </p:nvSpPr>
        <p:spPr>
          <a:xfrm>
            <a:off x="4114800" y="4224528"/>
            <a:ext cx="1188720" cy="246888"/>
          </a:xfrm>
          <a:prstGeom prst="rect">
            <a:avLst/>
          </a:prstGeom>
          <a:noFill/>
        </p:spPr>
        <p:txBody>
          <a:bodyPr wrap="square">
            <a:spAutoFit/>
          </a:bodyPr>
          <a:lstStyle/>
          <a:p>
            <a:pPr algn="ctr"/>
            <a:r>
              <a:rPr sz="1100" b="0" i="0">
                <a:solidFill>
                  <a:srgbClr val="8B9CB8"/>
                </a:solidFill>
              </a:rPr>
              <a:t>4183</a:t>
            </a:r>
          </a:p>
        </p:txBody>
      </p:sp>
      <p:sp>
        <p:nvSpPr>
          <p:cNvPr id="47" name="TextBox 46"/>
          <p:cNvSpPr txBox="1"/>
          <p:nvPr/>
        </p:nvSpPr>
        <p:spPr>
          <a:xfrm>
            <a:off x="5486400" y="4224528"/>
            <a:ext cx="1371600" cy="246888"/>
          </a:xfrm>
          <a:prstGeom prst="rect">
            <a:avLst/>
          </a:prstGeom>
          <a:noFill/>
        </p:spPr>
        <p:txBody>
          <a:bodyPr wrap="square">
            <a:spAutoFit/>
          </a:bodyPr>
          <a:lstStyle/>
          <a:p>
            <a:pPr algn="ctr"/>
            <a:r>
              <a:rPr sz="1200" b="0" i="0">
                <a:solidFill>
                  <a:srgbClr val="FFFFFF"/>
                </a:solidFill>
              </a:rPr>
              <a:t>54.5%</a:t>
            </a:r>
          </a:p>
        </p:txBody>
      </p:sp>
      <p:sp>
        <p:nvSpPr>
          <p:cNvPr id="48" name="TextBox 47"/>
          <p:cNvSpPr txBox="1"/>
          <p:nvPr/>
        </p:nvSpPr>
        <p:spPr>
          <a:xfrm>
            <a:off x="7132320" y="4224528"/>
            <a:ext cx="1371600" cy="246888"/>
          </a:xfrm>
          <a:prstGeom prst="rect">
            <a:avLst/>
          </a:prstGeom>
          <a:noFill/>
        </p:spPr>
        <p:txBody>
          <a:bodyPr wrap="square">
            <a:spAutoFit/>
          </a:bodyPr>
          <a:lstStyle/>
          <a:p>
            <a:pPr algn="ctr"/>
            <a:r>
              <a:rPr sz="1100" b="0" i="0">
                <a:solidFill>
                  <a:srgbClr val="8B9CB8"/>
                </a:solidFill>
              </a:rPr>
              <a:t>0.5350</a:t>
            </a:r>
          </a:p>
        </p:txBody>
      </p:sp>
      <p:sp>
        <p:nvSpPr>
          <p:cNvPr id="49" name="Rectangle 48"/>
          <p:cNvSpPr/>
          <p:nvPr/>
        </p:nvSpPr>
        <p:spPr>
          <a:xfrm>
            <a:off x="365760" y="4535424"/>
            <a:ext cx="11430000" cy="37490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4535424"/>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4617720"/>
            <a:ext cx="3474720" cy="246888"/>
          </a:xfrm>
          <a:prstGeom prst="rect">
            <a:avLst/>
          </a:prstGeom>
          <a:noFill/>
        </p:spPr>
        <p:txBody>
          <a:bodyPr wrap="square">
            <a:spAutoFit/>
          </a:bodyPr>
          <a:lstStyle/>
          <a:p>
            <a:pPr algn="l"/>
            <a:r>
              <a:rPr sz="1100" b="0" i="0">
                <a:solidFill>
                  <a:srgbClr val="FFFFFF"/>
                </a:solidFill>
              </a:rPr>
              <a:t>Information Technology</a:t>
            </a:r>
          </a:p>
        </p:txBody>
      </p:sp>
      <p:sp>
        <p:nvSpPr>
          <p:cNvPr id="52" name="TextBox 51"/>
          <p:cNvSpPr txBox="1"/>
          <p:nvPr/>
        </p:nvSpPr>
        <p:spPr>
          <a:xfrm>
            <a:off x="4114800" y="4617720"/>
            <a:ext cx="1188720" cy="246888"/>
          </a:xfrm>
          <a:prstGeom prst="rect">
            <a:avLst/>
          </a:prstGeom>
          <a:noFill/>
        </p:spPr>
        <p:txBody>
          <a:bodyPr wrap="square">
            <a:spAutoFit/>
          </a:bodyPr>
          <a:lstStyle/>
          <a:p>
            <a:pPr algn="ctr"/>
            <a:r>
              <a:rPr sz="1100" b="0" i="0">
                <a:solidFill>
                  <a:srgbClr val="8B9CB8"/>
                </a:solidFill>
              </a:rPr>
              <a:t>2240</a:t>
            </a:r>
          </a:p>
        </p:txBody>
      </p:sp>
      <p:sp>
        <p:nvSpPr>
          <p:cNvPr id="53" name="TextBox 52"/>
          <p:cNvSpPr txBox="1"/>
          <p:nvPr/>
        </p:nvSpPr>
        <p:spPr>
          <a:xfrm>
            <a:off x="5486400" y="4617720"/>
            <a:ext cx="1371600" cy="246888"/>
          </a:xfrm>
          <a:prstGeom prst="rect">
            <a:avLst/>
          </a:prstGeom>
          <a:noFill/>
        </p:spPr>
        <p:txBody>
          <a:bodyPr wrap="square">
            <a:spAutoFit/>
          </a:bodyPr>
          <a:lstStyle/>
          <a:p>
            <a:pPr algn="ctr"/>
            <a:r>
              <a:rPr sz="1200" b="0" i="0">
                <a:solidFill>
                  <a:srgbClr val="FFFFFF"/>
                </a:solidFill>
              </a:rPr>
              <a:t>53.2%</a:t>
            </a:r>
          </a:p>
        </p:txBody>
      </p:sp>
      <p:sp>
        <p:nvSpPr>
          <p:cNvPr id="54" name="TextBox 53"/>
          <p:cNvSpPr txBox="1"/>
          <p:nvPr/>
        </p:nvSpPr>
        <p:spPr>
          <a:xfrm>
            <a:off x="7132320" y="4617720"/>
            <a:ext cx="1371600" cy="246888"/>
          </a:xfrm>
          <a:prstGeom prst="rect">
            <a:avLst/>
          </a:prstGeom>
          <a:noFill/>
        </p:spPr>
        <p:txBody>
          <a:bodyPr wrap="square">
            <a:spAutoFit/>
          </a:bodyPr>
          <a:lstStyle/>
          <a:p>
            <a:pPr algn="ctr"/>
            <a:r>
              <a:rPr sz="1100" b="0" i="0">
                <a:solidFill>
                  <a:srgbClr val="8B9CB8"/>
                </a:solidFill>
              </a:rPr>
              <a:t>0.5420</a:t>
            </a:r>
          </a:p>
        </p:txBody>
      </p:sp>
      <p:sp>
        <p:nvSpPr>
          <p:cNvPr id="55" name="Rectangle 54"/>
          <p:cNvSpPr/>
          <p:nvPr/>
        </p:nvSpPr>
        <p:spPr>
          <a:xfrm>
            <a:off x="365760" y="4928616"/>
            <a:ext cx="11430000" cy="374904"/>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5760" y="4928616"/>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5010912"/>
            <a:ext cx="3474720" cy="246888"/>
          </a:xfrm>
          <a:prstGeom prst="rect">
            <a:avLst/>
          </a:prstGeom>
          <a:noFill/>
        </p:spPr>
        <p:txBody>
          <a:bodyPr wrap="square">
            <a:spAutoFit/>
          </a:bodyPr>
          <a:lstStyle/>
          <a:p>
            <a:pPr algn="l"/>
            <a:r>
              <a:rPr sz="1100" b="0" i="0">
                <a:solidFill>
                  <a:srgbClr val="FFFFFF"/>
                </a:solidFill>
              </a:rPr>
              <a:t>Materials</a:t>
            </a:r>
          </a:p>
        </p:txBody>
      </p:sp>
      <p:sp>
        <p:nvSpPr>
          <p:cNvPr id="58" name="TextBox 57"/>
          <p:cNvSpPr txBox="1"/>
          <p:nvPr/>
        </p:nvSpPr>
        <p:spPr>
          <a:xfrm>
            <a:off x="4114800" y="5010912"/>
            <a:ext cx="1188720" cy="246888"/>
          </a:xfrm>
          <a:prstGeom prst="rect">
            <a:avLst/>
          </a:prstGeom>
          <a:noFill/>
        </p:spPr>
        <p:txBody>
          <a:bodyPr wrap="square">
            <a:spAutoFit/>
          </a:bodyPr>
          <a:lstStyle/>
          <a:p>
            <a:pPr algn="ctr"/>
            <a:r>
              <a:rPr sz="1100" b="0" i="0">
                <a:solidFill>
                  <a:srgbClr val="8B9CB8"/>
                </a:solidFill>
              </a:rPr>
              <a:t>2781</a:t>
            </a:r>
          </a:p>
        </p:txBody>
      </p:sp>
      <p:sp>
        <p:nvSpPr>
          <p:cNvPr id="59" name="TextBox 58"/>
          <p:cNvSpPr txBox="1"/>
          <p:nvPr/>
        </p:nvSpPr>
        <p:spPr>
          <a:xfrm>
            <a:off x="5486400" y="5010912"/>
            <a:ext cx="1371600" cy="246888"/>
          </a:xfrm>
          <a:prstGeom prst="rect">
            <a:avLst/>
          </a:prstGeom>
          <a:noFill/>
        </p:spPr>
        <p:txBody>
          <a:bodyPr wrap="square">
            <a:spAutoFit/>
          </a:bodyPr>
          <a:lstStyle/>
          <a:p>
            <a:pPr algn="ctr"/>
            <a:r>
              <a:rPr sz="1200" b="0" i="0">
                <a:solidFill>
                  <a:srgbClr val="FFFFFF"/>
                </a:solidFill>
              </a:rPr>
              <a:t>53.2%</a:t>
            </a:r>
          </a:p>
        </p:txBody>
      </p:sp>
      <p:sp>
        <p:nvSpPr>
          <p:cNvPr id="60" name="TextBox 59"/>
          <p:cNvSpPr txBox="1"/>
          <p:nvPr/>
        </p:nvSpPr>
        <p:spPr>
          <a:xfrm>
            <a:off x="7132320" y="5010912"/>
            <a:ext cx="1371600" cy="246888"/>
          </a:xfrm>
          <a:prstGeom prst="rect">
            <a:avLst/>
          </a:prstGeom>
          <a:noFill/>
        </p:spPr>
        <p:txBody>
          <a:bodyPr wrap="square">
            <a:spAutoFit/>
          </a:bodyPr>
          <a:lstStyle/>
          <a:p>
            <a:pPr algn="ctr"/>
            <a:r>
              <a:rPr sz="1100" b="0" i="0">
                <a:solidFill>
                  <a:srgbClr val="8B9CB8"/>
                </a:solidFill>
              </a:rPr>
              <a:t>0.5481</a:t>
            </a:r>
          </a:p>
        </p:txBody>
      </p:sp>
      <p:sp>
        <p:nvSpPr>
          <p:cNvPr id="61" name="Rectangle 60"/>
          <p:cNvSpPr/>
          <p:nvPr/>
        </p:nvSpPr>
        <p:spPr>
          <a:xfrm>
            <a:off x="365760" y="5321808"/>
            <a:ext cx="11430000" cy="37490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65760" y="5321808"/>
            <a:ext cx="36576" cy="37490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5404104"/>
            <a:ext cx="3474720" cy="246888"/>
          </a:xfrm>
          <a:prstGeom prst="rect">
            <a:avLst/>
          </a:prstGeom>
          <a:noFill/>
        </p:spPr>
        <p:txBody>
          <a:bodyPr wrap="square">
            <a:spAutoFit/>
          </a:bodyPr>
          <a:lstStyle/>
          <a:p>
            <a:pPr algn="l"/>
            <a:r>
              <a:rPr sz="1100" b="1" i="0">
                <a:solidFill>
                  <a:srgbClr val="2ECC71"/>
                </a:solidFill>
              </a:rPr>
              <a:t>Real Estate</a:t>
            </a:r>
          </a:p>
        </p:txBody>
      </p:sp>
      <p:sp>
        <p:nvSpPr>
          <p:cNvPr id="64" name="TextBox 63"/>
          <p:cNvSpPr txBox="1"/>
          <p:nvPr/>
        </p:nvSpPr>
        <p:spPr>
          <a:xfrm>
            <a:off x="4114800" y="5404104"/>
            <a:ext cx="1188720" cy="246888"/>
          </a:xfrm>
          <a:prstGeom prst="rect">
            <a:avLst/>
          </a:prstGeom>
          <a:noFill/>
        </p:spPr>
        <p:txBody>
          <a:bodyPr wrap="square">
            <a:spAutoFit/>
          </a:bodyPr>
          <a:lstStyle/>
          <a:p>
            <a:pPr algn="ctr"/>
            <a:r>
              <a:rPr sz="1100" b="0" i="0">
                <a:solidFill>
                  <a:srgbClr val="8B9CB8"/>
                </a:solidFill>
              </a:rPr>
              <a:t>424</a:t>
            </a:r>
          </a:p>
        </p:txBody>
      </p:sp>
      <p:sp>
        <p:nvSpPr>
          <p:cNvPr id="65" name="TextBox 64"/>
          <p:cNvSpPr txBox="1"/>
          <p:nvPr/>
        </p:nvSpPr>
        <p:spPr>
          <a:xfrm>
            <a:off x="5486400" y="5404104"/>
            <a:ext cx="1371600" cy="246888"/>
          </a:xfrm>
          <a:prstGeom prst="rect">
            <a:avLst/>
          </a:prstGeom>
          <a:noFill/>
        </p:spPr>
        <p:txBody>
          <a:bodyPr wrap="square">
            <a:spAutoFit/>
          </a:bodyPr>
          <a:lstStyle/>
          <a:p>
            <a:pPr algn="ctr"/>
            <a:r>
              <a:rPr sz="1200" b="1" i="0">
                <a:solidFill>
                  <a:srgbClr val="2ECC71"/>
                </a:solidFill>
              </a:rPr>
              <a:t>59.5%</a:t>
            </a:r>
          </a:p>
        </p:txBody>
      </p:sp>
      <p:sp>
        <p:nvSpPr>
          <p:cNvPr id="66" name="TextBox 65"/>
          <p:cNvSpPr txBox="1"/>
          <p:nvPr/>
        </p:nvSpPr>
        <p:spPr>
          <a:xfrm>
            <a:off x="7132320" y="5404104"/>
            <a:ext cx="1371600" cy="246888"/>
          </a:xfrm>
          <a:prstGeom prst="rect">
            <a:avLst/>
          </a:prstGeom>
          <a:noFill/>
        </p:spPr>
        <p:txBody>
          <a:bodyPr wrap="square">
            <a:spAutoFit/>
          </a:bodyPr>
          <a:lstStyle/>
          <a:p>
            <a:pPr algn="ctr"/>
            <a:r>
              <a:rPr sz="1100" b="0" i="0">
                <a:solidFill>
                  <a:srgbClr val="D4AF37"/>
                </a:solidFill>
              </a:rPr>
              <a:t>0.6010</a:t>
            </a:r>
          </a:p>
        </p:txBody>
      </p:sp>
      <p:sp>
        <p:nvSpPr>
          <p:cNvPr id="67" name="Rectangle 66"/>
          <p:cNvSpPr/>
          <p:nvPr/>
        </p:nvSpPr>
        <p:spPr>
          <a:xfrm>
            <a:off x="365760" y="5715000"/>
            <a:ext cx="11430000" cy="374904"/>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65760" y="5715000"/>
            <a:ext cx="36576" cy="374904"/>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02920" y="5797296"/>
            <a:ext cx="3474720" cy="246888"/>
          </a:xfrm>
          <a:prstGeom prst="rect">
            <a:avLst/>
          </a:prstGeom>
          <a:noFill/>
        </p:spPr>
        <p:txBody>
          <a:bodyPr wrap="square">
            <a:spAutoFit/>
          </a:bodyPr>
          <a:lstStyle/>
          <a:p>
            <a:pPr algn="l"/>
            <a:r>
              <a:rPr sz="1100" b="0" i="0">
                <a:solidFill>
                  <a:srgbClr val="FFFFFF"/>
                </a:solidFill>
              </a:rPr>
              <a:t>Utilities</a:t>
            </a:r>
          </a:p>
        </p:txBody>
      </p:sp>
      <p:sp>
        <p:nvSpPr>
          <p:cNvPr id="70" name="TextBox 69"/>
          <p:cNvSpPr txBox="1"/>
          <p:nvPr/>
        </p:nvSpPr>
        <p:spPr>
          <a:xfrm>
            <a:off x="4114800" y="5797296"/>
            <a:ext cx="1188720" cy="246888"/>
          </a:xfrm>
          <a:prstGeom prst="rect">
            <a:avLst/>
          </a:prstGeom>
          <a:noFill/>
        </p:spPr>
        <p:txBody>
          <a:bodyPr wrap="square">
            <a:spAutoFit/>
          </a:bodyPr>
          <a:lstStyle/>
          <a:p>
            <a:pPr algn="ctr"/>
            <a:r>
              <a:rPr sz="1100" b="0" i="0">
                <a:solidFill>
                  <a:srgbClr val="8B9CB8"/>
                </a:solidFill>
              </a:rPr>
              <a:t>1757</a:t>
            </a:r>
          </a:p>
        </p:txBody>
      </p:sp>
      <p:sp>
        <p:nvSpPr>
          <p:cNvPr id="71" name="TextBox 70"/>
          <p:cNvSpPr txBox="1"/>
          <p:nvPr/>
        </p:nvSpPr>
        <p:spPr>
          <a:xfrm>
            <a:off x="5486400" y="5797296"/>
            <a:ext cx="1371600" cy="246888"/>
          </a:xfrm>
          <a:prstGeom prst="rect">
            <a:avLst/>
          </a:prstGeom>
          <a:noFill/>
        </p:spPr>
        <p:txBody>
          <a:bodyPr wrap="square">
            <a:spAutoFit/>
          </a:bodyPr>
          <a:lstStyle/>
          <a:p>
            <a:pPr algn="ctr"/>
            <a:r>
              <a:rPr sz="1200" b="0" i="0">
                <a:solidFill>
                  <a:srgbClr val="FFFFFF"/>
                </a:solidFill>
              </a:rPr>
              <a:t>54.5%</a:t>
            </a:r>
          </a:p>
        </p:txBody>
      </p:sp>
      <p:sp>
        <p:nvSpPr>
          <p:cNvPr id="72" name="TextBox 71"/>
          <p:cNvSpPr txBox="1"/>
          <p:nvPr/>
        </p:nvSpPr>
        <p:spPr>
          <a:xfrm>
            <a:off x="7132320" y="5797296"/>
            <a:ext cx="1371600" cy="246888"/>
          </a:xfrm>
          <a:prstGeom prst="rect">
            <a:avLst/>
          </a:prstGeom>
          <a:noFill/>
        </p:spPr>
        <p:txBody>
          <a:bodyPr wrap="square">
            <a:spAutoFit/>
          </a:bodyPr>
          <a:lstStyle/>
          <a:p>
            <a:pPr algn="ctr"/>
            <a:r>
              <a:rPr sz="1100" b="0" i="0">
                <a:solidFill>
                  <a:srgbClr val="8B9CB8"/>
                </a:solidFill>
              </a:rPr>
              <a:t>0.5420</a:t>
            </a:r>
          </a:p>
        </p:txBody>
      </p:sp>
      <p:sp>
        <p:nvSpPr>
          <p:cNvPr id="73" name="TextBox 72"/>
          <p:cNvSpPr txBox="1"/>
          <p:nvPr/>
        </p:nvSpPr>
        <p:spPr>
          <a:xfrm>
            <a:off x="502920" y="1664208"/>
            <a:ext cx="3474720" cy="246888"/>
          </a:xfrm>
          <a:prstGeom prst="rect">
            <a:avLst/>
          </a:prstGeom>
          <a:noFill/>
        </p:spPr>
        <p:txBody>
          <a:bodyPr wrap="square">
            <a:spAutoFit/>
          </a:bodyPr>
          <a:lstStyle/>
          <a:p>
            <a:pPr algn="l"/>
            <a:r>
              <a:rPr sz="1000" b="1" i="0">
                <a:solidFill>
                  <a:srgbClr val="8B9CB8"/>
                </a:solidFill>
              </a:rPr>
              <a:t>Sector</a:t>
            </a:r>
          </a:p>
        </p:txBody>
      </p:sp>
      <p:sp>
        <p:nvSpPr>
          <p:cNvPr id="74" name="TextBox 73"/>
          <p:cNvSpPr txBox="1"/>
          <p:nvPr/>
        </p:nvSpPr>
        <p:spPr>
          <a:xfrm>
            <a:off x="4114800" y="1664208"/>
            <a:ext cx="1188720" cy="246888"/>
          </a:xfrm>
          <a:prstGeom prst="rect">
            <a:avLst/>
          </a:prstGeom>
          <a:noFill/>
        </p:spPr>
        <p:txBody>
          <a:bodyPr wrap="square">
            <a:spAutoFit/>
          </a:bodyPr>
          <a:lstStyle/>
          <a:p>
            <a:pPr algn="ctr"/>
            <a:r>
              <a:rPr sz="1000" b="1" i="0">
                <a:solidFill>
                  <a:srgbClr val="8B9CB8"/>
                </a:solidFill>
              </a:rPr>
              <a:t>N Obs</a:t>
            </a:r>
          </a:p>
        </p:txBody>
      </p:sp>
      <p:sp>
        <p:nvSpPr>
          <p:cNvPr id="75" name="TextBox 74"/>
          <p:cNvSpPr txBox="1"/>
          <p:nvPr/>
        </p:nvSpPr>
        <p:spPr>
          <a:xfrm>
            <a:off x="5486400" y="1664208"/>
            <a:ext cx="1371600" cy="246888"/>
          </a:xfrm>
          <a:prstGeom prst="rect">
            <a:avLst/>
          </a:prstGeom>
          <a:noFill/>
        </p:spPr>
        <p:txBody>
          <a:bodyPr wrap="square">
            <a:spAutoFit/>
          </a:bodyPr>
          <a:lstStyle/>
          <a:p>
            <a:pPr algn="ctr"/>
            <a:r>
              <a:rPr sz="1000" b="1" i="0">
                <a:solidFill>
                  <a:srgbClr val="8B9CB8"/>
                </a:solidFill>
              </a:rPr>
              <a:t>Accuracy</a:t>
            </a:r>
          </a:p>
        </p:txBody>
      </p:sp>
      <p:sp>
        <p:nvSpPr>
          <p:cNvPr id="76" name="TextBox 75"/>
          <p:cNvSpPr txBox="1"/>
          <p:nvPr/>
        </p:nvSpPr>
        <p:spPr>
          <a:xfrm>
            <a:off x="7132320" y="1664208"/>
            <a:ext cx="1371600" cy="246888"/>
          </a:xfrm>
          <a:prstGeom prst="rect">
            <a:avLst/>
          </a:prstGeom>
          <a:noFill/>
        </p:spPr>
        <p:txBody>
          <a:bodyPr wrap="square">
            <a:spAutoFit/>
          </a:bodyPr>
          <a:lstStyle/>
          <a:p>
            <a:pPr algn="ctr"/>
            <a:r>
              <a:rPr sz="1000" b="1" i="0">
                <a:solidFill>
                  <a:srgbClr val="8B9CB8"/>
                </a:solidFill>
              </a:rPr>
              <a:t>AUC</a:t>
            </a:r>
          </a:p>
        </p:txBody>
      </p:sp>
      <p:sp>
        <p:nvSpPr>
          <p:cNvPr id="77" name="Rectangle 76"/>
          <p:cNvSpPr/>
          <p:nvPr/>
        </p:nvSpPr>
        <p:spPr>
          <a:xfrm>
            <a:off x="365760" y="6217920"/>
            <a:ext cx="11430000" cy="530352"/>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8640" y="6281928"/>
            <a:ext cx="11064240" cy="228600"/>
          </a:xfrm>
          <a:prstGeom prst="rect">
            <a:avLst/>
          </a:prstGeom>
          <a:noFill/>
        </p:spPr>
        <p:txBody>
          <a:bodyPr wrap="square">
            <a:spAutoFit/>
          </a:bodyPr>
          <a:lstStyle/>
          <a:p>
            <a:pPr algn="l"/>
            <a:r>
              <a:rPr sz="1100" b="1" i="0">
                <a:solidFill>
                  <a:srgbClr val="2ECC71"/>
                </a:solidFill>
              </a:rPr>
              <a:t>Best sectors: Communication Services (59.5%, AUC 0.606) | Energy (61.7%, AUC 0.604) | Real Estate (59.5%)</a:t>
            </a:r>
          </a:p>
        </p:txBody>
      </p:sp>
      <p:sp>
        <p:nvSpPr>
          <p:cNvPr id="79" name="TextBox 78"/>
          <p:cNvSpPr txBox="1"/>
          <p:nvPr/>
        </p:nvSpPr>
        <p:spPr>
          <a:xfrm>
            <a:off x="548640" y="6492240"/>
            <a:ext cx="11064240" cy="228600"/>
          </a:xfrm>
          <a:prstGeom prst="rect">
            <a:avLst/>
          </a:prstGeom>
          <a:noFill/>
        </p:spPr>
        <p:txBody>
          <a:bodyPr wrap="square">
            <a:spAutoFit/>
          </a:bodyPr>
          <a:lstStyle/>
          <a:p>
            <a:pPr algn="l"/>
            <a:r>
              <a:rPr sz="1000" b="0" i="0">
                <a:solidFill>
                  <a:srgbClr val="D4AF37"/>
                </a:solidFill>
              </a:rPr>
              <a:t>Clustering within Communication Services further improved to 63.9% accuracy, AUC 0.6902 — best across all 45 configurations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Best Configuration — Communication Services + Clustering</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09 — Config 4: Sector + K-Means Clustering (k=2)</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594360"/>
          </a:xfrm>
          <a:prstGeom prst="rect">
            <a:avLst/>
          </a:prstGeom>
          <a:noFill/>
        </p:spPr>
        <p:txBody>
          <a:bodyPr wrap="square">
            <a:spAutoFit/>
          </a:bodyPr>
          <a:lstStyle/>
          <a:p>
            <a:pPr algn="l"/>
            <a:r>
              <a:rPr sz="1200" b="0" i="0">
                <a:solidFill>
                  <a:srgbClr val="FFFFFF"/>
                </a:solidFill>
              </a:rPr>
              <a:t>Within Communication Services, K-Means clustering (k=2) split the sector into two sub-groups with distinct financial profiles. Cluster 0 (122 companies) significantly outperformed all other configurations across all 45 group combinations tested.</a:t>
            </a:r>
          </a:p>
        </p:txBody>
      </p:sp>
      <p:sp>
        <p:nvSpPr>
          <p:cNvPr id="7" name="Rectangle 6"/>
          <p:cNvSpPr/>
          <p:nvPr/>
        </p:nvSpPr>
        <p:spPr>
          <a:xfrm>
            <a:off x="365760" y="1828800"/>
            <a:ext cx="265176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288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38528"/>
            <a:ext cx="2468880" cy="274320"/>
          </a:xfrm>
          <a:prstGeom prst="rect">
            <a:avLst/>
          </a:prstGeom>
          <a:noFill/>
        </p:spPr>
        <p:txBody>
          <a:bodyPr wrap="square">
            <a:spAutoFit/>
          </a:bodyPr>
          <a:lstStyle/>
          <a:p>
            <a:pPr algn="l"/>
            <a:r>
              <a:rPr sz="1100" b="0" i="0">
                <a:solidFill>
                  <a:srgbClr val="8B9CB8"/>
                </a:solidFill>
              </a:rPr>
              <a:t>Best Group AUC</a:t>
            </a:r>
          </a:p>
        </p:txBody>
      </p:sp>
      <p:sp>
        <p:nvSpPr>
          <p:cNvPr id="10" name="TextBox 9"/>
          <p:cNvSpPr txBox="1"/>
          <p:nvPr/>
        </p:nvSpPr>
        <p:spPr>
          <a:xfrm>
            <a:off x="502920" y="2176272"/>
            <a:ext cx="2468880" cy="502920"/>
          </a:xfrm>
          <a:prstGeom prst="rect">
            <a:avLst/>
          </a:prstGeom>
          <a:noFill/>
        </p:spPr>
        <p:txBody>
          <a:bodyPr wrap="square">
            <a:spAutoFit/>
          </a:bodyPr>
          <a:lstStyle/>
          <a:p>
            <a:pPr algn="l"/>
            <a:r>
              <a:rPr sz="2800" b="1" i="0">
                <a:solidFill>
                  <a:srgbClr val="D4AF37"/>
                </a:solidFill>
              </a:rPr>
              <a:t>0.6902</a:t>
            </a:r>
          </a:p>
        </p:txBody>
      </p:sp>
      <p:sp>
        <p:nvSpPr>
          <p:cNvPr id="11" name="TextBox 10"/>
          <p:cNvSpPr txBox="1"/>
          <p:nvPr/>
        </p:nvSpPr>
        <p:spPr>
          <a:xfrm>
            <a:off x="502920" y="2697480"/>
            <a:ext cx="2468880" cy="274320"/>
          </a:xfrm>
          <a:prstGeom prst="rect">
            <a:avLst/>
          </a:prstGeom>
          <a:noFill/>
        </p:spPr>
        <p:txBody>
          <a:bodyPr wrap="square">
            <a:spAutoFit/>
          </a:bodyPr>
          <a:lstStyle/>
          <a:p>
            <a:pPr algn="l"/>
            <a:r>
              <a:rPr sz="1000" b="0" i="0">
                <a:solidFill>
                  <a:srgbClr val="8B9CB8"/>
                </a:solidFill>
              </a:rPr>
              <a:t>Comm. Services — Cluster 0</a:t>
            </a:r>
          </a:p>
        </p:txBody>
      </p:sp>
      <p:sp>
        <p:nvSpPr>
          <p:cNvPr id="12" name="Rectangle 11"/>
          <p:cNvSpPr/>
          <p:nvPr/>
        </p:nvSpPr>
        <p:spPr>
          <a:xfrm>
            <a:off x="3200400" y="1828800"/>
            <a:ext cx="265176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18288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938528"/>
            <a:ext cx="2468880" cy="274320"/>
          </a:xfrm>
          <a:prstGeom prst="rect">
            <a:avLst/>
          </a:prstGeom>
          <a:noFill/>
        </p:spPr>
        <p:txBody>
          <a:bodyPr wrap="square">
            <a:spAutoFit/>
          </a:bodyPr>
          <a:lstStyle/>
          <a:p>
            <a:pPr algn="l"/>
            <a:r>
              <a:rPr sz="1100" b="0" i="0">
                <a:solidFill>
                  <a:srgbClr val="8B9CB8"/>
                </a:solidFill>
              </a:rPr>
              <a:t>Best Group Accuracy</a:t>
            </a:r>
          </a:p>
        </p:txBody>
      </p:sp>
      <p:sp>
        <p:nvSpPr>
          <p:cNvPr id="15" name="TextBox 14"/>
          <p:cNvSpPr txBox="1"/>
          <p:nvPr/>
        </p:nvSpPr>
        <p:spPr>
          <a:xfrm>
            <a:off x="3337560" y="2176272"/>
            <a:ext cx="2468880" cy="502920"/>
          </a:xfrm>
          <a:prstGeom prst="rect">
            <a:avLst/>
          </a:prstGeom>
          <a:noFill/>
        </p:spPr>
        <p:txBody>
          <a:bodyPr wrap="square">
            <a:spAutoFit/>
          </a:bodyPr>
          <a:lstStyle/>
          <a:p>
            <a:pPr algn="l"/>
            <a:r>
              <a:rPr sz="2800" b="1" i="0">
                <a:solidFill>
                  <a:srgbClr val="2ECC71"/>
                </a:solidFill>
              </a:rPr>
              <a:t>63.9%</a:t>
            </a:r>
          </a:p>
        </p:txBody>
      </p:sp>
      <p:sp>
        <p:nvSpPr>
          <p:cNvPr id="16" name="TextBox 15"/>
          <p:cNvSpPr txBox="1"/>
          <p:nvPr/>
        </p:nvSpPr>
        <p:spPr>
          <a:xfrm>
            <a:off x="3337560" y="2697480"/>
            <a:ext cx="2468880" cy="274320"/>
          </a:xfrm>
          <a:prstGeom prst="rect">
            <a:avLst/>
          </a:prstGeom>
          <a:noFill/>
        </p:spPr>
        <p:txBody>
          <a:bodyPr wrap="square">
            <a:spAutoFit/>
          </a:bodyPr>
          <a:lstStyle/>
          <a:p>
            <a:pPr algn="l"/>
            <a:r>
              <a:rPr sz="1000" b="0" i="0">
                <a:solidFill>
                  <a:srgbClr val="8B9CB8"/>
                </a:solidFill>
              </a:rPr>
              <a:t>122 observations</a:t>
            </a:r>
          </a:p>
        </p:txBody>
      </p:sp>
      <p:sp>
        <p:nvSpPr>
          <p:cNvPr id="17" name="Rectangle 16"/>
          <p:cNvSpPr/>
          <p:nvPr/>
        </p:nvSpPr>
        <p:spPr>
          <a:xfrm>
            <a:off x="6035040" y="1828800"/>
            <a:ext cx="265176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5040" y="18288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1938528"/>
            <a:ext cx="2468880" cy="274320"/>
          </a:xfrm>
          <a:prstGeom prst="rect">
            <a:avLst/>
          </a:prstGeom>
          <a:noFill/>
        </p:spPr>
        <p:txBody>
          <a:bodyPr wrap="square">
            <a:spAutoFit/>
          </a:bodyPr>
          <a:lstStyle/>
          <a:p>
            <a:pPr algn="l"/>
            <a:r>
              <a:rPr sz="1100" b="0" i="0">
                <a:solidFill>
                  <a:srgbClr val="8B9CB8"/>
                </a:solidFill>
              </a:rPr>
              <a:t>Weighted AUC (All 45)</a:t>
            </a:r>
          </a:p>
        </p:txBody>
      </p:sp>
      <p:sp>
        <p:nvSpPr>
          <p:cNvPr id="20" name="TextBox 19"/>
          <p:cNvSpPr txBox="1"/>
          <p:nvPr/>
        </p:nvSpPr>
        <p:spPr>
          <a:xfrm>
            <a:off x="6172200" y="2176272"/>
            <a:ext cx="2468880" cy="502920"/>
          </a:xfrm>
          <a:prstGeom prst="rect">
            <a:avLst/>
          </a:prstGeom>
          <a:noFill/>
        </p:spPr>
        <p:txBody>
          <a:bodyPr wrap="square">
            <a:spAutoFit/>
          </a:bodyPr>
          <a:lstStyle/>
          <a:p>
            <a:pPr algn="l"/>
            <a:r>
              <a:rPr sz="2800" b="1" i="0">
                <a:solidFill>
                  <a:srgbClr val="D4AF37"/>
                </a:solidFill>
              </a:rPr>
              <a:t>0.5720</a:t>
            </a:r>
          </a:p>
        </p:txBody>
      </p:sp>
      <p:sp>
        <p:nvSpPr>
          <p:cNvPr id="21" name="TextBox 20"/>
          <p:cNvSpPr txBox="1"/>
          <p:nvPr/>
        </p:nvSpPr>
        <p:spPr>
          <a:xfrm>
            <a:off x="6172200" y="2697480"/>
            <a:ext cx="2468880" cy="274320"/>
          </a:xfrm>
          <a:prstGeom prst="rect">
            <a:avLst/>
          </a:prstGeom>
          <a:noFill/>
        </p:spPr>
        <p:txBody>
          <a:bodyPr wrap="square">
            <a:spAutoFit/>
          </a:bodyPr>
          <a:lstStyle/>
          <a:p>
            <a:pPr algn="l"/>
            <a:r>
              <a:rPr sz="1000" b="0" i="0">
                <a:solidFill>
                  <a:srgbClr val="8B9CB8"/>
                </a:solidFill>
              </a:rPr>
              <a:t>Across all sector configs</a:t>
            </a:r>
          </a:p>
        </p:txBody>
      </p:sp>
      <p:sp>
        <p:nvSpPr>
          <p:cNvPr id="22" name="Rectangle 21"/>
          <p:cNvSpPr/>
          <p:nvPr/>
        </p:nvSpPr>
        <p:spPr>
          <a:xfrm>
            <a:off x="8869680" y="1828800"/>
            <a:ext cx="2926080" cy="11887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1828800"/>
            <a:ext cx="45720"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1938528"/>
            <a:ext cx="2743200" cy="274320"/>
          </a:xfrm>
          <a:prstGeom prst="rect">
            <a:avLst/>
          </a:prstGeom>
          <a:noFill/>
        </p:spPr>
        <p:txBody>
          <a:bodyPr wrap="square">
            <a:spAutoFit/>
          </a:bodyPr>
          <a:lstStyle/>
          <a:p>
            <a:pPr algn="l"/>
            <a:r>
              <a:rPr sz="1100" b="0" i="0">
                <a:solidFill>
                  <a:srgbClr val="8B9CB8"/>
                </a:solidFill>
              </a:rPr>
              <a:t>Total Configs Tested</a:t>
            </a:r>
          </a:p>
        </p:txBody>
      </p:sp>
      <p:sp>
        <p:nvSpPr>
          <p:cNvPr id="25" name="TextBox 24"/>
          <p:cNvSpPr txBox="1"/>
          <p:nvPr/>
        </p:nvSpPr>
        <p:spPr>
          <a:xfrm>
            <a:off x="9006840" y="2176272"/>
            <a:ext cx="2743200" cy="502920"/>
          </a:xfrm>
          <a:prstGeom prst="rect">
            <a:avLst/>
          </a:prstGeom>
          <a:noFill/>
        </p:spPr>
        <p:txBody>
          <a:bodyPr wrap="square">
            <a:spAutoFit/>
          </a:bodyPr>
          <a:lstStyle/>
          <a:p>
            <a:pPr algn="l"/>
            <a:r>
              <a:rPr sz="2800" b="1" i="0">
                <a:solidFill>
                  <a:srgbClr val="4A9EFF"/>
                </a:solidFill>
              </a:rPr>
              <a:t>45</a:t>
            </a:r>
          </a:p>
        </p:txBody>
      </p:sp>
      <p:sp>
        <p:nvSpPr>
          <p:cNvPr id="26" name="TextBox 25"/>
          <p:cNvSpPr txBox="1"/>
          <p:nvPr/>
        </p:nvSpPr>
        <p:spPr>
          <a:xfrm>
            <a:off x="9006840" y="2697480"/>
            <a:ext cx="2743200" cy="274320"/>
          </a:xfrm>
          <a:prstGeom prst="rect">
            <a:avLst/>
          </a:prstGeom>
          <a:noFill/>
        </p:spPr>
        <p:txBody>
          <a:bodyPr wrap="square">
            <a:spAutoFit/>
          </a:bodyPr>
          <a:lstStyle/>
          <a:p>
            <a:pPr algn="l"/>
            <a:r>
              <a:rPr sz="1000" b="0" i="0">
                <a:solidFill>
                  <a:srgbClr val="8B9CB8"/>
                </a:solidFill>
              </a:rPr>
              <a:t>All sector x cluster combos</a:t>
            </a:r>
          </a:p>
        </p:txBody>
      </p:sp>
      <p:sp>
        <p:nvSpPr>
          <p:cNvPr id="27" name="Rectangle 26"/>
          <p:cNvSpPr/>
          <p:nvPr/>
        </p:nvSpPr>
        <p:spPr>
          <a:xfrm>
            <a:off x="365760" y="3200400"/>
            <a:ext cx="5394960" cy="3017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200400"/>
            <a:ext cx="539496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291840"/>
            <a:ext cx="5029200" cy="347472"/>
          </a:xfrm>
          <a:prstGeom prst="rect">
            <a:avLst/>
          </a:prstGeom>
          <a:noFill/>
        </p:spPr>
        <p:txBody>
          <a:bodyPr wrap="square">
            <a:spAutoFit/>
          </a:bodyPr>
          <a:lstStyle/>
          <a:p>
            <a:pPr algn="l"/>
            <a:r>
              <a:rPr sz="1300" b="1" i="0">
                <a:solidFill>
                  <a:srgbClr val="D4AF37"/>
                </a:solidFill>
              </a:rPr>
              <a:t>Top 4 Configurations (of 45)</a:t>
            </a:r>
          </a:p>
        </p:txBody>
      </p:sp>
      <p:sp>
        <p:nvSpPr>
          <p:cNvPr id="30" name="Rectangle 29"/>
          <p:cNvSpPr/>
          <p:nvPr/>
        </p:nvSpPr>
        <p:spPr>
          <a:xfrm>
            <a:off x="548640" y="3730752"/>
            <a:ext cx="5029200" cy="54864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730752"/>
            <a:ext cx="411480" cy="5486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867912"/>
            <a:ext cx="411480" cy="274320"/>
          </a:xfrm>
          <a:prstGeom prst="rect">
            <a:avLst/>
          </a:prstGeom>
          <a:noFill/>
        </p:spPr>
        <p:txBody>
          <a:bodyPr wrap="square">
            <a:spAutoFit/>
          </a:bodyPr>
          <a:lstStyle/>
          <a:p>
            <a:pPr algn="ctr"/>
            <a:r>
              <a:rPr sz="1000" b="1" i="0">
                <a:solidFill>
                  <a:srgbClr val="0A1628"/>
                </a:solidFill>
              </a:rPr>
              <a:t>1st</a:t>
            </a:r>
          </a:p>
        </p:txBody>
      </p:sp>
      <p:sp>
        <p:nvSpPr>
          <p:cNvPr id="33" name="TextBox 32"/>
          <p:cNvSpPr txBox="1"/>
          <p:nvPr/>
        </p:nvSpPr>
        <p:spPr>
          <a:xfrm>
            <a:off x="1005840" y="3867912"/>
            <a:ext cx="2651760" cy="274320"/>
          </a:xfrm>
          <a:prstGeom prst="rect">
            <a:avLst/>
          </a:prstGeom>
          <a:noFill/>
        </p:spPr>
        <p:txBody>
          <a:bodyPr wrap="square">
            <a:spAutoFit/>
          </a:bodyPr>
          <a:lstStyle/>
          <a:p>
            <a:pPr algn="l"/>
            <a:r>
              <a:rPr sz="1000" b="1" i="0">
                <a:solidFill>
                  <a:srgbClr val="D4AF37"/>
                </a:solidFill>
              </a:rPr>
              <a:t>Comm. Services — Cluster 0</a:t>
            </a:r>
          </a:p>
        </p:txBody>
      </p:sp>
      <p:sp>
        <p:nvSpPr>
          <p:cNvPr id="34" name="TextBox 33"/>
          <p:cNvSpPr txBox="1"/>
          <p:nvPr/>
        </p:nvSpPr>
        <p:spPr>
          <a:xfrm>
            <a:off x="3703320" y="3867912"/>
            <a:ext cx="914400" cy="274320"/>
          </a:xfrm>
          <a:prstGeom prst="rect">
            <a:avLst/>
          </a:prstGeom>
          <a:noFill/>
        </p:spPr>
        <p:txBody>
          <a:bodyPr wrap="square">
            <a:spAutoFit/>
          </a:bodyPr>
          <a:lstStyle/>
          <a:p>
            <a:pPr algn="l"/>
            <a:r>
              <a:rPr sz="1000" b="0" i="0">
                <a:solidFill>
                  <a:srgbClr val="D4AF37"/>
                </a:solidFill>
              </a:rPr>
              <a:t>AUC 0.6902</a:t>
            </a:r>
          </a:p>
        </p:txBody>
      </p:sp>
      <p:sp>
        <p:nvSpPr>
          <p:cNvPr id="35" name="TextBox 34"/>
          <p:cNvSpPr txBox="1"/>
          <p:nvPr/>
        </p:nvSpPr>
        <p:spPr>
          <a:xfrm>
            <a:off x="4754880" y="3867912"/>
            <a:ext cx="777240" cy="274320"/>
          </a:xfrm>
          <a:prstGeom prst="rect">
            <a:avLst/>
          </a:prstGeom>
          <a:noFill/>
        </p:spPr>
        <p:txBody>
          <a:bodyPr wrap="square">
            <a:spAutoFit/>
          </a:bodyPr>
          <a:lstStyle/>
          <a:p>
            <a:pPr algn="l"/>
            <a:r>
              <a:rPr sz="1000" b="1" i="0">
                <a:solidFill>
                  <a:srgbClr val="2ECC71"/>
                </a:solidFill>
              </a:rPr>
              <a:t>63.9%</a:t>
            </a:r>
          </a:p>
        </p:txBody>
      </p:sp>
      <p:sp>
        <p:nvSpPr>
          <p:cNvPr id="36" name="Rectangle 35"/>
          <p:cNvSpPr/>
          <p:nvPr/>
        </p:nvSpPr>
        <p:spPr>
          <a:xfrm>
            <a:off x="548640" y="4343400"/>
            <a:ext cx="5029200" cy="5486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343400"/>
            <a:ext cx="411480" cy="54864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480560"/>
            <a:ext cx="411480" cy="274320"/>
          </a:xfrm>
          <a:prstGeom prst="rect">
            <a:avLst/>
          </a:prstGeom>
          <a:noFill/>
        </p:spPr>
        <p:txBody>
          <a:bodyPr wrap="square">
            <a:spAutoFit/>
          </a:bodyPr>
          <a:lstStyle/>
          <a:p>
            <a:pPr algn="ctr"/>
            <a:r>
              <a:rPr sz="1000" b="1" i="0">
                <a:solidFill>
                  <a:srgbClr val="8B9CB8"/>
                </a:solidFill>
              </a:rPr>
              <a:t>2nd</a:t>
            </a:r>
          </a:p>
        </p:txBody>
      </p:sp>
      <p:sp>
        <p:nvSpPr>
          <p:cNvPr id="39" name="TextBox 38"/>
          <p:cNvSpPr txBox="1"/>
          <p:nvPr/>
        </p:nvSpPr>
        <p:spPr>
          <a:xfrm>
            <a:off x="1005840" y="4480560"/>
            <a:ext cx="2651760" cy="274320"/>
          </a:xfrm>
          <a:prstGeom prst="rect">
            <a:avLst/>
          </a:prstGeom>
          <a:noFill/>
        </p:spPr>
        <p:txBody>
          <a:bodyPr wrap="square">
            <a:spAutoFit/>
          </a:bodyPr>
          <a:lstStyle/>
          <a:p>
            <a:pPr algn="l"/>
            <a:r>
              <a:rPr sz="1000" b="0" i="0">
                <a:solidFill>
                  <a:srgbClr val="FFFFFF"/>
                </a:solidFill>
              </a:rPr>
              <a:t>Comm. Services — Cluster 1</a:t>
            </a:r>
          </a:p>
        </p:txBody>
      </p:sp>
      <p:sp>
        <p:nvSpPr>
          <p:cNvPr id="40" name="TextBox 39"/>
          <p:cNvSpPr txBox="1"/>
          <p:nvPr/>
        </p:nvSpPr>
        <p:spPr>
          <a:xfrm>
            <a:off x="3703320" y="4480560"/>
            <a:ext cx="914400" cy="274320"/>
          </a:xfrm>
          <a:prstGeom prst="rect">
            <a:avLst/>
          </a:prstGeom>
          <a:noFill/>
        </p:spPr>
        <p:txBody>
          <a:bodyPr wrap="square">
            <a:spAutoFit/>
          </a:bodyPr>
          <a:lstStyle/>
          <a:p>
            <a:pPr algn="l"/>
            <a:r>
              <a:rPr sz="1000" b="0" i="0">
                <a:solidFill>
                  <a:srgbClr val="8B9CB8"/>
                </a:solidFill>
              </a:rPr>
              <a:t>AUC 0.6099</a:t>
            </a:r>
          </a:p>
        </p:txBody>
      </p:sp>
      <p:sp>
        <p:nvSpPr>
          <p:cNvPr id="41" name="TextBox 40"/>
          <p:cNvSpPr txBox="1"/>
          <p:nvPr/>
        </p:nvSpPr>
        <p:spPr>
          <a:xfrm>
            <a:off x="4754880" y="4480560"/>
            <a:ext cx="777240" cy="274320"/>
          </a:xfrm>
          <a:prstGeom prst="rect">
            <a:avLst/>
          </a:prstGeom>
          <a:noFill/>
        </p:spPr>
        <p:txBody>
          <a:bodyPr wrap="square">
            <a:spAutoFit/>
          </a:bodyPr>
          <a:lstStyle/>
          <a:p>
            <a:pPr algn="l"/>
            <a:r>
              <a:rPr sz="1000" b="0" i="0">
                <a:solidFill>
                  <a:srgbClr val="8B9CB8"/>
                </a:solidFill>
              </a:rPr>
              <a:t>58.0%</a:t>
            </a:r>
          </a:p>
        </p:txBody>
      </p:sp>
      <p:sp>
        <p:nvSpPr>
          <p:cNvPr id="42" name="Rectangle 41"/>
          <p:cNvSpPr/>
          <p:nvPr/>
        </p:nvSpPr>
        <p:spPr>
          <a:xfrm>
            <a:off x="548640" y="4956048"/>
            <a:ext cx="5029200" cy="54864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4956048"/>
            <a:ext cx="411480" cy="54864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093208"/>
            <a:ext cx="411480" cy="274320"/>
          </a:xfrm>
          <a:prstGeom prst="rect">
            <a:avLst/>
          </a:prstGeom>
          <a:noFill/>
        </p:spPr>
        <p:txBody>
          <a:bodyPr wrap="square">
            <a:spAutoFit/>
          </a:bodyPr>
          <a:lstStyle/>
          <a:p>
            <a:pPr algn="ctr"/>
            <a:r>
              <a:rPr sz="1000" b="1" i="0">
                <a:solidFill>
                  <a:srgbClr val="8B9CB8"/>
                </a:solidFill>
              </a:rPr>
              <a:t>3rd</a:t>
            </a:r>
          </a:p>
        </p:txBody>
      </p:sp>
      <p:sp>
        <p:nvSpPr>
          <p:cNvPr id="45" name="TextBox 44"/>
          <p:cNvSpPr txBox="1"/>
          <p:nvPr/>
        </p:nvSpPr>
        <p:spPr>
          <a:xfrm>
            <a:off x="1005840" y="5093208"/>
            <a:ext cx="2651760" cy="274320"/>
          </a:xfrm>
          <a:prstGeom prst="rect">
            <a:avLst/>
          </a:prstGeom>
          <a:noFill/>
        </p:spPr>
        <p:txBody>
          <a:bodyPr wrap="square">
            <a:spAutoFit/>
          </a:bodyPr>
          <a:lstStyle/>
          <a:p>
            <a:pPr algn="l"/>
            <a:r>
              <a:rPr sz="1000" b="0" i="0">
                <a:solidFill>
                  <a:srgbClr val="FFFFFF"/>
                </a:solidFill>
              </a:rPr>
              <a:t>Communication Services</a:t>
            </a:r>
          </a:p>
        </p:txBody>
      </p:sp>
      <p:sp>
        <p:nvSpPr>
          <p:cNvPr id="46" name="TextBox 45"/>
          <p:cNvSpPr txBox="1"/>
          <p:nvPr/>
        </p:nvSpPr>
        <p:spPr>
          <a:xfrm>
            <a:off x="3703320" y="5093208"/>
            <a:ext cx="914400" cy="274320"/>
          </a:xfrm>
          <a:prstGeom prst="rect">
            <a:avLst/>
          </a:prstGeom>
          <a:noFill/>
        </p:spPr>
        <p:txBody>
          <a:bodyPr wrap="square">
            <a:spAutoFit/>
          </a:bodyPr>
          <a:lstStyle/>
          <a:p>
            <a:pPr algn="l"/>
            <a:r>
              <a:rPr sz="1000" b="0" i="0">
                <a:solidFill>
                  <a:srgbClr val="8B9CB8"/>
                </a:solidFill>
              </a:rPr>
              <a:t>AUC 0.6059</a:t>
            </a:r>
          </a:p>
        </p:txBody>
      </p:sp>
      <p:sp>
        <p:nvSpPr>
          <p:cNvPr id="47" name="TextBox 46"/>
          <p:cNvSpPr txBox="1"/>
          <p:nvPr/>
        </p:nvSpPr>
        <p:spPr>
          <a:xfrm>
            <a:off x="4754880" y="5093208"/>
            <a:ext cx="777240" cy="274320"/>
          </a:xfrm>
          <a:prstGeom prst="rect">
            <a:avLst/>
          </a:prstGeom>
          <a:noFill/>
        </p:spPr>
        <p:txBody>
          <a:bodyPr wrap="square">
            <a:spAutoFit/>
          </a:bodyPr>
          <a:lstStyle/>
          <a:p>
            <a:pPr algn="l"/>
            <a:r>
              <a:rPr sz="1000" b="0" i="0">
                <a:solidFill>
                  <a:srgbClr val="8B9CB8"/>
                </a:solidFill>
              </a:rPr>
              <a:t>59.5%</a:t>
            </a:r>
          </a:p>
        </p:txBody>
      </p:sp>
      <p:sp>
        <p:nvSpPr>
          <p:cNvPr id="48" name="Rectangle 47"/>
          <p:cNvSpPr/>
          <p:nvPr/>
        </p:nvSpPr>
        <p:spPr>
          <a:xfrm>
            <a:off x="548640" y="5568696"/>
            <a:ext cx="5029200" cy="5486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 y="5568696"/>
            <a:ext cx="411480" cy="54864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5705856"/>
            <a:ext cx="411480" cy="274320"/>
          </a:xfrm>
          <a:prstGeom prst="rect">
            <a:avLst/>
          </a:prstGeom>
          <a:noFill/>
        </p:spPr>
        <p:txBody>
          <a:bodyPr wrap="square">
            <a:spAutoFit/>
          </a:bodyPr>
          <a:lstStyle/>
          <a:p>
            <a:pPr algn="ctr"/>
            <a:r>
              <a:rPr sz="1000" b="1" i="0">
                <a:solidFill>
                  <a:srgbClr val="8B9CB8"/>
                </a:solidFill>
              </a:rPr>
              <a:t>4th</a:t>
            </a:r>
          </a:p>
        </p:txBody>
      </p:sp>
      <p:sp>
        <p:nvSpPr>
          <p:cNvPr id="51" name="TextBox 50"/>
          <p:cNvSpPr txBox="1"/>
          <p:nvPr/>
        </p:nvSpPr>
        <p:spPr>
          <a:xfrm>
            <a:off x="1005840" y="5705856"/>
            <a:ext cx="2651760" cy="274320"/>
          </a:xfrm>
          <a:prstGeom prst="rect">
            <a:avLst/>
          </a:prstGeom>
          <a:noFill/>
        </p:spPr>
        <p:txBody>
          <a:bodyPr wrap="square">
            <a:spAutoFit/>
          </a:bodyPr>
          <a:lstStyle/>
          <a:p>
            <a:pPr algn="l"/>
            <a:r>
              <a:rPr sz="1000" b="0" i="0">
                <a:solidFill>
                  <a:srgbClr val="FFFFFF"/>
                </a:solidFill>
              </a:rPr>
              <a:t>Comm. Services + MktCap</a:t>
            </a:r>
          </a:p>
        </p:txBody>
      </p:sp>
      <p:sp>
        <p:nvSpPr>
          <p:cNvPr id="52" name="TextBox 51"/>
          <p:cNvSpPr txBox="1"/>
          <p:nvPr/>
        </p:nvSpPr>
        <p:spPr>
          <a:xfrm>
            <a:off x="3703320" y="5705856"/>
            <a:ext cx="914400" cy="274320"/>
          </a:xfrm>
          <a:prstGeom prst="rect">
            <a:avLst/>
          </a:prstGeom>
          <a:noFill/>
        </p:spPr>
        <p:txBody>
          <a:bodyPr wrap="square">
            <a:spAutoFit/>
          </a:bodyPr>
          <a:lstStyle/>
          <a:p>
            <a:pPr algn="l"/>
            <a:r>
              <a:rPr sz="1000" b="0" i="0">
                <a:solidFill>
                  <a:srgbClr val="8B9CB8"/>
                </a:solidFill>
              </a:rPr>
              <a:t>AUC 0.6023</a:t>
            </a:r>
          </a:p>
        </p:txBody>
      </p:sp>
      <p:sp>
        <p:nvSpPr>
          <p:cNvPr id="53" name="TextBox 52"/>
          <p:cNvSpPr txBox="1"/>
          <p:nvPr/>
        </p:nvSpPr>
        <p:spPr>
          <a:xfrm>
            <a:off x="4754880" y="5705856"/>
            <a:ext cx="777240" cy="274320"/>
          </a:xfrm>
          <a:prstGeom prst="rect">
            <a:avLst/>
          </a:prstGeom>
          <a:noFill/>
        </p:spPr>
        <p:txBody>
          <a:bodyPr wrap="square">
            <a:spAutoFit/>
          </a:bodyPr>
          <a:lstStyle/>
          <a:p>
            <a:pPr algn="l"/>
            <a:r>
              <a:rPr sz="1000" b="0" i="0">
                <a:solidFill>
                  <a:srgbClr val="8B9CB8"/>
                </a:solidFill>
              </a:rPr>
              <a:t>59.0%</a:t>
            </a:r>
          </a:p>
        </p:txBody>
      </p:sp>
      <p:sp>
        <p:nvSpPr>
          <p:cNvPr id="54" name="Rectangle 53"/>
          <p:cNvSpPr/>
          <p:nvPr/>
        </p:nvSpPr>
        <p:spPr>
          <a:xfrm>
            <a:off x="6035040" y="3200400"/>
            <a:ext cx="5669280" cy="301752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035040" y="3200400"/>
            <a:ext cx="566928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291840"/>
            <a:ext cx="5303520" cy="347472"/>
          </a:xfrm>
          <a:prstGeom prst="rect">
            <a:avLst/>
          </a:prstGeom>
          <a:noFill/>
        </p:spPr>
        <p:txBody>
          <a:bodyPr wrap="square">
            <a:spAutoFit/>
          </a:bodyPr>
          <a:lstStyle/>
          <a:p>
            <a:pPr algn="l"/>
            <a:r>
              <a:rPr sz="1300" b="1" i="0">
                <a:solidFill>
                  <a:srgbClr val="D4AF37"/>
                </a:solidFill>
              </a:rPr>
              <a:t>Why Communication Services?</a:t>
            </a:r>
          </a:p>
        </p:txBody>
      </p:sp>
      <p:sp>
        <p:nvSpPr>
          <p:cNvPr id="57" name="TextBox 56"/>
          <p:cNvSpPr txBox="1"/>
          <p:nvPr/>
        </p:nvSpPr>
        <p:spPr>
          <a:xfrm>
            <a:off x="6217920" y="3703320"/>
            <a:ext cx="5303520" cy="2423160"/>
          </a:xfrm>
          <a:prstGeom prst="rect">
            <a:avLst/>
          </a:prstGeom>
          <a:noFill/>
        </p:spPr>
        <p:txBody>
          <a:bodyPr wrap="square">
            <a:spAutoFit/>
          </a:bodyPr>
          <a:lstStyle/>
          <a:p>
            <a:pPr algn="l"/>
            <a:r>
              <a:rPr sz="1100" b="0" i="0">
                <a:solidFill>
                  <a:srgbClr val="FFFFFF"/>
                </a:solidFill>
              </a:rPr>
              <a:t>Communication Services companies — Netflix, Meta, Google, Disney — have highly distinctive financial ratio patterns that differentiate outperformers from underperformers.
Subscriber growth, content investment, and advertising revenue drive fundamental differences that are consistently captured in quarterly ratios.
Clustering further split the sector into a subscription-driven cluster (Cluster 0) and a mixed-model cluster (Cluster 1), revealing even stronger patterns within the sub-group.</a:t>
            </a:r>
          </a:p>
        </p:txBody>
      </p:sp>
      <p:sp>
        <p:nvSpPr>
          <p:cNvPr id="58" name="TextBox 57"/>
          <p:cNvSpPr txBox="1"/>
          <p:nvPr/>
        </p:nvSpPr>
        <p:spPr>
          <a:xfrm>
            <a:off x="365760" y="6446520"/>
            <a:ext cx="11430000" cy="274320"/>
          </a:xfrm>
          <a:prstGeom prst="rect">
            <a:avLst/>
          </a:prstGeom>
          <a:noFill/>
        </p:spPr>
        <p:txBody>
          <a:bodyPr wrap="square">
            <a:spAutoFit/>
          </a:bodyPr>
          <a:lstStyle/>
          <a:p>
            <a:pPr algn="l"/>
            <a:r>
              <a:rPr sz="900" b="0" i="1">
                <a:solidFill>
                  <a:srgbClr val="D4AF37"/>
                </a:solidFill>
              </a:rPr>
              <a:t>Benchmark: Ananthakumar &amp; Sarkar (2017) = 71.2% accuracy  |  Our best: 63.9%  |  AUC 0.6902 (vs. global 0.5381)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2025 Out-of-Sample Testing</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10 — True Forward-Looking Validation</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594360"/>
          </a:xfrm>
          <a:prstGeom prst="rect">
            <a:avLst/>
          </a:prstGeom>
          <a:noFill/>
        </p:spPr>
        <p:txBody>
          <a:bodyPr wrap="square">
            <a:spAutoFit/>
          </a:bodyPr>
          <a:lstStyle/>
          <a:p>
            <a:pPr algn="l"/>
            <a:r>
              <a:rPr sz="1200" b="0" i="0">
                <a:solidFill>
                  <a:srgbClr val="FFFFFF"/>
                </a:solidFill>
              </a:rPr>
              <a:t>The model was applied to data the model never saw during training — 2025 quarterly financials and returns. The model trained on Q1 2010 – Q4 2024 data was applied to predict S&amp;P 500 outperformers for all four quarters of 2025.</a:t>
            </a:r>
          </a:p>
        </p:txBody>
      </p:sp>
      <p:sp>
        <p:nvSpPr>
          <p:cNvPr id="7" name="Rectangle 6"/>
          <p:cNvSpPr/>
          <p:nvPr/>
        </p:nvSpPr>
        <p:spPr>
          <a:xfrm>
            <a:off x="320040" y="1828800"/>
            <a:ext cx="283464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828800"/>
            <a:ext cx="2834640" cy="64008"/>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938528"/>
            <a:ext cx="2560320" cy="292608"/>
          </a:xfrm>
          <a:prstGeom prst="rect">
            <a:avLst/>
          </a:prstGeom>
          <a:noFill/>
        </p:spPr>
        <p:txBody>
          <a:bodyPr wrap="square">
            <a:spAutoFit/>
          </a:bodyPr>
          <a:lstStyle/>
          <a:p>
            <a:pPr algn="l"/>
            <a:r>
              <a:rPr sz="1200" b="0" i="0">
                <a:solidFill>
                  <a:srgbClr val="8B9CB8"/>
                </a:solidFill>
              </a:rPr>
              <a:t>Q4 2024 -&gt;</a:t>
            </a:r>
          </a:p>
        </p:txBody>
      </p:sp>
      <p:sp>
        <p:nvSpPr>
          <p:cNvPr id="10" name="TextBox 9"/>
          <p:cNvSpPr txBox="1"/>
          <p:nvPr/>
        </p:nvSpPr>
        <p:spPr>
          <a:xfrm>
            <a:off x="457200" y="2231136"/>
            <a:ext cx="2560320" cy="411480"/>
          </a:xfrm>
          <a:prstGeom prst="rect">
            <a:avLst/>
          </a:prstGeom>
          <a:noFill/>
        </p:spPr>
        <p:txBody>
          <a:bodyPr wrap="square">
            <a:spAutoFit/>
          </a:bodyPr>
          <a:lstStyle/>
          <a:p>
            <a:pPr algn="l"/>
            <a:r>
              <a:rPr sz="1800" b="1" i="0">
                <a:solidFill>
                  <a:srgbClr val="FFFFFF"/>
                </a:solidFill>
              </a:rPr>
              <a:t>Q1 2025</a:t>
            </a:r>
          </a:p>
        </p:txBody>
      </p:sp>
      <p:sp>
        <p:nvSpPr>
          <p:cNvPr id="11" name="TextBox 10"/>
          <p:cNvSpPr txBox="1"/>
          <p:nvPr/>
        </p:nvSpPr>
        <p:spPr>
          <a:xfrm>
            <a:off x="457200" y="2697480"/>
            <a:ext cx="2560320" cy="292608"/>
          </a:xfrm>
          <a:prstGeom prst="rect">
            <a:avLst/>
          </a:prstGeom>
          <a:noFill/>
        </p:spPr>
        <p:txBody>
          <a:bodyPr wrap="square">
            <a:spAutoFit/>
          </a:bodyPr>
          <a:lstStyle/>
          <a:p>
            <a:pPr algn="l"/>
            <a:r>
              <a:rPr sz="1100" b="0" i="0">
                <a:solidFill>
                  <a:srgbClr val="8B9CB8"/>
                </a:solidFill>
              </a:rPr>
              <a:t>334 stocks</a:t>
            </a:r>
          </a:p>
        </p:txBody>
      </p:sp>
      <p:sp>
        <p:nvSpPr>
          <p:cNvPr id="12" name="Rectangle 11"/>
          <p:cNvSpPr/>
          <p:nvPr/>
        </p:nvSpPr>
        <p:spPr>
          <a:xfrm>
            <a:off x="457200" y="3063240"/>
            <a:ext cx="731520" cy="27432"/>
          </a:xfrm>
          <a:prstGeom prst="rect">
            <a:avLst/>
          </a:prstGeom>
          <a:solidFill>
            <a:srgbClr val="8B9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154680"/>
            <a:ext cx="2560320" cy="256032"/>
          </a:xfrm>
          <a:prstGeom prst="rect">
            <a:avLst/>
          </a:prstGeom>
          <a:noFill/>
        </p:spPr>
        <p:txBody>
          <a:bodyPr wrap="square">
            <a:spAutoFit/>
          </a:bodyPr>
          <a:lstStyle/>
          <a:p>
            <a:pPr algn="l"/>
            <a:r>
              <a:rPr sz="1000" b="0" i="0">
                <a:solidFill>
                  <a:srgbClr val="8B9CB8"/>
                </a:solidFill>
              </a:rPr>
              <a:t>Accuracy</a:t>
            </a:r>
          </a:p>
        </p:txBody>
      </p:sp>
      <p:sp>
        <p:nvSpPr>
          <p:cNvPr id="14" name="TextBox 13"/>
          <p:cNvSpPr txBox="1"/>
          <p:nvPr/>
        </p:nvSpPr>
        <p:spPr>
          <a:xfrm>
            <a:off x="457200" y="3429000"/>
            <a:ext cx="2560320" cy="640080"/>
          </a:xfrm>
          <a:prstGeom prst="rect">
            <a:avLst/>
          </a:prstGeom>
          <a:noFill/>
        </p:spPr>
        <p:txBody>
          <a:bodyPr wrap="square">
            <a:spAutoFit/>
          </a:bodyPr>
          <a:lstStyle/>
          <a:p>
            <a:pPr algn="l"/>
            <a:r>
              <a:rPr sz="3600" b="1" i="0">
                <a:solidFill>
                  <a:srgbClr val="8B9CB8"/>
                </a:solidFill>
              </a:rPr>
              <a:t>44.6%</a:t>
            </a:r>
          </a:p>
        </p:txBody>
      </p:sp>
      <p:sp>
        <p:nvSpPr>
          <p:cNvPr id="15" name="TextBox 14"/>
          <p:cNvSpPr txBox="1"/>
          <p:nvPr/>
        </p:nvSpPr>
        <p:spPr>
          <a:xfrm>
            <a:off x="457200" y="4160520"/>
            <a:ext cx="2560320" cy="822960"/>
          </a:xfrm>
          <a:prstGeom prst="rect">
            <a:avLst/>
          </a:prstGeom>
          <a:noFill/>
        </p:spPr>
        <p:txBody>
          <a:bodyPr wrap="square">
            <a:spAutoFit/>
          </a:bodyPr>
          <a:lstStyle/>
          <a:p>
            <a:pPr algn="l"/>
            <a:r>
              <a:rPr sz="1000" b="0" i="0">
                <a:solidFill>
                  <a:srgbClr val="8B9CB8"/>
                </a:solidFill>
              </a:rPr>
              <a:t>New addition — first true OOS</a:t>
            </a:r>
          </a:p>
        </p:txBody>
      </p:sp>
      <p:sp>
        <p:nvSpPr>
          <p:cNvPr id="16" name="Rectangle 15"/>
          <p:cNvSpPr/>
          <p:nvPr/>
        </p:nvSpPr>
        <p:spPr>
          <a:xfrm>
            <a:off x="3291840" y="1828800"/>
            <a:ext cx="283464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1828800"/>
            <a:ext cx="2834640"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1938528"/>
            <a:ext cx="2560320" cy="292608"/>
          </a:xfrm>
          <a:prstGeom prst="rect">
            <a:avLst/>
          </a:prstGeom>
          <a:noFill/>
        </p:spPr>
        <p:txBody>
          <a:bodyPr wrap="square">
            <a:spAutoFit/>
          </a:bodyPr>
          <a:lstStyle/>
          <a:p>
            <a:pPr algn="l"/>
            <a:r>
              <a:rPr sz="1200" b="0" i="0">
                <a:solidFill>
                  <a:srgbClr val="8B9CB8"/>
                </a:solidFill>
              </a:rPr>
              <a:t>Q1 2025 -&gt;</a:t>
            </a:r>
          </a:p>
        </p:txBody>
      </p:sp>
      <p:sp>
        <p:nvSpPr>
          <p:cNvPr id="19" name="TextBox 18"/>
          <p:cNvSpPr txBox="1"/>
          <p:nvPr/>
        </p:nvSpPr>
        <p:spPr>
          <a:xfrm>
            <a:off x="3429000" y="2231136"/>
            <a:ext cx="2560320" cy="411480"/>
          </a:xfrm>
          <a:prstGeom prst="rect">
            <a:avLst/>
          </a:prstGeom>
          <a:noFill/>
        </p:spPr>
        <p:txBody>
          <a:bodyPr wrap="square">
            <a:spAutoFit/>
          </a:bodyPr>
          <a:lstStyle/>
          <a:p>
            <a:pPr algn="l"/>
            <a:r>
              <a:rPr sz="1800" b="1" i="0">
                <a:solidFill>
                  <a:srgbClr val="FFFFFF"/>
                </a:solidFill>
              </a:rPr>
              <a:t>Q2 2025</a:t>
            </a:r>
          </a:p>
        </p:txBody>
      </p:sp>
      <p:sp>
        <p:nvSpPr>
          <p:cNvPr id="20" name="TextBox 19"/>
          <p:cNvSpPr txBox="1"/>
          <p:nvPr/>
        </p:nvSpPr>
        <p:spPr>
          <a:xfrm>
            <a:off x="3429000" y="2697480"/>
            <a:ext cx="2560320" cy="292608"/>
          </a:xfrm>
          <a:prstGeom prst="rect">
            <a:avLst/>
          </a:prstGeom>
          <a:noFill/>
        </p:spPr>
        <p:txBody>
          <a:bodyPr wrap="square">
            <a:spAutoFit/>
          </a:bodyPr>
          <a:lstStyle/>
          <a:p>
            <a:pPr algn="l"/>
            <a:r>
              <a:rPr sz="1100" b="0" i="0">
                <a:solidFill>
                  <a:srgbClr val="8B9CB8"/>
                </a:solidFill>
              </a:rPr>
              <a:t>403 stocks</a:t>
            </a:r>
          </a:p>
        </p:txBody>
      </p:sp>
      <p:sp>
        <p:nvSpPr>
          <p:cNvPr id="21" name="Rectangle 20"/>
          <p:cNvSpPr/>
          <p:nvPr/>
        </p:nvSpPr>
        <p:spPr>
          <a:xfrm>
            <a:off x="3429000" y="3063240"/>
            <a:ext cx="731520" cy="2743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3154680"/>
            <a:ext cx="2560320" cy="256032"/>
          </a:xfrm>
          <a:prstGeom prst="rect">
            <a:avLst/>
          </a:prstGeom>
          <a:noFill/>
        </p:spPr>
        <p:txBody>
          <a:bodyPr wrap="square">
            <a:spAutoFit/>
          </a:bodyPr>
          <a:lstStyle/>
          <a:p>
            <a:pPr algn="l"/>
            <a:r>
              <a:rPr sz="1000" b="0" i="0">
                <a:solidFill>
                  <a:srgbClr val="8B9CB8"/>
                </a:solidFill>
              </a:rPr>
              <a:t>Accuracy</a:t>
            </a:r>
          </a:p>
        </p:txBody>
      </p:sp>
      <p:sp>
        <p:nvSpPr>
          <p:cNvPr id="23" name="TextBox 22"/>
          <p:cNvSpPr txBox="1"/>
          <p:nvPr/>
        </p:nvSpPr>
        <p:spPr>
          <a:xfrm>
            <a:off x="3429000" y="3429000"/>
            <a:ext cx="2560320" cy="640080"/>
          </a:xfrm>
          <a:prstGeom prst="rect">
            <a:avLst/>
          </a:prstGeom>
          <a:noFill/>
        </p:spPr>
        <p:txBody>
          <a:bodyPr wrap="square">
            <a:spAutoFit/>
          </a:bodyPr>
          <a:lstStyle/>
          <a:p>
            <a:pPr algn="l"/>
            <a:r>
              <a:rPr sz="3600" b="1" i="0">
                <a:solidFill>
                  <a:srgbClr val="2ECC71"/>
                </a:solidFill>
              </a:rPr>
              <a:t>55.3%</a:t>
            </a:r>
          </a:p>
        </p:txBody>
      </p:sp>
      <p:sp>
        <p:nvSpPr>
          <p:cNvPr id="24" name="TextBox 23"/>
          <p:cNvSpPr txBox="1"/>
          <p:nvPr/>
        </p:nvSpPr>
        <p:spPr>
          <a:xfrm>
            <a:off x="3429000" y="4160520"/>
            <a:ext cx="2560320" cy="822960"/>
          </a:xfrm>
          <a:prstGeom prst="rect">
            <a:avLst/>
          </a:prstGeom>
          <a:noFill/>
        </p:spPr>
        <p:txBody>
          <a:bodyPr wrap="square">
            <a:spAutoFit/>
          </a:bodyPr>
          <a:lstStyle/>
          <a:p>
            <a:pPr algn="l"/>
            <a:r>
              <a:rPr sz="1000" b="0" i="0">
                <a:solidFill>
                  <a:srgbClr val="8B9CB8"/>
                </a:solidFill>
              </a:rPr>
              <a:t>SPY +10.6% (strong market)</a:t>
            </a:r>
          </a:p>
        </p:txBody>
      </p:sp>
      <p:sp>
        <p:nvSpPr>
          <p:cNvPr id="25" name="Rectangle 24"/>
          <p:cNvSpPr/>
          <p:nvPr/>
        </p:nvSpPr>
        <p:spPr>
          <a:xfrm>
            <a:off x="6263640" y="1828800"/>
            <a:ext cx="283464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1828800"/>
            <a:ext cx="2834640"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1938528"/>
            <a:ext cx="2560320" cy="292608"/>
          </a:xfrm>
          <a:prstGeom prst="rect">
            <a:avLst/>
          </a:prstGeom>
          <a:noFill/>
        </p:spPr>
        <p:txBody>
          <a:bodyPr wrap="square">
            <a:spAutoFit/>
          </a:bodyPr>
          <a:lstStyle/>
          <a:p>
            <a:pPr algn="l"/>
            <a:r>
              <a:rPr sz="1200" b="0" i="0">
                <a:solidFill>
                  <a:srgbClr val="8B9CB8"/>
                </a:solidFill>
              </a:rPr>
              <a:t>Q2 2025 -&gt;</a:t>
            </a:r>
          </a:p>
        </p:txBody>
      </p:sp>
      <p:sp>
        <p:nvSpPr>
          <p:cNvPr id="28" name="TextBox 27"/>
          <p:cNvSpPr txBox="1"/>
          <p:nvPr/>
        </p:nvSpPr>
        <p:spPr>
          <a:xfrm>
            <a:off x="6400800" y="2231136"/>
            <a:ext cx="2560320" cy="411480"/>
          </a:xfrm>
          <a:prstGeom prst="rect">
            <a:avLst/>
          </a:prstGeom>
          <a:noFill/>
        </p:spPr>
        <p:txBody>
          <a:bodyPr wrap="square">
            <a:spAutoFit/>
          </a:bodyPr>
          <a:lstStyle/>
          <a:p>
            <a:pPr algn="l"/>
            <a:r>
              <a:rPr sz="1800" b="1" i="0">
                <a:solidFill>
                  <a:srgbClr val="FFFFFF"/>
                </a:solidFill>
              </a:rPr>
              <a:t>Q3 2025</a:t>
            </a:r>
          </a:p>
        </p:txBody>
      </p:sp>
      <p:sp>
        <p:nvSpPr>
          <p:cNvPr id="29" name="TextBox 28"/>
          <p:cNvSpPr txBox="1"/>
          <p:nvPr/>
        </p:nvSpPr>
        <p:spPr>
          <a:xfrm>
            <a:off x="6400800" y="2697480"/>
            <a:ext cx="2560320" cy="292608"/>
          </a:xfrm>
          <a:prstGeom prst="rect">
            <a:avLst/>
          </a:prstGeom>
          <a:noFill/>
        </p:spPr>
        <p:txBody>
          <a:bodyPr wrap="square">
            <a:spAutoFit/>
          </a:bodyPr>
          <a:lstStyle/>
          <a:p>
            <a:pPr algn="l"/>
            <a:r>
              <a:rPr sz="1100" b="0" i="0">
                <a:solidFill>
                  <a:srgbClr val="8B9CB8"/>
                </a:solidFill>
              </a:rPr>
              <a:t>409 stocks</a:t>
            </a:r>
          </a:p>
        </p:txBody>
      </p:sp>
      <p:sp>
        <p:nvSpPr>
          <p:cNvPr id="30" name="Rectangle 29"/>
          <p:cNvSpPr/>
          <p:nvPr/>
        </p:nvSpPr>
        <p:spPr>
          <a:xfrm>
            <a:off x="6400800" y="3063240"/>
            <a:ext cx="731520" cy="2743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54680"/>
            <a:ext cx="2560320" cy="256032"/>
          </a:xfrm>
          <a:prstGeom prst="rect">
            <a:avLst/>
          </a:prstGeom>
          <a:noFill/>
        </p:spPr>
        <p:txBody>
          <a:bodyPr wrap="square">
            <a:spAutoFit/>
          </a:bodyPr>
          <a:lstStyle/>
          <a:p>
            <a:pPr algn="l"/>
            <a:r>
              <a:rPr sz="1000" b="0" i="0">
                <a:solidFill>
                  <a:srgbClr val="8B9CB8"/>
                </a:solidFill>
              </a:rPr>
              <a:t>Accuracy</a:t>
            </a:r>
          </a:p>
        </p:txBody>
      </p:sp>
      <p:sp>
        <p:nvSpPr>
          <p:cNvPr id="32" name="TextBox 31"/>
          <p:cNvSpPr txBox="1"/>
          <p:nvPr/>
        </p:nvSpPr>
        <p:spPr>
          <a:xfrm>
            <a:off x="6400800" y="3429000"/>
            <a:ext cx="2560320" cy="640080"/>
          </a:xfrm>
          <a:prstGeom prst="rect">
            <a:avLst/>
          </a:prstGeom>
          <a:noFill/>
        </p:spPr>
        <p:txBody>
          <a:bodyPr wrap="square">
            <a:spAutoFit/>
          </a:bodyPr>
          <a:lstStyle/>
          <a:p>
            <a:pPr algn="l"/>
            <a:r>
              <a:rPr sz="3600" b="1" i="0">
                <a:solidFill>
                  <a:srgbClr val="2ECC71"/>
                </a:solidFill>
              </a:rPr>
              <a:t>56.2%</a:t>
            </a:r>
          </a:p>
        </p:txBody>
      </p:sp>
      <p:sp>
        <p:nvSpPr>
          <p:cNvPr id="33" name="TextBox 32"/>
          <p:cNvSpPr txBox="1"/>
          <p:nvPr/>
        </p:nvSpPr>
        <p:spPr>
          <a:xfrm>
            <a:off x="6400800" y="4160520"/>
            <a:ext cx="2560320" cy="822960"/>
          </a:xfrm>
          <a:prstGeom prst="rect">
            <a:avLst/>
          </a:prstGeom>
          <a:noFill/>
        </p:spPr>
        <p:txBody>
          <a:bodyPr wrap="square">
            <a:spAutoFit/>
          </a:bodyPr>
          <a:lstStyle/>
          <a:p>
            <a:pPr algn="l"/>
            <a:r>
              <a:rPr sz="1000" b="0" i="0">
                <a:solidFill>
                  <a:srgbClr val="8B9CB8"/>
                </a:solidFill>
              </a:rPr>
              <a:t>Largest 2025 sample</a:t>
            </a:r>
          </a:p>
        </p:txBody>
      </p:sp>
      <p:sp>
        <p:nvSpPr>
          <p:cNvPr id="34" name="Rectangle 33"/>
          <p:cNvSpPr/>
          <p:nvPr/>
        </p:nvSpPr>
        <p:spPr>
          <a:xfrm>
            <a:off x="9235440" y="1828800"/>
            <a:ext cx="2834640" cy="42062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35440" y="1828800"/>
            <a:ext cx="2834640"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1938528"/>
            <a:ext cx="2560320" cy="292608"/>
          </a:xfrm>
          <a:prstGeom prst="rect">
            <a:avLst/>
          </a:prstGeom>
          <a:noFill/>
        </p:spPr>
        <p:txBody>
          <a:bodyPr wrap="square">
            <a:spAutoFit/>
          </a:bodyPr>
          <a:lstStyle/>
          <a:p>
            <a:pPr algn="l"/>
            <a:r>
              <a:rPr sz="1200" b="0" i="0">
                <a:solidFill>
                  <a:srgbClr val="8B9CB8"/>
                </a:solidFill>
              </a:rPr>
              <a:t>Q3 2025 -&gt;</a:t>
            </a:r>
          </a:p>
        </p:txBody>
      </p:sp>
      <p:sp>
        <p:nvSpPr>
          <p:cNvPr id="37" name="TextBox 36"/>
          <p:cNvSpPr txBox="1"/>
          <p:nvPr/>
        </p:nvSpPr>
        <p:spPr>
          <a:xfrm>
            <a:off x="9372600" y="2231136"/>
            <a:ext cx="2560320" cy="411480"/>
          </a:xfrm>
          <a:prstGeom prst="rect">
            <a:avLst/>
          </a:prstGeom>
          <a:noFill/>
        </p:spPr>
        <p:txBody>
          <a:bodyPr wrap="square">
            <a:spAutoFit/>
          </a:bodyPr>
          <a:lstStyle/>
          <a:p>
            <a:pPr algn="l"/>
            <a:r>
              <a:rPr sz="1800" b="1" i="0">
                <a:solidFill>
                  <a:srgbClr val="FFFFFF"/>
                </a:solidFill>
              </a:rPr>
              <a:t>Q4 2025</a:t>
            </a:r>
          </a:p>
        </p:txBody>
      </p:sp>
      <p:sp>
        <p:nvSpPr>
          <p:cNvPr id="38" name="TextBox 37"/>
          <p:cNvSpPr txBox="1"/>
          <p:nvPr/>
        </p:nvSpPr>
        <p:spPr>
          <a:xfrm>
            <a:off x="9372600" y="2697480"/>
            <a:ext cx="2560320" cy="292608"/>
          </a:xfrm>
          <a:prstGeom prst="rect">
            <a:avLst/>
          </a:prstGeom>
          <a:noFill/>
        </p:spPr>
        <p:txBody>
          <a:bodyPr wrap="square">
            <a:spAutoFit/>
          </a:bodyPr>
          <a:lstStyle/>
          <a:p>
            <a:pPr algn="l"/>
            <a:r>
              <a:rPr sz="1100" b="0" i="0">
                <a:solidFill>
                  <a:srgbClr val="8B9CB8"/>
                </a:solidFill>
              </a:rPr>
              <a:t>73 stocks</a:t>
            </a:r>
          </a:p>
        </p:txBody>
      </p:sp>
      <p:sp>
        <p:nvSpPr>
          <p:cNvPr id="39" name="Rectangle 38"/>
          <p:cNvSpPr/>
          <p:nvPr/>
        </p:nvSpPr>
        <p:spPr>
          <a:xfrm>
            <a:off x="9372600" y="3063240"/>
            <a:ext cx="731520" cy="2743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72600" y="3154680"/>
            <a:ext cx="2560320" cy="256032"/>
          </a:xfrm>
          <a:prstGeom prst="rect">
            <a:avLst/>
          </a:prstGeom>
          <a:noFill/>
        </p:spPr>
        <p:txBody>
          <a:bodyPr wrap="square">
            <a:spAutoFit/>
          </a:bodyPr>
          <a:lstStyle/>
          <a:p>
            <a:pPr algn="l"/>
            <a:r>
              <a:rPr sz="1000" b="0" i="0">
                <a:solidFill>
                  <a:srgbClr val="8B9CB8"/>
                </a:solidFill>
              </a:rPr>
              <a:t>Accuracy</a:t>
            </a:r>
          </a:p>
        </p:txBody>
      </p:sp>
      <p:sp>
        <p:nvSpPr>
          <p:cNvPr id="41" name="TextBox 40"/>
          <p:cNvSpPr txBox="1"/>
          <p:nvPr/>
        </p:nvSpPr>
        <p:spPr>
          <a:xfrm>
            <a:off x="9372600" y="3429000"/>
            <a:ext cx="2560320" cy="640080"/>
          </a:xfrm>
          <a:prstGeom prst="rect">
            <a:avLst/>
          </a:prstGeom>
          <a:noFill/>
        </p:spPr>
        <p:txBody>
          <a:bodyPr wrap="square">
            <a:spAutoFit/>
          </a:bodyPr>
          <a:lstStyle/>
          <a:p>
            <a:pPr algn="l"/>
            <a:r>
              <a:rPr sz="3600" b="1" i="0">
                <a:solidFill>
                  <a:srgbClr val="2ECC71"/>
                </a:solidFill>
              </a:rPr>
              <a:t>57.5%</a:t>
            </a:r>
          </a:p>
        </p:txBody>
      </p:sp>
      <p:sp>
        <p:nvSpPr>
          <p:cNvPr id="42" name="TextBox 41"/>
          <p:cNvSpPr txBox="1"/>
          <p:nvPr/>
        </p:nvSpPr>
        <p:spPr>
          <a:xfrm>
            <a:off x="9372600" y="4160520"/>
            <a:ext cx="2560320" cy="822960"/>
          </a:xfrm>
          <a:prstGeom prst="rect">
            <a:avLst/>
          </a:prstGeom>
          <a:noFill/>
        </p:spPr>
        <p:txBody>
          <a:bodyPr wrap="square">
            <a:spAutoFit/>
          </a:bodyPr>
          <a:lstStyle/>
          <a:p>
            <a:pPr algn="l"/>
            <a:r>
              <a:rPr sz="1000" b="0" i="0">
                <a:solidFill>
                  <a:srgbClr val="8B9CB8"/>
                </a:solidFill>
              </a:rPr>
              <a:t>Partial: early filers only</a:t>
            </a:r>
          </a:p>
        </p:txBody>
      </p:sp>
      <p:sp>
        <p:nvSpPr>
          <p:cNvPr id="43" name="Rectangle 42"/>
          <p:cNvSpPr/>
          <p:nvPr/>
        </p:nvSpPr>
        <p:spPr>
          <a:xfrm>
            <a:off x="365760" y="6172200"/>
            <a:ext cx="11430000" cy="59436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5760" y="6172200"/>
            <a:ext cx="114300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6263640"/>
            <a:ext cx="11064240" cy="457200"/>
          </a:xfrm>
          <a:prstGeom prst="rect">
            <a:avLst/>
          </a:prstGeom>
          <a:noFill/>
        </p:spPr>
        <p:txBody>
          <a:bodyPr wrap="square">
            <a:spAutoFit/>
          </a:bodyPr>
          <a:lstStyle/>
          <a:p>
            <a:pPr algn="l"/>
            <a:r>
              <a:rPr sz="1000" b="0" i="1">
                <a:solidFill>
                  <a:srgbClr val="8B9CB8"/>
                </a:solidFill>
              </a:rPr>
              <a:t>Note: Q4 2025 has only 73 stocks because Q3 2025 financial reports were not fully filed at the time of data extraction (October 2025). Early filers tend to be larger, well-governed companies — results for this quarter should be interpreted cautiously.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2025 Portfolio vs S&amp;P 500</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10 — $10,000 Simulated Portfolio</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594360"/>
          </a:xfrm>
          <a:prstGeom prst="rect">
            <a:avLst/>
          </a:prstGeom>
          <a:noFill/>
        </p:spPr>
        <p:txBody>
          <a:bodyPr wrap="square">
            <a:spAutoFit/>
          </a:bodyPr>
          <a:lstStyle/>
          <a:p>
            <a:pPr algn="l"/>
            <a:r>
              <a:rPr sz="1200" b="0" i="0">
                <a:solidFill>
                  <a:srgbClr val="FFFFFF"/>
                </a:solidFill>
              </a:rPr>
              <a:t>Using predicted outperformers, a $10,000 portfolio was constructed each quarter — allocated proportionally by market capitalization across all stocks predicted to outperform. Performance compared against the same $10,000 invested in SPY (S&amp;P 500 ETF).</a:t>
            </a:r>
          </a:p>
        </p:txBody>
      </p:sp>
      <p:sp>
        <p:nvSpPr>
          <p:cNvPr id="7" name="Rectangle 6"/>
          <p:cNvSpPr/>
          <p:nvPr/>
        </p:nvSpPr>
        <p:spPr>
          <a:xfrm>
            <a:off x="365760" y="1828800"/>
            <a:ext cx="11430000" cy="36576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92807"/>
            <a:ext cx="1645920" cy="256032"/>
          </a:xfrm>
          <a:prstGeom prst="rect">
            <a:avLst/>
          </a:prstGeom>
          <a:noFill/>
        </p:spPr>
        <p:txBody>
          <a:bodyPr wrap="square">
            <a:spAutoFit/>
          </a:bodyPr>
          <a:lstStyle/>
          <a:p>
            <a:pPr algn="l"/>
            <a:r>
              <a:rPr sz="1000" b="1" i="0">
                <a:solidFill>
                  <a:srgbClr val="8B9CB8"/>
                </a:solidFill>
              </a:rPr>
              <a:t>Quarter</a:t>
            </a:r>
          </a:p>
        </p:txBody>
      </p:sp>
      <p:sp>
        <p:nvSpPr>
          <p:cNvPr id="9" name="TextBox 8"/>
          <p:cNvSpPr txBox="1"/>
          <p:nvPr/>
        </p:nvSpPr>
        <p:spPr>
          <a:xfrm>
            <a:off x="1920240" y="1892807"/>
            <a:ext cx="1645920" cy="256032"/>
          </a:xfrm>
          <a:prstGeom prst="rect">
            <a:avLst/>
          </a:prstGeom>
          <a:noFill/>
        </p:spPr>
        <p:txBody>
          <a:bodyPr wrap="square">
            <a:spAutoFit/>
          </a:bodyPr>
          <a:lstStyle/>
          <a:p>
            <a:pPr algn="l"/>
            <a:r>
              <a:rPr sz="1000" b="1" i="0">
                <a:solidFill>
                  <a:srgbClr val="8B9CB8"/>
                </a:solidFill>
              </a:rPr>
              <a:t>Stocks</a:t>
            </a:r>
          </a:p>
        </p:txBody>
      </p:sp>
      <p:sp>
        <p:nvSpPr>
          <p:cNvPr id="10" name="TextBox 9"/>
          <p:cNvSpPr txBox="1"/>
          <p:nvPr/>
        </p:nvSpPr>
        <p:spPr>
          <a:xfrm>
            <a:off x="2926080" y="1892807"/>
            <a:ext cx="1645920" cy="256032"/>
          </a:xfrm>
          <a:prstGeom prst="rect">
            <a:avLst/>
          </a:prstGeom>
          <a:noFill/>
        </p:spPr>
        <p:txBody>
          <a:bodyPr wrap="square">
            <a:spAutoFit/>
          </a:bodyPr>
          <a:lstStyle/>
          <a:p>
            <a:pPr algn="l"/>
            <a:r>
              <a:rPr sz="1000" b="1" i="0">
                <a:solidFill>
                  <a:srgbClr val="8B9CB8"/>
                </a:solidFill>
              </a:rPr>
              <a:t>Pred. Outperformers</a:t>
            </a:r>
          </a:p>
        </p:txBody>
      </p:sp>
      <p:sp>
        <p:nvSpPr>
          <p:cNvPr id="11" name="TextBox 10"/>
          <p:cNvSpPr txBox="1"/>
          <p:nvPr/>
        </p:nvSpPr>
        <p:spPr>
          <a:xfrm>
            <a:off x="4754880" y="1892807"/>
            <a:ext cx="1645920" cy="256032"/>
          </a:xfrm>
          <a:prstGeom prst="rect">
            <a:avLst/>
          </a:prstGeom>
          <a:noFill/>
        </p:spPr>
        <p:txBody>
          <a:bodyPr wrap="square">
            <a:spAutoFit/>
          </a:bodyPr>
          <a:lstStyle/>
          <a:p>
            <a:pPr algn="l"/>
            <a:r>
              <a:rPr sz="1000" b="1" i="0">
                <a:solidFill>
                  <a:srgbClr val="8B9CB8"/>
                </a:solidFill>
              </a:rPr>
              <a:t>Model Return</a:t>
            </a:r>
          </a:p>
        </p:txBody>
      </p:sp>
      <p:sp>
        <p:nvSpPr>
          <p:cNvPr id="12" name="TextBox 11"/>
          <p:cNvSpPr txBox="1"/>
          <p:nvPr/>
        </p:nvSpPr>
        <p:spPr>
          <a:xfrm>
            <a:off x="6583680" y="1892807"/>
            <a:ext cx="1645920" cy="256032"/>
          </a:xfrm>
          <a:prstGeom prst="rect">
            <a:avLst/>
          </a:prstGeom>
          <a:noFill/>
        </p:spPr>
        <p:txBody>
          <a:bodyPr wrap="square">
            <a:spAutoFit/>
          </a:bodyPr>
          <a:lstStyle/>
          <a:p>
            <a:pPr algn="l"/>
            <a:r>
              <a:rPr sz="1000" b="1" i="0">
                <a:solidFill>
                  <a:srgbClr val="8B9CB8"/>
                </a:solidFill>
              </a:rPr>
              <a:t>SPY Return</a:t>
            </a:r>
          </a:p>
        </p:txBody>
      </p:sp>
      <p:sp>
        <p:nvSpPr>
          <p:cNvPr id="13" name="TextBox 12"/>
          <p:cNvSpPr txBox="1"/>
          <p:nvPr/>
        </p:nvSpPr>
        <p:spPr>
          <a:xfrm>
            <a:off x="8321040" y="1892807"/>
            <a:ext cx="1645920" cy="256032"/>
          </a:xfrm>
          <a:prstGeom prst="rect">
            <a:avLst/>
          </a:prstGeom>
          <a:noFill/>
        </p:spPr>
        <p:txBody>
          <a:bodyPr wrap="square">
            <a:spAutoFit/>
          </a:bodyPr>
          <a:lstStyle/>
          <a:p>
            <a:pPr algn="l"/>
            <a:r>
              <a:rPr sz="1000" b="1" i="0">
                <a:solidFill>
                  <a:srgbClr val="8B9CB8"/>
                </a:solidFill>
              </a:rPr>
              <a:t>Alpha</a:t>
            </a:r>
          </a:p>
        </p:txBody>
      </p:sp>
      <p:sp>
        <p:nvSpPr>
          <p:cNvPr id="14" name="TextBox 13"/>
          <p:cNvSpPr txBox="1"/>
          <p:nvPr/>
        </p:nvSpPr>
        <p:spPr>
          <a:xfrm>
            <a:off x="10058400" y="1892807"/>
            <a:ext cx="1645920" cy="256032"/>
          </a:xfrm>
          <a:prstGeom prst="rect">
            <a:avLst/>
          </a:prstGeom>
          <a:noFill/>
        </p:spPr>
        <p:txBody>
          <a:bodyPr wrap="square">
            <a:spAutoFit/>
          </a:bodyPr>
          <a:lstStyle/>
          <a:p>
            <a:pPr algn="l"/>
            <a:r>
              <a:rPr sz="1000" b="1" i="0">
                <a:solidFill>
                  <a:srgbClr val="8B9CB8"/>
                </a:solidFill>
              </a:rPr>
              <a:t>Beat SPY</a:t>
            </a:r>
          </a:p>
        </p:txBody>
      </p:sp>
      <p:sp>
        <p:nvSpPr>
          <p:cNvPr id="15" name="Rectangle 14"/>
          <p:cNvSpPr/>
          <p:nvPr/>
        </p:nvSpPr>
        <p:spPr>
          <a:xfrm>
            <a:off x="365760" y="2286000"/>
            <a:ext cx="11430000" cy="9144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578608"/>
            <a:ext cx="1645920" cy="347472"/>
          </a:xfrm>
          <a:prstGeom prst="rect">
            <a:avLst/>
          </a:prstGeom>
          <a:noFill/>
        </p:spPr>
        <p:txBody>
          <a:bodyPr wrap="square">
            <a:spAutoFit/>
          </a:bodyPr>
          <a:lstStyle/>
          <a:p>
            <a:pPr algn="l"/>
            <a:r>
              <a:rPr sz="1400" b="1" i="0">
                <a:solidFill>
                  <a:srgbClr val="FFFFFF"/>
                </a:solidFill>
              </a:rPr>
              <a:t>Q2 2025</a:t>
            </a:r>
          </a:p>
        </p:txBody>
      </p:sp>
      <p:sp>
        <p:nvSpPr>
          <p:cNvPr id="17" name="TextBox 16"/>
          <p:cNvSpPr txBox="1"/>
          <p:nvPr/>
        </p:nvSpPr>
        <p:spPr>
          <a:xfrm>
            <a:off x="1920240" y="2578608"/>
            <a:ext cx="1645920" cy="347472"/>
          </a:xfrm>
          <a:prstGeom prst="rect">
            <a:avLst/>
          </a:prstGeom>
          <a:noFill/>
        </p:spPr>
        <p:txBody>
          <a:bodyPr wrap="square">
            <a:spAutoFit/>
          </a:bodyPr>
          <a:lstStyle/>
          <a:p>
            <a:pPr algn="l"/>
            <a:r>
              <a:rPr sz="1400" b="0" i="0">
                <a:solidFill>
                  <a:srgbClr val="8B9CB8"/>
                </a:solidFill>
              </a:rPr>
              <a:t>403</a:t>
            </a:r>
          </a:p>
        </p:txBody>
      </p:sp>
      <p:sp>
        <p:nvSpPr>
          <p:cNvPr id="18" name="TextBox 17"/>
          <p:cNvSpPr txBox="1"/>
          <p:nvPr/>
        </p:nvSpPr>
        <p:spPr>
          <a:xfrm>
            <a:off x="2926080" y="2578608"/>
            <a:ext cx="1645920" cy="347472"/>
          </a:xfrm>
          <a:prstGeom prst="rect">
            <a:avLst/>
          </a:prstGeom>
          <a:noFill/>
        </p:spPr>
        <p:txBody>
          <a:bodyPr wrap="square">
            <a:spAutoFit/>
          </a:bodyPr>
          <a:lstStyle/>
          <a:p>
            <a:pPr algn="l"/>
            <a:r>
              <a:rPr sz="1400" b="0" i="0">
                <a:solidFill>
                  <a:srgbClr val="4A9EFF"/>
                </a:solidFill>
              </a:rPr>
              <a:t>172</a:t>
            </a:r>
          </a:p>
        </p:txBody>
      </p:sp>
      <p:sp>
        <p:nvSpPr>
          <p:cNvPr id="19" name="TextBox 18"/>
          <p:cNvSpPr txBox="1"/>
          <p:nvPr/>
        </p:nvSpPr>
        <p:spPr>
          <a:xfrm>
            <a:off x="4754880" y="2578608"/>
            <a:ext cx="1645920" cy="347472"/>
          </a:xfrm>
          <a:prstGeom prst="rect">
            <a:avLst/>
          </a:prstGeom>
          <a:noFill/>
        </p:spPr>
        <p:txBody>
          <a:bodyPr wrap="square">
            <a:spAutoFit/>
          </a:bodyPr>
          <a:lstStyle/>
          <a:p>
            <a:pPr algn="l"/>
            <a:r>
              <a:rPr sz="1400" b="1" i="0">
                <a:solidFill>
                  <a:srgbClr val="D4AF37"/>
                </a:solidFill>
              </a:rPr>
              <a:t>+6.39%</a:t>
            </a:r>
          </a:p>
        </p:txBody>
      </p:sp>
      <p:sp>
        <p:nvSpPr>
          <p:cNvPr id="20" name="TextBox 19"/>
          <p:cNvSpPr txBox="1"/>
          <p:nvPr/>
        </p:nvSpPr>
        <p:spPr>
          <a:xfrm>
            <a:off x="6583680" y="2578608"/>
            <a:ext cx="1645920" cy="347472"/>
          </a:xfrm>
          <a:prstGeom prst="rect">
            <a:avLst/>
          </a:prstGeom>
          <a:noFill/>
        </p:spPr>
        <p:txBody>
          <a:bodyPr wrap="square">
            <a:spAutoFit/>
          </a:bodyPr>
          <a:lstStyle/>
          <a:p>
            <a:pPr algn="l"/>
            <a:r>
              <a:rPr sz="1400" b="1" i="0">
                <a:solidFill>
                  <a:srgbClr val="FFFFFF"/>
                </a:solidFill>
              </a:rPr>
              <a:t>+10.57%</a:t>
            </a:r>
          </a:p>
        </p:txBody>
      </p:sp>
      <p:sp>
        <p:nvSpPr>
          <p:cNvPr id="21" name="TextBox 20"/>
          <p:cNvSpPr txBox="1"/>
          <p:nvPr/>
        </p:nvSpPr>
        <p:spPr>
          <a:xfrm>
            <a:off x="8321040" y="2578608"/>
            <a:ext cx="1645920" cy="347472"/>
          </a:xfrm>
          <a:prstGeom prst="rect">
            <a:avLst/>
          </a:prstGeom>
          <a:noFill/>
        </p:spPr>
        <p:txBody>
          <a:bodyPr wrap="square">
            <a:spAutoFit/>
          </a:bodyPr>
          <a:lstStyle/>
          <a:p>
            <a:pPr algn="l"/>
            <a:r>
              <a:rPr sz="1400" b="1" i="0">
                <a:solidFill>
                  <a:srgbClr val="E74C3C"/>
                </a:solidFill>
              </a:rPr>
              <a:t>-4.18%</a:t>
            </a:r>
          </a:p>
        </p:txBody>
      </p:sp>
      <p:sp>
        <p:nvSpPr>
          <p:cNvPr id="22" name="TextBox 21"/>
          <p:cNvSpPr txBox="1"/>
          <p:nvPr/>
        </p:nvSpPr>
        <p:spPr>
          <a:xfrm>
            <a:off x="10058400" y="2578608"/>
            <a:ext cx="1188720" cy="347472"/>
          </a:xfrm>
          <a:prstGeom prst="rect">
            <a:avLst/>
          </a:prstGeom>
          <a:noFill/>
        </p:spPr>
        <p:txBody>
          <a:bodyPr wrap="square">
            <a:spAutoFit/>
          </a:bodyPr>
          <a:lstStyle/>
          <a:p>
            <a:pPr algn="l"/>
            <a:r>
              <a:rPr sz="1400" b="1" i="0">
                <a:solidFill>
                  <a:srgbClr val="E74C3C"/>
                </a:solidFill>
              </a:rPr>
              <a:t>NO</a:t>
            </a:r>
          </a:p>
        </p:txBody>
      </p:sp>
      <p:sp>
        <p:nvSpPr>
          <p:cNvPr id="23" name="Rectangle 22"/>
          <p:cNvSpPr/>
          <p:nvPr/>
        </p:nvSpPr>
        <p:spPr>
          <a:xfrm>
            <a:off x="365760" y="3291840"/>
            <a:ext cx="11430000" cy="9144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584448"/>
            <a:ext cx="1645920" cy="347472"/>
          </a:xfrm>
          <a:prstGeom prst="rect">
            <a:avLst/>
          </a:prstGeom>
          <a:noFill/>
        </p:spPr>
        <p:txBody>
          <a:bodyPr wrap="square">
            <a:spAutoFit/>
          </a:bodyPr>
          <a:lstStyle/>
          <a:p>
            <a:pPr algn="l"/>
            <a:r>
              <a:rPr sz="1400" b="1" i="0">
                <a:solidFill>
                  <a:srgbClr val="FFFFFF"/>
                </a:solidFill>
              </a:rPr>
              <a:t>Q3 2025</a:t>
            </a:r>
          </a:p>
        </p:txBody>
      </p:sp>
      <p:sp>
        <p:nvSpPr>
          <p:cNvPr id="25" name="TextBox 24"/>
          <p:cNvSpPr txBox="1"/>
          <p:nvPr/>
        </p:nvSpPr>
        <p:spPr>
          <a:xfrm>
            <a:off x="1920240" y="3584448"/>
            <a:ext cx="1645920" cy="347472"/>
          </a:xfrm>
          <a:prstGeom prst="rect">
            <a:avLst/>
          </a:prstGeom>
          <a:noFill/>
        </p:spPr>
        <p:txBody>
          <a:bodyPr wrap="square">
            <a:spAutoFit/>
          </a:bodyPr>
          <a:lstStyle/>
          <a:p>
            <a:pPr algn="l"/>
            <a:r>
              <a:rPr sz="1400" b="0" i="0">
                <a:solidFill>
                  <a:srgbClr val="8B9CB8"/>
                </a:solidFill>
              </a:rPr>
              <a:t>391</a:t>
            </a:r>
          </a:p>
        </p:txBody>
      </p:sp>
      <p:sp>
        <p:nvSpPr>
          <p:cNvPr id="26" name="TextBox 25"/>
          <p:cNvSpPr txBox="1"/>
          <p:nvPr/>
        </p:nvSpPr>
        <p:spPr>
          <a:xfrm>
            <a:off x="2926080" y="3584448"/>
            <a:ext cx="1645920" cy="347472"/>
          </a:xfrm>
          <a:prstGeom prst="rect">
            <a:avLst/>
          </a:prstGeom>
          <a:noFill/>
        </p:spPr>
        <p:txBody>
          <a:bodyPr wrap="square">
            <a:spAutoFit/>
          </a:bodyPr>
          <a:lstStyle/>
          <a:p>
            <a:pPr algn="l"/>
            <a:r>
              <a:rPr sz="1400" b="0" i="0">
                <a:solidFill>
                  <a:srgbClr val="4A9EFF"/>
                </a:solidFill>
              </a:rPr>
              <a:t>211</a:t>
            </a:r>
          </a:p>
        </p:txBody>
      </p:sp>
      <p:sp>
        <p:nvSpPr>
          <p:cNvPr id="27" name="TextBox 26"/>
          <p:cNvSpPr txBox="1"/>
          <p:nvPr/>
        </p:nvSpPr>
        <p:spPr>
          <a:xfrm>
            <a:off x="4754880" y="3584448"/>
            <a:ext cx="1645920" cy="347472"/>
          </a:xfrm>
          <a:prstGeom prst="rect">
            <a:avLst/>
          </a:prstGeom>
          <a:noFill/>
        </p:spPr>
        <p:txBody>
          <a:bodyPr wrap="square">
            <a:spAutoFit/>
          </a:bodyPr>
          <a:lstStyle/>
          <a:p>
            <a:pPr algn="l"/>
            <a:r>
              <a:rPr sz="1400" b="1" i="0">
                <a:solidFill>
                  <a:srgbClr val="D4AF37"/>
                </a:solidFill>
              </a:rPr>
              <a:t>+6.74%</a:t>
            </a:r>
          </a:p>
        </p:txBody>
      </p:sp>
      <p:sp>
        <p:nvSpPr>
          <p:cNvPr id="28" name="TextBox 27"/>
          <p:cNvSpPr txBox="1"/>
          <p:nvPr/>
        </p:nvSpPr>
        <p:spPr>
          <a:xfrm>
            <a:off x="6583680" y="3584448"/>
            <a:ext cx="1645920" cy="347472"/>
          </a:xfrm>
          <a:prstGeom prst="rect">
            <a:avLst/>
          </a:prstGeom>
          <a:noFill/>
        </p:spPr>
        <p:txBody>
          <a:bodyPr wrap="square">
            <a:spAutoFit/>
          </a:bodyPr>
          <a:lstStyle/>
          <a:p>
            <a:pPr algn="l"/>
            <a:r>
              <a:rPr sz="1400" b="1" i="0">
                <a:solidFill>
                  <a:srgbClr val="FFFFFF"/>
                </a:solidFill>
              </a:rPr>
              <a:t>+7.79%</a:t>
            </a:r>
          </a:p>
        </p:txBody>
      </p:sp>
      <p:sp>
        <p:nvSpPr>
          <p:cNvPr id="29" name="TextBox 28"/>
          <p:cNvSpPr txBox="1"/>
          <p:nvPr/>
        </p:nvSpPr>
        <p:spPr>
          <a:xfrm>
            <a:off x="8321040" y="3584448"/>
            <a:ext cx="1645920" cy="347472"/>
          </a:xfrm>
          <a:prstGeom prst="rect">
            <a:avLst/>
          </a:prstGeom>
          <a:noFill/>
        </p:spPr>
        <p:txBody>
          <a:bodyPr wrap="square">
            <a:spAutoFit/>
          </a:bodyPr>
          <a:lstStyle/>
          <a:p>
            <a:pPr algn="l"/>
            <a:r>
              <a:rPr sz="1400" b="1" i="0">
                <a:solidFill>
                  <a:srgbClr val="E74C3C"/>
                </a:solidFill>
              </a:rPr>
              <a:t>-1.06%</a:t>
            </a:r>
          </a:p>
        </p:txBody>
      </p:sp>
      <p:sp>
        <p:nvSpPr>
          <p:cNvPr id="30" name="TextBox 29"/>
          <p:cNvSpPr txBox="1"/>
          <p:nvPr/>
        </p:nvSpPr>
        <p:spPr>
          <a:xfrm>
            <a:off x="10058400" y="3584448"/>
            <a:ext cx="1188720" cy="347472"/>
          </a:xfrm>
          <a:prstGeom prst="rect">
            <a:avLst/>
          </a:prstGeom>
          <a:noFill/>
        </p:spPr>
        <p:txBody>
          <a:bodyPr wrap="square">
            <a:spAutoFit/>
          </a:bodyPr>
          <a:lstStyle/>
          <a:p>
            <a:pPr algn="l"/>
            <a:r>
              <a:rPr sz="1400" b="1" i="0">
                <a:solidFill>
                  <a:srgbClr val="E74C3C"/>
                </a:solidFill>
              </a:rPr>
              <a:t>NO</a:t>
            </a:r>
          </a:p>
        </p:txBody>
      </p:sp>
      <p:sp>
        <p:nvSpPr>
          <p:cNvPr id="31" name="Rectangle 30"/>
          <p:cNvSpPr/>
          <p:nvPr/>
        </p:nvSpPr>
        <p:spPr>
          <a:xfrm>
            <a:off x="365760" y="4297680"/>
            <a:ext cx="11430000" cy="9144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590288"/>
            <a:ext cx="1645920" cy="347472"/>
          </a:xfrm>
          <a:prstGeom prst="rect">
            <a:avLst/>
          </a:prstGeom>
          <a:noFill/>
        </p:spPr>
        <p:txBody>
          <a:bodyPr wrap="square">
            <a:spAutoFit/>
          </a:bodyPr>
          <a:lstStyle/>
          <a:p>
            <a:pPr algn="l"/>
            <a:r>
              <a:rPr sz="1400" b="1" i="0">
                <a:solidFill>
                  <a:srgbClr val="FFFFFF"/>
                </a:solidFill>
              </a:rPr>
              <a:t>Q4 2025</a:t>
            </a:r>
          </a:p>
        </p:txBody>
      </p:sp>
      <p:sp>
        <p:nvSpPr>
          <p:cNvPr id="33" name="TextBox 32"/>
          <p:cNvSpPr txBox="1"/>
          <p:nvPr/>
        </p:nvSpPr>
        <p:spPr>
          <a:xfrm>
            <a:off x="1920240" y="4590288"/>
            <a:ext cx="1645920" cy="347472"/>
          </a:xfrm>
          <a:prstGeom prst="rect">
            <a:avLst/>
          </a:prstGeom>
          <a:noFill/>
        </p:spPr>
        <p:txBody>
          <a:bodyPr wrap="square">
            <a:spAutoFit/>
          </a:bodyPr>
          <a:lstStyle/>
          <a:p>
            <a:pPr algn="l"/>
            <a:r>
              <a:rPr sz="1400" b="0" i="0">
                <a:solidFill>
                  <a:srgbClr val="8B9CB8"/>
                </a:solidFill>
              </a:rPr>
              <a:t>72</a:t>
            </a:r>
          </a:p>
        </p:txBody>
      </p:sp>
      <p:sp>
        <p:nvSpPr>
          <p:cNvPr id="34" name="TextBox 33"/>
          <p:cNvSpPr txBox="1"/>
          <p:nvPr/>
        </p:nvSpPr>
        <p:spPr>
          <a:xfrm>
            <a:off x="2926080" y="4590288"/>
            <a:ext cx="1645920" cy="347472"/>
          </a:xfrm>
          <a:prstGeom prst="rect">
            <a:avLst/>
          </a:prstGeom>
          <a:noFill/>
        </p:spPr>
        <p:txBody>
          <a:bodyPr wrap="square">
            <a:spAutoFit/>
          </a:bodyPr>
          <a:lstStyle/>
          <a:p>
            <a:pPr algn="l"/>
            <a:r>
              <a:rPr sz="1400" b="0" i="0">
                <a:solidFill>
                  <a:srgbClr val="4A9EFF"/>
                </a:solidFill>
              </a:rPr>
              <a:t>33</a:t>
            </a:r>
          </a:p>
        </p:txBody>
      </p:sp>
      <p:sp>
        <p:nvSpPr>
          <p:cNvPr id="35" name="TextBox 34"/>
          <p:cNvSpPr txBox="1"/>
          <p:nvPr/>
        </p:nvSpPr>
        <p:spPr>
          <a:xfrm>
            <a:off x="4754880" y="4590288"/>
            <a:ext cx="1645920" cy="347472"/>
          </a:xfrm>
          <a:prstGeom prst="rect">
            <a:avLst/>
          </a:prstGeom>
          <a:noFill/>
        </p:spPr>
        <p:txBody>
          <a:bodyPr wrap="square">
            <a:spAutoFit/>
          </a:bodyPr>
          <a:lstStyle/>
          <a:p>
            <a:pPr algn="l"/>
            <a:r>
              <a:rPr sz="1400" b="1" i="0">
                <a:solidFill>
                  <a:srgbClr val="D4AF37"/>
                </a:solidFill>
              </a:rPr>
              <a:t>+3.15%</a:t>
            </a:r>
          </a:p>
        </p:txBody>
      </p:sp>
      <p:sp>
        <p:nvSpPr>
          <p:cNvPr id="36" name="TextBox 35"/>
          <p:cNvSpPr txBox="1"/>
          <p:nvPr/>
        </p:nvSpPr>
        <p:spPr>
          <a:xfrm>
            <a:off x="6583680" y="4590288"/>
            <a:ext cx="1645920" cy="347472"/>
          </a:xfrm>
          <a:prstGeom prst="rect">
            <a:avLst/>
          </a:prstGeom>
          <a:noFill/>
        </p:spPr>
        <p:txBody>
          <a:bodyPr wrap="square">
            <a:spAutoFit/>
          </a:bodyPr>
          <a:lstStyle/>
          <a:p>
            <a:pPr algn="l"/>
            <a:r>
              <a:rPr sz="1400" b="1" i="0">
                <a:solidFill>
                  <a:srgbClr val="FFFFFF"/>
                </a:solidFill>
              </a:rPr>
              <a:t>+2.35%</a:t>
            </a:r>
          </a:p>
        </p:txBody>
      </p:sp>
      <p:sp>
        <p:nvSpPr>
          <p:cNvPr id="37" name="TextBox 36"/>
          <p:cNvSpPr txBox="1"/>
          <p:nvPr/>
        </p:nvSpPr>
        <p:spPr>
          <a:xfrm>
            <a:off x="8321040" y="4590288"/>
            <a:ext cx="1645920" cy="347472"/>
          </a:xfrm>
          <a:prstGeom prst="rect">
            <a:avLst/>
          </a:prstGeom>
          <a:noFill/>
        </p:spPr>
        <p:txBody>
          <a:bodyPr wrap="square">
            <a:spAutoFit/>
          </a:bodyPr>
          <a:lstStyle/>
          <a:p>
            <a:pPr algn="l"/>
            <a:r>
              <a:rPr sz="1400" b="1" i="0">
                <a:solidFill>
                  <a:srgbClr val="2ECC71"/>
                </a:solidFill>
              </a:rPr>
              <a:t>+0.81%</a:t>
            </a:r>
          </a:p>
        </p:txBody>
      </p:sp>
      <p:sp>
        <p:nvSpPr>
          <p:cNvPr id="38" name="TextBox 37"/>
          <p:cNvSpPr txBox="1"/>
          <p:nvPr/>
        </p:nvSpPr>
        <p:spPr>
          <a:xfrm>
            <a:off x="10058400" y="4590288"/>
            <a:ext cx="1188720" cy="347472"/>
          </a:xfrm>
          <a:prstGeom prst="rect">
            <a:avLst/>
          </a:prstGeom>
          <a:noFill/>
        </p:spPr>
        <p:txBody>
          <a:bodyPr wrap="square">
            <a:spAutoFit/>
          </a:bodyPr>
          <a:lstStyle/>
          <a:p>
            <a:pPr algn="l"/>
            <a:r>
              <a:rPr sz="1400" b="1" i="0">
                <a:solidFill>
                  <a:srgbClr val="2ECC71"/>
                </a:solidFill>
              </a:rPr>
              <a:t>YES</a:t>
            </a:r>
          </a:p>
        </p:txBody>
      </p:sp>
      <p:sp>
        <p:nvSpPr>
          <p:cNvPr id="39" name="Rectangle 38"/>
          <p:cNvSpPr/>
          <p:nvPr/>
        </p:nvSpPr>
        <p:spPr>
          <a:xfrm>
            <a:off x="365760" y="5349240"/>
            <a:ext cx="11430000" cy="9144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5349240"/>
            <a:ext cx="114300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440680"/>
            <a:ext cx="11064240" cy="274320"/>
          </a:xfrm>
          <a:prstGeom prst="rect">
            <a:avLst/>
          </a:prstGeom>
          <a:noFill/>
        </p:spPr>
        <p:txBody>
          <a:bodyPr wrap="square">
            <a:spAutoFit/>
          </a:bodyPr>
          <a:lstStyle/>
          <a:p>
            <a:pPr algn="l"/>
            <a:r>
              <a:rPr sz="1100" b="1" i="0">
                <a:solidFill>
                  <a:srgbClr val="D4AF37"/>
                </a:solidFill>
              </a:rPr>
              <a:t>Summary</a:t>
            </a:r>
          </a:p>
        </p:txBody>
      </p:sp>
      <p:sp>
        <p:nvSpPr>
          <p:cNvPr id="42" name="TextBox 41"/>
          <p:cNvSpPr txBox="1"/>
          <p:nvPr/>
        </p:nvSpPr>
        <p:spPr>
          <a:xfrm>
            <a:off x="548640" y="5715000"/>
            <a:ext cx="11064240" cy="502920"/>
          </a:xfrm>
          <a:prstGeom prst="rect">
            <a:avLst/>
          </a:prstGeom>
          <a:noFill/>
        </p:spPr>
        <p:txBody>
          <a:bodyPr wrap="square">
            <a:spAutoFit/>
          </a:bodyPr>
          <a:lstStyle/>
          <a:p>
            <a:pPr algn="l"/>
            <a:r>
              <a:rPr sz="1100" b="0" i="0">
                <a:solidFill>
                  <a:srgbClr val="FFFFFF"/>
                </a:solidFill>
              </a:rPr>
              <a:t>Q2 &amp; Q3 2025: Model underperformed SPY by -4.2% and -1.1% respectively. Q4 2025: Model beat SPY by +0.8% (partial sample of 72 stocks, early filers). Overall the model did not consistently beat passive S&amp;P 500 investing — consistent with the efficient market hypothesis in a competitive market.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94360"/>
          </a:xfrm>
          <a:prstGeom prst="rect">
            <a:avLst/>
          </a:prstGeom>
          <a:noFill/>
        </p:spPr>
        <p:txBody>
          <a:bodyPr wrap="square">
            <a:spAutoFit/>
          </a:bodyPr>
          <a:lstStyle/>
          <a:p>
            <a:pPr algn="l"/>
            <a:r>
              <a:rPr sz="2800" b="1" i="0">
                <a:solidFill>
                  <a:srgbClr val="FFFFFF"/>
                </a:solidFill>
              </a:rPr>
              <a:t>Conclusion</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400" b="0" i="0">
                <a:solidFill>
                  <a:srgbClr val="8B9CB8"/>
                </a:solidFill>
              </a:rPr>
              <a:t>Section 11 — Findings and Efficient Market Hypothesis Assessment</a:t>
            </a:r>
          </a:p>
        </p:txBody>
      </p:sp>
      <p:sp>
        <p:nvSpPr>
          <p:cNvPr id="5" name="Rectangle 4"/>
          <p:cNvSpPr/>
          <p:nvPr/>
        </p:nvSpPr>
        <p:spPr>
          <a:xfrm>
            <a:off x="0" y="1005840"/>
            <a:ext cx="12191695" cy="1828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669280" cy="21488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54864" cy="21488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0160"/>
            <a:ext cx="5303520" cy="365760"/>
          </a:xfrm>
          <a:prstGeom prst="rect">
            <a:avLst/>
          </a:prstGeom>
          <a:noFill/>
        </p:spPr>
        <p:txBody>
          <a:bodyPr wrap="square">
            <a:spAutoFit/>
          </a:bodyPr>
          <a:lstStyle/>
          <a:p>
            <a:pPr algn="l"/>
            <a:r>
              <a:rPr sz="1300" b="1" i="0">
                <a:solidFill>
                  <a:srgbClr val="D4AF37"/>
                </a:solidFill>
              </a:rPr>
              <a:t>Logistic Regression Finds Weak Signal</a:t>
            </a:r>
          </a:p>
        </p:txBody>
      </p:sp>
      <p:sp>
        <p:nvSpPr>
          <p:cNvPr id="9" name="Rectangle 8"/>
          <p:cNvSpPr/>
          <p:nvPr/>
        </p:nvSpPr>
        <p:spPr>
          <a:xfrm>
            <a:off x="548640" y="1691640"/>
            <a:ext cx="54864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83080"/>
            <a:ext cx="5303520" cy="1417320"/>
          </a:xfrm>
          <a:prstGeom prst="rect">
            <a:avLst/>
          </a:prstGeom>
          <a:noFill/>
        </p:spPr>
        <p:txBody>
          <a:bodyPr wrap="square">
            <a:spAutoFit/>
          </a:bodyPr>
          <a:lstStyle/>
          <a:p>
            <a:pPr algn="l"/>
            <a:r>
              <a:rPr sz="1100" b="0" i="0">
                <a:solidFill>
                  <a:srgbClr val="FFFFFF"/>
                </a:solidFill>
              </a:rPr>
              <a:t>The global model achieves 53.2% accuracy and AUC 0.5381 — statistically significant (p&lt;0.05) but limited in magnitude. Quarterly financial ratios do contain predictive information.</a:t>
            </a:r>
          </a:p>
        </p:txBody>
      </p:sp>
      <p:sp>
        <p:nvSpPr>
          <p:cNvPr id="11" name="Rectangle 10"/>
          <p:cNvSpPr/>
          <p:nvPr/>
        </p:nvSpPr>
        <p:spPr>
          <a:xfrm>
            <a:off x="6263640" y="1188720"/>
            <a:ext cx="5669280" cy="21488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188720"/>
            <a:ext cx="54864" cy="2148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280160"/>
            <a:ext cx="5303520" cy="365760"/>
          </a:xfrm>
          <a:prstGeom prst="rect">
            <a:avLst/>
          </a:prstGeom>
          <a:noFill/>
        </p:spPr>
        <p:txBody>
          <a:bodyPr wrap="square">
            <a:spAutoFit/>
          </a:bodyPr>
          <a:lstStyle/>
          <a:p>
            <a:pPr algn="l"/>
            <a:r>
              <a:rPr sz="1300" b="1" i="0">
                <a:solidFill>
                  <a:srgbClr val="2ECC71"/>
                </a:solidFill>
              </a:rPr>
              <a:t>Segmentation Improves Performance</a:t>
            </a:r>
          </a:p>
        </p:txBody>
      </p:sp>
      <p:sp>
        <p:nvSpPr>
          <p:cNvPr id="14" name="Rectangle 13"/>
          <p:cNvSpPr/>
          <p:nvPr/>
        </p:nvSpPr>
        <p:spPr>
          <a:xfrm>
            <a:off x="6446520" y="1691640"/>
            <a:ext cx="548640" cy="2743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5303520" cy="1417320"/>
          </a:xfrm>
          <a:prstGeom prst="rect">
            <a:avLst/>
          </a:prstGeom>
          <a:noFill/>
        </p:spPr>
        <p:txBody>
          <a:bodyPr wrap="square">
            <a:spAutoFit/>
          </a:bodyPr>
          <a:lstStyle/>
          <a:p>
            <a:pPr algn="l"/>
            <a:r>
              <a:rPr sz="1100" b="0" i="0">
                <a:solidFill>
                  <a:srgbClr val="FFFFFF"/>
                </a:solidFill>
              </a:rPr>
              <a:t>Sector segmentation consistently outperforms global pooling. Communication Services + Clustering achieves the best result: 63.9% accuracy, AUC 0.6902 — the strongest configuration across all 45 tested.</a:t>
            </a:r>
          </a:p>
        </p:txBody>
      </p:sp>
      <p:sp>
        <p:nvSpPr>
          <p:cNvPr id="16" name="Rectangle 15"/>
          <p:cNvSpPr/>
          <p:nvPr/>
        </p:nvSpPr>
        <p:spPr>
          <a:xfrm>
            <a:off x="365760" y="3520440"/>
            <a:ext cx="5669280" cy="21488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520440"/>
            <a:ext cx="54864" cy="2148840"/>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11880"/>
            <a:ext cx="5303520" cy="365760"/>
          </a:xfrm>
          <a:prstGeom prst="rect">
            <a:avLst/>
          </a:prstGeom>
          <a:noFill/>
        </p:spPr>
        <p:txBody>
          <a:bodyPr wrap="square">
            <a:spAutoFit/>
          </a:bodyPr>
          <a:lstStyle/>
          <a:p>
            <a:pPr algn="l"/>
            <a:r>
              <a:rPr sz="1300" b="1" i="0">
                <a:solidFill>
                  <a:srgbClr val="4A9EFF"/>
                </a:solidFill>
              </a:rPr>
              <a:t>Non-Linear Signal Exists</a:t>
            </a:r>
          </a:p>
        </p:txBody>
      </p:sp>
      <p:sp>
        <p:nvSpPr>
          <p:cNvPr id="19" name="Rectangle 18"/>
          <p:cNvSpPr/>
          <p:nvPr/>
        </p:nvSpPr>
        <p:spPr>
          <a:xfrm>
            <a:off x="548640" y="4023360"/>
            <a:ext cx="548640" cy="2743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114800"/>
            <a:ext cx="5303520" cy="1417320"/>
          </a:xfrm>
          <a:prstGeom prst="rect">
            <a:avLst/>
          </a:prstGeom>
          <a:noFill/>
        </p:spPr>
        <p:txBody>
          <a:bodyPr wrap="square">
            <a:spAutoFit/>
          </a:bodyPr>
          <a:lstStyle/>
          <a:p>
            <a:pPr algn="l"/>
            <a:r>
              <a:rPr sz="1100" b="0" i="0">
                <a:solidFill>
                  <a:srgbClr val="FFFFFF"/>
                </a:solidFill>
              </a:rPr>
              <a:t>Gradient Boosting achieves AUC 0.6589 vs LR's 0.5381 globally, confirming non-linear patterns in the data that LR cannot capture. Future work should explore GB, Random Forest, and neural network models.</a:t>
            </a:r>
          </a:p>
        </p:txBody>
      </p:sp>
      <p:sp>
        <p:nvSpPr>
          <p:cNvPr id="21" name="Rectangle 20"/>
          <p:cNvSpPr/>
          <p:nvPr/>
        </p:nvSpPr>
        <p:spPr>
          <a:xfrm>
            <a:off x="6263640" y="3520440"/>
            <a:ext cx="5669280" cy="214884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520440"/>
            <a:ext cx="54864" cy="21488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611880"/>
            <a:ext cx="5303520" cy="365760"/>
          </a:xfrm>
          <a:prstGeom prst="rect">
            <a:avLst/>
          </a:prstGeom>
          <a:noFill/>
        </p:spPr>
        <p:txBody>
          <a:bodyPr wrap="square">
            <a:spAutoFit/>
          </a:bodyPr>
          <a:lstStyle/>
          <a:p>
            <a:pPr algn="l"/>
            <a:r>
              <a:rPr sz="1300" b="1" i="0">
                <a:solidFill>
                  <a:srgbClr val="E74C3C"/>
                </a:solidFill>
              </a:rPr>
              <a:t>Portfolio Does Not Beat SPY Consistently</a:t>
            </a:r>
          </a:p>
        </p:txBody>
      </p:sp>
      <p:sp>
        <p:nvSpPr>
          <p:cNvPr id="24" name="Rectangle 23"/>
          <p:cNvSpPr/>
          <p:nvPr/>
        </p:nvSpPr>
        <p:spPr>
          <a:xfrm>
            <a:off x="6446520" y="4023360"/>
            <a:ext cx="548640" cy="2743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14800"/>
            <a:ext cx="5303520" cy="1417320"/>
          </a:xfrm>
          <a:prstGeom prst="rect">
            <a:avLst/>
          </a:prstGeom>
          <a:noFill/>
        </p:spPr>
        <p:txBody>
          <a:bodyPr wrap="square">
            <a:spAutoFit/>
          </a:bodyPr>
          <a:lstStyle/>
          <a:p>
            <a:pPr algn="l"/>
            <a:r>
              <a:rPr sz="1100" b="0" i="0">
                <a:solidFill>
                  <a:srgbClr val="FFFFFF"/>
                </a:solidFill>
              </a:rPr>
              <a:t>The 2025 portfolio underperformed in Q2 and Q3, beat SPY narrowly in Q4. Passive S&amp;P 500 investing remains a difficult benchmark to outperform, consistent with semi-strong form efficient market theory.</a:t>
            </a:r>
          </a:p>
        </p:txBody>
      </p:sp>
      <p:sp>
        <p:nvSpPr>
          <p:cNvPr id="26" name="Rectangle 25"/>
          <p:cNvSpPr/>
          <p:nvPr/>
        </p:nvSpPr>
        <p:spPr>
          <a:xfrm>
            <a:off x="365760" y="5989320"/>
            <a:ext cx="11430000" cy="749808"/>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989320"/>
            <a:ext cx="114300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6080760"/>
            <a:ext cx="11064240" cy="594360"/>
          </a:xfrm>
          <a:prstGeom prst="rect">
            <a:avLst/>
          </a:prstGeom>
          <a:noFill/>
        </p:spPr>
        <p:txBody>
          <a:bodyPr wrap="square">
            <a:spAutoFit/>
          </a:bodyPr>
          <a:lstStyle/>
          <a:p>
            <a:pPr algn="l"/>
            <a:r>
              <a:rPr sz="1200" b="1" i="0">
                <a:solidFill>
                  <a:srgbClr val="D4AF37"/>
                </a:solidFill>
              </a:rPr>
              <a:t>EMH Verdict: We PARTIALLY SUPPORT the efficient market hypothesis. Markets are difficult to beat consistently using public financial data, but are not perfectly efficient — sector-specific fundamental patterns yield statistically significant predictive power.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62495"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4389120" cy="1097280"/>
          </a:xfrm>
          <a:prstGeom prst="rect">
            <a:avLst/>
          </a:prstGeom>
          <a:noFill/>
        </p:spPr>
        <p:txBody>
          <a:bodyPr wrap="square">
            <a:spAutoFit/>
          </a:bodyPr>
          <a:lstStyle/>
          <a:p>
            <a:pPr algn="l"/>
            <a:r>
              <a:rPr sz="5200" b="1" i="0">
                <a:solidFill>
                  <a:srgbClr val="FFFFFF"/>
                </a:solidFill>
              </a:rPr>
              <a:t>Thank You</a:t>
            </a:r>
          </a:p>
        </p:txBody>
      </p:sp>
      <p:sp>
        <p:nvSpPr>
          <p:cNvPr id="6" name="Rectangle 5"/>
          <p:cNvSpPr/>
          <p:nvPr/>
        </p:nvSpPr>
        <p:spPr>
          <a:xfrm>
            <a:off x="457200" y="2743200"/>
            <a:ext cx="18288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880360"/>
            <a:ext cx="4389120" cy="411480"/>
          </a:xfrm>
          <a:prstGeom prst="rect">
            <a:avLst/>
          </a:prstGeom>
          <a:noFill/>
        </p:spPr>
        <p:txBody>
          <a:bodyPr wrap="square">
            <a:spAutoFit/>
          </a:bodyPr>
          <a:lstStyle/>
          <a:p>
            <a:pPr algn="l"/>
            <a:r>
              <a:rPr sz="1800" b="0" i="0">
                <a:solidFill>
                  <a:srgbClr val="8B9CB8"/>
                </a:solidFill>
              </a:rPr>
              <a:t>Questions welcome</a:t>
            </a:r>
          </a:p>
        </p:txBody>
      </p:sp>
      <p:sp>
        <p:nvSpPr>
          <p:cNvPr id="8" name="TextBox 7"/>
          <p:cNvSpPr txBox="1"/>
          <p:nvPr/>
        </p:nvSpPr>
        <p:spPr>
          <a:xfrm>
            <a:off x="457200" y="3840480"/>
            <a:ext cx="4389120" cy="320040"/>
          </a:xfrm>
          <a:prstGeom prst="rect">
            <a:avLst/>
          </a:prstGeom>
          <a:noFill/>
        </p:spPr>
        <p:txBody>
          <a:bodyPr wrap="square">
            <a:spAutoFit/>
          </a:bodyPr>
          <a:lstStyle/>
          <a:p>
            <a:pPr algn="l"/>
            <a:r>
              <a:rPr sz="1400" b="1" i="0">
                <a:solidFill>
                  <a:srgbClr val="FFFFFF"/>
                </a:solidFill>
              </a:rPr>
              <a:t>Lana Gidan</a:t>
            </a:r>
          </a:p>
        </p:txBody>
      </p:sp>
      <p:sp>
        <p:nvSpPr>
          <p:cNvPr id="9" name="TextBox 8"/>
          <p:cNvSpPr txBox="1"/>
          <p:nvPr/>
        </p:nvSpPr>
        <p:spPr>
          <a:xfrm>
            <a:off x="457200" y="4206240"/>
            <a:ext cx="4389120" cy="320040"/>
          </a:xfrm>
          <a:prstGeom prst="rect">
            <a:avLst/>
          </a:prstGeom>
          <a:noFill/>
        </p:spPr>
        <p:txBody>
          <a:bodyPr wrap="square">
            <a:spAutoFit/>
          </a:bodyPr>
          <a:lstStyle/>
          <a:p>
            <a:pPr algn="l"/>
            <a:r>
              <a:rPr sz="1400" b="1" i="0">
                <a:solidFill>
                  <a:srgbClr val="FFFFFF"/>
                </a:solidFill>
              </a:rPr>
              <a:t>Matthew Golubow</a:t>
            </a:r>
          </a:p>
        </p:txBody>
      </p:sp>
      <p:sp>
        <p:nvSpPr>
          <p:cNvPr id="10" name="TextBox 9"/>
          <p:cNvSpPr txBox="1"/>
          <p:nvPr/>
        </p:nvSpPr>
        <p:spPr>
          <a:xfrm>
            <a:off x="457200" y="4572000"/>
            <a:ext cx="4389120" cy="320040"/>
          </a:xfrm>
          <a:prstGeom prst="rect">
            <a:avLst/>
          </a:prstGeom>
          <a:noFill/>
        </p:spPr>
        <p:txBody>
          <a:bodyPr wrap="square">
            <a:spAutoFit/>
          </a:bodyPr>
          <a:lstStyle/>
          <a:p>
            <a:pPr algn="l"/>
            <a:r>
              <a:rPr sz="1400" b="1" i="0">
                <a:solidFill>
                  <a:srgbClr val="FFFFFF"/>
                </a:solidFill>
              </a:rPr>
              <a:t>Shahd Tarman</a:t>
            </a:r>
          </a:p>
        </p:txBody>
      </p:sp>
      <p:sp>
        <p:nvSpPr>
          <p:cNvPr id="11" name="TextBox 10"/>
          <p:cNvSpPr txBox="1"/>
          <p:nvPr/>
        </p:nvSpPr>
        <p:spPr>
          <a:xfrm>
            <a:off x="457200" y="5120640"/>
            <a:ext cx="4389120" cy="320040"/>
          </a:xfrm>
          <a:prstGeom prst="rect">
            <a:avLst/>
          </a:prstGeom>
          <a:noFill/>
        </p:spPr>
        <p:txBody>
          <a:bodyPr wrap="square">
            <a:spAutoFit/>
          </a:bodyPr>
          <a:lstStyle/>
          <a:p>
            <a:pPr algn="l"/>
            <a:r>
              <a:rPr sz="1200" b="0" i="0">
                <a:solidFill>
                  <a:srgbClr val="8B9CB8"/>
                </a:solidFill>
              </a:rPr>
              <a:t>SSIE 605  |  Binghamton University</a:t>
            </a:r>
          </a:p>
        </p:txBody>
      </p:sp>
      <p:sp>
        <p:nvSpPr>
          <p:cNvPr id="12" name="TextBox 11"/>
          <p:cNvSpPr txBox="1"/>
          <p:nvPr/>
        </p:nvSpPr>
        <p:spPr>
          <a:xfrm>
            <a:off x="5486400" y="1188720"/>
            <a:ext cx="6217920" cy="365760"/>
          </a:xfrm>
          <a:prstGeom prst="rect">
            <a:avLst/>
          </a:prstGeom>
          <a:noFill/>
        </p:spPr>
        <p:txBody>
          <a:bodyPr wrap="square">
            <a:spAutoFit/>
          </a:bodyPr>
          <a:lstStyle/>
          <a:p>
            <a:pPr algn="ctr"/>
            <a:r>
              <a:rPr sz="1400" b="1" i="0">
                <a:solidFill>
                  <a:srgbClr val="D4AF37"/>
                </a:solidFill>
              </a:rPr>
              <a:t>Key Statistics</a:t>
            </a:r>
          </a:p>
        </p:txBody>
      </p:sp>
      <p:sp>
        <p:nvSpPr>
          <p:cNvPr id="13" name="Rectangle 12"/>
          <p:cNvSpPr/>
          <p:nvPr/>
        </p:nvSpPr>
        <p:spPr>
          <a:xfrm>
            <a:off x="5394960" y="1645920"/>
            <a:ext cx="649224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1737360"/>
            <a:ext cx="2926080" cy="256032"/>
          </a:xfrm>
          <a:prstGeom prst="rect">
            <a:avLst/>
          </a:prstGeom>
          <a:noFill/>
        </p:spPr>
        <p:txBody>
          <a:bodyPr wrap="square">
            <a:spAutoFit/>
          </a:bodyPr>
          <a:lstStyle/>
          <a:p>
            <a:pPr algn="l"/>
            <a:r>
              <a:rPr sz="1000" b="0" i="0">
                <a:solidFill>
                  <a:srgbClr val="8B9CB8"/>
                </a:solidFill>
              </a:rPr>
              <a:t>Training Period</a:t>
            </a:r>
          </a:p>
        </p:txBody>
      </p:sp>
      <p:sp>
        <p:nvSpPr>
          <p:cNvPr id="15" name="TextBox 14"/>
          <p:cNvSpPr txBox="1"/>
          <p:nvPr/>
        </p:nvSpPr>
        <p:spPr>
          <a:xfrm>
            <a:off x="8503920" y="1737360"/>
            <a:ext cx="3200400" cy="256032"/>
          </a:xfrm>
          <a:prstGeom prst="rect">
            <a:avLst/>
          </a:prstGeom>
          <a:noFill/>
        </p:spPr>
        <p:txBody>
          <a:bodyPr wrap="square">
            <a:spAutoFit/>
          </a:bodyPr>
          <a:lstStyle/>
          <a:p>
            <a:pPr algn="l"/>
            <a:r>
              <a:rPr sz="1000" b="1" i="0">
                <a:solidFill>
                  <a:srgbClr val="FFFFFF"/>
                </a:solidFill>
              </a:rPr>
              <a:t>Q1 2010 – Q4 2024</a:t>
            </a:r>
          </a:p>
        </p:txBody>
      </p:sp>
      <p:sp>
        <p:nvSpPr>
          <p:cNvPr id="16" name="Rectangle 15"/>
          <p:cNvSpPr/>
          <p:nvPr/>
        </p:nvSpPr>
        <p:spPr>
          <a:xfrm>
            <a:off x="5394960" y="2130552"/>
            <a:ext cx="6492240" cy="43891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2120" y="2221992"/>
            <a:ext cx="2926080" cy="256032"/>
          </a:xfrm>
          <a:prstGeom prst="rect">
            <a:avLst/>
          </a:prstGeom>
          <a:noFill/>
        </p:spPr>
        <p:txBody>
          <a:bodyPr wrap="square">
            <a:spAutoFit/>
          </a:bodyPr>
          <a:lstStyle/>
          <a:p>
            <a:pPr algn="l"/>
            <a:r>
              <a:rPr sz="1000" b="0" i="0">
                <a:solidFill>
                  <a:srgbClr val="8B9CB8"/>
                </a:solidFill>
              </a:rPr>
              <a:t>Training Observations</a:t>
            </a:r>
          </a:p>
        </p:txBody>
      </p:sp>
      <p:sp>
        <p:nvSpPr>
          <p:cNvPr id="18" name="TextBox 17"/>
          <p:cNvSpPr txBox="1"/>
          <p:nvPr/>
        </p:nvSpPr>
        <p:spPr>
          <a:xfrm>
            <a:off x="8503920" y="2221992"/>
            <a:ext cx="3200400" cy="256032"/>
          </a:xfrm>
          <a:prstGeom prst="rect">
            <a:avLst/>
          </a:prstGeom>
          <a:noFill/>
        </p:spPr>
        <p:txBody>
          <a:bodyPr wrap="square">
            <a:spAutoFit/>
          </a:bodyPr>
          <a:lstStyle/>
          <a:p>
            <a:pPr algn="l"/>
            <a:r>
              <a:rPr sz="1000" b="1" i="0">
                <a:solidFill>
                  <a:srgbClr val="FFFFFF"/>
                </a:solidFill>
              </a:rPr>
              <a:t>16,589 rows</a:t>
            </a:r>
          </a:p>
        </p:txBody>
      </p:sp>
      <p:sp>
        <p:nvSpPr>
          <p:cNvPr id="19" name="Rectangle 18"/>
          <p:cNvSpPr/>
          <p:nvPr/>
        </p:nvSpPr>
        <p:spPr>
          <a:xfrm>
            <a:off x="5394960" y="2615184"/>
            <a:ext cx="649224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32120" y="2706624"/>
            <a:ext cx="2926080" cy="256032"/>
          </a:xfrm>
          <a:prstGeom prst="rect">
            <a:avLst/>
          </a:prstGeom>
          <a:noFill/>
        </p:spPr>
        <p:txBody>
          <a:bodyPr wrap="square">
            <a:spAutoFit/>
          </a:bodyPr>
          <a:lstStyle/>
          <a:p>
            <a:pPr algn="l"/>
            <a:r>
              <a:rPr sz="1000" b="0" i="0">
                <a:solidFill>
                  <a:srgbClr val="8B9CB8"/>
                </a:solidFill>
              </a:rPr>
              <a:t>Features</a:t>
            </a:r>
          </a:p>
        </p:txBody>
      </p:sp>
      <p:sp>
        <p:nvSpPr>
          <p:cNvPr id="21" name="TextBox 20"/>
          <p:cNvSpPr txBox="1"/>
          <p:nvPr/>
        </p:nvSpPr>
        <p:spPr>
          <a:xfrm>
            <a:off x="8503920" y="2706624"/>
            <a:ext cx="3200400" cy="256032"/>
          </a:xfrm>
          <a:prstGeom prst="rect">
            <a:avLst/>
          </a:prstGeom>
          <a:noFill/>
        </p:spPr>
        <p:txBody>
          <a:bodyPr wrap="square">
            <a:spAutoFit/>
          </a:bodyPr>
          <a:lstStyle/>
          <a:p>
            <a:pPr algn="l"/>
            <a:r>
              <a:rPr sz="1000" b="1" i="0">
                <a:solidFill>
                  <a:srgbClr val="FFFFFF"/>
                </a:solidFill>
              </a:rPr>
              <a:t>24 (14 base + 10 delta)</a:t>
            </a:r>
          </a:p>
        </p:txBody>
      </p:sp>
      <p:sp>
        <p:nvSpPr>
          <p:cNvPr id="22" name="Rectangle 21"/>
          <p:cNvSpPr/>
          <p:nvPr/>
        </p:nvSpPr>
        <p:spPr>
          <a:xfrm>
            <a:off x="5394960" y="3099816"/>
            <a:ext cx="6492240" cy="43891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3191256"/>
            <a:ext cx="2926080" cy="256032"/>
          </a:xfrm>
          <a:prstGeom prst="rect">
            <a:avLst/>
          </a:prstGeom>
          <a:noFill/>
        </p:spPr>
        <p:txBody>
          <a:bodyPr wrap="square">
            <a:spAutoFit/>
          </a:bodyPr>
          <a:lstStyle/>
          <a:p>
            <a:pPr algn="l"/>
            <a:r>
              <a:rPr sz="1000" b="0" i="0">
                <a:solidFill>
                  <a:srgbClr val="8B9CB8"/>
                </a:solidFill>
              </a:rPr>
              <a:t>VIF Filtered</a:t>
            </a:r>
          </a:p>
        </p:txBody>
      </p:sp>
      <p:sp>
        <p:nvSpPr>
          <p:cNvPr id="24" name="TextBox 23"/>
          <p:cNvSpPr txBox="1"/>
          <p:nvPr/>
        </p:nvSpPr>
        <p:spPr>
          <a:xfrm>
            <a:off x="8503920" y="3191256"/>
            <a:ext cx="3200400" cy="256032"/>
          </a:xfrm>
          <a:prstGeom prst="rect">
            <a:avLst/>
          </a:prstGeom>
          <a:noFill/>
        </p:spPr>
        <p:txBody>
          <a:bodyPr wrap="square">
            <a:spAutoFit/>
          </a:bodyPr>
          <a:lstStyle/>
          <a:p>
            <a:pPr algn="l"/>
            <a:r>
              <a:rPr sz="1000" b="1" i="0">
                <a:solidFill>
                  <a:srgbClr val="FFFFFF"/>
                </a:solidFill>
              </a:rPr>
              <a:t>20 of 24 retained</a:t>
            </a:r>
          </a:p>
        </p:txBody>
      </p:sp>
      <p:sp>
        <p:nvSpPr>
          <p:cNvPr id="25" name="Rectangle 24"/>
          <p:cNvSpPr/>
          <p:nvPr/>
        </p:nvSpPr>
        <p:spPr>
          <a:xfrm>
            <a:off x="5394960" y="3584448"/>
            <a:ext cx="649224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32120" y="3675888"/>
            <a:ext cx="2926080" cy="256032"/>
          </a:xfrm>
          <a:prstGeom prst="rect">
            <a:avLst/>
          </a:prstGeom>
          <a:noFill/>
        </p:spPr>
        <p:txBody>
          <a:bodyPr wrap="square">
            <a:spAutoFit/>
          </a:bodyPr>
          <a:lstStyle/>
          <a:p>
            <a:pPr algn="l"/>
            <a:r>
              <a:rPr sz="1000" b="0" i="0">
                <a:solidFill>
                  <a:srgbClr val="8B9CB8"/>
                </a:solidFill>
              </a:rPr>
              <a:t>PCA Components</a:t>
            </a:r>
          </a:p>
        </p:txBody>
      </p:sp>
      <p:sp>
        <p:nvSpPr>
          <p:cNvPr id="27" name="TextBox 26"/>
          <p:cNvSpPr txBox="1"/>
          <p:nvPr/>
        </p:nvSpPr>
        <p:spPr>
          <a:xfrm>
            <a:off x="8503920" y="3675888"/>
            <a:ext cx="3200400" cy="256032"/>
          </a:xfrm>
          <a:prstGeom prst="rect">
            <a:avLst/>
          </a:prstGeom>
          <a:noFill/>
        </p:spPr>
        <p:txBody>
          <a:bodyPr wrap="square">
            <a:spAutoFit/>
          </a:bodyPr>
          <a:lstStyle/>
          <a:p>
            <a:pPr algn="l"/>
            <a:r>
              <a:rPr sz="1000" b="1" i="0">
                <a:solidFill>
                  <a:srgbClr val="FFFFFF"/>
                </a:solidFill>
              </a:rPr>
              <a:t>9 (global model)</a:t>
            </a:r>
          </a:p>
        </p:txBody>
      </p:sp>
      <p:sp>
        <p:nvSpPr>
          <p:cNvPr id="28" name="Rectangle 27"/>
          <p:cNvSpPr/>
          <p:nvPr/>
        </p:nvSpPr>
        <p:spPr>
          <a:xfrm>
            <a:off x="5394960" y="4069080"/>
            <a:ext cx="6492240" cy="43891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32120" y="4160520"/>
            <a:ext cx="2926080" cy="256032"/>
          </a:xfrm>
          <a:prstGeom prst="rect">
            <a:avLst/>
          </a:prstGeom>
          <a:noFill/>
        </p:spPr>
        <p:txBody>
          <a:bodyPr wrap="square">
            <a:spAutoFit/>
          </a:bodyPr>
          <a:lstStyle/>
          <a:p>
            <a:pPr algn="l"/>
            <a:r>
              <a:rPr sz="1000" b="0" i="0">
                <a:solidFill>
                  <a:srgbClr val="8B9CB8"/>
                </a:solidFill>
              </a:rPr>
              <a:t>Global LR AUC</a:t>
            </a:r>
          </a:p>
        </p:txBody>
      </p:sp>
      <p:sp>
        <p:nvSpPr>
          <p:cNvPr id="30" name="TextBox 29"/>
          <p:cNvSpPr txBox="1"/>
          <p:nvPr/>
        </p:nvSpPr>
        <p:spPr>
          <a:xfrm>
            <a:off x="8503920" y="4160520"/>
            <a:ext cx="3200400" cy="256032"/>
          </a:xfrm>
          <a:prstGeom prst="rect">
            <a:avLst/>
          </a:prstGeom>
          <a:noFill/>
        </p:spPr>
        <p:txBody>
          <a:bodyPr wrap="square">
            <a:spAutoFit/>
          </a:bodyPr>
          <a:lstStyle/>
          <a:p>
            <a:pPr algn="l"/>
            <a:r>
              <a:rPr sz="1000" b="1" i="0">
                <a:solidFill>
                  <a:srgbClr val="FFFFFF"/>
                </a:solidFill>
              </a:rPr>
              <a:t>0.5381</a:t>
            </a:r>
          </a:p>
        </p:txBody>
      </p:sp>
      <p:sp>
        <p:nvSpPr>
          <p:cNvPr id="31" name="Rectangle 30"/>
          <p:cNvSpPr/>
          <p:nvPr/>
        </p:nvSpPr>
        <p:spPr>
          <a:xfrm>
            <a:off x="5394960" y="4553712"/>
            <a:ext cx="649224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32120" y="4645152"/>
            <a:ext cx="2926080" cy="256032"/>
          </a:xfrm>
          <a:prstGeom prst="rect">
            <a:avLst/>
          </a:prstGeom>
          <a:noFill/>
        </p:spPr>
        <p:txBody>
          <a:bodyPr wrap="square">
            <a:spAutoFit/>
          </a:bodyPr>
          <a:lstStyle/>
          <a:p>
            <a:pPr algn="l"/>
            <a:r>
              <a:rPr sz="1000" b="0" i="0">
                <a:solidFill>
                  <a:srgbClr val="8B9CB8"/>
                </a:solidFill>
              </a:rPr>
              <a:t>Best Accuracy</a:t>
            </a:r>
          </a:p>
        </p:txBody>
      </p:sp>
      <p:sp>
        <p:nvSpPr>
          <p:cNvPr id="33" name="TextBox 32"/>
          <p:cNvSpPr txBox="1"/>
          <p:nvPr/>
        </p:nvSpPr>
        <p:spPr>
          <a:xfrm>
            <a:off x="8503920" y="4645152"/>
            <a:ext cx="3200400" cy="256032"/>
          </a:xfrm>
          <a:prstGeom prst="rect">
            <a:avLst/>
          </a:prstGeom>
          <a:noFill/>
        </p:spPr>
        <p:txBody>
          <a:bodyPr wrap="square">
            <a:spAutoFit/>
          </a:bodyPr>
          <a:lstStyle/>
          <a:p>
            <a:pPr algn="l"/>
            <a:r>
              <a:rPr sz="1000" b="1" i="0">
                <a:solidFill>
                  <a:srgbClr val="FFFFFF"/>
                </a:solidFill>
              </a:rPr>
              <a:t>63.9% — Comm. Services Cluster 0</a:t>
            </a:r>
          </a:p>
        </p:txBody>
      </p:sp>
      <p:sp>
        <p:nvSpPr>
          <p:cNvPr id="34" name="Rectangle 33"/>
          <p:cNvSpPr/>
          <p:nvPr/>
        </p:nvSpPr>
        <p:spPr>
          <a:xfrm>
            <a:off x="5394960" y="5038344"/>
            <a:ext cx="6492240" cy="43891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32120" y="5129784"/>
            <a:ext cx="2926080" cy="256032"/>
          </a:xfrm>
          <a:prstGeom prst="rect">
            <a:avLst/>
          </a:prstGeom>
          <a:noFill/>
        </p:spPr>
        <p:txBody>
          <a:bodyPr wrap="square">
            <a:spAutoFit/>
          </a:bodyPr>
          <a:lstStyle/>
          <a:p>
            <a:pPr algn="l"/>
            <a:r>
              <a:rPr sz="1000" b="0" i="0">
                <a:solidFill>
                  <a:srgbClr val="8B9CB8"/>
                </a:solidFill>
              </a:rPr>
              <a:t>Best AUC</a:t>
            </a:r>
          </a:p>
        </p:txBody>
      </p:sp>
      <p:sp>
        <p:nvSpPr>
          <p:cNvPr id="36" name="TextBox 35"/>
          <p:cNvSpPr txBox="1"/>
          <p:nvPr/>
        </p:nvSpPr>
        <p:spPr>
          <a:xfrm>
            <a:off x="8503920" y="5129784"/>
            <a:ext cx="3200400" cy="256032"/>
          </a:xfrm>
          <a:prstGeom prst="rect">
            <a:avLst/>
          </a:prstGeom>
          <a:noFill/>
        </p:spPr>
        <p:txBody>
          <a:bodyPr wrap="square">
            <a:spAutoFit/>
          </a:bodyPr>
          <a:lstStyle/>
          <a:p>
            <a:pPr algn="l"/>
            <a:r>
              <a:rPr sz="1000" b="1" i="0">
                <a:solidFill>
                  <a:srgbClr val="FFFFFF"/>
                </a:solidFill>
              </a:rPr>
              <a:t>0.6902 — Comm. Services Cluster 0</a:t>
            </a:r>
          </a:p>
        </p:txBody>
      </p:sp>
      <p:sp>
        <p:nvSpPr>
          <p:cNvPr id="37" name="Rectangle 36"/>
          <p:cNvSpPr/>
          <p:nvPr/>
        </p:nvSpPr>
        <p:spPr>
          <a:xfrm>
            <a:off x="5394960" y="5522976"/>
            <a:ext cx="6492240" cy="438912"/>
          </a:xfrm>
          <a:prstGeom prst="rect">
            <a:avLst/>
          </a:prstGeom>
          <a:solidFill>
            <a:srgbClr val="13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2120" y="5614416"/>
            <a:ext cx="2926080" cy="256032"/>
          </a:xfrm>
          <a:prstGeom prst="rect">
            <a:avLst/>
          </a:prstGeom>
          <a:noFill/>
        </p:spPr>
        <p:txBody>
          <a:bodyPr wrap="square">
            <a:spAutoFit/>
          </a:bodyPr>
          <a:lstStyle/>
          <a:p>
            <a:pPr algn="l"/>
            <a:r>
              <a:rPr sz="1000" b="0" i="0">
                <a:solidFill>
                  <a:srgbClr val="8B9CB8"/>
                </a:solidFill>
              </a:rPr>
              <a:t>2025 Predictions</a:t>
            </a:r>
          </a:p>
        </p:txBody>
      </p:sp>
      <p:sp>
        <p:nvSpPr>
          <p:cNvPr id="39" name="TextBox 38"/>
          <p:cNvSpPr txBox="1"/>
          <p:nvPr/>
        </p:nvSpPr>
        <p:spPr>
          <a:xfrm>
            <a:off x="8503920" y="5614416"/>
            <a:ext cx="3200400" cy="256032"/>
          </a:xfrm>
          <a:prstGeom prst="rect">
            <a:avLst/>
          </a:prstGeom>
          <a:noFill/>
        </p:spPr>
        <p:txBody>
          <a:bodyPr wrap="square">
            <a:spAutoFit/>
          </a:bodyPr>
          <a:lstStyle/>
          <a:p>
            <a:pPr algn="l"/>
            <a:r>
              <a:rPr sz="1000" b="1" i="0">
                <a:solidFill>
                  <a:srgbClr val="FFFFFF"/>
                </a:solidFill>
              </a:rPr>
              <a:t>1,219 stocks across 4 quarters</a:t>
            </a:r>
          </a:p>
        </p:txBody>
      </p:sp>
      <p:sp>
        <p:nvSpPr>
          <p:cNvPr id="40" name="Rectangle 39"/>
          <p:cNvSpPr/>
          <p:nvPr/>
        </p:nvSpPr>
        <p:spPr>
          <a:xfrm>
            <a:off x="5394960" y="6007608"/>
            <a:ext cx="6492240" cy="43891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32120" y="6099048"/>
            <a:ext cx="2926080" cy="256032"/>
          </a:xfrm>
          <a:prstGeom prst="rect">
            <a:avLst/>
          </a:prstGeom>
          <a:noFill/>
        </p:spPr>
        <p:txBody>
          <a:bodyPr wrap="square">
            <a:spAutoFit/>
          </a:bodyPr>
          <a:lstStyle/>
          <a:p>
            <a:pPr algn="l"/>
            <a:r>
              <a:rPr sz="1000" b="0" i="0">
                <a:solidFill>
                  <a:srgbClr val="8B9CB8"/>
                </a:solidFill>
              </a:rPr>
              <a:t>Benchmark</a:t>
            </a:r>
          </a:p>
        </p:txBody>
      </p:sp>
      <p:sp>
        <p:nvSpPr>
          <p:cNvPr id="42" name="TextBox 41"/>
          <p:cNvSpPr txBox="1"/>
          <p:nvPr/>
        </p:nvSpPr>
        <p:spPr>
          <a:xfrm>
            <a:off x="8503920" y="6099048"/>
            <a:ext cx="3200400" cy="256032"/>
          </a:xfrm>
          <a:prstGeom prst="rect">
            <a:avLst/>
          </a:prstGeom>
          <a:noFill/>
        </p:spPr>
        <p:txBody>
          <a:bodyPr wrap="square">
            <a:spAutoFit/>
          </a:bodyPr>
          <a:lstStyle/>
          <a:p>
            <a:pPr algn="l"/>
            <a:r>
              <a:rPr sz="1000" b="1" i="0">
                <a:solidFill>
                  <a:srgbClr val="FFFFFF"/>
                </a:solidFill>
              </a:rPr>
              <a:t>Ananthakumar &amp; Sarkar 2017 — 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