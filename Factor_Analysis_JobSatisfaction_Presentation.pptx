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solidFill>
            <a:srgbClr val="002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Factor Analysis in Marketing Analytics</a:t>
            </a:r>
          </a:p>
          <a:p>
            <a:pPr algn="ctr">
              <a:defRPr sz="2200">
                <a:solidFill>
                  <a:srgbClr val="FFC000"/>
                </a:solidFill>
              </a:defRPr>
            </a:pPr>
            <a:r>
              <a:t>Employee Job Satisfaction in Corporate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Presented by: Lana Jalal Gidan</a:t>
            </a:r>
          </a:p>
          <a:p>
            <a:pPr algn="ctr">
              <a:defRPr sz="1600" b="0">
                <a:solidFill>
                  <a:srgbClr val="B4C8FF"/>
                </a:solidFill>
              </a:defRPr>
            </a:pPr>
            <a:r>
              <a:t>Binghamton University</a:t>
            </a:r>
          </a:p>
          <a:p>
            <a:pPr algn="ctr">
              <a:defRPr sz="1400" b="0">
                <a:solidFill>
                  <a:srgbClr val="FFC000"/>
                </a:solidFill>
              </a:defRPr>
            </a:pPr>
            <a:r>
              <a:t>SSIE-605: Applied Multivariate Data Analysis</a:t>
            </a:r>
          </a:p>
          <a:p>
            <a:pPr algn="ctr">
              <a:defRPr sz="1400" b="0">
                <a:solidFill>
                  <a:srgbClr val="B4C8FF"/>
                </a:solidFill>
              </a:defRPr>
            </a:pPr>
            <a:r>
              <a:t>Professor Susan 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Why Study Job Satisfaction?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Article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373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Key Research 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Factor Analysis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What is Factor Analysis?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FA Procedure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Step-by-Step 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089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089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Job Satisfaction in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Spector's JSS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661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9 Dimensions of Satisfaction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7.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EFA &amp; CFA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0233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Statistical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4805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Supporting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4805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Satisfaction &amp; Work 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9.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Discussion &amp; Implications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9377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949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10.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949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Comments, Limitations &amp; Improvements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3949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Critical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5216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11.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8521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468C"/>
                </a:solidFill>
              </a:defRPr>
            </a:pPr>
            <a:r>
              <a:t>Conclusion &amp;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8521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Why Study Employee Job Satisfaction?</a:t>
            </a:r>
          </a:p>
          <a:p>
            <a:pPr>
              <a:defRPr sz="600"/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Job satisfaction directly affects employee productivity, turnover, absenteeism, and organizational performance</a:t>
            </a:r>
          </a:p>
          <a:p>
            <a:pPr>
              <a:defRPr sz="600"/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In large corporate organizations, understanding what drives employee satisfaction helps managers make better decisions about workplace policies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468C"/>
                </a:solidFill>
              </a:defRPr>
            </a:pPr>
            <a:r>
              <a:t>Key Questions: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What are the underlying dimensions of job satisfaction?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Which factors matter most to employees?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Can Factor Analysis reveal hidden patterns in satisfaction data?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8000"/>
                </a:solidFill>
              </a:defRPr>
            </a:pPr>
            <a:r>
              <a:t>Business Impact: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Dissatisfied employees cost U.S. companies an estimated $450-$550 billion per year in lost productivity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High turnover costs 50-200% of an employee's annual salary to replace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• Factor Analysis helps organizations target the right areas for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Article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Primary Study:</a:t>
            </a:r>
          </a:p>
          <a:p>
            <a:pPr>
              <a:defRPr sz="600"/>
            </a:pP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Tsounis, A. &amp; Sarafis, P. (2022). "Determining Dimensions of Job Satisfaction in Healthcare Using Factor Analysis."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BMC Psychology, 10, Article 240.</a:t>
            </a:r>
          </a:p>
          <a:p>
            <a:pPr>
              <a:defRPr sz="1100" b="1">
                <a:solidFill>
                  <a:srgbClr val="0070C0"/>
                </a:solidFill>
              </a:defRPr>
            </a:pPr>
            <a:r>
              <a:t>DOI: 10.1186/s40359-022-00941-2</a:t>
            </a:r>
          </a:p>
          <a:p>
            <a:pPr>
              <a:defRPr sz="600"/>
            </a:pPr>
          </a:p>
          <a:p>
            <a:pPr>
              <a:defRPr sz="1100" b="0">
                <a:solidFill>
                  <a:srgbClr val="008000"/>
                </a:solidFill>
              </a:defRPr>
            </a:pPr>
            <a:r>
              <a:t>Method: EFA + CFA | Sample: 590 employees | Instrument: Spector JSS (36 items)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Supporting Study 1:</a:t>
            </a:r>
          </a:p>
          <a:p>
            <a:pPr>
              <a:defRPr sz="600"/>
            </a:pP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Spector, P.E. (1985). "Measurement of Human Service Staff Satisfaction: Development of the Job Satisfaction Survey."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American Journal of Community Psychology, 13, 693-713.</a:t>
            </a:r>
          </a:p>
          <a:p>
            <a:pPr>
              <a:defRPr sz="1100" b="1">
                <a:solidFill>
                  <a:srgbClr val="0070C0"/>
                </a:solidFill>
              </a:defRPr>
            </a:pPr>
            <a:r>
              <a:t>DOI: 10.1007/BF00929796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Supporting Study 2:</a:t>
            </a:r>
          </a:p>
          <a:p>
            <a:pPr>
              <a:defRPr sz="600"/>
            </a:pP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Dziuba, S.T. et al. (2020). "Employees' Job Satisfaction and Their Work Performance as Elements Influencing Work Safety."</a:t>
            </a:r>
          </a:p>
          <a:p>
            <a:pPr>
              <a:defRPr sz="1200" b="0">
                <a:solidFill>
                  <a:srgbClr val="323232"/>
                </a:solidFill>
              </a:defRPr>
            </a:pPr>
            <a:r>
              <a:t>CzOTO, 2(1), 18-25.</a:t>
            </a:r>
          </a:p>
          <a:p>
            <a:pPr>
              <a:defRPr sz="1100" b="1">
                <a:solidFill>
                  <a:srgbClr val="0070C0"/>
                </a:solidFill>
              </a:defRPr>
            </a:pPr>
            <a:r>
              <a:t>DOI: 10.2478/czoto-2020-0003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Factor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Definition: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Factor Analysis is a statistical method that reduces a large number of survey questions into a smaller number of meaningful groups (called factors or dimensions)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468C"/>
                </a:solidFill>
              </a:defRPr>
            </a:pPr>
            <a:r>
              <a:t>Simple Example: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Imagine a job satisfaction survey with 36 questions. Instead of analyzing all 36 individually, Factor Analysis groups them into a few key themes like 'Pay,' 'Supervision,' and 'Work Environment'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8000"/>
                </a:solidFill>
              </a:defRPr>
            </a:pPr>
            <a:r>
              <a:t>Two Main Types: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EFA (Exploratory):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Discovers which questions group together (explores the data)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Used when you do not know the structure in advance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CFA (Confirmatory):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Tests whether a proposed grouping actually fits the data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Used to validate a structure found through EFA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6400"/>
                </a:solidFill>
              </a:defRPr>
            </a:pPr>
            <a:r>
              <a:t>Job Satisfaction = f(Pay, Promotion, Supervision, Benefits, 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 Procedure: Step-by-Step</a:t>
            </a:r>
          </a:p>
        </p:txBody>
      </p:sp>
      <p:pic>
        <p:nvPicPr>
          <p:cNvPr id="3" name="Picture 2" descr="fa_proced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EFA vs CFA: Key Differences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34747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EFA (Exploratory)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CFA (Confirmatory)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Discover factor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Validate known structure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Hypothesis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 prior hypothesis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Tests specific hypothesis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Factor Loadings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 items load on all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Items assigned to specific factors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Which items group together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Does the model fit the data?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When to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New survey / unknown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Validating previous EFA results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Fit Indices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KMO, Bartlett Test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CFI, RMSEA, SRMR, IFI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In This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Found 6 dimensions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Confirmed 6-factor model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Study: Job Satisfaction in Large Organizations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Tsounis &amp; Sarafis (2022)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Study Context: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Large organizational setting with multiple departments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590 employees surveyed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Why This Matters for Corporate: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Large organizations face similar satisfaction challenges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Same dimensions apply: pay, supervision, management, communication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Results are generalizable to corporate settings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Survey Instrument: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Spector's Job Satisfaction Survey (JSS)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36 items across 9 original dimensions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6-point Likert scale (1 = strongly disagree to 6 = strongly agree)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Study Details: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Sample Size: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n = 590 employees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Response Rate: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High participation across departments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Analysis Methods: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Exploratory Factor Analysis (EFA)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Confirmatory Factor Analysis (CFA)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Cronbach's Alpha reliability testing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Split-half reliability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Software: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SPSS for EFA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AMOS for CFA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Framework: Six Dimensions</a:t>
            </a:r>
          </a:p>
        </p:txBody>
      </p:sp>
      <p:pic>
        <p:nvPicPr>
          <p:cNvPr id="3" name="Picture 2" descr="research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7548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Six Dimensions Extracted: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1. Benefits &amp; Salary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Compensation, bonuses, fairness of pay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2. Management's Attitude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How management treats and values employees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3. Supervision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Quality and fairness of direct supervisors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4. Communication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Information flow within the organization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5. Nature of Work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The work itself: meaningful, interesting tasks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6. Colleagues' Support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Relationships with coworkers, teamwork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Sampling Adequacy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Before running Factor Analysis, we must check if the data is suitable: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KMO Test (Kaiser-Meyer-Olkin):</a:t>
            </a:r>
          </a:p>
          <a:p>
            <a:pPr>
              <a:defRPr sz="600"/>
            </a:pPr>
          </a:p>
          <a:p>
            <a:pPr>
              <a:defRPr sz="2000" b="1">
                <a:solidFill>
                  <a:srgbClr val="008000"/>
                </a:solidFill>
              </a:defRPr>
            </a:pPr>
            <a:r>
              <a:t>KMO = 0.912 (Superb)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KMO measures whether the correlations between variables are strong enough for Factor Analysis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Values above 0.90 are considered 'superb' (Kaiser, 1974)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This means the 36 survey items are highly suitable for factor analysis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Bartlett's Test of Sphericity: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8000"/>
                </a:solidFill>
              </a:defRPr>
            </a:pPr>
            <a:r>
              <a:t>Chi-square = 31,831.572, df = 528, p = 0.000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Tests whether the correlation matrix is significantly different from an identity matrix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p &lt; 0.001 confirms that correlations exist between variables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6400"/>
                </a:solidFill>
              </a:defRPr>
            </a:pPr>
            <a:r>
              <a:t>Conclusion: Data is excellent for Factor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2: Correlation Matrix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0292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What is the Correlation Matrix?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Shows how strongly each pair of variables is related to each other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Why It Matters: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Variables must be correlated (but not too highly) for FA to work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Key Observations: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Subscale intercorrelations range from 0.11 to 0.59 (Spector, 1985)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Moderate correlations = variables share some variance but remain distinct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Operating Procedures has the weakest correlations with other subscales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Supervision and Coworkers show a strong link (r = 0.59)</a:t>
            </a:r>
          </a:p>
          <a:p>
            <a:pPr>
              <a:defRPr sz="60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Illustrative values based on the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reported intercorrelation range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3: Factor Extraction - Scree Plot</a:t>
            </a:r>
          </a:p>
        </p:txBody>
      </p:sp>
      <p:pic>
        <p:nvPicPr>
          <p:cNvPr id="3" name="Picture 2" descr="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48463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28016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How Many Factors?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Kaiser Criterion: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Keep factors with eigenvalue &gt; 1.0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6 factors exceeded this threshold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Extraction Method: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Principal Component Analysis (PCA)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Varimax rotation (orthogonal)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Factor Loading Threshold: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Items with loadings &gt;= 0.50 retained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8000"/>
                </a:solidFill>
              </a:defRPr>
            </a:pPr>
            <a:r>
              <a:t>Result: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6 clear factors emerged from the 36 items</a:t>
            </a:r>
          </a:p>
          <a:p>
            <a:pPr>
              <a:defRPr sz="60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Note: Eigenvalues are illustrative;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6-factor solution directly reported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4: Rotated Factor Loading Matrix</a:t>
            </a:r>
          </a:p>
        </p:txBody>
      </p:sp>
      <p:pic>
        <p:nvPicPr>
          <p:cNvPr id="3" name="Picture 2" descr="factor_loadin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486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28016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What Are Factor Loadings?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They show how strongly each survey item belongs to each factor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Reading the Matrix: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High loading (&gt;= 0.50) = item belongs to that factor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Low loading (&lt; 0.30) = weak or no relationship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Rotation: Varimax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Makes the pattern clearer by maximizing high loadings and minimizing low ones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8000"/>
                </a:solidFill>
              </a:defRPr>
            </a:pPr>
            <a:r>
              <a:t>Each item loads strongly</a:t>
            </a:r>
          </a:p>
          <a:p>
            <a:pPr>
              <a:defRPr sz="1200" b="1">
                <a:solidFill>
                  <a:srgbClr val="008000"/>
                </a:solidFill>
              </a:defRPr>
            </a:pPr>
            <a:r>
              <a:t>on only ONE factor</a:t>
            </a:r>
          </a:p>
          <a:p>
            <a:pPr>
              <a:defRPr sz="60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Illustrative values; items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with loadings &gt;= 0.50 retained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5: Communalities</a:t>
            </a:r>
          </a:p>
        </p:txBody>
      </p:sp>
      <p:pic>
        <p:nvPicPr>
          <p:cNvPr id="3" name="Picture 2" descr="communa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28016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What Are Communalities?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The proportion of each variable's variance that is explained by the extracted factors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How to Read: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Initial = 1.0 (100% of variance)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Extraction = how much the factors capture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Threshold: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Values &gt;= 0.50 = good (factors explain at least 50% of that variable's variance)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8000"/>
                </a:solidFill>
              </a:defRPr>
            </a:pPr>
            <a:r>
              <a:t>Key Observation: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Most variables have communalities above 0.50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Operating Procedures is lowest (0.38) - weakest fit</a:t>
            </a:r>
          </a:p>
          <a:p>
            <a:pPr>
              <a:defRPr sz="60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Illustrative values based on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6-factor solution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6: Reliability Analysis (Cronbach's Alpha)</a:t>
            </a:r>
          </a:p>
        </p:txBody>
      </p:sp>
      <p:pic>
        <p:nvPicPr>
          <p:cNvPr id="3" name="Picture 2" descr="cronbach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029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What is Cronbach's Alpha?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Measures how consistently the survey items within each dimension measure the same thing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Interpretation: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α &gt;= 0.70 = Acceptable reliability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α &gt;= 0.80 = Good reliability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8000"/>
                </a:solidFill>
              </a:defRPr>
            </a:pPr>
            <a:r>
              <a:t>Results: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Overall scale: α = 0.81 (Good)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Range: 0.61 to 0.81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468C"/>
                </a:solidFill>
              </a:defRPr>
            </a:pPr>
            <a:r>
              <a:t>5 of 6 dimensions meet</a:t>
            </a:r>
          </a:p>
          <a:p>
            <a:pPr>
              <a:defRPr sz="1200" b="1">
                <a:solidFill>
                  <a:srgbClr val="00468C"/>
                </a:solidFill>
              </a:defRPr>
            </a:pPr>
            <a:r>
              <a:t>the 0.70 threshold</a:t>
            </a:r>
          </a:p>
          <a:p>
            <a:pPr>
              <a:defRPr sz="600"/>
            </a:pPr>
          </a:p>
          <a:p>
            <a:pPr>
              <a:defRPr sz="1000" b="1">
                <a:solidFill>
                  <a:srgbClr val="0070C0"/>
                </a:solidFill>
              </a:defRPr>
            </a:pPr>
            <a:r>
              <a:t>Source: Tsounis &amp; Sarafis (2022)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7: CFA Model Fit Assessment</a:t>
            </a:r>
          </a:p>
        </p:txBody>
      </p:sp>
      <p:pic>
        <p:nvPicPr>
          <p:cNvPr id="3" name="Picture 2" descr="model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0292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What are Fit Indices?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They tell us how well the proposed 6-factor model fits the actual data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8000"/>
                </a:solidFill>
              </a:defRPr>
            </a:pPr>
            <a:r>
              <a:t>Results: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SRMR = 0.050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Good (threshold: &lt; 0.08)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RMSEA = 0.055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Good (threshold: &lt; 0.06)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IFI = 0.906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Acceptable (threshold: &gt; 0.90)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CFI = 0.906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Acceptable (threshold: &gt; 0.90)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6400"/>
                </a:solidFill>
              </a:defRPr>
            </a:pPr>
            <a:r>
              <a:t>Conclusion: The 6-factor model</a:t>
            </a:r>
          </a:p>
          <a:p>
            <a:pPr>
              <a:defRPr sz="1200" b="1">
                <a:solidFill>
                  <a:srgbClr val="006400"/>
                </a:solidFill>
              </a:defRPr>
            </a:pPr>
            <a:r>
              <a:t>fits the data well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5120640"/>
          <a:ext cx="4846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SRMR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RMSEA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0.055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&lt; 0.06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&gt; 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Acceptable</a:t>
                      </a:r>
                    </a:p>
                  </a:txBody>
                  <a:tcPr anchor="ctr"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CFI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0.906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&gt; 0.90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DCE6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8: Variance Explained</a:t>
            </a:r>
          </a:p>
        </p:txBody>
      </p:sp>
      <p:pic>
        <p:nvPicPr>
          <p:cNvPr id="3" name="Picture 2" descr="varianc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859536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23232"/>
                </a:solidFill>
              </a:defRPr>
            </a:pPr>
            <a:r>
              <a:t>Illustrative variance distribution based on the 6-factor solution reported in Tsounis &amp; Sarafis (2022). Factor 1 (Benefits &amp; Salary) explains the most variance.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Spector's JSS: The Original 9-Dimension Framework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Spector (1985)</a:t>
            </a:r>
          </a:p>
        </p:txBody>
      </p:sp>
      <p:pic>
        <p:nvPicPr>
          <p:cNvPr id="3" name="Picture 2" descr="jss_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0292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37160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The JSS Framework: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36 items total (4 per dimension)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6-point Likert scale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Half items are reverse-scored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68C"/>
                </a:solidFill>
              </a:defRPr>
            </a:pPr>
            <a:r>
              <a:t>9 Original Dimensions: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Pay, Promotion, Supervision, Benefits,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Contingent Rewards, Operating Procedures,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Coworkers, Nature of Work, Communication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8000"/>
                </a:solidFill>
              </a:defRPr>
            </a:pPr>
            <a:r>
              <a:t>Tsounis &amp; Sarafis (2022) found</a:t>
            </a:r>
          </a:p>
          <a:p>
            <a:pPr>
              <a:defRPr sz="1200" b="1">
                <a:solidFill>
                  <a:srgbClr val="008000"/>
                </a:solidFill>
              </a:defRPr>
            </a:pPr>
            <a:r>
              <a:t>6 dimensions (some merged)</a:t>
            </a:r>
          </a:p>
          <a:p>
            <a:pPr>
              <a:defRPr sz="600"/>
            </a:pP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Widely used: validated in 30+</a:t>
            </a:r>
          </a:p>
          <a:p>
            <a:pPr>
              <a:defRPr sz="1100" b="0">
                <a:solidFill>
                  <a:srgbClr val="323232"/>
                </a:solidFill>
              </a:defRPr>
            </a:pPr>
            <a:r>
              <a:t>languages across multiple cultures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Chart shows typical α ranges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Supporting Study: Satisfaction &amp; Work Performance</a:t>
            </a:r>
          </a:p>
          <a:p>
            <a:pPr algn="l">
              <a:defRPr sz="1400">
                <a:solidFill>
                  <a:srgbClr val="FFC000"/>
                </a:solidFill>
              </a:defRPr>
            </a:pPr>
            <a:r>
              <a:t>Dziuba et al. (2020)</a:t>
            </a:r>
          </a:p>
        </p:txBody>
      </p:sp>
      <p:pic>
        <p:nvPicPr>
          <p:cNvPr id="3" name="Picture 2" descr="satisfaction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484632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12801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Study Overview: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300 employees in a large corporate enterprise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Survey with 20 satisfaction statements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1-10 satisfaction scale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68C"/>
                </a:solidFill>
              </a:defRPr>
            </a:pPr>
            <a:r>
              <a:t>Three Key Factors: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6400"/>
                </a:solidFill>
              </a:defRPr>
            </a:pPr>
            <a:r>
              <a:t>1. Working Conditions: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Highest satisfaction (6.8/10)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004080"/>
                </a:solidFill>
              </a:defRPr>
            </a:pPr>
            <a:r>
              <a:t>2. Relations with Superiors: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Moderate satisfaction (5.9/10)</a:t>
            </a:r>
          </a:p>
          <a:p>
            <a:pPr>
              <a:defRPr sz="600"/>
            </a:pPr>
          </a:p>
          <a:p>
            <a:pPr>
              <a:defRPr sz="1300" b="1">
                <a:solidFill>
                  <a:srgbClr val="C86400"/>
                </a:solidFill>
              </a:defRPr>
            </a:pPr>
            <a:r>
              <a:t>3. Salary Satisfaction: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Lowest satisfaction (4.7/10)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8000"/>
                </a:solidFill>
              </a:defRPr>
            </a:pPr>
            <a:r>
              <a:t>Key Finding: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Satisfied employees perform better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and feel safer at work</a:t>
            </a:r>
          </a:p>
          <a:p>
            <a:pPr>
              <a:defRPr sz="600"/>
            </a:pPr>
          </a:p>
          <a:p>
            <a:pPr>
              <a:defRPr sz="1000" b="1">
                <a:solidFill>
                  <a:srgbClr val="0070C0"/>
                </a:solidFill>
              </a:defRPr>
            </a:pPr>
            <a:r>
              <a:t>DOI: 10.2478/czoto-2020-0003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Interpretation &amp; Business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060"/>
                </a:solidFill>
              </a:defRPr>
            </a:pPr>
            <a:r>
              <a:t>What Each Factor Means for Organizations: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080"/>
                </a:solidFill>
              </a:defRPr>
            </a:pPr>
            <a:r>
              <a:t>Factor 1: Benefits &amp; Salary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Largest factor - explains the most variance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Fair compensation is the foundation of satisfaction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Organizations must ensure competitive pay structures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080"/>
                </a:solidFill>
              </a:defRPr>
            </a:pPr>
            <a:r>
              <a:t>Factor 2: Management's Attitude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How leadership treats employees matters greatly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Respectful, supportive management boosts morale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080"/>
                </a:solidFill>
              </a:defRPr>
            </a:pPr>
            <a:r>
              <a:t>Factor 3: Supervision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Quality of direct supervisors impacts daily work experience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Good supervisors provide guidance without micromanaging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" b="0">
                <a:solidFill>
                  <a:srgbClr val="323232"/>
                </a:solidFill>
              </a:defRPr>
            </a:pPr>
          </a:p>
          <a:p>
            <a:pPr>
              <a:defRPr sz="600"/>
            </a:pPr>
          </a:p>
          <a:p>
            <a:pPr>
              <a:defRPr sz="1400" b="1">
                <a:solidFill>
                  <a:srgbClr val="004080"/>
                </a:solidFill>
              </a:defRPr>
            </a:pPr>
            <a:r>
              <a:t>Factor 4: Communication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Clear information flow reduces confusion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Employees need to feel informed about decisions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080"/>
                </a:solidFill>
              </a:defRPr>
            </a:pPr>
            <a:r>
              <a:t>Factor 5: Nature of Work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Meaningful, interesting work increases engagement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Task variety and autonomy are important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4080"/>
                </a:solidFill>
              </a:defRPr>
            </a:pPr>
            <a:r>
              <a:t>Factor 6: Colleagues' Support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Positive coworker relationships create a supportive environment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Teamwork and collaboration drive satisfaction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8000"/>
                </a:solidFill>
              </a:defRPr>
            </a:pPr>
            <a:r>
              <a:t>Actionable Insight: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Organizations should invest in all 6 areas,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but prioritize pay fairness and management quality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Discussion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400"/>
                </a:solidFill>
              </a:defRPr>
            </a:pPr>
            <a:r>
              <a:t>Finding 1: Job Satisfaction is Multidimensional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It is not just about money. Six distinct dimensions emerged from the analysis, showing that satisfaction comes from multiple sources: pay, management, supervision, communication, work itself, and coworkers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4080"/>
                </a:solidFill>
              </a:defRPr>
            </a:pPr>
            <a:r>
              <a:t>Finding 2: Benefits &amp; Salary is the Largest Factor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Compensation remains the biggest driver of satisfaction. Organizations that underpay will struggle to satisfy employees regardless of other factors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00468C"/>
                </a:solidFill>
              </a:defRPr>
            </a:pPr>
            <a:r>
              <a:t>Finding 3: The JSS Framework is Robust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Spector's 36-item JSS instrument, originally with 9 dimensions, showed a stable 6-factor structure in the studied population, with good reliability (overall α = 0.81) and model fit (CFI = 0.906)</a:t>
            </a:r>
          </a:p>
          <a:p>
            <a:pPr>
              <a:defRPr sz="600"/>
            </a:pPr>
          </a:p>
          <a:p>
            <a:pPr>
              <a:defRPr sz="1500" b="1">
                <a:solidFill>
                  <a:srgbClr val="C86400"/>
                </a:solidFill>
              </a:defRPr>
            </a:pPr>
            <a:r>
              <a:t>Finding 4: Satisfaction Directly Affects Performance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Dziuba et al. (2020) confirmed that satisfied employees perform better and feel safer at work. Salary satisfaction was the weakest area (4.7/10), suggesting room for improvement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Strengths of This Analysis: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Both EFA and CFA were used, providing a thorough validation of the factor structure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Large sample size (n = 590) ensures statistical power and reliable factor estimates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KMO value of 0.912 is superb, indicating excellent suitability for factor analysis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JSS is a well-established, free instrument validated across 30+ countries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468C"/>
                </a:solidFill>
              </a:defRPr>
            </a:pPr>
            <a:r>
              <a:t>Observations: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original 9-factor JSS consolidated into 6 factors, suggesting some dimensions overlap in this context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Two dimensions (Nature of Work and Communication) showed lower reliability, which could be improved with revised items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Dziuba et al. (2020) study reinforces the practical importance of satisfaction research by linking it directly to employee performance and safety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Study-Specific Limitations: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primary study focused on healthcare organizations; results may differ in purely corporate settings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Cross-sectional design: data collected at one point in time, so we cannot determine cause-and-effect relationships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Self-reported data may contain social desirability bias (employees may not answer honestly)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Two dimensions showed Cronbach's alpha below the 0.70 threshold (Nature of Work = 0.61, Communication = 0.67)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468C"/>
                </a:solidFill>
              </a:defRPr>
            </a:pPr>
            <a:r>
              <a:t>General Limitations:</a:t>
            </a:r>
          </a:p>
          <a:p>
            <a:pPr>
              <a:defRPr sz="600"/>
            </a:pP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Factor Analysis assumes linear relationships between variables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Results are population-specific and may not generalize to all industries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The JSS uses a fixed 36-item format that may miss industry-specific satisfaction factors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Suggested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Methodological Improvements: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Use probability sampling (stratified random) for better generalizability across departments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Include multiple organizations to compare factor structures across different corporate settings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Apply longitudinal design to track how satisfaction changes over time (before and after policy changes)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Revise items with low factor loadings to improve the Nature of Work and Communication dimensions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468C"/>
                </a:solidFill>
              </a:defRPr>
            </a:pPr>
            <a:r>
              <a:t>Extended Scope: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Add modern work dimensions: remote work satisfaction, work-life balance, technology tools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Include demographic analysis: compare satisfaction across age groups, departments, and tenure levels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Add objective performance metrics alongside self-reported satisfaction for stronger conclusions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Study the impact of post-pandemic hybrid work policies on satisfaction dimensions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8000"/>
                </a:solidFill>
              </a:defRPr>
            </a:pPr>
            <a:r>
              <a:t>Advanced Analytics: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Apply Multi-Group Analysis (MGA) to compare satisfaction across different demographics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Use Structural Equation Modeling (SEM) to test causal pathways between satisfaction and outcomes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Incorporate text analysis from employee reviews for richer qualitative insights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Test mediation effects: does supervision quality mediate the relationship between management attitude and overall satisfaction?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Summary:</a:t>
            </a:r>
          </a:p>
          <a:p>
            <a:pPr>
              <a:defRPr sz="600"/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Factor Analysis successfully identified six key dimensions of employee job satisfaction: Benefits &amp; Salary, Management's Attitude, Supervision, Communication, Nature of Work, and Colleagues' Support</a:t>
            </a:r>
          </a:p>
          <a:p>
            <a:pPr>
              <a:defRPr sz="600"/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The KMO value of 0.912 confirmed excellent data suitability, and the CFA model fit indices (SRMR = 0.050, RMSEA = 0.055, CFI = 0.906) validated the six-factor structure</a:t>
            </a:r>
          </a:p>
          <a:p>
            <a:pPr>
              <a:defRPr sz="600"/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Benefits and salary emerged as the most important dimension, followed by management quality and supervision</a:t>
            </a:r>
          </a:p>
          <a:p>
            <a:pPr>
              <a:defRPr sz="600"/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The findings apply directly to corporate organizations: understanding these dimensions helps managers create targeted improvement programs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8000"/>
                </a:solidFill>
              </a:defRPr>
            </a:pPr>
            <a:r>
              <a:t>Key Takeaway: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Employee job satisfaction is not a single concept - it has multiple dimensions. Organizations that address all six areas will see better performance, lower turnover, and a healthier workplace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Primary Sources: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Tsounis, A. &amp; Sarafis, P. (2022). "Determining Dimensions of Job Satisfaction in Healthcare Using Factor Analysis." BMC Psychology, 10, Article 240.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DOI: 10.1186/s40359-022-00941-2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Spector, P.E. (1985). "Measurement of Human Service Staff Satisfaction: Development of the Job Satisfaction Survey." American Journal of Community Psychology, 13, 693-713.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DOI: 10.1007/BF00929796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Dziuba, S.T., Ingaldi, M., &amp; Zhuravskaya, M. (2020). "Employees' Job Satisfaction and Their Work Performance as Elements Influencing Work Safety." CzOTO, 2(1), 18-25.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DOI: 10.2478/czoto-2020-0003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Additional References: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Shrestha, N. (2021). "Factor Analysis as a Tool for Survey Analysis." American Journal of Applied Mathematics and Statistics, 9(1), 4-11.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DOI: 10.12691/ajams-9-1-2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5. Kaiser, H.F. (1974). "An Index of Factorial Simplicity." Psychometrika, 39, 31-36.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solidFill>
            <a:srgbClr val="002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000"/>
            </a:pPr>
          </a:p>
          <a:p>
            <a:pPr algn="ctr">
              <a:defRPr sz="2400">
                <a:solidFill>
                  <a:srgbClr val="FFC000"/>
                </a:solidFill>
              </a:defRPr>
            </a:pPr>
            <a:r>
              <a:t>Questions &amp; Discussion</a:t>
            </a:r>
          </a:p>
          <a:p>
            <a:pPr>
              <a:defRPr sz="1000"/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400">
                <a:solidFill>
                  <a:srgbClr val="B4C8FF"/>
                </a:solidFill>
              </a:defRPr>
            </a:pPr>
            <a:r>
              <a:t>SSIE-605 | Binghamton University | Professor Susan 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