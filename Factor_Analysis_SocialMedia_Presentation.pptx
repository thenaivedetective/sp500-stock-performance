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C000"/>
                </a:solidFill>
              </a:defRPr>
            </a:pPr>
            <a:r>
              <a:t>SSIE-605: Applied Multivariate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Factor Analysis: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Social Media Influence on Consumer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Purchase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297680"/>
            <a:ext cx="27432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4C6E7"/>
                </a:solidFill>
              </a:defRPr>
            </a:pPr>
            <a:r>
              <a:t>A Factor Analytical Study of Rural Consumers in Uttar Pradesh</a:t>
            </a:r>
          </a:p>
          <a:p>
            <a:pPr>
              <a:defRPr sz="1400" b="0">
                <a:solidFill>
                  <a:srgbClr val="B4C6E7"/>
                </a:solidFill>
              </a:defRPr>
            </a:pPr>
            <a:r>
              <a:t>Based on: Ahmad et al. (2026) — Intl. Review of Management &amp; Marketing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>
              <a:defRPr sz="1400" b="0">
                <a:solidFill>
                  <a:srgbClr val="B4C6E7"/>
                </a:solidFill>
              </a:defRPr>
            </a:pPr>
            <a:r>
              <a:t>Binghamton University | Professor Susan 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1. Introduction to Factor Analysis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2. Why Factor Analysis in Marketing?</a:t>
            </a: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3. Study Overview: Social Media &amp; Purchase Decisions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4. Research Methodology &amp; Likert Scale Design</a:t>
            </a: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5. Demographic Profile of Respondents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6. Step 1: Data Adequacy — KMO &amp; Bartlett's Test</a:t>
            </a: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7. Step 2: Reliability Analysis (Cronbach's Alpha)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8. Step 3: Exploratory Factor Analysis (EFA)</a:t>
            </a: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9. Step 4: Confirmatory Factor Analysis (CFA)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10. Step 5: Structural Equation Modeling (SEM)</a:t>
            </a: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11. Key Findings &amp; Marketing Implications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12. Strengths, Limitations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Factor Analysis?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Simplifying Complex Survey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Definition: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Factor Analysis is a statistical method that reduces many survey questions into a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smaller number of meaningful groups (called 'factors' or 'dimensions').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In Simple Terms: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Imagine you ask consumers 25 questions about social media shopping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Factor Analysis finds that these 25 questions really measure just 5 big themes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Each theme groups together questions that consumers answer in similar ways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Two Main Types: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Exploratory Factor Analysis (EFA) — discovers hidden patterns in data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Confirmatory Factor Analysis (CFA) — tests if those patterns hold up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Key Steps: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Check if data is suitable (KMO &amp; Bartlett's Test)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Extract factors (using eigenvalue &gt; 1 criterion)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Rotate factors for clearer interpretation (Varimax rotation)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Validate the structure (CFA / SEM)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Factor Analysis in Marketing?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Applications in Consumer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Marketing researchers use Factor Analysis to: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Identify what really drives consumer purchase decisions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Understand brand perception dimensions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Measure customer satisfaction across multiple touchpoints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Evaluate the effectiveness of marketing channels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Build reliable measurement scales for surveys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Why Questionnaires &amp; Likert Scales?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Likert scales (e.g., 1 = Strongly Disagree to 5 = Strongly Agree) capture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  consumer attitudes in a structured, measurable way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Factor Analysis groups correlated Likert items into meaningful dimensions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This helps marketers focus on key drivers rather than individual questions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00468C"/>
                </a:solidFill>
              </a:defRPr>
            </a:pPr>
            <a:r>
              <a:t>Today's Study: How does social media influence rural consumer purchase</a:t>
            </a:r>
          </a:p>
          <a:p>
            <a:pPr>
              <a:defRPr sz="1500" b="1">
                <a:solidFill>
                  <a:srgbClr val="00468C"/>
                </a:solidFill>
              </a:defRPr>
            </a:pPr>
            <a:r>
              <a:t>decisions? Which social media roles matter most?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Study Overview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Ahmad et al. (2026) — Intl. Review of Management &amp;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76656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Identifying Determinants of Social Media Influence</a:t>
                      </a:r>
                    </a:p>
                    <a:p>
                      <a:pPr algn="ctr">
                        <a:defRPr sz="1100"/>
                      </a:pPr>
                      <a:r>
                        <a:t>on Purchase Decisions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Ahmad, A., Singh, N.K., Ahmad, S., Fatima, R.,</a:t>
                      </a:r>
                    </a:p>
                    <a:p>
                      <a:pPr algn="ctr">
                        <a:defRPr sz="1100"/>
                      </a:pPr>
                      <a:r>
                        <a:t>Alam, A. &amp; Ghani, U.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International Review of Management &amp; Marketing,</a:t>
                      </a:r>
                    </a:p>
                    <a:p>
                      <a:pPr algn="ctr">
                        <a:defRPr sz="1100"/>
                      </a:pPr>
                      <a:r>
                        <a:t>Vol. 16, No. 2 (2026)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10.32479/irmm.21497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 = 241 rural consumers across 5 districts</a:t>
                      </a:r>
                    </a:p>
                    <a:p>
                      <a:pPr algn="ctr">
                        <a:defRPr sz="1100"/>
                      </a:pPr>
                      <a:r>
                        <a:t>of Uttar Pradesh, India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Instrument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25-item structured questionnaire,</a:t>
                      </a:r>
                    </a:p>
                    <a:p>
                      <a:pPr algn="ctr">
                        <a:defRPr sz="1100"/>
                      </a:pPr>
                      <a:r>
                        <a:t>5-point Likert scale (1=Strongly Disagree to 5=Strongly Agree)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EFA (PCA + Varimax), CFA, SEM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SPSS and AMOS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Context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Social Media and Rural Consumer Markets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Why Study Social Media's Role in Rural Markets?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Rural India represents ~65% of the total population (Census of India, 2011)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Rapid smartphone adoption: 62.2% of rural respondents now use smartphones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67.2% of respondents have already purchased products via social media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Social media is replacing traditional word-of-mouth in rural areas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Research Gap: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Most studies focus on urban consumers; rural behavior is under-researched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The multidimensional nature of social media influence (trust, emotions, peer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  recommendations, content quality) is rarely explored in rural contexts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Research Objective: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Identify the key factors (dimensions) of social media that influence rural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  consumers' purchase decisions using Exploratory Factor Analysis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Validate the factor structure using CFA and test causal relationships via SEM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Five Constructs Measured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25 Likert-Scale Items Across 5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493776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α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Content &amp;</a:t>
                      </a:r>
                    </a:p>
                    <a:p>
                      <a:pPr algn="ctr">
                        <a:defRPr sz="1100"/>
                      </a:pPr>
                      <a:r>
                        <a:t>Informativeness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Product info quality, updates,</a:t>
                      </a:r>
                    </a:p>
                    <a:p>
                      <a:pPr algn="ctr">
                        <a:defRPr sz="1100"/>
                      </a:pPr>
                      <a:r>
                        <a:t>comparisons on social media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Trust &amp;</a:t>
                      </a:r>
                    </a:p>
                    <a:p>
                      <a:pPr algn="ctr">
                        <a:defRPr sz="1100"/>
                      </a:pPr>
                      <a:r>
                        <a:t>Credibility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Influencer recommendations,</a:t>
                      </a:r>
                    </a:p>
                    <a:p>
                      <a:pPr algn="ctr">
                        <a:defRPr sz="1100"/>
                      </a:pPr>
                      <a:r>
                        <a:t>verified accounts, real reviews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Peer &amp;</a:t>
                      </a:r>
                    </a:p>
                    <a:p>
                      <a:pPr algn="ctr">
                        <a:defRPr sz="1100"/>
                      </a:pPr>
                      <a:r>
                        <a:t>Community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Family/friend recommendations,</a:t>
                      </a:r>
                    </a:p>
                    <a:p>
                      <a:pPr algn="ctr">
                        <a:defRPr sz="1100"/>
                      </a:pPr>
                      <a:r>
                        <a:t>shares, community feedback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Emotional</a:t>
                      </a:r>
                    </a:p>
                    <a:p>
                      <a:pPr algn="ctr">
                        <a:defRPr sz="1100"/>
                      </a:pPr>
                      <a:r>
                        <a:t>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Entertainment, emotional storytelling,</a:t>
                      </a:r>
                    </a:p>
                    <a:p>
                      <a:pPr algn="ctr">
                        <a:defRPr sz="1100"/>
                      </a:pPr>
                      <a:r>
                        <a:t>regional content appeal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Convenience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Ease of buying, click-to-buy,</a:t>
                      </a:r>
                    </a:p>
                    <a:p>
                      <a:pPr algn="ctr">
                        <a:defRPr sz="1100"/>
                      </a:pPr>
                      <a:r>
                        <a:t>reduced decision time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Overall Cronbach's Alpha = 0.92 | All constructs adapted from validated scales (Table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Questionnaire Design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5-Point Likert Scale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5-Point Likert Scale Used: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00468C"/>
                </a:solidFill>
              </a:defRPr>
            </a:pPr>
            <a:r>
              <a:t>  1 = Strongly Disagree    2 = Disagree    3 = Neutral    4 = Agree    5 = Strongly Agree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Questionnaire Structure: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Part 1: Demographic information (age, gender, education, occupation, income,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  mobile type, internet usage, district)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Part 2: 25 scale-based items measuring five social media influence constructs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Sampling Design: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Stratified random sampling + purposive sampling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5 districts: Lucknow, Kanpur, Agra, Jhansi, Gorakhpur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241 valid responses from rural consumers with social media experience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Both offline paper-based and online survey methods used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Items adapted from validated scales: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Bhatt &amp; Joshi (2021), Kapoor &amp; Dwivedi (2022), and others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Demographic Profile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Sample Characteristics (Table 1, n=241)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Majority: Age 21-30 (29.9%) | Secondary+ education (58.1%) | Diverse occupations (Table 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Digital Adoption Profile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Technology Usage Among Rural Consumers (Table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gital_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62.2% use smartphones | 80%+ spend &gt;1 hour online daily | 67.2% have purchased via social media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KMO Sampling Adequacy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Is the Data Suitable for Factor Analysis? (Table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o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KMO = 0.90 (Classified as 'Marvellous' by Hair et al., 2019)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Well above the 0.60 minimum → Excellent sampling adequacy for factor analysis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This means the survey items share enough common patterns to extract meaningful factors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Bartlett's Test of Sphericity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Testing for Sufficient Correlations (Table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rtlet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Bartlett's Test: χ² = 2890.7, df = 300, P &lt; 0.001 (Table 3)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Highly significant → The variables are sufficiently correlated for factor analysis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Rejects the null hypothesis that the correlation matrix is an identity matrix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Adequacy Summary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Both Tests Confirm Suitability for Factor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371600"/>
                <a:gridCol w="1645920"/>
                <a:gridCol w="1828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Statistic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Sampling Adequacy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≥ 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Marvellous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Bartlett's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Chi-Square (χ²)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2890.7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 &lt; 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P &lt; 0.001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Bartlett's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Degrees of Freedom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Interpretation: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KMO = 0.90 is classified as 'Marvellous' (Hair et al., 2019)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This is the highest rating on the Kaiser adequacy scale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Bartlett's test confirms that the 25 survey items are sufficiently inter-correlated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• Both tests strongly support proceeding with Factor Analysis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The data patterns are meaningful, not random noise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2: Reliability Analysis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Cronbach's Alpha by Construct (Table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nbach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All constructs exceed 0.70 threshold (Nunnally, 1978) | Overall α = 0.92 (Excellent)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Reliability Interpretation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What Cronbach's Alpha Tells Us (Table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1097280"/>
                <a:gridCol w="283464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Construct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α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Content &amp; Informativeness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Trust &amp; Credibility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Very Good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Peer &amp; Community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Emotional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Convenience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Very Good</a:t>
                      </a:r>
                    </a:p>
                  </a:txBody>
                  <a:tcPr anchor="ctr"/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Overall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Excellent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What This Means: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Reliability = how consistently the questions measure the same concept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α ≥ 0.70 = acceptable | α ≥ 0.80 = good | α ≥ 0.90 = excellent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All five factors and the overall scale pass reliability checks 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3: Exploratory Factor Analysis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Extracting the Underlying Factors (Table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EFA Method: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Extraction: Principal Component Analysis (PCA)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Rotation: Varimax with Kaiser Normalization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Criterion: Eigenvalue &gt; 1 (Kaiser Criterion)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Results: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Five latent factors were extracted from 25 questionnaire items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All factor loadings are above 0.74 (well above the 0.50 threshold)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Strong construct validity confirmed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Factor Loading Ranges (from Table 4):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Content &amp; Informativeness: 0.74 – 0.81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Trust &amp; Credibility: 0.81 – 0.85 (strongest loadings)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Peer Influence: 0.76 – 0.80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Emotional Engagement: 0.79 – 0.85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Convenience: 0.79 – 0.84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Loading Ranges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EFA Rotated Component Matrix Summary (Table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All 25 items load above 0.74 | Well above 0.50 minimum | Trust &amp; Credibility has the strongest loadings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Interpreting the Five Factors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What Each Factor Represents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98DB"/>
                </a:solidFill>
              </a:defRPr>
            </a:pPr>
            <a:r>
              <a:t>Factor 1: Content &amp; Informativeness (Loadings: 0.74–0.81)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Product details, price comparisons, new launch updates on social media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E74C3C"/>
                </a:solidFill>
              </a:defRPr>
            </a:pPr>
            <a:r>
              <a:t>Factor 2: Trust &amp; Credibility (Loadings: 0.81–0.85)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Verified accounts, influencer recommendations, authentic user reviews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2ECC71"/>
                </a:solidFill>
              </a:defRPr>
            </a:pPr>
            <a:r>
              <a:t>Factor 3: Peer Influence (Loadings: 0.76–0.80)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Family/friend opinions, shares, likes, community-based recommendations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Factor 4: Emotional Engagement (Loadings: 0.79–0.85)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Entertaining ads, emotional storytelling, culturally relevant regional content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9B59B6"/>
                </a:solidFill>
              </a:defRPr>
            </a:pPr>
            <a:r>
              <a:t>Factor 5: Convenience (Loadings: 0.79–0.84)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Easy access, click-to-buy options, reduced shopping time, direct purchase links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4: Confirmatory Factor Analysis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Validating the Five-Factor Structure (Table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fa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060"/>
                </a:solidFill>
              </a:defRPr>
            </a:pPr>
            <a:r>
              <a:t>All four fit indices meet or exceed recommended thresholds (Byrne, 2016)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CFI=0.95, TLI=0.93 (≥0.90) | RMSEA=0.05, SRMR=0.06 (≤0.08) → Excellent model fit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CFA Model Fit Interpretation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Confirming Convergent &amp; Discriminant Validity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≥ 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Excellent fit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≥ 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 fit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RMSEA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≤ 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Close fit (minimal error)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SRMR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≤ 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Acceptable residuals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What This Means: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The five-factor structure identified by EFA is statistically confirmed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Convergent validity: Items within each factor measure the same concept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Discriminant validity: The five factors are distinct from each other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The model accurately represents how social media influences purchase decisions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5: Structural Equation Modeling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Testing Causal Relationships (SEM Results)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m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All five hypotheses supported | All paths significant at P &lt; 0.001 | Trust has strongest effect (β=0.72)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Hypothesis Testing Results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All Five Hypotheses Supported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108960"/>
                <a:gridCol w="914400"/>
                <a:gridCol w="1371600"/>
                <a:gridCol w="22860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Hypothesis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β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Content &amp; Inform. →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Supported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Trust &amp; Credibility →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Supported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Peer Influence →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Supported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Emotional Engage. →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Supported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Convenience →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Supported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Key Takeaway: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All five social media dimensions significantly influence purchase decisions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Trust &amp; Credibility is the strongest predictor (β = 0.72)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Emotional Engagement, while significant, has the smallest effect (β = 0.61)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• These findings support the Theory of Reasoned Action (Ajzen, 1991)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Importance Ranking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Which Social Media Roles Matter Most?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87782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Trust (β=0.72) &gt; Convenience (β=0.68) &gt; Content (β=0.67) &gt; Peer (β=0.65) &gt; Emotional (β=0.61)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Reliability &amp; Validity Overview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Combined View of All Constructs (Tables 2 &amp;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da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All constructs show strong reliability (α = 0.84–0.88) and significant SEM influence (β = 0.61–0.72)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Marketing Implications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Practical Takeaways for Digital Strategists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Based on the factor analysis results, marketers should: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E74C3C"/>
                </a:solidFill>
              </a:defRPr>
            </a:pPr>
            <a:r>
              <a:t>1. Build Trust First (β = 0.72 — Strongest Factor)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Use verified accounts, authentic reviews, and credible influencers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Trust is the single most important driver of purchase decisions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9B59B6"/>
                </a:solidFill>
              </a:defRPr>
            </a:pPr>
            <a:r>
              <a:t>2. Maximize Convenience (β = 0.68)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Simplify the path from social media content to actual purchase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3498DB"/>
                </a:solidFill>
              </a:defRPr>
            </a:pPr>
            <a:r>
              <a:t>3. Invest in Quality Content (β = 0.67)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Provide clear product information, comparisons, and updates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2ECC71"/>
                </a:solidFill>
              </a:defRPr>
            </a:pPr>
            <a:r>
              <a:t>4. Leverage Peer Networks (β = 0.65)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Encourage sharing, community reviews, and family-oriented campaigns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5. Create Emotional Connections (β = 0.61)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Use culturally localized, emotionally engaging content and regional language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Strengths &amp; Limitations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Evaluating the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Strengths: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Strong KMO (0.90) and highly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significant Bartlett's test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Excellent overall reliability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(Cronbach's α = 0.92)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Both EFA and CFA used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(comprehensive validation)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All CFA fit indices pass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SEM confirms all 5 hypotheses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Addresses under-researched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rural consumer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Limitations:</a:t>
            </a:r>
          </a:p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Geographically limited to 5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districts of Uttar Pradesh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Cross-sectional design (single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time point, no trends)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Moderate sample size (n=241)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Self-reported data may have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social desirability bias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• Individual eigenvalues and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total variance not reported</a:t>
            </a:r>
          </a:p>
          <a:p>
            <a:pPr>
              <a:defRPr sz="1300" b="0">
                <a:solidFill>
                  <a:srgbClr val="323232"/>
                </a:solidFill>
              </a:defRPr>
            </a:pPr>
            <a:r>
              <a:t>  in the published tables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4C6E7"/>
                </a:solidFill>
              </a:defRPr>
            </a:pPr>
            <a:r>
              <a:t>1. Ahmad, A., Singh, N.K., Ahmad, S., Fatima, R., Alam, A. &amp; Ghani, U. (2026).</a:t>
            </a:r>
          </a:p>
          <a:p>
            <a:pPr>
              <a:defRPr sz="1200" b="0">
                <a:solidFill>
                  <a:srgbClr val="B4C6E7"/>
                </a:solidFill>
              </a:defRPr>
            </a:pPr>
            <a:r>
              <a:t>   Identifying Determinants of Social Media Influence on Purchase Decisions:</a:t>
            </a:r>
          </a:p>
          <a:p>
            <a:pPr>
              <a:defRPr sz="1200" b="0">
                <a:solidFill>
                  <a:srgbClr val="B4C6E7"/>
                </a:solidFill>
              </a:defRPr>
            </a:pPr>
            <a:r>
              <a:t>   A Factor Analytical Study of Rural Consumers. IRMM, 16(2), 111-119.</a:t>
            </a:r>
          </a:p>
          <a:p>
            <a:pPr>
              <a:defRPr sz="1200" b="1">
                <a:solidFill>
                  <a:srgbClr val="FFC000"/>
                </a:solidFill>
              </a:defRPr>
            </a:pPr>
            <a:r>
              <a:t>   DOI: 10.32479/irmm.21497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200" b="0">
                <a:solidFill>
                  <a:srgbClr val="B4C6E7"/>
                </a:solidFill>
              </a:defRPr>
            </a:pPr>
            <a:r>
              <a:t>2. Hair, J.F., Black, W.C., Babin, B.J. &amp; Anderson, R.E. (2019).</a:t>
            </a:r>
          </a:p>
          <a:p>
            <a:pPr>
              <a:defRPr sz="1200" b="0">
                <a:solidFill>
                  <a:srgbClr val="B4C6E7"/>
                </a:solidFill>
              </a:defRPr>
            </a:pPr>
            <a:r>
              <a:t>   Multivariate Data Analysis (8th Ed.). Cengage Learning.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200" b="0">
                <a:solidFill>
                  <a:srgbClr val="B4C6E7"/>
                </a:solidFill>
              </a:defRPr>
            </a:pPr>
            <a:r>
              <a:t>3. Nunnally, J.C. (1978). Psychometric Theory (2nd Ed.).</a:t>
            </a:r>
          </a:p>
          <a:p>
            <a:pPr>
              <a:defRPr sz="1200" b="0">
                <a:solidFill>
                  <a:srgbClr val="B4C6E7"/>
                </a:solidFill>
              </a:defRPr>
            </a:pPr>
            <a:r>
              <a:t>   McGraw-Hill, New York.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C000"/>
                </a:solidFill>
              </a:defRPr>
            </a:pPr>
            <a:r>
              <a:t>Thank You!</a:t>
            </a:r>
          </a:p>
          <a:p>
            <a:pPr>
              <a:defRPr sz="600" b="0">
                <a:solidFill>
                  <a:srgbClr val="FFFFFF"/>
                </a:solidFill>
              </a:defRPr>
            </a:pP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>
              <a:defRPr sz="1400" b="0">
                <a:solidFill>
                  <a:srgbClr val="B4C6E7"/>
                </a:solidFill>
              </a:defRPr>
            </a:pPr>
            <a:r>
              <a:t>Binghamton University | SSIE-605 | Professor Susan 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